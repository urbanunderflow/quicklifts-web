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19cd814ad48a9" /><Relationship Type="http://schemas.openxmlformats.org/officeDocument/2006/relationships/extended-properties" Target="/docProps/app.xml" Id="R15ff497f16144b18" /><Relationship Type="http://schemas.openxmlformats.org/officeDocument/2006/relationships/officeDocument" Target="/ppt/presentation.xml" Id="R52f41eeb2b9842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7b61e8f784abc"/>
  </p:sldMasterIdLst>
  <p:notesMasterIdLst>
    <p:notesMasterId xmlns:r="http://schemas.openxmlformats.org/officeDocument/2006/relationships" r:id="Rff4a402eda284a7d"/>
  </p:notesMasterIdLst>
  <p:sldIdLst>
    <p:sldId xmlns:r="http://schemas.openxmlformats.org/officeDocument/2006/relationships" id="256" r:id="R6ef926debbee401d"/>
    <p:sldId xmlns:r="http://schemas.openxmlformats.org/officeDocument/2006/relationships" id="257" r:id="Rb9c146a6662b45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c51ddcfc0a4252" /><Relationship Type="http://schemas.openxmlformats.org/officeDocument/2006/relationships/slideMaster" Target="/ppt/slideMasters/slideMaster1.xml" Id="R6ec7b61e8f784abc" /><Relationship Type="http://schemas.openxmlformats.org/officeDocument/2006/relationships/notesMaster" Target="/ppt/notesMasters/notesMaster1.xml" Id="Rff4a402eda284a7d" /><Relationship Type="http://schemas.openxmlformats.org/officeDocument/2006/relationships/presProps" Target="/ppt/presProps.xml" Id="R780629d7812145d4" /><Relationship Type="http://schemas.openxmlformats.org/officeDocument/2006/relationships/tableStyles" Target="/ppt/tableStyles.xml" Id="Rce641bb8968244e7" /><Relationship Type="http://schemas.openxmlformats.org/officeDocument/2006/relationships/slide" Target="/ppt/slides/slide1.xml" Id="R6ef926debbee401d" /><Relationship Type="http://schemas.openxmlformats.org/officeDocument/2006/relationships/slide" Target="/ppt/slides/slide2.xml" Id="Rb9c146a6662b45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e8023171f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defebf6ce04781" /><Relationship Type="http://schemas.openxmlformats.org/officeDocument/2006/relationships/notesMaster" Target="/ppt/notesMasters/notesMaster1.xml" Id="R8e5d3db80d224b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b537690eb64902" /><Relationship Type="http://schemas.openxmlformats.org/officeDocument/2006/relationships/notesMaster" Target="/ppt/notesMasters/notesMaster1.xml" Id="Rb2f64f0a73ea4e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https://globalwellnessinstitute.org/wp-content/uploads/2025/11/2025-GWI-WE-Monitor_DIGITAL-FINAL.pdf</a:t>
            </a:r>
          </a:p>
          <a:p xmlns:a="http://schemas.openxmlformats.org/drawingml/2006/main">
            <a:r>
              <a:t>- https://www.who.int/news/item/02-09-2025-over-a-billion-people-living-with-mental-health-conditions-services-require-urgent-scale-up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https://www.bls.gov/news.release/empsit.a.htm</a:t>
            </a:r>
          </a:p>
          <a:p xmlns:a="http://schemas.openxmlformats.org/drawingml/2006/main">
            <a:r>
              <a:t>- https://www.nfhs.org/stories/participation-in-high-school-sports-hits-record-high-with-sizable-increase-in-2024-25</a:t>
            </a:r>
          </a:p>
          <a:p xmlns:a="http://schemas.openxmlformats.org/drawingml/2006/main">
            <a:r>
              <a:t>- https://www.ncaa.org/about-us/membership-directory/membership-composition-and-sport-sponsorship/</a:t>
            </a:r>
          </a:p>
          <a:p xmlns:a="http://schemas.openxmlformats.org/drawingml/2006/main">
            <a:r>
              <a:t>- https://www.naia.org/wp-content/uploads/2026/07/2026-2027_NAIA_Institutions.pdf</a:t>
            </a:r>
          </a:p>
          <a:p xmlns:a="http://schemas.openxmlformats.org/drawingml/2006/main">
            <a:r>
              <a:t>- https://njcaa.prestosports.com/general/2025-26/releases/20260120kfjtbj</a:t>
            </a:r>
          </a:p>
          <a:p xmlns:a="http://schemas.openxmlformats.org/drawingml/2006/main">
            <a:r>
              <a:t>- User-provided Pulse assumptions: $300 per athlete/year; $50 per workforce seat/year; 250-athlete landing deployment; $75M performance clinic segment.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3c83587a842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bcc432e814d5a" /><Relationship Type="http://schemas.openxmlformats.org/officeDocument/2006/relationships/slideLayout" Target="/ppt/slideLayouts/slideLayout1.xml" Id="Rf360ccb8b6f0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60ccb8b6f0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37710a00c40d8" /><Relationship Type="http://schemas.openxmlformats.org/officeDocument/2006/relationships/notesSlide" Target="/ppt/notesSlides/notesSlide1.xml" Id="Rdfc2c73805b34a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2dabe22734d49" /><Relationship Type="http://schemas.openxmlformats.org/officeDocument/2006/relationships/notesSlide" Target="/ppt/notesSlides/notesSlide2.xml" Id="Rda594d696e5b4d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ategory-context-eyebrow">
            <a:extLst xmlns:a="http://schemas.openxmlformats.org/drawingml/2006/main">
              <a:ext uri="{FF2B5EF4-FFF2-40B4-BE49-F238E27FC236}">
                <a16:creationId xmlns:a16="http://schemas.microsoft.com/office/drawing/2014/main" id="{03F5859B-9356-43AA-90DC-10C92644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171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CATEGORY CONTEXT</a:t>
            </a:r>
          </a:p>
        </p:txBody>
      </p:sp>
      <p:sp>
        <p:nvSpPr>
          <p:cNvPr id="2" name="category-title">
            <a:extLst xmlns:a="http://schemas.openxmlformats.org/drawingml/2006/main">
              <a:ext uri="{FF2B5EF4-FFF2-40B4-BE49-F238E27FC236}">
                <a16:creationId xmlns:a16="http://schemas.microsoft.com/office/drawing/2014/main" id="{8041782E-4ECB-43BA-B2EA-0C90590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6142"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Mental wellness is already a </a:t>
            </a:r>
            <a:r>
              <a:rPr sz="367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$268B global category.</a:t>
            </a:r>
          </a:p>
        </p:txBody>
      </p:sp>
      <p:sp>
        <p:nvSpPr>
          <p:cNvPr id="3" name="category-subtitle">
            <a:extLst xmlns:a="http://schemas.openxmlformats.org/drawingml/2006/main">
              <a:ext uri="{FF2B5EF4-FFF2-40B4-BE49-F238E27FC236}">
                <a16:creationId xmlns:a16="http://schemas.microsoft.com/office/drawing/2014/main" id="{F37E49FA-0948-444D-AA17-5635AB61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9A9FAA"/>
                </a:solidFill>
                <a:latin typeface="Arial"/>
                <a:ea typeface="Arial"/>
                <a:cs typeface="Arial"/>
              </a:rPr>
              <a:t>Pulse converts broad demand into a measurable, institution-led mental training market.</a:t>
            </a:r>
          </a:p>
        </p:txBody>
      </p:sp>
      <p:sp>
        <p:nvSpPr>
          <p:cNvPr id="4" name="global-market-value">
            <a:extLst xmlns:a="http://schemas.openxmlformats.org/drawingml/2006/main">
              <a:ext uri="{FF2B5EF4-FFF2-40B4-BE49-F238E27FC236}">
                <a16:creationId xmlns:a16="http://schemas.microsoft.com/office/drawing/2014/main" id="{846A8982-396D-4FCB-8105-ED502D91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5334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3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$268B</a:t>
            </a:r>
          </a:p>
        </p:txBody>
      </p:sp>
      <p:sp>
        <p:nvSpPr>
          <p:cNvPr id="5" name="global-market-label">
            <a:extLst xmlns:a="http://schemas.openxmlformats.org/drawingml/2006/main">
              <a:ext uri="{FF2B5EF4-FFF2-40B4-BE49-F238E27FC236}">
                <a16:creationId xmlns:a16="http://schemas.microsoft.com/office/drawing/2014/main" id="{DCAD2D32-5F37-4E9C-9920-E04A797E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GLOBAL MENTAL WELLNESS MARKET  •  2024</a:t>
            </a:r>
          </a:p>
        </p:txBody>
      </p:sp>
      <p:sp>
        <p:nvSpPr>
          <p:cNvPr id="6" name="global-growth">
            <a:extLst xmlns:a="http://schemas.openxmlformats.org/drawingml/2006/main">
              <a:ext uri="{FF2B5EF4-FFF2-40B4-BE49-F238E27FC236}">
                <a16:creationId xmlns:a16="http://schemas.microsoft.com/office/drawing/2014/main" id="{7F8A29FF-0751-4479-A021-E237BDF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12.4% annual growth since 2019</a:t>
            </a:r>
          </a:p>
        </p:txBody>
      </p:sp>
      <p:sp>
        <p:nvSpPr>
          <p:cNvPr id="7" name="global-context">
            <a:extLst xmlns:a="http://schemas.openxmlformats.org/drawingml/2006/main">
              <a:ext uri="{FF2B5EF4-FFF2-40B4-BE49-F238E27FC236}">
                <a16:creationId xmlns:a16="http://schemas.microsoft.com/office/drawing/2014/main" id="{562BDD11-B410-414A-8E29-7502AD3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9A9FAA"/>
                </a:solidFill>
                <a:latin typeface="Arial"/>
                <a:ea typeface="Arial"/>
                <a:cs typeface="Arial"/>
              </a:rPr>
              <a:t>A large, growing category with clear demand across health, education, sports and work.</a:t>
            </a:r>
          </a:p>
        </p:txBody>
      </p:sp>
      <p:sp>
        <p:nvSpPr>
          <p:cNvPr id="8" name="category-vertical-divider">
            <a:extLst xmlns:a="http://schemas.openxmlformats.org/drawingml/2006/main">
              <a:ext uri="{FF2B5EF4-FFF2-40B4-BE49-F238E27FC236}">
                <a16:creationId xmlns:a16="http://schemas.microsoft.com/office/drawing/2014/main" id="{3BC1198D-1656-4A38-B52E-BA93D3B4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95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rth-america-value">
            <a:extLst xmlns:a="http://schemas.openxmlformats.org/drawingml/2006/main">
              <a:ext uri="{FF2B5EF4-FFF2-40B4-BE49-F238E27FC236}">
                <a16:creationId xmlns:a16="http://schemas.microsoft.com/office/drawing/2014/main" id="{E44F45F5-5EF0-4A85-BB74-D08FCCA5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8602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$138B</a:t>
            </a:r>
          </a:p>
        </p:txBody>
      </p:sp>
      <p:sp>
        <p:nvSpPr>
          <p:cNvPr id="10" name="north-america-label">
            <a:extLst xmlns:a="http://schemas.openxmlformats.org/drawingml/2006/main">
              <a:ext uri="{FF2B5EF4-FFF2-40B4-BE49-F238E27FC236}">
                <a16:creationId xmlns:a16="http://schemas.microsoft.com/office/drawing/2014/main" id="{024E34D6-E6B8-4D65-806A-A7D75ECF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NORTH AMERICA</a:t>
            </a:r>
          </a:p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MENTAL WELLNESS</a:t>
            </a:r>
          </a:p>
        </p:txBody>
      </p:sp>
      <p:sp>
        <p:nvSpPr>
          <p:cNvPr id="11" name="metric-divider-1">
            <a:extLst xmlns:a="http://schemas.openxmlformats.org/drawingml/2006/main">
              <a:ext uri="{FF2B5EF4-FFF2-40B4-BE49-F238E27FC236}">
                <a16:creationId xmlns:a16="http://schemas.microsoft.com/office/drawing/2014/main" id="{2719CE31-70EC-4B43-8BBA-CDE7B8FD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ople-value">
            <a:extLst xmlns:a="http://schemas.openxmlformats.org/drawingml/2006/main">
              <a:ext uri="{FF2B5EF4-FFF2-40B4-BE49-F238E27FC236}">
                <a16:creationId xmlns:a16="http://schemas.microsoft.com/office/drawing/2014/main" id="{7541C3D3-634F-4554-BEE0-BCCA059D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718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1B+</a:t>
            </a:r>
          </a:p>
        </p:txBody>
      </p:sp>
      <p:sp>
        <p:nvSpPr>
          <p:cNvPr id="13" name="people-label">
            <a:extLst xmlns:a="http://schemas.openxmlformats.org/drawingml/2006/main">
              <a:ext uri="{FF2B5EF4-FFF2-40B4-BE49-F238E27FC236}">
                <a16:creationId xmlns:a16="http://schemas.microsoft.com/office/drawing/2014/main" id="{44DF6DBC-552F-47E5-9100-4997D180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194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PEOPLE LIVING WITH</a:t>
            </a:r>
          </a:p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MENTAL HEALTH CONDITIONS</a:t>
            </a:r>
          </a:p>
        </p:txBody>
      </p:sp>
      <p:sp>
        <p:nvSpPr>
          <p:cNvPr id="14" name="metric-divider-2">
            <a:extLst xmlns:a="http://schemas.openxmlformats.org/drawingml/2006/main">
              <a:ext uri="{FF2B5EF4-FFF2-40B4-BE49-F238E27FC236}">
                <a16:creationId xmlns:a16="http://schemas.microsoft.com/office/drawing/2014/main" id="{D9311FB3-1924-4DAC-93CF-B07EDFE8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481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ductivity-value">
            <a:extLst xmlns:a="http://schemas.openxmlformats.org/drawingml/2006/main">
              <a:ext uri="{FF2B5EF4-FFF2-40B4-BE49-F238E27FC236}">
                <a16:creationId xmlns:a16="http://schemas.microsoft.com/office/drawing/2014/main" id="{865B3476-7F9D-4307-A21E-2088F22D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57675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826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5AA5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45AA5"/>
                </a:solidFill>
                <a:latin typeface="Arial"/>
                <a:ea typeface="Arial"/>
                <a:cs typeface="Arial"/>
              </a:rPr>
              <a:t>$1T</a:t>
            </a:r>
          </a:p>
        </p:txBody>
      </p:sp>
      <p:sp>
        <p:nvSpPr>
          <p:cNvPr id="16" name="productivity-label">
            <a:extLst xmlns:a="http://schemas.openxmlformats.org/drawingml/2006/main">
              <a:ext uri="{FF2B5EF4-FFF2-40B4-BE49-F238E27FC236}">
                <a16:creationId xmlns:a16="http://schemas.microsoft.com/office/drawing/2014/main" id="{A4745D4B-DF52-4DAF-AF87-73126F7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05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ANNUAL PRODUCTIVITY LOSS</a:t>
            </a:r>
          </a:p>
          <a:p xmlns:a="http://schemas.openxmlformats.org/drawingml/2006/main">
            <a:pPr>
              <a:defRPr sz="1275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FROM DEPRESSION + ANXIETY</a:t>
            </a:r>
          </a:p>
        </p:txBody>
      </p:sp>
      <p:sp>
        <p:nvSpPr>
          <p:cNvPr id="17" name="category-context-band">
            <a:extLst xmlns:a="http://schemas.openxmlformats.org/drawingml/2006/main">
              <a:ext uri="{FF2B5EF4-FFF2-40B4-BE49-F238E27FC236}">
                <a16:creationId xmlns:a16="http://schemas.microsoft.com/office/drawing/2014/main" id="{C49ED77D-0A1A-49F6-A0A8-1E662D4C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E1114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18" name="category-context-band-copy">
            <a:extLst xmlns:a="http://schemas.openxmlformats.org/drawingml/2006/main">
              <a:ext uri="{FF2B5EF4-FFF2-40B4-BE49-F238E27FC236}">
                <a16:creationId xmlns:a16="http://schemas.microsoft.com/office/drawing/2014/main" id="{C4E99CFB-76CB-42CD-AD84-7D24E1CA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CATEGORY SCALE</a:t>
            </a:r>
            <a:r>
              <a:rPr sz="1425">
                <a:solidFill>
                  <a:srgbClr val="F5F6F7"/>
                </a:solidFill>
                <a:latin typeface="Arial"/>
                <a:ea typeface="Arial"/>
                <a:cs typeface="Arial"/>
              </a:rPr>
              <a:t>  •  Pulse revenue opportunity is calculated bottom-up on the next slide.</a:t>
            </a:r>
          </a:p>
        </p:txBody>
      </p:sp>
      <p:sp>
        <p:nvSpPr>
          <p:cNvPr id="19" name="category-sources">
            <a:extLst xmlns:a="http://schemas.openxmlformats.org/drawingml/2006/main">
              <a:ext uri="{FF2B5EF4-FFF2-40B4-BE49-F238E27FC236}">
                <a16:creationId xmlns:a16="http://schemas.microsoft.com/office/drawing/2014/main" id="{5884879B-192E-437F-AB7E-9CFB1A71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F7580"/>
                </a:solidFill>
                <a:latin typeface="Arial"/>
                <a:ea typeface="Arial"/>
                <a:cs typeface="Arial"/>
              </a:rPr>
              <a:t>Sources: Global Wellness Institute, Global Wellness Economy Monitor 2025; World Health Organization, 2025.</a:t>
            </a:r>
          </a:p>
        </p:txBody>
      </p:sp>
    </p:spTree>
    <p:extLst>
      <p:ext uri="{BB962C8B-B14F-4D97-AF65-F5344CB8AC3E}">
        <p14:creationId xmlns:p14="http://schemas.microsoft.com/office/powerpoint/2010/main" val="1031960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bottom-up-market-eyebrow">
            <a:extLst xmlns:a="http://schemas.openxmlformats.org/drawingml/2006/main">
              <a:ext uri="{FF2B5EF4-FFF2-40B4-BE49-F238E27FC236}">
                <a16:creationId xmlns:a16="http://schemas.microsoft.com/office/drawing/2014/main" id="{53E43C1F-1DFA-4AEB-8200-5BF1C35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171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BOTTOM-UP MARKET</a:t>
            </a:r>
          </a:p>
        </p:txBody>
      </p:sp>
      <p:sp>
        <p:nvSpPr>
          <p:cNvPr id="2" name="bottoms-up-title">
            <a:extLst xmlns:a="http://schemas.openxmlformats.org/drawingml/2006/main">
              <a:ext uri="{FF2B5EF4-FFF2-40B4-BE49-F238E27FC236}">
                <a16:creationId xmlns:a16="http://schemas.microsoft.com/office/drawing/2014/main" id="{61FC6484-3DD0-4731-854E-8D44B85E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7501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Pulse's </a:t>
            </a:r>
            <a:r>
              <a:rPr sz="36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$17.6B</a:t>
            </a:r>
            <a:r>
              <a:rPr sz="36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U.S. opportunity starts with athletes.</a:t>
            </a:r>
          </a:p>
        </p:txBody>
      </p:sp>
      <p:sp>
        <p:nvSpPr>
          <p:cNvPr id="3" name="bottoms-up-subtitle">
            <a:extLst xmlns:a="http://schemas.openxmlformats.org/drawingml/2006/main">
              <a:ext uri="{FF2B5EF4-FFF2-40B4-BE49-F238E27FC236}">
                <a16:creationId xmlns:a16="http://schemas.microsoft.com/office/drawing/2014/main" id="{05E23F53-8FDF-4DA9-A496-E543E4EA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9A9FAA"/>
                </a:solidFill>
                <a:latin typeface="Arial"/>
                <a:ea typeface="Arial"/>
                <a:cs typeface="Arial"/>
              </a:rPr>
              <a:t>Every figure is countable buyers multiplied by Pulse annual pricing.</a:t>
            </a:r>
          </a:p>
        </p:txBody>
      </p:sp>
      <p:sp>
        <p:nvSpPr>
          <p:cNvPr id="4" name="tam-card">
            <a:extLst xmlns:a="http://schemas.openxmlformats.org/drawingml/2006/main">
              <a:ext uri="{FF2B5EF4-FFF2-40B4-BE49-F238E27FC236}">
                <a16:creationId xmlns:a16="http://schemas.microsoft.com/office/drawing/2014/main" id="{2BCD3630-C45C-4E5D-B0BD-6E96BA5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5" name="tam-label">
            <a:extLst xmlns:a="http://schemas.openxmlformats.org/drawingml/2006/main">
              <a:ext uri="{FF2B5EF4-FFF2-40B4-BE49-F238E27FC236}">
                <a16:creationId xmlns:a16="http://schemas.microsoft.com/office/drawing/2014/main" id="{00475C0D-2EDE-4BED-9836-ACA72F54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TAM  •  INSTITUTIONAL CHANNELS</a:t>
            </a:r>
          </a:p>
        </p:txBody>
      </p:sp>
      <p:sp>
        <p:nvSpPr>
          <p:cNvPr id="6" name="tam-amount">
            <a:extLst xmlns:a="http://schemas.openxmlformats.org/drawingml/2006/main">
              <a:ext uri="{FF2B5EF4-FFF2-40B4-BE49-F238E27FC236}">
                <a16:creationId xmlns:a16="http://schemas.microsoft.com/office/drawing/2014/main" id="{9F3CFDB9-BA54-4C97-9D6C-C9971AB8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$17.6B</a:t>
            </a:r>
          </a:p>
        </p:txBody>
      </p:sp>
      <p:sp>
        <p:nvSpPr>
          <p:cNvPr id="7" name="tam-descriptor">
            <a:extLst xmlns:a="http://schemas.openxmlformats.org/drawingml/2006/main">
              <a:ext uri="{FF2B5EF4-FFF2-40B4-BE49-F238E27FC236}">
                <a16:creationId xmlns:a16="http://schemas.microsoft.com/office/drawing/2014/main" id="{56D8DD20-B639-4139-8459-A37D2176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Sports, education and workforce</a:t>
            </a:r>
          </a:p>
        </p:txBody>
      </p:sp>
      <p:sp>
        <p:nvSpPr>
          <p:cNvPr id="8" name="tam-divider">
            <a:extLst xmlns:a="http://schemas.openxmlformats.org/drawingml/2006/main">
              <a:ext uri="{FF2B5EF4-FFF2-40B4-BE49-F238E27FC236}">
                <a16:creationId xmlns:a16="http://schemas.microsoft.com/office/drawing/2014/main" id="{BC9D20A5-4944-4BE3-B3F8-CDFA1F48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m-sports-title">
            <a:extLst xmlns:a="http://schemas.openxmlformats.org/drawingml/2006/main">
              <a:ext uri="{FF2B5EF4-FFF2-40B4-BE49-F238E27FC236}">
                <a16:creationId xmlns:a16="http://schemas.microsoft.com/office/drawing/2014/main" id="{6B9ACB9B-FD37-4F5B-8E46-0C50B33D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Sports + education</a:t>
            </a:r>
          </a:p>
        </p:txBody>
      </p:sp>
      <p:sp>
        <p:nvSpPr>
          <p:cNvPr id="10" name="tam-sports-math">
            <a:extLst xmlns:a="http://schemas.openxmlformats.org/drawingml/2006/main">
              <a:ext uri="{FF2B5EF4-FFF2-40B4-BE49-F238E27FC236}">
                <a16:creationId xmlns:a16="http://schemas.microsoft.com/office/drawing/2014/main" id="{98065DD3-BDC2-411A-A343-56EE75F8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Current bottom-up market</a:t>
            </a:r>
          </a:p>
        </p:txBody>
      </p:sp>
      <p:sp>
        <p:nvSpPr>
          <p:cNvPr id="11" name="tam-sports-value">
            <a:extLst xmlns:a="http://schemas.openxmlformats.org/drawingml/2006/main">
              <a:ext uri="{FF2B5EF4-FFF2-40B4-BE49-F238E27FC236}">
                <a16:creationId xmlns:a16="http://schemas.microsoft.com/office/drawing/2014/main" id="{5BEED174-E55C-4549-8397-F007309D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$9.5B</a:t>
            </a:r>
          </a:p>
        </p:txBody>
      </p:sp>
      <p:sp>
        <p:nvSpPr>
          <p:cNvPr id="12" name="tam-workforce-title">
            <a:extLst xmlns:a="http://schemas.openxmlformats.org/drawingml/2006/main">
              <a:ext uri="{FF2B5EF4-FFF2-40B4-BE49-F238E27FC236}">
                <a16:creationId xmlns:a16="http://schemas.microsoft.com/office/drawing/2014/main" id="{96825C76-AE26-4B85-86C1-BF3B66A0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U.S. workforce</a:t>
            </a:r>
          </a:p>
        </p:txBody>
      </p:sp>
      <p:sp>
        <p:nvSpPr>
          <p:cNvPr id="13" name="tam-workforce-math">
            <a:extLst xmlns:a="http://schemas.openxmlformats.org/drawingml/2006/main">
              <a:ext uri="{FF2B5EF4-FFF2-40B4-BE49-F238E27FC236}">
                <a16:creationId xmlns:a16="http://schemas.microsoft.com/office/drawing/2014/main" id="{C23B124E-A0AB-4FD9-9938-D128590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7775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162.3M employees × $50</a:t>
            </a:r>
          </a:p>
        </p:txBody>
      </p:sp>
      <p:sp>
        <p:nvSpPr>
          <p:cNvPr id="14" name="tam-workforce-value">
            <a:extLst xmlns:a="http://schemas.openxmlformats.org/drawingml/2006/main">
              <a:ext uri="{FF2B5EF4-FFF2-40B4-BE49-F238E27FC236}">
                <a16:creationId xmlns:a16="http://schemas.microsoft.com/office/drawing/2014/main" id="{FFD46BA4-674D-4B52-99DF-CF8127CC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4E8C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8CFF"/>
                </a:solidFill>
                <a:latin typeface="Arial"/>
                <a:ea typeface="Arial"/>
                <a:cs typeface="Arial"/>
              </a:rPr>
              <a:t>$8.1B</a:t>
            </a:r>
          </a:p>
        </p:txBody>
      </p:sp>
      <p:sp>
        <p:nvSpPr>
          <p:cNvPr id="15" name="tam-vision">
            <a:extLst xmlns:a="http://schemas.openxmlformats.org/drawingml/2006/main">
              <a:ext uri="{FF2B5EF4-FFF2-40B4-BE49-F238E27FC236}">
                <a16:creationId xmlns:a16="http://schemas.microsoft.com/office/drawing/2014/main" id="{91475E90-0AA9-4195-A30F-024BCE52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9A9FAA"/>
                </a:solidFill>
                <a:latin typeface="Arial"/>
                <a:ea typeface="Arial"/>
                <a:cs typeface="Arial"/>
              </a:rPr>
              <a:t>Long-term channel: employer-sponsored mental training</a:t>
            </a:r>
          </a:p>
        </p:txBody>
      </p:sp>
      <p:sp>
        <p:nvSpPr>
          <p:cNvPr id="16" name="sam-card">
            <a:extLst xmlns:a="http://schemas.openxmlformats.org/drawingml/2006/main">
              <a:ext uri="{FF2B5EF4-FFF2-40B4-BE49-F238E27FC236}">
                <a16:creationId xmlns:a16="http://schemas.microsoft.com/office/drawing/2014/main" id="{CB304E66-B466-4004-8A9F-6087326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</p:sp>
      <p:sp>
        <p:nvSpPr>
          <p:cNvPr id="17" name="sam-label">
            <a:extLst xmlns:a="http://schemas.openxmlformats.org/drawingml/2006/main">
              <a:ext uri="{FF2B5EF4-FFF2-40B4-BE49-F238E27FC236}">
                <a16:creationId xmlns:a16="http://schemas.microsoft.com/office/drawing/2014/main" id="{32E71AD8-A619-4829-B896-EF1ADB07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28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SAM  •  SPORTS + EDUCATION</a:t>
            </a:r>
          </a:p>
        </p:txBody>
      </p:sp>
      <p:sp>
        <p:nvSpPr>
          <p:cNvPr id="18" name="sam-amount">
            <a:extLst xmlns:a="http://schemas.openxmlformats.org/drawingml/2006/main">
              <a:ext uri="{FF2B5EF4-FFF2-40B4-BE49-F238E27FC236}">
                <a16:creationId xmlns:a16="http://schemas.microsoft.com/office/drawing/2014/main" id="{98CBF28F-ABBF-49D0-BA91-B3512519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$9.5B</a:t>
            </a:r>
          </a:p>
        </p:txBody>
      </p:sp>
      <p:sp>
        <p:nvSpPr>
          <p:cNvPr id="19" name="sam-descriptor">
            <a:extLst xmlns:a="http://schemas.openxmlformats.org/drawingml/2006/main">
              <a:ext uri="{FF2B5EF4-FFF2-40B4-BE49-F238E27FC236}">
                <a16:creationId xmlns:a16="http://schemas.microsoft.com/office/drawing/2014/main" id="{A5B3D7D9-4698-4F37-8717-D3E7E08D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Current platform + near-term roadmap</a:t>
            </a:r>
          </a:p>
        </p:txBody>
      </p:sp>
      <p:sp>
        <p:nvSpPr>
          <p:cNvPr id="20" name="sam-divider">
            <a:extLst xmlns:a="http://schemas.openxmlformats.org/drawingml/2006/main">
              <a:ext uri="{FF2B5EF4-FFF2-40B4-BE49-F238E27FC236}">
                <a16:creationId xmlns:a16="http://schemas.microsoft.com/office/drawing/2014/main" id="{7F1C36C6-6DF6-4FFC-8892-BD5FEC5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am-youth-title">
            <a:extLst xmlns:a="http://schemas.openxmlformats.org/drawingml/2006/main">
              <a:ext uri="{FF2B5EF4-FFF2-40B4-BE49-F238E27FC236}">
                <a16:creationId xmlns:a16="http://schemas.microsoft.com/office/drawing/2014/main" id="{06A341B6-B294-464C-A96C-7C9DEB79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00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Youth athletics</a:t>
            </a:r>
          </a:p>
        </p:txBody>
      </p:sp>
      <p:sp>
        <p:nvSpPr>
          <p:cNvPr id="22" name="sam-youth-math">
            <a:extLst xmlns:a="http://schemas.openxmlformats.org/drawingml/2006/main">
              <a:ext uri="{FF2B5EF4-FFF2-40B4-BE49-F238E27FC236}">
                <a16:creationId xmlns:a16="http://schemas.microsoft.com/office/drawing/2014/main" id="{CF05F91F-7A64-418F-B63D-B940FB26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27M athletes × $300</a:t>
            </a:r>
          </a:p>
        </p:txBody>
      </p:sp>
      <p:sp>
        <p:nvSpPr>
          <p:cNvPr id="23" name="sam-youth-value">
            <a:extLst xmlns:a="http://schemas.openxmlformats.org/drawingml/2006/main">
              <a:ext uri="{FF2B5EF4-FFF2-40B4-BE49-F238E27FC236}">
                <a16:creationId xmlns:a16="http://schemas.microsoft.com/office/drawing/2014/main" id="{C9B2305A-5240-47BB-9368-9DEF98D2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576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$8.1B</a:t>
            </a:r>
          </a:p>
        </p:txBody>
      </p:sp>
      <p:sp>
        <p:nvSpPr>
          <p:cNvPr id="24" name="sam-campus-title">
            <a:extLst xmlns:a="http://schemas.openxmlformats.org/drawingml/2006/main">
              <a:ext uri="{FF2B5EF4-FFF2-40B4-BE49-F238E27FC236}">
                <a16:creationId xmlns:a16="http://schemas.microsoft.com/office/drawing/2014/main" id="{88958559-8093-4353-A4B4-F6A0C6D7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95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Campus-wide</a:t>
            </a:r>
          </a:p>
        </p:txBody>
      </p:sp>
      <p:sp>
        <p:nvSpPr>
          <p:cNvPr id="25" name="sam-campus-math">
            <a:extLst xmlns:a="http://schemas.openxmlformats.org/drawingml/2006/main">
              <a:ext uri="{FF2B5EF4-FFF2-40B4-BE49-F238E27FC236}">
                <a16:creationId xmlns:a16="http://schemas.microsoft.com/office/drawing/2014/main" id="{30E788C8-89A5-4D56-B0E1-2F565A94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19M students × $50</a:t>
            </a:r>
          </a:p>
        </p:txBody>
      </p:sp>
      <p:sp>
        <p:nvSpPr>
          <p:cNvPr id="26" name="sam-campus-value">
            <a:extLst xmlns:a="http://schemas.openxmlformats.org/drawingml/2006/main">
              <a:ext uri="{FF2B5EF4-FFF2-40B4-BE49-F238E27FC236}">
                <a16:creationId xmlns:a16="http://schemas.microsoft.com/office/drawing/2014/main" id="{231E5A12-4953-44C0-8138-7166AFFF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529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$950M</a:t>
            </a:r>
          </a:p>
        </p:txBody>
      </p:sp>
      <p:sp>
        <p:nvSpPr>
          <p:cNvPr id="27" name="sam-collegiate-title">
            <a:extLst xmlns:a="http://schemas.openxmlformats.org/drawingml/2006/main">
              <a:ext uri="{FF2B5EF4-FFF2-40B4-BE49-F238E27FC236}">
                <a16:creationId xmlns:a16="http://schemas.microsoft.com/office/drawing/2014/main" id="{0A28112E-E5D2-4487-AB02-4DEAB45D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Collegiate athletics</a:t>
            </a:r>
          </a:p>
        </p:txBody>
      </p:sp>
      <p:sp>
        <p:nvSpPr>
          <p:cNvPr id="28" name="sam-collegiate-math">
            <a:extLst xmlns:a="http://schemas.openxmlformats.org/drawingml/2006/main">
              <a:ext uri="{FF2B5EF4-FFF2-40B4-BE49-F238E27FC236}">
                <a16:creationId xmlns:a16="http://schemas.microsoft.com/office/drawing/2014/main" id="{AB5309E5-ADA9-43CA-941B-45DFAAEB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911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~1,850 departments × $150K</a:t>
            </a:r>
          </a:p>
        </p:txBody>
      </p:sp>
      <p:sp>
        <p:nvSpPr>
          <p:cNvPr id="29" name="sam-collegiate-value">
            <a:extLst xmlns:a="http://schemas.openxmlformats.org/drawingml/2006/main">
              <a:ext uri="{FF2B5EF4-FFF2-40B4-BE49-F238E27FC236}">
                <a16:creationId xmlns:a16="http://schemas.microsoft.com/office/drawing/2014/main" id="{0322E833-1278-425C-8AF4-C24CABB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48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A7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$280M</a:t>
            </a:r>
          </a:p>
        </p:txBody>
      </p:sp>
      <p:sp>
        <p:nvSpPr>
          <p:cNvPr id="30" name="sam-adjacent">
            <a:extLst xmlns:a="http://schemas.openxmlformats.org/drawingml/2006/main">
              <a:ext uri="{FF2B5EF4-FFF2-40B4-BE49-F238E27FC236}">
                <a16:creationId xmlns:a16="http://schemas.microsoft.com/office/drawing/2014/main" id="{F9F21180-BEC8-4493-A211-A9622CC5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435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Clinics + sports medicine + pro  •  $155M</a:t>
            </a:r>
          </a:p>
        </p:txBody>
      </p:sp>
      <p:sp>
        <p:nvSpPr>
          <p:cNvPr id="31" name="som-card">
            <a:extLst xmlns:a="http://schemas.openxmlformats.org/drawingml/2006/main">
              <a:ext uri="{FF2B5EF4-FFF2-40B4-BE49-F238E27FC236}">
                <a16:creationId xmlns:a16="http://schemas.microsoft.com/office/drawing/2014/main" id="{146BC646-9920-4009-BC1B-204F2CBC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3429000" cy="36766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32" name="som-label">
            <a:extLst xmlns:a="http://schemas.openxmlformats.org/drawingml/2006/main">
              <a:ext uri="{FF2B5EF4-FFF2-40B4-BE49-F238E27FC236}">
                <a16:creationId xmlns:a16="http://schemas.microsoft.com/office/drawing/2014/main" id="{6758A6E1-434E-473B-9EC3-67CAF154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289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SOM  •  FIVE-YEAR FOCUS</a:t>
            </a:r>
          </a:p>
        </p:txBody>
      </p:sp>
      <p:sp>
        <p:nvSpPr>
          <p:cNvPr id="33" name="som-amount">
            <a:extLst xmlns:a="http://schemas.openxmlformats.org/drawingml/2006/main">
              <a:ext uri="{FF2B5EF4-FFF2-40B4-BE49-F238E27FC236}">
                <a16:creationId xmlns:a16="http://schemas.microsoft.com/office/drawing/2014/main" id="{A13D96E6-9077-4637-AF92-2977F22C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0375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9935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$1.7B</a:t>
            </a:r>
          </a:p>
        </p:txBody>
      </p:sp>
      <p:sp>
        <p:nvSpPr>
          <p:cNvPr id="34" name="som-descriptor">
            <a:extLst xmlns:a="http://schemas.openxmlformats.org/drawingml/2006/main">
              <a:ext uri="{FF2B5EF4-FFF2-40B4-BE49-F238E27FC236}">
                <a16:creationId xmlns:a16="http://schemas.microsoft.com/office/drawing/2014/main" id="{E2B5390F-E288-40FE-80E4-B8F64DF8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2895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A9FAA"/>
                </a:solidFill>
                <a:latin typeface="Arial"/>
                <a:ea typeface="Arial"/>
                <a:cs typeface="Arial"/>
              </a:rPr>
              <a:t>College, youth and performance clinics</a:t>
            </a:r>
          </a:p>
        </p:txBody>
      </p:sp>
      <p:sp>
        <p:nvSpPr>
          <p:cNvPr id="35" name="som-divider">
            <a:extLst xmlns:a="http://schemas.openxmlformats.org/drawingml/2006/main">
              <a:ext uri="{FF2B5EF4-FFF2-40B4-BE49-F238E27FC236}">
                <a16:creationId xmlns:a16="http://schemas.microsoft.com/office/drawing/2014/main" id="{59F829D7-3120-4A8B-91AA-91BCAB4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29075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F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om-high-school-title">
            <a:extLst xmlns:a="http://schemas.openxmlformats.org/drawingml/2006/main">
              <a:ext uri="{FF2B5EF4-FFF2-40B4-BE49-F238E27FC236}">
                <a16:creationId xmlns:a16="http://schemas.microsoft.com/office/drawing/2014/main" id="{CA4DB2FA-1726-4269-8455-F41F0E72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High-school athletics</a:t>
            </a:r>
          </a:p>
        </p:txBody>
      </p:sp>
      <p:sp>
        <p:nvSpPr>
          <p:cNvPr id="37" name="som-high-school-math">
            <a:extLst xmlns:a="http://schemas.openxmlformats.org/drawingml/2006/main">
              <a:ext uri="{FF2B5EF4-FFF2-40B4-BE49-F238E27FC236}">
                <a16:creationId xmlns:a16="http://schemas.microsoft.com/office/drawing/2014/main" id="{2D2B31BE-AC9C-4C73-943C-087F89D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20K schools × 250 × $300</a:t>
            </a:r>
          </a:p>
        </p:txBody>
      </p:sp>
      <p:sp>
        <p:nvSpPr>
          <p:cNvPr id="38" name="som-high-school-value">
            <a:extLst xmlns:a="http://schemas.openxmlformats.org/drawingml/2006/main">
              <a:ext uri="{FF2B5EF4-FFF2-40B4-BE49-F238E27FC236}">
                <a16:creationId xmlns:a16="http://schemas.microsoft.com/office/drawing/2014/main" id="{EF570089-0A31-42A5-9F72-7863F59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$1.5B</a:t>
            </a:r>
          </a:p>
        </p:txBody>
      </p:sp>
      <p:sp>
        <p:nvSpPr>
          <p:cNvPr id="39" name="som-collegiate-title">
            <a:extLst xmlns:a="http://schemas.openxmlformats.org/drawingml/2006/main">
              <a:ext uri="{FF2B5EF4-FFF2-40B4-BE49-F238E27FC236}">
                <a16:creationId xmlns:a16="http://schemas.microsoft.com/office/drawing/2014/main" id="{030A4D08-CC0C-4921-839D-82F020ED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958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Collegiate athletics</a:t>
            </a:r>
          </a:p>
        </p:txBody>
      </p:sp>
      <p:sp>
        <p:nvSpPr>
          <p:cNvPr id="40" name="som-collegiate-math">
            <a:extLst xmlns:a="http://schemas.openxmlformats.org/drawingml/2006/main">
              <a:ext uri="{FF2B5EF4-FFF2-40B4-BE49-F238E27FC236}">
                <a16:creationId xmlns:a16="http://schemas.microsoft.com/office/drawing/2014/main" id="{FB5750DC-E171-43CC-9B8B-B3451C0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958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~1,830 departments × 250 × $300</a:t>
            </a:r>
          </a:p>
        </p:txBody>
      </p:sp>
      <p:sp>
        <p:nvSpPr>
          <p:cNvPr id="41" name="som-collegiate-value">
            <a:extLst xmlns:a="http://schemas.openxmlformats.org/drawingml/2006/main">
              <a:ext uri="{FF2B5EF4-FFF2-40B4-BE49-F238E27FC236}">
                <a16:creationId xmlns:a16="http://schemas.microsoft.com/office/drawing/2014/main" id="{371F75FF-0073-4531-88DE-C8A0C5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529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$137M</a:t>
            </a:r>
          </a:p>
        </p:txBody>
      </p:sp>
      <p:sp>
        <p:nvSpPr>
          <p:cNvPr id="42" name="som-clinics-title">
            <a:extLst xmlns:a="http://schemas.openxmlformats.org/drawingml/2006/main">
              <a:ext uri="{FF2B5EF4-FFF2-40B4-BE49-F238E27FC236}">
                <a16:creationId xmlns:a16="http://schemas.microsoft.com/office/drawing/2014/main" id="{4E199526-650E-40B7-A2BE-B532513F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91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F5F6F7"/>
                </a:solidFill>
                <a:latin typeface="Arial"/>
                <a:ea typeface="Arial"/>
                <a:cs typeface="Arial"/>
              </a:rPr>
              <a:t>Performance clinics</a:t>
            </a:r>
          </a:p>
        </p:txBody>
      </p:sp>
      <p:sp>
        <p:nvSpPr>
          <p:cNvPr id="43" name="som-clinics-math">
            <a:extLst xmlns:a="http://schemas.openxmlformats.org/drawingml/2006/main">
              <a:ext uri="{FF2B5EF4-FFF2-40B4-BE49-F238E27FC236}">
                <a16:creationId xmlns:a16="http://schemas.microsoft.com/office/drawing/2014/main" id="{A01F70DF-B76B-44B7-AD5B-316E2AF1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91150"/>
            <a:ext cx="2095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A9FAA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A9FAA"/>
                </a:solidFill>
                <a:latin typeface="Arial"/>
                <a:ea typeface="Arial"/>
                <a:cs typeface="Arial"/>
              </a:rPr>
              <a:t>Current segment estimate</a:t>
            </a:r>
          </a:p>
        </p:txBody>
      </p:sp>
      <p:sp>
        <p:nvSpPr>
          <p:cNvPr id="44" name="som-clinics-value">
            <a:extLst xmlns:a="http://schemas.openxmlformats.org/drawingml/2006/main">
              <a:ext uri="{FF2B5EF4-FFF2-40B4-BE49-F238E27FC236}">
                <a16:creationId xmlns:a16="http://schemas.microsoft.com/office/drawing/2014/main" id="{BD8FCB0D-CDAB-4EAE-94C5-22481188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48275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$75M</a:t>
            </a:r>
          </a:p>
        </p:txBody>
      </p:sp>
      <p:sp>
        <p:nvSpPr>
          <p:cNvPr id="45" name="som-capture-band">
            <a:extLst xmlns:a="http://schemas.openxmlformats.org/drawingml/2006/main">
              <a:ext uri="{FF2B5EF4-FFF2-40B4-BE49-F238E27FC236}">
                <a16:creationId xmlns:a16="http://schemas.microsoft.com/office/drawing/2014/main" id="{7BFFB77A-55C3-411E-89B7-53BCBDC6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81650"/>
            <a:ext cx="2971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B2113"/>
          </a:solidFill>
          <a:ln xmlns:a="http://schemas.openxmlformats.org/drawingml/2006/main" w="9525">
            <a:solidFill>
              <a:srgbClr val="5D7300"/>
            </a:solidFill>
            <a:prstDash val="solid"/>
          </a:ln>
        </p:spPr>
      </p:sp>
      <p:sp>
        <p:nvSpPr>
          <p:cNvPr id="46" name="som-capture-copy">
            <a:extLst xmlns:a="http://schemas.openxmlformats.org/drawingml/2006/main">
              <a:ext uri="{FF2B5EF4-FFF2-40B4-BE49-F238E27FC236}">
                <a16:creationId xmlns:a16="http://schemas.microsoft.com/office/drawing/2014/main" id="{040F028A-0A13-4BA8-BC11-E3F08226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65785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1% PENETRATION  ≈  $17M ARR</a:t>
            </a:r>
          </a:p>
        </p:txBody>
      </p:sp>
      <p:sp>
        <p:nvSpPr>
          <p:cNvPr id="47" name="bottoms-up-method">
            <a:extLst xmlns:a="http://schemas.openxmlformats.org/drawingml/2006/main">
              <a:ext uri="{FF2B5EF4-FFF2-40B4-BE49-F238E27FC236}">
                <a16:creationId xmlns:a16="http://schemas.microsoft.com/office/drawing/2014/main" id="{DE44C824-B8EE-494B-8D04-804CAA3B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Land at 250 athletes  •  expand toward full department  •  $300 per athlete per year</a:t>
            </a:r>
          </a:p>
        </p:txBody>
      </p:sp>
      <p:sp>
        <p:nvSpPr>
          <p:cNvPr id="48" name="bottoms-up-sources">
            <a:extLst xmlns:a="http://schemas.openxmlformats.org/drawingml/2006/main">
              <a:ext uri="{FF2B5EF4-FFF2-40B4-BE49-F238E27FC236}">
                <a16:creationId xmlns:a16="http://schemas.microsoft.com/office/drawing/2014/main" id="{C4CF6BD8-FC73-47AB-A198-F3F1132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F7580"/>
                </a:solidFill>
                <a:latin typeface="Arial"/>
                <a:ea typeface="Arial"/>
                <a:cs typeface="Arial"/>
              </a:rPr>
              <a:t>Sources: BLS (Jun. 2026); NFHS (2024-25); NCAA, NAIA and NJCAA membership; Pulse pricing assumptions.</a:t>
            </a:r>
          </a:p>
        </p:txBody>
      </p:sp>
    </p:spTree>
    <p:extLst>
      <p:ext uri="{BB962C8B-B14F-4D97-AF65-F5344CB8AC3E}">
        <p14:creationId xmlns:p14="http://schemas.microsoft.com/office/powerpoint/2010/main" val="1126733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2026-07-27T23:39:43.3290000Z</dcterms:created>
  <dcterms:modified xsi:type="dcterms:W3CDTF">2026-07-27T23:39:43.3290000Z</dcterms:modified>
</coreProperties>
</file>