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6cf1925d6d43fa" /><Relationship Type="http://schemas.openxmlformats.org/officeDocument/2006/relationships/extended-properties" Target="/docProps/app.xml" Id="R3292ca4ddcc349c9" /><Relationship Type="http://schemas.openxmlformats.org/officeDocument/2006/relationships/officeDocument" Target="/ppt/presentation.xml" Id="Ra3c1cd2faac740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795ac3fcac4a8b"/>
  </p:sldMasterIdLst>
  <p:notesMasterIdLst>
    <p:notesMasterId xmlns:r="http://schemas.openxmlformats.org/officeDocument/2006/relationships" r:id="R3676c51dd8064af9"/>
  </p:notesMasterIdLst>
  <p:sldIdLst>
    <p:sldId xmlns:r="http://schemas.openxmlformats.org/officeDocument/2006/relationships" id="256" r:id="Ra31058a5e8a048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9db387e70482d" /><Relationship Type="http://schemas.openxmlformats.org/officeDocument/2006/relationships/slideMaster" Target="/ppt/slideMasters/slideMaster1.xml" Id="Re8795ac3fcac4a8b" /><Relationship Type="http://schemas.openxmlformats.org/officeDocument/2006/relationships/notesMaster" Target="/ppt/notesMasters/notesMaster1.xml" Id="R3676c51dd8064af9" /><Relationship Type="http://schemas.openxmlformats.org/officeDocument/2006/relationships/presProps" Target="/ppt/presProps.xml" Id="Raac85217a2b5401d" /><Relationship Type="http://schemas.openxmlformats.org/officeDocument/2006/relationships/tableStyles" Target="/ppt/tableStyles.xml" Id="Re274ed126dc542ee" /><Relationship Type="http://schemas.openxmlformats.org/officeDocument/2006/relationships/slide" Target="/ppt/slides/slide1.xml" Id="Ra31058a5e8a0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3a399d2fc9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09c6cb317f45cf" /><Relationship Type="http://schemas.openxmlformats.org/officeDocument/2006/relationships/notesMaster" Target="/ppt/notesMasters/notesMaster1.xml" Id="Rcd7f96a3e4e74c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Pulse raise terms and use-of-funds allocations totaling $1.4M.</a:t>
            </a:r>
          </a:p>
          <a:p xmlns:a="http://schemas.openxmlformats.org/drawingml/2006/main">
            <a:r>
              <a:t>- User-approved operating assumptions from the revenue roadmap: 14 athletic departments, 250 athletes per department, $300 per athlete annually, $1.05M ARR, and a $5M qualified pipeline target.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882ec5751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9d820257f446ad" /><Relationship Type="http://schemas.openxmlformats.org/officeDocument/2006/relationships/slideLayout" Target="/ppt/slideLayouts/slideLayout1.xml" Id="R78d354b02fc74b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354b02fc74b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1f67c23584297" /><Relationship Type="http://schemas.openxmlformats.org/officeDocument/2006/relationships/image" Target="/ppt/media/image.png" Id="Rcd7b3d441dec4e0d" /><Relationship Type="http://schemas.openxmlformats.org/officeDocument/2006/relationships/notesSlide" Target="/ppt/notesSlides/notesSlide1.xml" Id="Rf08eff38a78e4b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ask-eyebrow">
            <a:extLst xmlns:a="http://schemas.openxmlformats.org/drawingml/2006/main">
              <a:ext uri="{FF2B5EF4-FFF2-40B4-BE49-F238E27FC236}">
                <a16:creationId xmlns:a16="http://schemas.microsoft.com/office/drawing/2014/main" id="{3EFB7C36-0CBC-45A8-8E53-E4E539BC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THE ASK</a:t>
            </a:r>
          </a:p>
        </p:txBody>
      </p:sp>
      <p:sp>
        <p:nvSpPr>
          <p:cNvPr id="2" name="raise-meta">
            <a:extLst xmlns:a="http://schemas.openxmlformats.org/drawingml/2006/main">
              <a:ext uri="{FF2B5EF4-FFF2-40B4-BE49-F238E27FC236}">
                <a16:creationId xmlns:a16="http://schemas.microsoft.com/office/drawing/2014/main" id="{EB8EA498-9E31-46C1-90D1-F16CAF7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PRE-SEED  •  $10M PRE-MONEY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41F82F-FE4F-42E0-915E-407BEC60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792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Raising </a:t>
            </a:r>
            <a:r>
              <a:rPr sz="32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$1.4M</a:t>
            </a:r>
            <a:r>
              <a:rPr sz="322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to validate the model and reach </a:t>
            </a:r>
            <a:r>
              <a:rPr sz="32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$1M ARR.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774887-31DF-4755-B97D-715B6868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9A9FAA"/>
                </a:solidFill>
                <a:latin typeface="Arial"/>
                <a:ea typeface="Arial"/>
                <a:cs typeface="Arial"/>
              </a:rPr>
              <a:t>This round funds the product, evidence and GTM engine required to establish a repeatable college-athletics beachhead.</a:t>
            </a:r>
          </a:p>
        </p:txBody>
      </p:sp>
      <p:sp>
        <p:nvSpPr>
          <p:cNvPr id="5" name="funds-heading">
            <a:extLst xmlns:a="http://schemas.openxmlformats.org/drawingml/2006/main">
              <a:ext uri="{FF2B5EF4-FFF2-40B4-BE49-F238E27FC236}">
                <a16:creationId xmlns:a16="http://schemas.microsoft.com/office/drawing/2014/main" id="{2D00D479-B5EA-4466-91D4-BAD08676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USE OF FUNDS</a:t>
            </a:r>
          </a:p>
        </p:txBody>
      </p:sp>
      <p:sp>
        <p:nvSpPr>
          <p:cNvPr id="6" name="milestones-heading">
            <a:extLst xmlns:a="http://schemas.openxmlformats.org/drawingml/2006/main">
              <a:ext uri="{FF2B5EF4-FFF2-40B4-BE49-F238E27FC236}">
                <a16:creationId xmlns:a16="http://schemas.microsoft.com/office/drawing/2014/main" id="{B489CBDA-12FB-480F-BE02-4DCFE41B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MILESTONES THIS ROUND UNLOCKS</a:t>
            </a:r>
          </a:p>
        </p:txBody>
      </p:sp>
      <p:sp>
        <p:nvSpPr>
          <p:cNvPr id="7" name="use-of-funds-surface">
            <a:extLst xmlns:a="http://schemas.openxmlformats.org/drawingml/2006/main">
              <a:ext uri="{FF2B5EF4-FFF2-40B4-BE49-F238E27FC236}">
                <a16:creationId xmlns:a16="http://schemas.microsoft.com/office/drawing/2014/main" id="{BB803ED1-2F99-4B63-9D8F-236217CB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90800"/>
            <a:ext cx="52768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b3d441dec4e0d"/>
          <a:stretch xmlns:a="http://schemas.openxmlformats.org/drawingml/2006/main"/>
        </p:blipFill>
        <p:spPr>
          <a:xfrm xmlns:a="http://schemas.openxmlformats.org/drawingml/2006/main">
            <a:off x="514350" y="262890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funds-total">
            <a:extLst xmlns:a="http://schemas.openxmlformats.org/drawingml/2006/main">
              <a:ext uri="{FF2B5EF4-FFF2-40B4-BE49-F238E27FC236}">
                <a16:creationId xmlns:a16="http://schemas.microsoft.com/office/drawing/2014/main" id="{1EBE507E-E636-432C-A9CA-4A1C3C9C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$1.4M TOTAL</a:t>
            </a:r>
          </a:p>
        </p:txBody>
      </p:sp>
      <p:sp>
        <p:nvSpPr>
          <p:cNvPr id="10" name="engineering-dot">
            <a:extLst xmlns:a="http://schemas.openxmlformats.org/drawingml/2006/main">
              <a:ext uri="{FF2B5EF4-FFF2-40B4-BE49-F238E27FC236}">
                <a16:creationId xmlns:a16="http://schemas.microsoft.com/office/drawing/2014/main" id="{B22FC51C-3F00-422D-A3B8-446DADF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90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CFF"/>
          </a:solidFill>
          <a:ln xmlns:a="http://schemas.openxmlformats.org/drawingml/2006/main" w="0">
            <a:solidFill>
              <a:srgbClr val="4E8CFF"/>
            </a:solidFill>
            <a:prstDash val="solid"/>
          </a:ln>
        </p:spPr>
      </p:sp>
      <p:sp>
        <p:nvSpPr>
          <p:cNvPr id="11" name="engineering-label">
            <a:extLst xmlns:a="http://schemas.openxmlformats.org/drawingml/2006/main">
              <a:ext uri="{FF2B5EF4-FFF2-40B4-BE49-F238E27FC236}">
                <a16:creationId xmlns:a16="http://schemas.microsoft.com/office/drawing/2014/main" id="{C91C1187-1224-4762-8BB6-388E0127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12" name="engineering-value">
            <a:extLst xmlns:a="http://schemas.openxmlformats.org/drawingml/2006/main">
              <a:ext uri="{FF2B5EF4-FFF2-40B4-BE49-F238E27FC236}">
                <a16:creationId xmlns:a16="http://schemas.microsoft.com/office/drawing/2014/main" id="{22F28C69-BE76-4640-B6AC-F1097FFD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527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$450K · 32%</a:t>
            </a:r>
          </a:p>
        </p:txBody>
      </p:sp>
      <p:sp>
        <p:nvSpPr>
          <p:cNvPr id="13" name="gtm-dot">
            <a:extLst xmlns:a="http://schemas.openxmlformats.org/drawingml/2006/main">
              <a:ext uri="{FF2B5EF4-FFF2-40B4-BE49-F238E27FC236}">
                <a16:creationId xmlns:a16="http://schemas.microsoft.com/office/drawing/2014/main" id="{310154F8-12B2-4D73-9E71-04CC061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22E"/>
          </a:solidFill>
          <a:ln xmlns:a="http://schemas.openxmlformats.org/drawingml/2006/main" w="0">
            <a:solidFill>
              <a:srgbClr val="FFA22E"/>
            </a:solidFill>
            <a:prstDash val="solid"/>
          </a:ln>
        </p:spPr>
      </p:sp>
      <p:sp>
        <p:nvSpPr>
          <p:cNvPr id="14" name="gtm-label">
            <a:extLst xmlns:a="http://schemas.openxmlformats.org/drawingml/2006/main">
              <a:ext uri="{FF2B5EF4-FFF2-40B4-BE49-F238E27FC236}">
                <a16:creationId xmlns:a16="http://schemas.microsoft.com/office/drawing/2014/main" id="{6347BF93-14CD-4D61-9E4A-DE1F0AF4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099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GTM + marketing</a:t>
            </a:r>
          </a:p>
        </p:txBody>
      </p:sp>
      <p:sp>
        <p:nvSpPr>
          <p:cNvPr id="15" name="gtm-value">
            <a:extLst xmlns:a="http://schemas.openxmlformats.org/drawingml/2006/main">
              <a:ext uri="{FF2B5EF4-FFF2-40B4-BE49-F238E27FC236}">
                <a16:creationId xmlns:a16="http://schemas.microsoft.com/office/drawing/2014/main" id="{F0C76054-78C9-4BBF-ADA1-377FD9FA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99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FFA22E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FFA22E"/>
                </a:solidFill>
                <a:latin typeface="Arial"/>
                <a:ea typeface="Arial"/>
                <a:cs typeface="Arial"/>
              </a:rPr>
              <a:t>$300K · 21%</a:t>
            </a:r>
          </a:p>
        </p:txBody>
      </p:sp>
      <p:sp>
        <p:nvSpPr>
          <p:cNvPr id="16" name="runway-dot">
            <a:extLst xmlns:a="http://schemas.openxmlformats.org/drawingml/2006/main">
              <a:ext uri="{FF2B5EF4-FFF2-40B4-BE49-F238E27FC236}">
                <a16:creationId xmlns:a16="http://schemas.microsoft.com/office/drawing/2014/main" id="{4755A526-3EEF-49DD-B15C-8C8B6E7E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929A"/>
          </a:solidFill>
          <a:ln xmlns:a="http://schemas.openxmlformats.org/drawingml/2006/main" w="0">
            <a:solidFill>
              <a:srgbClr val="8D929A"/>
            </a:solidFill>
            <a:prstDash val="solid"/>
          </a:ln>
        </p:spPr>
      </p:sp>
      <p:sp>
        <p:nvSpPr>
          <p:cNvPr id="17" name="runway-label">
            <a:extLst xmlns:a="http://schemas.openxmlformats.org/drawingml/2006/main">
              <a:ext uri="{FF2B5EF4-FFF2-40B4-BE49-F238E27FC236}">
                <a16:creationId xmlns:a16="http://schemas.microsoft.com/office/drawing/2014/main" id="{68524A89-31A7-402C-93F4-329FB1AE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Operating runway</a:t>
            </a:r>
          </a:p>
        </p:txBody>
      </p:sp>
      <p:sp>
        <p:nvSpPr>
          <p:cNvPr id="18" name="runway-value">
            <a:extLst xmlns:a="http://schemas.openxmlformats.org/drawingml/2006/main">
              <a:ext uri="{FF2B5EF4-FFF2-40B4-BE49-F238E27FC236}">
                <a16:creationId xmlns:a16="http://schemas.microsoft.com/office/drawing/2014/main" id="{A3ADBF86-199F-43F4-9C49-86B9BC8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671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8D929A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8D929A"/>
                </a:solidFill>
                <a:latin typeface="Arial"/>
                <a:ea typeface="Arial"/>
                <a:cs typeface="Arial"/>
              </a:rPr>
              <a:t>$250K · 18%</a:t>
            </a:r>
          </a:p>
        </p:txBody>
      </p:sp>
      <p:sp>
        <p:nvSpPr>
          <p:cNvPr id="19" name="partnerships-dot">
            <a:extLst xmlns:a="http://schemas.openxmlformats.org/drawingml/2006/main">
              <a:ext uri="{FF2B5EF4-FFF2-40B4-BE49-F238E27FC236}">
                <a16:creationId xmlns:a16="http://schemas.microsoft.com/office/drawing/2014/main" id="{000B7828-4DC0-474A-B1D2-76CADFD3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solidFill>
              <a:srgbClr val="9A78FF"/>
            </a:solidFill>
            <a:prstDash val="solid"/>
          </a:ln>
        </p:spPr>
      </p:sp>
      <p:sp>
        <p:nvSpPr>
          <p:cNvPr id="20" name="partnerships-label">
            <a:extLst xmlns:a="http://schemas.openxmlformats.org/drawingml/2006/main">
              <a:ext uri="{FF2B5EF4-FFF2-40B4-BE49-F238E27FC236}">
                <a16:creationId xmlns:a16="http://schemas.microsoft.com/office/drawing/2014/main" id="{CA777BAD-ADF5-47A5-9E1A-F38700E7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243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Partnerships</a:t>
            </a:r>
          </a:p>
        </p:txBody>
      </p:sp>
      <p:sp>
        <p:nvSpPr>
          <p:cNvPr id="21" name="partnerships-value">
            <a:extLst xmlns:a="http://schemas.openxmlformats.org/drawingml/2006/main">
              <a:ext uri="{FF2B5EF4-FFF2-40B4-BE49-F238E27FC236}">
                <a16:creationId xmlns:a16="http://schemas.microsoft.com/office/drawing/2014/main" id="{B08A4625-4450-4FE3-920A-B700DC6F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243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$150K · 11%</a:t>
            </a:r>
          </a:p>
        </p:txBody>
      </p:sp>
      <p:sp>
        <p:nvSpPr>
          <p:cNvPr id="22" name="science-dot">
            <a:extLst xmlns:a="http://schemas.openxmlformats.org/drawingml/2006/main">
              <a:ext uri="{FF2B5EF4-FFF2-40B4-BE49-F238E27FC236}">
                <a16:creationId xmlns:a16="http://schemas.microsoft.com/office/drawing/2014/main" id="{AF7DB6EA-5E9A-4049-9B35-E9FFA921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A5"/>
          </a:solidFill>
          <a:ln xmlns:a="http://schemas.openxmlformats.org/drawingml/2006/main" w="0">
            <a:solidFill>
              <a:srgbClr val="F45AA5"/>
            </a:solidFill>
            <a:prstDash val="solid"/>
          </a:ln>
        </p:spPr>
      </p:sp>
      <p:sp>
        <p:nvSpPr>
          <p:cNvPr id="23" name="science-label">
            <a:extLst xmlns:a="http://schemas.openxmlformats.org/drawingml/2006/main">
              <a:ext uri="{FF2B5EF4-FFF2-40B4-BE49-F238E27FC236}">
                <a16:creationId xmlns:a16="http://schemas.microsoft.com/office/drawing/2014/main" id="{A87915BD-64A8-4EB1-84C3-456B08A6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815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Performance science</a:t>
            </a:r>
          </a:p>
        </p:txBody>
      </p:sp>
      <p:sp>
        <p:nvSpPr>
          <p:cNvPr id="24" name="science-value">
            <a:extLst xmlns:a="http://schemas.openxmlformats.org/drawingml/2006/main">
              <a:ext uri="{FF2B5EF4-FFF2-40B4-BE49-F238E27FC236}">
                <a16:creationId xmlns:a16="http://schemas.microsoft.com/office/drawing/2014/main" id="{585EF671-DE8C-4BA7-9084-AF1A0651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815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F45AA5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F45AA5"/>
                </a:solidFill>
                <a:latin typeface="Arial"/>
                <a:ea typeface="Arial"/>
                <a:cs typeface="Arial"/>
              </a:rPr>
              <a:t>$150K · 11%</a:t>
            </a:r>
          </a:p>
        </p:txBody>
      </p:sp>
      <p:sp>
        <p:nvSpPr>
          <p:cNvPr id="25" name="rd-dot">
            <a:extLst xmlns:a="http://schemas.openxmlformats.org/drawingml/2006/main">
              <a:ext uri="{FF2B5EF4-FFF2-40B4-BE49-F238E27FC236}">
                <a16:creationId xmlns:a16="http://schemas.microsoft.com/office/drawing/2014/main" id="{E55027B8-7CD5-45BC-BF3B-3D2A1D23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0">
            <a:solidFill>
              <a:srgbClr val="C8FF00"/>
            </a:solidFill>
            <a:prstDash val="solid"/>
          </a:ln>
        </p:spPr>
      </p:sp>
      <p:sp>
        <p:nvSpPr>
          <p:cNvPr id="26" name="rd-label">
            <a:extLst xmlns:a="http://schemas.openxmlformats.org/drawingml/2006/main">
              <a:ext uri="{FF2B5EF4-FFF2-40B4-BE49-F238E27FC236}">
                <a16:creationId xmlns:a16="http://schemas.microsoft.com/office/drawing/2014/main" id="{DF10658C-49DE-465C-9906-A87CA479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387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Product R&amp;D</a:t>
            </a:r>
          </a:p>
        </p:txBody>
      </p:sp>
      <p:sp>
        <p:nvSpPr>
          <p:cNvPr id="27" name="rd-value">
            <a:extLst xmlns:a="http://schemas.openxmlformats.org/drawingml/2006/main">
              <a:ext uri="{FF2B5EF4-FFF2-40B4-BE49-F238E27FC236}">
                <a16:creationId xmlns:a16="http://schemas.microsoft.com/office/drawing/2014/main" id="{80613A1D-8392-4DA8-97DD-1C8AB258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387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$100K · 7%</a:t>
            </a:r>
          </a:p>
        </p:txBody>
      </p:sp>
      <p:sp>
        <p:nvSpPr>
          <p:cNvPr id="28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7F75AFB6-CA8F-42F7-8D41-02FFAD22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9525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ilestone-01-number">
            <a:extLst xmlns:a="http://schemas.openxmlformats.org/drawingml/2006/main">
              <a:ext uri="{FF2B5EF4-FFF2-40B4-BE49-F238E27FC236}">
                <a16:creationId xmlns:a16="http://schemas.microsoft.com/office/drawing/2014/main" id="{7AAE2BFC-D556-4B68-86D3-C2C6F23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146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milestone-01-title">
            <a:extLst xmlns:a="http://schemas.openxmlformats.org/drawingml/2006/main">
              <a:ext uri="{FF2B5EF4-FFF2-40B4-BE49-F238E27FC236}">
                <a16:creationId xmlns:a16="http://schemas.microsoft.com/office/drawing/2014/main" id="{E0E7D0C6-0A83-4353-BC1D-53C41505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05100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Validate the product</a:t>
            </a:r>
          </a:p>
        </p:txBody>
      </p:sp>
      <p:sp>
        <p:nvSpPr>
          <p:cNvPr id="31" name="milestone-01-body">
            <a:extLst xmlns:a="http://schemas.openxmlformats.org/drawingml/2006/main">
              <a:ext uri="{FF2B5EF4-FFF2-40B4-BE49-F238E27FC236}">
                <a16:creationId xmlns:a16="http://schemas.microsoft.com/office/drawing/2014/main" id="{96EA08EE-5BE7-46F0-BA25-57961C9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Deploy an institution-ready platform across three paid pilots with repeatable onboarding, reporting and implementation.</a:t>
            </a:r>
          </a:p>
        </p:txBody>
      </p:sp>
      <p:sp>
        <p:nvSpPr>
          <p:cNvPr id="32" name="milestone-divider-one">
            <a:extLst xmlns:a="http://schemas.openxmlformats.org/drawingml/2006/main">
              <a:ext uri="{FF2B5EF4-FFF2-40B4-BE49-F238E27FC236}">
                <a16:creationId xmlns:a16="http://schemas.microsoft.com/office/drawing/2014/main" id="{51DC0E87-D1C3-4471-9658-0EADF16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3852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ilestone-02-number">
            <a:extLst xmlns:a="http://schemas.openxmlformats.org/drawingml/2006/main">
              <a:ext uri="{FF2B5EF4-FFF2-40B4-BE49-F238E27FC236}">
                <a16:creationId xmlns:a16="http://schemas.microsoft.com/office/drawing/2014/main" id="{E14F8BC2-6241-4EF1-9693-D9DE7A8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milestone-02-title">
            <a:extLst xmlns:a="http://schemas.openxmlformats.org/drawingml/2006/main">
              <a:ext uri="{FF2B5EF4-FFF2-40B4-BE49-F238E27FC236}">
                <a16:creationId xmlns:a16="http://schemas.microsoft.com/office/drawing/2014/main" id="{E6EDD7C2-8F8A-4DEF-B97B-1F445AF7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9975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Prove measurable outcomes</a:t>
            </a:r>
          </a:p>
        </p:txBody>
      </p:sp>
      <p:sp>
        <p:nvSpPr>
          <p:cNvPr id="35" name="milestone-02-body">
            <a:extLst xmlns:a="http://schemas.openxmlformats.org/drawingml/2006/main">
              <a:ext uri="{FF2B5EF4-FFF2-40B4-BE49-F238E27FC236}">
                <a16:creationId xmlns:a16="http://schemas.microsoft.com/office/drawing/2014/main" id="{E9FA33B5-0FF5-47A2-8814-29055799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957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Establish institutional case studies and credible athlete-engagement benchmarks.</a:t>
            </a:r>
          </a:p>
        </p:txBody>
      </p:sp>
      <p:sp>
        <p:nvSpPr>
          <p:cNvPr id="36" name="milestone-divider-two">
            <a:extLst xmlns:a="http://schemas.openxmlformats.org/drawingml/2006/main">
              <a:ext uri="{FF2B5EF4-FFF2-40B4-BE49-F238E27FC236}">
                <a16:creationId xmlns:a16="http://schemas.microsoft.com/office/drawing/2014/main" id="{85C3EF20-B726-4D71-B45B-E2AE3998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ilestone-03-number">
            <a:extLst xmlns:a="http://schemas.openxmlformats.org/drawingml/2006/main">
              <a:ext uri="{FF2B5EF4-FFF2-40B4-BE49-F238E27FC236}">
                <a16:creationId xmlns:a16="http://schemas.microsoft.com/office/drawing/2014/main" id="{65854FE0-05DA-436E-BE65-04912FA6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8" name="milestone-03-title">
            <a:extLst xmlns:a="http://schemas.openxmlformats.org/drawingml/2006/main">
              <a:ext uri="{FF2B5EF4-FFF2-40B4-BE49-F238E27FC236}">
                <a16:creationId xmlns:a16="http://schemas.microsoft.com/office/drawing/2014/main" id="{86768AA9-CEDF-424C-B242-3EE7585D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14850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Reach $1.05M ARR</a:t>
            </a:r>
          </a:p>
        </p:txBody>
      </p:sp>
      <p:sp>
        <p:nvSpPr>
          <p:cNvPr id="39" name="milestone-03-body">
            <a:extLst xmlns:a="http://schemas.openxmlformats.org/drawingml/2006/main">
              <a:ext uri="{FF2B5EF4-FFF2-40B4-BE49-F238E27FC236}">
                <a16:creationId xmlns:a16="http://schemas.microsoft.com/office/drawing/2014/main" id="{9C83999F-B76F-43AD-B320-1BAF2614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00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Convert 14 athletic departments and approximately 3,500 athletes into paid contracts.</a:t>
            </a:r>
          </a:p>
        </p:txBody>
      </p:sp>
      <p:sp>
        <p:nvSpPr>
          <p:cNvPr id="40" name="milestone-divider-three">
            <a:extLst xmlns:a="http://schemas.openxmlformats.org/drawingml/2006/main">
              <a:ext uri="{FF2B5EF4-FFF2-40B4-BE49-F238E27FC236}">
                <a16:creationId xmlns:a16="http://schemas.microsoft.com/office/drawing/2014/main" id="{DAE415AC-0C44-4AC7-9460-4CE73605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ilestone-04-number">
            <a:extLst xmlns:a="http://schemas.openxmlformats.org/drawingml/2006/main">
              <a:ext uri="{FF2B5EF4-FFF2-40B4-BE49-F238E27FC236}">
                <a16:creationId xmlns:a16="http://schemas.microsoft.com/office/drawing/2014/main" id="{AA5D1C26-30DF-4D43-A8E0-53499A1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29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A2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22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2" name="milestone-04-title">
            <a:extLst xmlns:a="http://schemas.openxmlformats.org/drawingml/2006/main">
              <a:ext uri="{FF2B5EF4-FFF2-40B4-BE49-F238E27FC236}">
                <a16:creationId xmlns:a16="http://schemas.microsoft.com/office/drawing/2014/main" id="{76F5A9E9-F841-498A-95AB-D7942F56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19725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Build a $5M qualified pipeline</a:t>
            </a:r>
          </a:p>
        </p:txBody>
      </p:sp>
      <p:sp>
        <p:nvSpPr>
          <p:cNvPr id="43" name="milestone-04-body">
            <a:extLst xmlns:a="http://schemas.openxmlformats.org/drawingml/2006/main">
              <a:ext uri="{FF2B5EF4-FFF2-40B4-BE49-F238E27FC236}">
                <a16:creationId xmlns:a16="http://schemas.microsoft.com/office/drawing/2014/main" id="{DE684821-2453-4AC5-A2FF-1667134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054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Create repeatable acquisition through the Council, industry conferences and elite youth events.</a:t>
            </a:r>
          </a:p>
        </p:txBody>
      </p:sp>
      <p:sp>
        <p:nvSpPr>
          <p:cNvPr id="44" name="next-round-band">
            <a:extLst xmlns:a="http://schemas.openxmlformats.org/drawingml/2006/main">
              <a:ext uri="{FF2B5EF4-FFF2-40B4-BE49-F238E27FC236}">
                <a16:creationId xmlns:a16="http://schemas.microsoft.com/office/drawing/2014/main" id="{02A276E5-9894-45D3-AFE7-B719B88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1D12"/>
          </a:solidFill>
          <a:ln xmlns:a="http://schemas.openxmlformats.org/drawingml/2006/main" w="9525">
            <a:solidFill>
              <a:srgbClr val="536A00"/>
            </a:solidFill>
            <a:prstDash val="solid"/>
          </a:ln>
        </p:spPr>
      </p:sp>
      <p:sp>
        <p:nvSpPr>
          <p:cNvPr id="45" name="next-round-trigger">
            <a:extLst xmlns:a="http://schemas.openxmlformats.org/drawingml/2006/main">
              <a:ext uri="{FF2B5EF4-FFF2-40B4-BE49-F238E27FC236}">
                <a16:creationId xmlns:a16="http://schemas.microsoft.com/office/drawing/2014/main" id="{378F693E-D6C8-4B73-8EF4-72CCF2BC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0775"/>
            <a:ext cx="1051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NEXT-ROUND TRIGGER  •  $1M+ ARR  •  VALIDATED OUTCOMES  •  REPEATABLE GTM  •  $5M QUALIFIED PIPELINE</a:t>
            </a:r>
          </a:p>
        </p:txBody>
      </p:sp>
      <p:sp>
        <p:nvSpPr>
          <p:cNvPr id="46" name="next-round-message">
            <a:extLst xmlns:a="http://schemas.openxmlformats.org/drawingml/2006/main">
              <a:ext uri="{FF2B5EF4-FFF2-40B4-BE49-F238E27FC236}">
                <a16:creationId xmlns:a16="http://schemas.microsoft.com/office/drawing/2014/main" id="{266E1A68-90CA-4EAF-8FEC-CC32C669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91275"/>
            <a:ext cx="1051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38" b="1" i="1">
                <a:solidFill>
                  <a:srgbClr val="F5F6F7"/>
                </a:solidFill>
                <a:latin typeface="Arial"/>
                <a:ea typeface="Arial"/>
                <a:cs typeface="Arial"/>
              </a:rPr>
              <a:t>The next round funds scale—not validation.</a:t>
            </a:r>
          </a:p>
        </p:txBody>
      </p:sp>
    </p:spTree>
    <p:extLst>
      <p:ext uri="{BB962C8B-B14F-4D97-AF65-F5344CB8AC3E}">
        <p14:creationId xmlns:p14="http://schemas.microsoft.com/office/powerpoint/2010/main" val="1958150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2026-07-28T01:33:17.6820000Z</dcterms:created>
  <dcterms:modified xsi:type="dcterms:W3CDTF">2026-07-28T01:33:17.6820000Z</dcterms:modified>
</coreProperties>
</file>