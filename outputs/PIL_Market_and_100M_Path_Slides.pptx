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0bed94c34446c7" /><Relationship Type="http://schemas.openxmlformats.org/officeDocument/2006/relationships/extended-properties" Target="/docProps/app.xml" Id="Rd51782d1b264496c" /><Relationship Type="http://schemas.openxmlformats.org/officeDocument/2006/relationships/officeDocument" Target="/ppt/presentation.xml" Id="Rd0181fbf3a984a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42cf6a33404987"/>
  </p:sldMasterIdLst>
  <p:notesMasterIdLst>
    <p:notesMasterId xmlns:r="http://schemas.openxmlformats.org/officeDocument/2006/relationships" r:id="R9497043ff57c492d"/>
  </p:notesMasterIdLst>
  <p:sldIdLst>
    <p:sldId xmlns:r="http://schemas.openxmlformats.org/officeDocument/2006/relationships" id="256" r:id="R10ddb4f65e1a43fd"/>
    <p:sldId xmlns:r="http://schemas.openxmlformats.org/officeDocument/2006/relationships" id="257" r:id="R67935b1d981c40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2905cd2f4f4c83" /><Relationship Type="http://schemas.openxmlformats.org/officeDocument/2006/relationships/slideMaster" Target="/ppt/slideMasters/slideMaster1.xml" Id="R2242cf6a33404987" /><Relationship Type="http://schemas.openxmlformats.org/officeDocument/2006/relationships/notesMaster" Target="/ppt/notesMasters/notesMaster1.xml" Id="R9497043ff57c492d" /><Relationship Type="http://schemas.openxmlformats.org/officeDocument/2006/relationships/presProps" Target="/ppt/presProps.xml" Id="R0d2ab8f4055d4cbe" /><Relationship Type="http://schemas.openxmlformats.org/officeDocument/2006/relationships/tableStyles" Target="/ppt/tableStyles.xml" Id="R4dfb96c989d442e0" /><Relationship Type="http://schemas.openxmlformats.org/officeDocument/2006/relationships/slide" Target="/ppt/slides/slide1.xml" Id="R10ddb4f65e1a43fd" /><Relationship Type="http://schemas.openxmlformats.org/officeDocument/2006/relationships/slide" Target="/ppt/slides/slide2.xml" Id="R67935b1d981c40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1f9e891b3b4d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da863aa74e44fe" /><Relationship Type="http://schemas.openxmlformats.org/officeDocument/2006/relationships/notesMaster" Target="/ppt/notesMasters/notesMaster1.xml" Id="R9e210c60e8cd4a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c1b0bf97d44a71" /><Relationship Type="http://schemas.openxmlformats.org/officeDocument/2006/relationships/notesMaster" Target="/ppt/notesMasters/notesMaster1.xml" Id="R6955e773619946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https://www.bls.gov/news.release/empsit.a.htm</a:t>
            </a:r>
          </a:p>
          <a:p xmlns:a="http://schemas.openxmlformats.org/drawingml/2006/main">
            <a:r>
              <a:t>- https://www.nfhs.org/stories/participation-in-high-school-sports-hits-record-high-with-sizable-increase-in-2024-25</a:t>
            </a:r>
          </a:p>
          <a:p xmlns:a="http://schemas.openxmlformats.org/drawingml/2006/main">
            <a:r>
              <a:t>- https://www.ncaa.org/about-us/membership-directory/membership-composition-and-sport-sponsorship/</a:t>
            </a:r>
          </a:p>
          <a:p xmlns:a="http://schemas.openxmlformats.org/drawingml/2006/main">
            <a:r>
              <a:t>- https://www.naia.org/wp-content/uploads/2026/07/2026-2027_NAIA_Institutions.pdf</a:t>
            </a:r>
          </a:p>
          <a:p xmlns:a="http://schemas.openxmlformats.org/drawingml/2006/main">
            <a:r>
              <a:t>- https://njcaa.prestosports.com/general/2025-26/releases/20260120kfjtbj</a:t>
            </a:r>
          </a:p>
          <a:p xmlns:a="http://schemas.openxmlformats.org/drawingml/2006/main">
            <a:r>
              <a:t>- User-provided Pulse assumptions: $300 per athlete/year; $50 per student or workforce seat/year; 250-athlete landing deployment; $155M adjacent channels; $75M performance clinic segment.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Pulse operating assumptions: $300 per athlete/year; $400K campus-wide license; $15K performance clinic contract; $21K sports medicine contract; two-year contract value measured at 2× ARR.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dbb15e1a4c4d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0477520dfe4957" /><Relationship Type="http://schemas.openxmlformats.org/officeDocument/2006/relationships/slideLayout" Target="/ppt/slideLayouts/slideLayout1.xml" Id="R0f518513db4c44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518513db4c44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3e8c2f0aa4897" /><Relationship Type="http://schemas.openxmlformats.org/officeDocument/2006/relationships/notesSlide" Target="/ppt/notesSlides/notesSlide1.xml" Id="R536be4442f4442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98bf3276b4bb4" /><Relationship Type="http://schemas.openxmlformats.org/officeDocument/2006/relationships/notesSlide" Target="/ppt/notesSlides/notesSlide2.xml" Id="Rd309cfc8c76848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bottom-up-market-eyebrow">
            <a:extLst xmlns:a="http://schemas.openxmlformats.org/drawingml/2006/main">
              <a:ext uri="{FF2B5EF4-FFF2-40B4-BE49-F238E27FC236}">
                <a16:creationId xmlns:a16="http://schemas.microsoft.com/office/drawing/2014/main" id="{9ABF48A2-C218-43BF-A09A-2EFC5394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1717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519"/>
          </a:solidFill>
          <a:ln xmlns:a="http://schemas.openxmlformats.org/drawingml/2006/main" w="9525">
            <a:solidFill>
              <a:srgbClr val="2B2F35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●</a:t>
            </a:r>
            <a:r>
              <a:rPr sz="105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  BOTTOM-UP MARKET</a:t>
            </a:r>
          </a:p>
        </p:txBody>
      </p:sp>
      <p:sp>
        <p:nvSpPr>
          <p:cNvPr id="2" name="bottoms-up-title">
            <a:extLst xmlns:a="http://schemas.openxmlformats.org/drawingml/2006/main">
              <a:ext uri="{FF2B5EF4-FFF2-40B4-BE49-F238E27FC236}">
                <a16:creationId xmlns:a16="http://schemas.microsoft.com/office/drawing/2014/main" id="{79086932-46CA-4B25-9A17-73A74C55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97501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Pulse's </a:t>
            </a:r>
            <a:r>
              <a:rPr sz="360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$17.6B</a:t>
            </a:r>
            <a:r>
              <a:rPr sz="360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 U.S. opportunity starts with athletes.</a:t>
            </a:r>
          </a:p>
        </p:txBody>
      </p:sp>
      <p:sp>
        <p:nvSpPr>
          <p:cNvPr id="3" name="bottoms-up-subtitle">
            <a:extLst xmlns:a="http://schemas.openxmlformats.org/drawingml/2006/main">
              <a:ext uri="{FF2B5EF4-FFF2-40B4-BE49-F238E27FC236}">
                <a16:creationId xmlns:a16="http://schemas.microsoft.com/office/drawing/2014/main" id="{03E98D09-D3EB-44C4-9818-F3B95DE1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9A9FAA"/>
                </a:solidFill>
                <a:latin typeface="Arial"/>
                <a:ea typeface="Arial"/>
                <a:cs typeface="Arial"/>
              </a:rPr>
              <a:t>Every figure is countable buyers multiplied by PulseCheck's annual pricing.</a:t>
            </a:r>
          </a:p>
        </p:txBody>
      </p:sp>
      <p:sp>
        <p:nvSpPr>
          <p:cNvPr id="4" name="tam-card">
            <a:extLst xmlns:a="http://schemas.openxmlformats.org/drawingml/2006/main">
              <a:ext uri="{FF2B5EF4-FFF2-40B4-BE49-F238E27FC236}">
                <a16:creationId xmlns:a16="http://schemas.microsoft.com/office/drawing/2014/main" id="{A3828A63-72A3-4CC6-B1F6-AF760904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429000" cy="36766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21519"/>
          </a:solidFill>
          <a:ln xmlns:a="http://schemas.openxmlformats.org/drawingml/2006/main" w="9525">
            <a:solidFill>
              <a:srgbClr val="2B2F35"/>
            </a:solidFill>
            <a:prstDash val="solid"/>
          </a:ln>
        </p:spPr>
      </p:sp>
      <p:sp>
        <p:nvSpPr>
          <p:cNvPr id="5" name="tam-label">
            <a:extLst xmlns:a="http://schemas.openxmlformats.org/drawingml/2006/main">
              <a:ext uri="{FF2B5EF4-FFF2-40B4-BE49-F238E27FC236}">
                <a16:creationId xmlns:a16="http://schemas.microsoft.com/office/drawing/2014/main" id="{48AE0B46-89A8-4B89-9A1A-12CF3E6B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E8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E8CFF"/>
                </a:solidFill>
                <a:latin typeface="Arial"/>
                <a:ea typeface="Arial"/>
                <a:cs typeface="Arial"/>
              </a:rPr>
              <a:t>TAM  •  INSTITUTIONAL CHANNELS</a:t>
            </a:r>
          </a:p>
        </p:txBody>
      </p:sp>
      <p:sp>
        <p:nvSpPr>
          <p:cNvPr id="6" name="tam-amount">
            <a:extLst xmlns:a="http://schemas.openxmlformats.org/drawingml/2006/main">
              <a:ext uri="{FF2B5EF4-FFF2-40B4-BE49-F238E27FC236}">
                <a16:creationId xmlns:a16="http://schemas.microsoft.com/office/drawing/2014/main" id="{8607B1F6-2F40-4774-B7CB-8736A0CA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99359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$17.6B</a:t>
            </a:r>
          </a:p>
        </p:txBody>
      </p:sp>
      <p:sp>
        <p:nvSpPr>
          <p:cNvPr id="7" name="tam-descriptor">
            <a:extLst xmlns:a="http://schemas.openxmlformats.org/drawingml/2006/main">
              <a:ext uri="{FF2B5EF4-FFF2-40B4-BE49-F238E27FC236}">
                <a16:creationId xmlns:a16="http://schemas.microsoft.com/office/drawing/2014/main" id="{67B3E423-CF12-4E7D-9317-403D4327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895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9FAA"/>
                </a:solidFill>
                <a:latin typeface="Arial"/>
                <a:ea typeface="Arial"/>
                <a:cs typeface="Arial"/>
              </a:rPr>
              <a:t>Sports, education and workforce</a:t>
            </a:r>
          </a:p>
        </p:txBody>
      </p:sp>
      <p:sp>
        <p:nvSpPr>
          <p:cNvPr id="8" name="tam-divider">
            <a:extLst xmlns:a="http://schemas.openxmlformats.org/drawingml/2006/main">
              <a:ext uri="{FF2B5EF4-FFF2-40B4-BE49-F238E27FC236}">
                <a16:creationId xmlns:a16="http://schemas.microsoft.com/office/drawing/2014/main" id="{572E3982-2760-40FF-8B6A-831BEDDF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29075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m-sports-title">
            <a:extLst xmlns:a="http://schemas.openxmlformats.org/drawingml/2006/main">
              <a:ext uri="{FF2B5EF4-FFF2-40B4-BE49-F238E27FC236}">
                <a16:creationId xmlns:a16="http://schemas.microsoft.com/office/drawing/2014/main" id="{C254C0DA-0E61-47DE-8118-FFC0DF97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5F6F7"/>
                </a:solidFill>
                <a:latin typeface="Arial"/>
                <a:ea typeface="Arial"/>
                <a:cs typeface="Arial"/>
              </a:rPr>
              <a:t>Sports + education</a:t>
            </a:r>
          </a:p>
        </p:txBody>
      </p:sp>
      <p:sp>
        <p:nvSpPr>
          <p:cNvPr id="10" name="tam-sports-math">
            <a:extLst xmlns:a="http://schemas.openxmlformats.org/drawingml/2006/main">
              <a:ext uri="{FF2B5EF4-FFF2-40B4-BE49-F238E27FC236}">
                <a16:creationId xmlns:a16="http://schemas.microsoft.com/office/drawing/2014/main" id="{1930A1FC-22EB-4025-9D50-B4B1ED77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2133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A9FAA"/>
                </a:solidFill>
                <a:latin typeface="Arial"/>
                <a:ea typeface="Arial"/>
                <a:cs typeface="Arial"/>
              </a:rPr>
              <a:t>27.9M athletes × $300</a:t>
            </a:r>
          </a:p>
          <a:p xmlns:a="http://schemas.openxmlformats.org/drawingml/2006/main">
            <a:pPr>
              <a:defRPr sz="975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A9FAA"/>
                </a:solidFill>
                <a:latin typeface="Arial"/>
                <a:ea typeface="Arial"/>
                <a:cs typeface="Arial"/>
              </a:rPr>
              <a:t>+ 19M students × $50</a:t>
            </a:r>
          </a:p>
        </p:txBody>
      </p:sp>
      <p:sp>
        <p:nvSpPr>
          <p:cNvPr id="11" name="tam-sports-value">
            <a:extLst xmlns:a="http://schemas.openxmlformats.org/drawingml/2006/main">
              <a:ext uri="{FF2B5EF4-FFF2-40B4-BE49-F238E27FC236}">
                <a16:creationId xmlns:a16="http://schemas.microsoft.com/office/drawing/2014/main" id="{14544D8B-9E72-4B60-A246-BEA3892E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053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E8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E8CFF"/>
                </a:solidFill>
                <a:latin typeface="Arial"/>
                <a:ea typeface="Arial"/>
                <a:cs typeface="Arial"/>
              </a:rPr>
              <a:t>$9.5B</a:t>
            </a:r>
          </a:p>
        </p:txBody>
      </p:sp>
      <p:sp>
        <p:nvSpPr>
          <p:cNvPr id="12" name="tam-workforce-title">
            <a:extLst xmlns:a="http://schemas.openxmlformats.org/drawingml/2006/main">
              <a:ext uri="{FF2B5EF4-FFF2-40B4-BE49-F238E27FC236}">
                <a16:creationId xmlns:a16="http://schemas.microsoft.com/office/drawing/2014/main" id="{35296BFA-EAD4-4227-AB55-BAD97824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5F6F7"/>
                </a:solidFill>
                <a:latin typeface="Arial"/>
                <a:ea typeface="Arial"/>
                <a:cs typeface="Arial"/>
              </a:rPr>
              <a:t>U.S. workforce</a:t>
            </a:r>
          </a:p>
        </p:txBody>
      </p:sp>
      <p:sp>
        <p:nvSpPr>
          <p:cNvPr id="13" name="tam-workforce-math">
            <a:extLst xmlns:a="http://schemas.openxmlformats.org/drawingml/2006/main">
              <a:ext uri="{FF2B5EF4-FFF2-40B4-BE49-F238E27FC236}">
                <a16:creationId xmlns:a16="http://schemas.microsoft.com/office/drawing/2014/main" id="{BE60227A-D3E1-478E-8FC5-9A59035F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33975"/>
            <a:ext cx="2133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A9FAA"/>
                </a:solidFill>
                <a:latin typeface="Arial"/>
                <a:ea typeface="Arial"/>
                <a:cs typeface="Arial"/>
              </a:rPr>
              <a:t>162.3M employees × $50</a:t>
            </a:r>
          </a:p>
        </p:txBody>
      </p:sp>
      <p:sp>
        <p:nvSpPr>
          <p:cNvPr id="14" name="tam-workforce-value">
            <a:extLst xmlns:a="http://schemas.openxmlformats.org/drawingml/2006/main">
              <a:ext uri="{FF2B5EF4-FFF2-40B4-BE49-F238E27FC236}">
                <a16:creationId xmlns:a16="http://schemas.microsoft.com/office/drawing/2014/main" id="{E4FF8BE1-324B-43B5-B63F-48959B74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911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E8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E8CFF"/>
                </a:solidFill>
                <a:latin typeface="Arial"/>
                <a:ea typeface="Arial"/>
                <a:cs typeface="Arial"/>
              </a:rPr>
              <a:t>$8.1B</a:t>
            </a:r>
          </a:p>
        </p:txBody>
      </p:sp>
      <p:sp>
        <p:nvSpPr>
          <p:cNvPr id="15" name="tam-adjacent-note">
            <a:extLst xmlns:a="http://schemas.openxmlformats.org/drawingml/2006/main">
              <a:ext uri="{FF2B5EF4-FFF2-40B4-BE49-F238E27FC236}">
                <a16:creationId xmlns:a16="http://schemas.microsoft.com/office/drawing/2014/main" id="{62CB7DD5-5CA9-4F4B-B6AD-E51D7542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53075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A9FAA"/>
                </a:solidFill>
                <a:latin typeface="Arial"/>
                <a:ea typeface="Arial"/>
                <a:cs typeface="Arial"/>
              </a:rPr>
              <a:t>Includes $155M in clinics, sports medicine + pro.</a:t>
            </a:r>
          </a:p>
        </p:txBody>
      </p:sp>
      <p:sp>
        <p:nvSpPr>
          <p:cNvPr id="16" name="sam-card">
            <a:extLst xmlns:a="http://schemas.openxmlformats.org/drawingml/2006/main">
              <a:ext uri="{FF2B5EF4-FFF2-40B4-BE49-F238E27FC236}">
                <a16:creationId xmlns:a16="http://schemas.microsoft.com/office/drawing/2014/main" id="{5B3173E1-B6B1-49A4-913C-6DFBB05F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3429000" cy="36766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21519"/>
          </a:solidFill>
          <a:ln xmlns:a="http://schemas.openxmlformats.org/drawingml/2006/main" w="9525">
            <a:solidFill>
              <a:srgbClr val="2B2F35"/>
            </a:solidFill>
            <a:prstDash val="solid"/>
          </a:ln>
        </p:spPr>
      </p:sp>
      <p:sp>
        <p:nvSpPr>
          <p:cNvPr id="17" name="sam-label">
            <a:extLst xmlns:a="http://schemas.openxmlformats.org/drawingml/2006/main">
              <a:ext uri="{FF2B5EF4-FFF2-40B4-BE49-F238E27FC236}">
                <a16:creationId xmlns:a16="http://schemas.microsoft.com/office/drawing/2014/main" id="{5EC8D3D2-C16D-4589-B3C1-0D0A7D20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2890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7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78FF"/>
                </a:solidFill>
                <a:latin typeface="Arial"/>
                <a:ea typeface="Arial"/>
                <a:cs typeface="Arial"/>
              </a:rPr>
              <a:t>SAM  •  SPORTS + EDUCATION</a:t>
            </a:r>
          </a:p>
        </p:txBody>
      </p:sp>
      <p:sp>
        <p:nvSpPr>
          <p:cNvPr id="18" name="sam-amount">
            <a:extLst xmlns:a="http://schemas.openxmlformats.org/drawingml/2006/main">
              <a:ext uri="{FF2B5EF4-FFF2-40B4-BE49-F238E27FC236}">
                <a16:creationId xmlns:a16="http://schemas.microsoft.com/office/drawing/2014/main" id="{E130BEC3-A315-4F35-B300-3DA90E8C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00375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99359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$9.5B</a:t>
            </a:r>
          </a:p>
        </p:txBody>
      </p:sp>
      <p:sp>
        <p:nvSpPr>
          <p:cNvPr id="19" name="sam-descriptor">
            <a:extLst xmlns:a="http://schemas.openxmlformats.org/drawingml/2006/main">
              <a:ext uri="{FF2B5EF4-FFF2-40B4-BE49-F238E27FC236}">
                <a16:creationId xmlns:a16="http://schemas.microsoft.com/office/drawing/2014/main" id="{20596F88-334A-41A3-82AD-0CD18C50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38550"/>
            <a:ext cx="2895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9FAA"/>
                </a:solidFill>
                <a:latin typeface="Arial"/>
                <a:ea typeface="Arial"/>
                <a:cs typeface="Arial"/>
              </a:rPr>
              <a:t>Current platform + near-term roadmap</a:t>
            </a:r>
          </a:p>
        </p:txBody>
      </p:sp>
      <p:sp>
        <p:nvSpPr>
          <p:cNvPr id="20" name="sam-divider">
            <a:extLst xmlns:a="http://schemas.openxmlformats.org/drawingml/2006/main">
              <a:ext uri="{FF2B5EF4-FFF2-40B4-BE49-F238E27FC236}">
                <a16:creationId xmlns:a16="http://schemas.microsoft.com/office/drawing/2014/main" id="{6578DADB-D009-4AE4-BE19-53C3327D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29075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am-youth-title">
            <a:extLst xmlns:a="http://schemas.openxmlformats.org/drawingml/2006/main">
              <a:ext uri="{FF2B5EF4-FFF2-40B4-BE49-F238E27FC236}">
                <a16:creationId xmlns:a16="http://schemas.microsoft.com/office/drawing/2014/main" id="{CEED76B1-3171-4ECC-8E05-A8A60745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00525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5F6F7"/>
                </a:solidFill>
                <a:latin typeface="Arial"/>
                <a:ea typeface="Arial"/>
                <a:cs typeface="Arial"/>
              </a:rPr>
              <a:t>Youth athletics</a:t>
            </a:r>
          </a:p>
        </p:txBody>
      </p:sp>
      <p:sp>
        <p:nvSpPr>
          <p:cNvPr id="22" name="sam-youth-math">
            <a:extLst xmlns:a="http://schemas.openxmlformats.org/drawingml/2006/main">
              <a:ext uri="{FF2B5EF4-FFF2-40B4-BE49-F238E27FC236}">
                <a16:creationId xmlns:a16="http://schemas.microsoft.com/office/drawing/2014/main" id="{89D28E9E-E886-4A6F-B550-11DA0D5E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00550"/>
            <a:ext cx="2133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A9FAA"/>
                </a:solidFill>
                <a:latin typeface="Arial"/>
                <a:ea typeface="Arial"/>
                <a:cs typeface="Arial"/>
              </a:rPr>
              <a:t>27M athletes × $300</a:t>
            </a:r>
          </a:p>
        </p:txBody>
      </p:sp>
      <p:sp>
        <p:nvSpPr>
          <p:cNvPr id="23" name="sam-youth-value">
            <a:extLst xmlns:a="http://schemas.openxmlformats.org/drawingml/2006/main">
              <a:ext uri="{FF2B5EF4-FFF2-40B4-BE49-F238E27FC236}">
                <a16:creationId xmlns:a16="http://schemas.microsoft.com/office/drawing/2014/main" id="{B0FF845A-6960-4461-821A-5D7652A7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57675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A7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78FF"/>
                </a:solidFill>
                <a:latin typeface="Arial"/>
                <a:ea typeface="Arial"/>
                <a:cs typeface="Arial"/>
              </a:rPr>
              <a:t>$8.1B</a:t>
            </a:r>
          </a:p>
        </p:txBody>
      </p:sp>
      <p:sp>
        <p:nvSpPr>
          <p:cNvPr id="24" name="sam-campus-title">
            <a:extLst xmlns:a="http://schemas.openxmlformats.org/drawingml/2006/main">
              <a:ext uri="{FF2B5EF4-FFF2-40B4-BE49-F238E27FC236}">
                <a16:creationId xmlns:a16="http://schemas.microsoft.com/office/drawing/2014/main" id="{18C1ADC8-DB46-4326-BA09-A33AD9DA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95825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5F6F7"/>
                </a:solidFill>
                <a:latin typeface="Arial"/>
                <a:ea typeface="Arial"/>
                <a:cs typeface="Arial"/>
              </a:rPr>
              <a:t>Campus-wide</a:t>
            </a:r>
          </a:p>
        </p:txBody>
      </p:sp>
      <p:sp>
        <p:nvSpPr>
          <p:cNvPr id="25" name="sam-campus-math">
            <a:extLst xmlns:a="http://schemas.openxmlformats.org/drawingml/2006/main">
              <a:ext uri="{FF2B5EF4-FFF2-40B4-BE49-F238E27FC236}">
                <a16:creationId xmlns:a16="http://schemas.microsoft.com/office/drawing/2014/main" id="{54371BA7-1432-45DB-A3B7-259E28D8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95850"/>
            <a:ext cx="2133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A9FAA"/>
                </a:solidFill>
                <a:latin typeface="Arial"/>
                <a:ea typeface="Arial"/>
                <a:cs typeface="Arial"/>
              </a:rPr>
              <a:t>19M students × $50</a:t>
            </a:r>
          </a:p>
        </p:txBody>
      </p:sp>
      <p:sp>
        <p:nvSpPr>
          <p:cNvPr id="26" name="sam-campus-value">
            <a:extLst xmlns:a="http://schemas.openxmlformats.org/drawingml/2006/main">
              <a:ext uri="{FF2B5EF4-FFF2-40B4-BE49-F238E27FC236}">
                <a16:creationId xmlns:a16="http://schemas.microsoft.com/office/drawing/2014/main" id="{E0B21491-D311-4E93-90BE-E5C491A8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52975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A7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78FF"/>
                </a:solidFill>
                <a:latin typeface="Arial"/>
                <a:ea typeface="Arial"/>
                <a:cs typeface="Arial"/>
              </a:rPr>
              <a:t>$950M</a:t>
            </a:r>
          </a:p>
        </p:txBody>
      </p:sp>
      <p:sp>
        <p:nvSpPr>
          <p:cNvPr id="27" name="sam-collegiate-title">
            <a:extLst xmlns:a="http://schemas.openxmlformats.org/drawingml/2006/main">
              <a:ext uri="{FF2B5EF4-FFF2-40B4-BE49-F238E27FC236}">
                <a16:creationId xmlns:a16="http://schemas.microsoft.com/office/drawing/2014/main" id="{71CEB108-D919-4395-9A8B-6736BC61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91125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5F6F7"/>
                </a:solidFill>
                <a:latin typeface="Arial"/>
                <a:ea typeface="Arial"/>
                <a:cs typeface="Arial"/>
              </a:rPr>
              <a:t>Collegiate athletics</a:t>
            </a:r>
          </a:p>
        </p:txBody>
      </p:sp>
      <p:sp>
        <p:nvSpPr>
          <p:cNvPr id="28" name="sam-collegiate-math">
            <a:extLst xmlns:a="http://schemas.openxmlformats.org/drawingml/2006/main">
              <a:ext uri="{FF2B5EF4-FFF2-40B4-BE49-F238E27FC236}">
                <a16:creationId xmlns:a16="http://schemas.microsoft.com/office/drawing/2014/main" id="{FA0381FE-76E6-45A6-B16D-B9923E9A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391150"/>
            <a:ext cx="2133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A9FAA"/>
                </a:solidFill>
                <a:latin typeface="Arial"/>
                <a:ea typeface="Arial"/>
                <a:cs typeface="Arial"/>
              </a:rPr>
              <a:t>~1,850 departments × $150K</a:t>
            </a:r>
          </a:p>
        </p:txBody>
      </p:sp>
      <p:sp>
        <p:nvSpPr>
          <p:cNvPr id="29" name="sam-collegiate-value">
            <a:extLst xmlns:a="http://schemas.openxmlformats.org/drawingml/2006/main">
              <a:ext uri="{FF2B5EF4-FFF2-40B4-BE49-F238E27FC236}">
                <a16:creationId xmlns:a16="http://schemas.microsoft.com/office/drawing/2014/main" id="{9605D701-90F8-4548-8BF5-4988401A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248275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A7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78FF"/>
                </a:solidFill>
                <a:latin typeface="Arial"/>
                <a:ea typeface="Arial"/>
                <a:cs typeface="Arial"/>
              </a:rPr>
              <a:t>$280M</a:t>
            </a:r>
          </a:p>
        </p:txBody>
      </p:sp>
      <p:sp>
        <p:nvSpPr>
          <p:cNvPr id="30" name="sam-adjacent">
            <a:extLst xmlns:a="http://schemas.openxmlformats.org/drawingml/2006/main">
              <a:ext uri="{FF2B5EF4-FFF2-40B4-BE49-F238E27FC236}">
                <a16:creationId xmlns:a16="http://schemas.microsoft.com/office/drawing/2014/main" id="{AB90EA29-2AEC-44F7-852A-3FC62002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743575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A9FAA"/>
                </a:solidFill>
                <a:latin typeface="Arial"/>
                <a:ea typeface="Arial"/>
                <a:cs typeface="Arial"/>
              </a:rPr>
              <a:t>Clinics + sports medicine + pro  •  $155M</a:t>
            </a:r>
          </a:p>
        </p:txBody>
      </p:sp>
      <p:sp>
        <p:nvSpPr>
          <p:cNvPr id="31" name="som-card">
            <a:extLst xmlns:a="http://schemas.openxmlformats.org/drawingml/2006/main">
              <a:ext uri="{FF2B5EF4-FFF2-40B4-BE49-F238E27FC236}">
                <a16:creationId xmlns:a16="http://schemas.microsoft.com/office/drawing/2014/main" id="{B48ACC49-596B-4A3B-A4B6-7C436DC1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3429000" cy="36766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21519"/>
          </a:solidFill>
          <a:ln xmlns:a="http://schemas.openxmlformats.org/drawingml/2006/main" w="19050">
            <a:solidFill>
              <a:srgbClr val="C8FF00"/>
            </a:solidFill>
            <a:prstDash val="solid"/>
          </a:ln>
        </p:spPr>
      </p:sp>
      <p:sp>
        <p:nvSpPr>
          <p:cNvPr id="32" name="som-label">
            <a:extLst xmlns:a="http://schemas.openxmlformats.org/drawingml/2006/main">
              <a:ext uri="{FF2B5EF4-FFF2-40B4-BE49-F238E27FC236}">
                <a16:creationId xmlns:a16="http://schemas.microsoft.com/office/drawing/2014/main" id="{BD78337A-18E8-40F3-B611-EB0DA566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2890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SOM  •  COLLEGE + YOUTH WEDGE</a:t>
            </a:r>
          </a:p>
        </p:txBody>
      </p:sp>
      <p:sp>
        <p:nvSpPr>
          <p:cNvPr id="33" name="som-amount">
            <a:extLst xmlns:a="http://schemas.openxmlformats.org/drawingml/2006/main">
              <a:ext uri="{FF2B5EF4-FFF2-40B4-BE49-F238E27FC236}">
                <a16:creationId xmlns:a16="http://schemas.microsoft.com/office/drawing/2014/main" id="{4C16F7E3-366D-4B06-89D7-8CAE4B87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0375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99359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$1.7B</a:t>
            </a:r>
          </a:p>
        </p:txBody>
      </p:sp>
      <p:sp>
        <p:nvSpPr>
          <p:cNvPr id="34" name="som-descriptor">
            <a:extLst xmlns:a="http://schemas.openxmlformats.org/drawingml/2006/main">
              <a:ext uri="{FF2B5EF4-FFF2-40B4-BE49-F238E27FC236}">
                <a16:creationId xmlns:a16="http://schemas.microsoft.com/office/drawing/2014/main" id="{8D630048-D2FD-4106-BE85-A29FA28D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38550"/>
            <a:ext cx="2895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9FAA"/>
                </a:solidFill>
                <a:latin typeface="Arial"/>
                <a:ea typeface="Arial"/>
                <a:cs typeface="Arial"/>
              </a:rPr>
              <a:t>Initial serviceable market</a:t>
            </a:r>
          </a:p>
        </p:txBody>
      </p:sp>
      <p:sp>
        <p:nvSpPr>
          <p:cNvPr id="35" name="som-divider">
            <a:extLst xmlns:a="http://schemas.openxmlformats.org/drawingml/2006/main">
              <a:ext uri="{FF2B5EF4-FFF2-40B4-BE49-F238E27FC236}">
                <a16:creationId xmlns:a16="http://schemas.microsoft.com/office/drawing/2014/main" id="{5F77F12A-7B24-4AE8-AB08-B01C2BD1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29075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om-high-school-title">
            <a:extLst xmlns:a="http://schemas.openxmlformats.org/drawingml/2006/main">
              <a:ext uri="{FF2B5EF4-FFF2-40B4-BE49-F238E27FC236}">
                <a16:creationId xmlns:a16="http://schemas.microsoft.com/office/drawing/2014/main" id="{2879F526-DFD8-4932-9988-A7F3BEDC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00525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5F6F7"/>
                </a:solidFill>
                <a:latin typeface="Arial"/>
                <a:ea typeface="Arial"/>
                <a:cs typeface="Arial"/>
              </a:rPr>
              <a:t>High-school athletics</a:t>
            </a:r>
          </a:p>
        </p:txBody>
      </p:sp>
      <p:sp>
        <p:nvSpPr>
          <p:cNvPr id="37" name="som-high-school-math">
            <a:extLst xmlns:a="http://schemas.openxmlformats.org/drawingml/2006/main">
              <a:ext uri="{FF2B5EF4-FFF2-40B4-BE49-F238E27FC236}">
                <a16:creationId xmlns:a16="http://schemas.microsoft.com/office/drawing/2014/main" id="{A7D43058-2823-4A9B-A7D4-2F32CDD5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00550"/>
            <a:ext cx="2133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A9FAA"/>
                </a:solidFill>
                <a:latin typeface="Arial"/>
                <a:ea typeface="Arial"/>
                <a:cs typeface="Arial"/>
              </a:rPr>
              <a:t>20K schools × 250 × $300</a:t>
            </a:r>
          </a:p>
        </p:txBody>
      </p:sp>
      <p:sp>
        <p:nvSpPr>
          <p:cNvPr id="38" name="som-high-school-value">
            <a:extLst xmlns:a="http://schemas.openxmlformats.org/drawingml/2006/main">
              <a:ext uri="{FF2B5EF4-FFF2-40B4-BE49-F238E27FC236}">
                <a16:creationId xmlns:a16="http://schemas.microsoft.com/office/drawing/2014/main" id="{5F4E0B8C-FABC-4752-BC42-44E6E83C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$1.5B</a:t>
            </a:r>
          </a:p>
        </p:txBody>
      </p:sp>
      <p:sp>
        <p:nvSpPr>
          <p:cNvPr id="39" name="som-collegiate-title">
            <a:extLst xmlns:a="http://schemas.openxmlformats.org/drawingml/2006/main">
              <a:ext uri="{FF2B5EF4-FFF2-40B4-BE49-F238E27FC236}">
                <a16:creationId xmlns:a16="http://schemas.microsoft.com/office/drawing/2014/main" id="{60BB27B0-CBC4-4393-B772-B16DD526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95825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5F6F7"/>
                </a:solidFill>
                <a:latin typeface="Arial"/>
                <a:ea typeface="Arial"/>
                <a:cs typeface="Arial"/>
              </a:rPr>
              <a:t>Collegiate athletics</a:t>
            </a:r>
          </a:p>
        </p:txBody>
      </p:sp>
      <p:sp>
        <p:nvSpPr>
          <p:cNvPr id="40" name="som-collegiate-math">
            <a:extLst xmlns:a="http://schemas.openxmlformats.org/drawingml/2006/main">
              <a:ext uri="{FF2B5EF4-FFF2-40B4-BE49-F238E27FC236}">
                <a16:creationId xmlns:a16="http://schemas.microsoft.com/office/drawing/2014/main" id="{C02B422C-936A-455F-893B-E1AF3614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95850"/>
            <a:ext cx="2133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A9FAA"/>
                </a:solidFill>
                <a:latin typeface="Arial"/>
                <a:ea typeface="Arial"/>
                <a:cs typeface="Arial"/>
              </a:rPr>
              <a:t>~1,830 departments × 250 × $300</a:t>
            </a:r>
          </a:p>
        </p:txBody>
      </p:sp>
      <p:sp>
        <p:nvSpPr>
          <p:cNvPr id="41" name="som-collegiate-value">
            <a:extLst xmlns:a="http://schemas.openxmlformats.org/drawingml/2006/main">
              <a:ext uri="{FF2B5EF4-FFF2-40B4-BE49-F238E27FC236}">
                <a16:creationId xmlns:a16="http://schemas.microsoft.com/office/drawing/2014/main" id="{0683CD31-0745-42C9-B43E-9694F23B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752975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$137M</a:t>
            </a:r>
          </a:p>
        </p:txBody>
      </p:sp>
      <p:sp>
        <p:nvSpPr>
          <p:cNvPr id="42" name="som-clinics-title">
            <a:extLst xmlns:a="http://schemas.openxmlformats.org/drawingml/2006/main">
              <a:ext uri="{FF2B5EF4-FFF2-40B4-BE49-F238E27FC236}">
                <a16:creationId xmlns:a16="http://schemas.microsoft.com/office/drawing/2014/main" id="{27FD1C96-4BB8-4E93-968C-2F27D421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91125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5F6F7"/>
                </a:solidFill>
                <a:latin typeface="Arial"/>
                <a:ea typeface="Arial"/>
                <a:cs typeface="Arial"/>
              </a:rPr>
              <a:t>Performance clinics</a:t>
            </a:r>
          </a:p>
        </p:txBody>
      </p:sp>
      <p:sp>
        <p:nvSpPr>
          <p:cNvPr id="43" name="som-clinics-math">
            <a:extLst xmlns:a="http://schemas.openxmlformats.org/drawingml/2006/main">
              <a:ext uri="{FF2B5EF4-FFF2-40B4-BE49-F238E27FC236}">
                <a16:creationId xmlns:a16="http://schemas.microsoft.com/office/drawing/2014/main" id="{E479EF4B-F9A1-45F1-A9AE-4DDD862C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91150"/>
            <a:ext cx="2133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A9FAA"/>
                </a:solidFill>
                <a:latin typeface="Arial"/>
                <a:ea typeface="Arial"/>
                <a:cs typeface="Arial"/>
              </a:rPr>
              <a:t>Current segment estimate</a:t>
            </a:r>
          </a:p>
        </p:txBody>
      </p:sp>
      <p:sp>
        <p:nvSpPr>
          <p:cNvPr id="44" name="som-clinics-value">
            <a:extLst xmlns:a="http://schemas.openxmlformats.org/drawingml/2006/main">
              <a:ext uri="{FF2B5EF4-FFF2-40B4-BE49-F238E27FC236}">
                <a16:creationId xmlns:a16="http://schemas.microsoft.com/office/drawing/2014/main" id="{16E022F9-187C-413E-A149-B726F426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48275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$75M</a:t>
            </a:r>
          </a:p>
        </p:txBody>
      </p:sp>
      <p:sp>
        <p:nvSpPr>
          <p:cNvPr id="45" name="som-capture-band">
            <a:extLst xmlns:a="http://schemas.openxmlformats.org/drawingml/2006/main">
              <a:ext uri="{FF2B5EF4-FFF2-40B4-BE49-F238E27FC236}">
                <a16:creationId xmlns:a16="http://schemas.microsoft.com/office/drawing/2014/main" id="{6F5D64DA-B1E3-4E2A-898C-6B8B8E17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81650"/>
            <a:ext cx="29718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1B2113"/>
          </a:solidFill>
          <a:ln xmlns:a="http://schemas.openxmlformats.org/drawingml/2006/main" w="9525">
            <a:solidFill>
              <a:srgbClr val="5D7300"/>
            </a:solidFill>
            <a:prstDash val="solid"/>
          </a:ln>
        </p:spPr>
      </p:sp>
      <p:sp>
        <p:nvSpPr>
          <p:cNvPr id="46" name="som-capture-copy">
            <a:extLst xmlns:a="http://schemas.openxmlformats.org/drawingml/2006/main">
              <a:ext uri="{FF2B5EF4-FFF2-40B4-BE49-F238E27FC236}">
                <a16:creationId xmlns:a16="http://schemas.microsoft.com/office/drawing/2014/main" id="{F37819AC-39F5-484E-A1B8-02CAEE5B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5785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5.9% PENETRATION  ≈  $100M ARR</a:t>
            </a:r>
          </a:p>
        </p:txBody>
      </p:sp>
      <p:sp>
        <p:nvSpPr>
          <p:cNvPr id="47" name="bottoms-up-method">
            <a:extLst xmlns:a="http://schemas.openxmlformats.org/drawingml/2006/main">
              <a:ext uri="{FF2B5EF4-FFF2-40B4-BE49-F238E27FC236}">
                <a16:creationId xmlns:a16="http://schemas.microsoft.com/office/drawing/2014/main" id="{0F542AA6-3C38-4E3F-A0AB-F0B2BEB7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Land at 250 athletes  •  expand toward full department  •  $300 per athlete per year</a:t>
            </a:r>
          </a:p>
        </p:txBody>
      </p:sp>
      <p:sp>
        <p:nvSpPr>
          <p:cNvPr id="48" name="bottoms-up-sources">
            <a:extLst xmlns:a="http://schemas.openxmlformats.org/drawingml/2006/main">
              <a:ext uri="{FF2B5EF4-FFF2-40B4-BE49-F238E27FC236}">
                <a16:creationId xmlns:a16="http://schemas.microsoft.com/office/drawing/2014/main" id="{686B67D6-AB04-4285-AED8-E3F9164C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972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F7580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F7580"/>
                </a:solidFill>
                <a:latin typeface="Arial"/>
                <a:ea typeface="Arial"/>
                <a:cs typeface="Arial"/>
              </a:rPr>
              <a:t>Sources: BLS (Jun. 2026); NFHS (2024-25); NCAA, NAIA and NJCAA membership; Pulse pricing assumptions.</a:t>
            </a:r>
          </a:p>
        </p:txBody>
      </p:sp>
    </p:spTree>
    <p:extLst>
      <p:ext uri="{BB962C8B-B14F-4D97-AF65-F5344CB8AC3E}">
        <p14:creationId xmlns:p14="http://schemas.microsoft.com/office/powerpoint/2010/main" val="17863713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revenue-roadmap-eyebrow">
            <a:extLst xmlns:a="http://schemas.openxmlformats.org/drawingml/2006/main">
              <a:ext uri="{FF2B5EF4-FFF2-40B4-BE49-F238E27FC236}">
                <a16:creationId xmlns:a16="http://schemas.microsoft.com/office/drawing/2014/main" id="{9B0C1F58-A9EB-45CC-B72A-0F3335FB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324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519"/>
          </a:solidFill>
          <a:ln xmlns:a="http://schemas.openxmlformats.org/drawingml/2006/main" w="9525">
            <a:solidFill>
              <a:srgbClr val="2B2F35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●</a:t>
            </a:r>
            <a:r>
              <a:rPr sz="105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  REVENUE ROADMAP</a:t>
            </a:r>
          </a:p>
        </p:txBody>
      </p:sp>
      <p:sp>
        <p:nvSpPr>
          <p:cNvPr id="2" name="path-title">
            <a:extLst xmlns:a="http://schemas.openxmlformats.org/drawingml/2006/main">
              <a:ext uri="{FF2B5EF4-FFF2-40B4-BE49-F238E27FC236}">
                <a16:creationId xmlns:a16="http://schemas.microsoft.com/office/drawing/2014/main" id="{7DD23184-BC53-4DD8-BF55-04943F2B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99359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A visible path to </a:t>
            </a:r>
            <a:r>
              <a:rPr sz="390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$100M ARR.</a:t>
            </a:r>
          </a:p>
        </p:txBody>
      </p:sp>
      <p:sp>
        <p:nvSpPr>
          <p:cNvPr id="3" name="path-subtitle">
            <a:extLst xmlns:a="http://schemas.openxmlformats.org/drawingml/2006/main">
              <a:ext uri="{FF2B5EF4-FFF2-40B4-BE49-F238E27FC236}">
                <a16:creationId xmlns:a16="http://schemas.microsoft.com/office/drawing/2014/main" id="{1E22703B-88B7-4A0C-BF0B-52D2227B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9A9FAA"/>
                </a:solidFill>
                <a:latin typeface="Arial"/>
                <a:ea typeface="Arial"/>
                <a:cs typeface="Arial"/>
              </a:rPr>
              <a:t>Prove PulseCheck in college athletics, expand into youth, then scale across campuses, clinics, and sports medicine.</a:t>
            </a:r>
          </a:p>
        </p:txBody>
      </p:sp>
      <p:sp>
        <p:nvSpPr>
          <p:cNvPr id="4" name="prove-panel">
            <a:extLst xmlns:a="http://schemas.openxmlformats.org/drawingml/2006/main">
              <a:ext uri="{FF2B5EF4-FFF2-40B4-BE49-F238E27FC236}">
                <a16:creationId xmlns:a16="http://schemas.microsoft.com/office/drawing/2014/main" id="{3D7DD349-77DF-4FC4-9BFE-30035342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5029200" cy="369570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121519"/>
          </a:solidFill>
          <a:ln xmlns:a="http://schemas.openxmlformats.org/drawingml/2006/main" w="9525">
            <a:solidFill>
              <a:srgbClr val="2B2F35"/>
            </a:solidFill>
            <a:prstDash val="solid"/>
          </a:ln>
        </p:spPr>
      </p:sp>
      <p:sp>
        <p:nvSpPr>
          <p:cNvPr id="5" name="prove-label">
            <a:extLst xmlns:a="http://schemas.openxmlformats.org/drawingml/2006/main">
              <a:ext uri="{FF2B5EF4-FFF2-40B4-BE49-F238E27FC236}">
                <a16:creationId xmlns:a16="http://schemas.microsoft.com/office/drawing/2014/main" id="{AE559A79-6DF3-432D-8DBC-3644508D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E8C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E8CFF"/>
                </a:solidFill>
                <a:latin typeface="Arial"/>
                <a:ea typeface="Arial"/>
                <a:cs typeface="Arial"/>
              </a:rPr>
              <a:t>YEARS 1–2  •  PROVE IT</a:t>
            </a:r>
          </a:p>
        </p:txBody>
      </p:sp>
      <p:sp>
        <p:nvSpPr>
          <p:cNvPr id="6" name="prove-amount">
            <a:extLst xmlns:a="http://schemas.openxmlformats.org/drawingml/2006/main">
              <a:ext uri="{FF2B5EF4-FFF2-40B4-BE49-F238E27FC236}">
                <a16:creationId xmlns:a16="http://schemas.microsoft.com/office/drawing/2014/main" id="{277D4160-F801-407C-B5EE-7EC79C94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$1.05M ARR</a:t>
            </a:r>
          </a:p>
        </p:txBody>
      </p:sp>
      <p:sp>
        <p:nvSpPr>
          <p:cNvPr id="7" name="prove-divider">
            <a:extLst xmlns:a="http://schemas.openxmlformats.org/drawingml/2006/main">
              <a:ext uri="{FF2B5EF4-FFF2-40B4-BE49-F238E27FC236}">
                <a16:creationId xmlns:a16="http://schemas.microsoft.com/office/drawing/2014/main" id="{FBA70CA8-085A-4CCE-97BE-C4EDA8FC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ve-formula">
            <a:extLst xmlns:a="http://schemas.openxmlformats.org/drawingml/2006/main">
              <a:ext uri="{FF2B5EF4-FFF2-40B4-BE49-F238E27FC236}">
                <a16:creationId xmlns:a16="http://schemas.microsoft.com/office/drawing/2014/main" id="{5CB902F3-667F-4340-90C0-6A242245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409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14 college athletic departments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575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× 250 athletes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575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× $300 annually</a:t>
            </a:r>
          </a:p>
        </p:txBody>
      </p:sp>
      <p:sp>
        <p:nvSpPr>
          <p:cNvPr id="9" name="prove-copy">
            <a:extLst xmlns:a="http://schemas.openxmlformats.org/drawingml/2006/main">
              <a:ext uri="{FF2B5EF4-FFF2-40B4-BE49-F238E27FC236}">
                <a16:creationId xmlns:a16="http://schemas.microsoft.com/office/drawing/2014/main" id="{3A017A6A-FF11-4321-894C-3CDFAC86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9A9FAA"/>
                </a:solidFill>
                <a:latin typeface="Arial"/>
                <a:ea typeface="Arial"/>
                <a:cs typeface="Arial"/>
              </a:rPr>
              <a:t>Land anchor contracts, validate outcomes, and establish compliance credibility.</a:t>
            </a:r>
          </a:p>
        </p:txBody>
      </p:sp>
      <p:sp>
        <p:nvSpPr>
          <p:cNvPr id="10" name="prove-footer">
            <a:extLst xmlns:a="http://schemas.openxmlformats.org/drawingml/2006/main">
              <a:ext uri="{FF2B5EF4-FFF2-40B4-BE49-F238E27FC236}">
                <a16:creationId xmlns:a16="http://schemas.microsoft.com/office/drawing/2014/main" id="{AAE43D7C-9F7C-4B46-8E0E-11DE96B1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435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E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E8CFF"/>
                </a:solidFill>
                <a:latin typeface="Arial"/>
                <a:ea typeface="Arial"/>
                <a:cs typeface="Arial"/>
              </a:rPr>
              <a:t>3,500 athletes  •  14 contracts  •  $2.1M two-year value</a:t>
            </a:r>
          </a:p>
        </p:txBody>
      </p:sp>
      <p:sp>
        <p:nvSpPr>
          <p:cNvPr id="11" name="scale-panel">
            <a:extLst xmlns:a="http://schemas.openxmlformats.org/drawingml/2006/main">
              <a:ext uri="{FF2B5EF4-FFF2-40B4-BE49-F238E27FC236}">
                <a16:creationId xmlns:a16="http://schemas.microsoft.com/office/drawing/2014/main" id="{1F01C22B-AE37-41FC-A42B-BEDFED0C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38400"/>
            <a:ext cx="5676900" cy="369570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121519"/>
          </a:solidFill>
          <a:ln xmlns:a="http://schemas.openxmlformats.org/drawingml/2006/main" w="19050">
            <a:solidFill>
              <a:srgbClr val="C8FF00"/>
            </a:solidFill>
            <a:prstDash val="solid"/>
          </a:ln>
        </p:spPr>
      </p:sp>
      <p:sp>
        <p:nvSpPr>
          <p:cNvPr id="12" name="scale-label">
            <a:extLst xmlns:a="http://schemas.openxmlformats.org/drawingml/2006/main">
              <a:ext uri="{FF2B5EF4-FFF2-40B4-BE49-F238E27FC236}">
                <a16:creationId xmlns:a16="http://schemas.microsoft.com/office/drawing/2014/main" id="{C20F9B0D-CF8E-4F09-ACF9-B4EF19AD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051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YEARS 3–5  •  SCALE</a:t>
            </a:r>
          </a:p>
        </p:txBody>
      </p:sp>
      <p:sp>
        <p:nvSpPr>
          <p:cNvPr id="13" name="scale-amount">
            <a:extLst xmlns:a="http://schemas.openxmlformats.org/drawingml/2006/main">
              <a:ext uri="{FF2B5EF4-FFF2-40B4-BE49-F238E27FC236}">
                <a16:creationId xmlns:a16="http://schemas.microsoft.com/office/drawing/2014/main" id="{9B80A2F2-9D68-4B8C-9D51-B19BEF55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48000"/>
            <a:ext cx="354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$100M  ARR</a:t>
            </a:r>
          </a:p>
        </p:txBody>
      </p:sp>
      <p:sp>
        <p:nvSpPr>
          <p:cNvPr id="14" name="scale-rounded">
            <a:extLst xmlns:a="http://schemas.openxmlformats.org/drawingml/2006/main">
              <a:ext uri="{FF2B5EF4-FFF2-40B4-BE49-F238E27FC236}">
                <a16:creationId xmlns:a16="http://schemas.microsoft.com/office/drawing/2014/main" id="{4579E92F-2E41-477D-A071-3D79BC8C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480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9A9FAA"/>
                </a:solidFill>
                <a:latin typeface="Arial"/>
                <a:ea typeface="Arial"/>
                <a:cs typeface="Arial"/>
              </a:rPr>
              <a:t>rounded from $99.4M</a:t>
            </a:r>
          </a:p>
        </p:txBody>
      </p:sp>
      <p:sp>
        <p:nvSpPr>
          <p:cNvPr id="15" name="scale-divider">
            <a:extLst xmlns:a="http://schemas.openxmlformats.org/drawingml/2006/main">
              <a:ext uri="{FF2B5EF4-FFF2-40B4-BE49-F238E27FC236}">
                <a16:creationId xmlns:a16="http://schemas.microsoft.com/office/drawing/2014/main" id="{1657F165-03E0-4F59-A1A9-B90AA0E5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24275"/>
            <a:ext cx="506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cale-college-title">
            <a:extLst xmlns:a="http://schemas.openxmlformats.org/drawingml/2006/main">
              <a:ext uri="{FF2B5EF4-FFF2-40B4-BE49-F238E27FC236}">
                <a16:creationId xmlns:a16="http://schemas.microsoft.com/office/drawing/2014/main" id="{FED61A39-9ABF-4441-89F5-89950C2B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95725"/>
            <a:ext cx="3048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5F6F7"/>
                </a:solidFill>
                <a:latin typeface="Arial"/>
                <a:ea typeface="Arial"/>
                <a:cs typeface="Arial"/>
              </a:rPr>
              <a:t>College athletics</a:t>
            </a:r>
          </a:p>
        </p:txBody>
      </p:sp>
      <p:sp>
        <p:nvSpPr>
          <p:cNvPr id="17" name="scale-college-math">
            <a:extLst xmlns:a="http://schemas.openxmlformats.org/drawingml/2006/main">
              <a:ext uri="{FF2B5EF4-FFF2-40B4-BE49-F238E27FC236}">
                <a16:creationId xmlns:a16="http://schemas.microsoft.com/office/drawing/2014/main" id="{46B56413-9E0E-4E6E-B718-15170A35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671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9A9FAA"/>
                </a:solidFill>
                <a:latin typeface="Arial"/>
                <a:ea typeface="Arial"/>
                <a:cs typeface="Arial"/>
              </a:rPr>
              <a:t>250 schools × 500 athletes × $300</a:t>
            </a:r>
          </a:p>
        </p:txBody>
      </p:sp>
      <p:sp>
        <p:nvSpPr>
          <p:cNvPr id="18" name="scale-college-value">
            <a:extLst xmlns:a="http://schemas.openxmlformats.org/drawingml/2006/main">
              <a:ext uri="{FF2B5EF4-FFF2-40B4-BE49-F238E27FC236}">
                <a16:creationId xmlns:a16="http://schemas.microsoft.com/office/drawing/2014/main" id="{6BD24A0E-ADD5-43A5-B238-BEF4CA47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433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E8C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E8CFF"/>
                </a:solidFill>
                <a:latin typeface="Arial"/>
                <a:ea typeface="Arial"/>
                <a:cs typeface="Arial"/>
              </a:rPr>
              <a:t>$37.5M</a:t>
            </a:r>
          </a:p>
        </p:txBody>
      </p:sp>
      <p:sp>
        <p:nvSpPr>
          <p:cNvPr id="19" name="scale-high-school-title">
            <a:extLst xmlns:a="http://schemas.openxmlformats.org/drawingml/2006/main">
              <a:ext uri="{FF2B5EF4-FFF2-40B4-BE49-F238E27FC236}">
                <a16:creationId xmlns:a16="http://schemas.microsoft.com/office/drawing/2014/main" id="{E8675E44-180E-4E9F-A4D4-E393D4BC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76725"/>
            <a:ext cx="3048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5F6F7"/>
                </a:solidFill>
                <a:latin typeface="Arial"/>
                <a:ea typeface="Arial"/>
                <a:cs typeface="Arial"/>
              </a:rPr>
              <a:t>High-school athletics</a:t>
            </a:r>
          </a:p>
        </p:txBody>
      </p:sp>
      <p:sp>
        <p:nvSpPr>
          <p:cNvPr id="20" name="scale-high-school-math">
            <a:extLst xmlns:a="http://schemas.openxmlformats.org/drawingml/2006/main">
              <a:ext uri="{FF2B5EF4-FFF2-40B4-BE49-F238E27FC236}">
                <a16:creationId xmlns:a16="http://schemas.microsoft.com/office/drawing/2014/main" id="{066F8765-7BB3-424B-9963-33291FCB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481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9A9FAA"/>
                </a:solidFill>
                <a:latin typeface="Arial"/>
                <a:ea typeface="Arial"/>
                <a:cs typeface="Arial"/>
              </a:rPr>
              <a:t>500 schools × 250 athletes × $300</a:t>
            </a:r>
          </a:p>
        </p:txBody>
      </p:sp>
      <p:sp>
        <p:nvSpPr>
          <p:cNvPr id="21" name="scale-high-school-value">
            <a:extLst xmlns:a="http://schemas.openxmlformats.org/drawingml/2006/main">
              <a:ext uri="{FF2B5EF4-FFF2-40B4-BE49-F238E27FC236}">
                <a16:creationId xmlns:a16="http://schemas.microsoft.com/office/drawing/2014/main" id="{CFD1ACB9-50F4-4507-8F57-77A3099D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243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$37.5M</a:t>
            </a:r>
          </a:p>
        </p:txBody>
      </p:sp>
      <p:sp>
        <p:nvSpPr>
          <p:cNvPr id="22" name="scale-campus-title">
            <a:extLst xmlns:a="http://schemas.openxmlformats.org/drawingml/2006/main">
              <a:ext uri="{FF2B5EF4-FFF2-40B4-BE49-F238E27FC236}">
                <a16:creationId xmlns:a16="http://schemas.microsoft.com/office/drawing/2014/main" id="{B8D58C64-325F-44F1-97C2-07D3FCC3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57725"/>
            <a:ext cx="3048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5F6F7"/>
                </a:solidFill>
                <a:latin typeface="Arial"/>
                <a:ea typeface="Arial"/>
                <a:cs typeface="Arial"/>
              </a:rPr>
              <a:t>Campus-wide licenses</a:t>
            </a:r>
          </a:p>
        </p:txBody>
      </p:sp>
      <p:sp>
        <p:nvSpPr>
          <p:cNvPr id="23" name="scale-campus-math">
            <a:extLst xmlns:a="http://schemas.openxmlformats.org/drawingml/2006/main">
              <a:ext uri="{FF2B5EF4-FFF2-40B4-BE49-F238E27FC236}">
                <a16:creationId xmlns:a16="http://schemas.microsoft.com/office/drawing/2014/main" id="{ACB8C404-FC07-4939-84DD-8CED5900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291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9A9FAA"/>
                </a:solidFill>
                <a:latin typeface="Arial"/>
                <a:ea typeface="Arial"/>
                <a:cs typeface="Arial"/>
              </a:rPr>
              <a:t>25 schools × $400K</a:t>
            </a:r>
          </a:p>
        </p:txBody>
      </p:sp>
      <p:sp>
        <p:nvSpPr>
          <p:cNvPr id="24" name="scale-campus-value">
            <a:extLst xmlns:a="http://schemas.openxmlformats.org/drawingml/2006/main">
              <a:ext uri="{FF2B5EF4-FFF2-40B4-BE49-F238E27FC236}">
                <a16:creationId xmlns:a16="http://schemas.microsoft.com/office/drawing/2014/main" id="{7B1E8F15-29FA-4A85-86D4-F5354B11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053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9A7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78FF"/>
                </a:solidFill>
                <a:latin typeface="Arial"/>
                <a:ea typeface="Arial"/>
                <a:cs typeface="Arial"/>
              </a:rPr>
              <a:t>$10M</a:t>
            </a:r>
          </a:p>
        </p:txBody>
      </p:sp>
      <p:sp>
        <p:nvSpPr>
          <p:cNvPr id="25" name="scale-clinics-title">
            <a:extLst xmlns:a="http://schemas.openxmlformats.org/drawingml/2006/main">
              <a:ext uri="{FF2B5EF4-FFF2-40B4-BE49-F238E27FC236}">
                <a16:creationId xmlns:a16="http://schemas.microsoft.com/office/drawing/2014/main" id="{156472EF-819A-4744-8CD4-2A5AF728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38725"/>
            <a:ext cx="3048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5F6F7"/>
                </a:solidFill>
                <a:latin typeface="Arial"/>
                <a:ea typeface="Arial"/>
                <a:cs typeface="Arial"/>
              </a:rPr>
              <a:t>Performance clinics</a:t>
            </a:r>
          </a:p>
        </p:txBody>
      </p:sp>
      <p:sp>
        <p:nvSpPr>
          <p:cNvPr id="26" name="scale-clinics-math">
            <a:extLst xmlns:a="http://schemas.openxmlformats.org/drawingml/2006/main">
              <a:ext uri="{FF2B5EF4-FFF2-40B4-BE49-F238E27FC236}">
                <a16:creationId xmlns:a16="http://schemas.microsoft.com/office/drawing/2014/main" id="{F6C6930A-AC3F-4D42-A5D9-8E09C19E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101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9A9FAA"/>
                </a:solidFill>
                <a:latin typeface="Arial"/>
                <a:ea typeface="Arial"/>
                <a:cs typeface="Arial"/>
              </a:rPr>
              <a:t>500 clinics × $15K</a:t>
            </a:r>
          </a:p>
        </p:txBody>
      </p:sp>
      <p:sp>
        <p:nvSpPr>
          <p:cNvPr id="27" name="scale-clinics-value">
            <a:extLst xmlns:a="http://schemas.openxmlformats.org/drawingml/2006/main">
              <a:ext uri="{FF2B5EF4-FFF2-40B4-BE49-F238E27FC236}">
                <a16:creationId xmlns:a16="http://schemas.microsoft.com/office/drawing/2014/main" id="{9A5073F9-603C-4952-9259-1ADD1584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0863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A2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A22E"/>
                </a:solidFill>
                <a:latin typeface="Arial"/>
                <a:ea typeface="Arial"/>
                <a:cs typeface="Arial"/>
              </a:rPr>
              <a:t>$7.5M</a:t>
            </a:r>
          </a:p>
        </p:txBody>
      </p:sp>
      <p:sp>
        <p:nvSpPr>
          <p:cNvPr id="28" name="scale-sports-medicine-title">
            <a:extLst xmlns:a="http://schemas.openxmlformats.org/drawingml/2006/main">
              <a:ext uri="{FF2B5EF4-FFF2-40B4-BE49-F238E27FC236}">
                <a16:creationId xmlns:a16="http://schemas.microsoft.com/office/drawing/2014/main" id="{EC3F79F6-D52A-424A-96C1-D1C1CBC9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19725"/>
            <a:ext cx="3048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5F6F7"/>
                </a:solidFill>
                <a:latin typeface="Arial"/>
                <a:ea typeface="Arial"/>
                <a:cs typeface="Arial"/>
              </a:rPr>
              <a:t>Sports medicine</a:t>
            </a:r>
          </a:p>
        </p:txBody>
      </p:sp>
      <p:sp>
        <p:nvSpPr>
          <p:cNvPr id="29" name="scale-sports-medicine-math">
            <a:extLst xmlns:a="http://schemas.openxmlformats.org/drawingml/2006/main">
              <a:ext uri="{FF2B5EF4-FFF2-40B4-BE49-F238E27FC236}">
                <a16:creationId xmlns:a16="http://schemas.microsoft.com/office/drawing/2014/main" id="{ABC08E5C-DFF3-4E45-89C9-EF61C5A3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591175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9A9FAA"/>
                </a:solidFill>
                <a:latin typeface="Arial"/>
                <a:ea typeface="Arial"/>
                <a:cs typeface="Arial"/>
              </a:rPr>
              <a:t>330 practices × $21K</a:t>
            </a:r>
          </a:p>
        </p:txBody>
      </p:sp>
      <p:sp>
        <p:nvSpPr>
          <p:cNvPr id="30" name="scale-sports-medicine-value">
            <a:extLst xmlns:a="http://schemas.openxmlformats.org/drawingml/2006/main">
              <a:ext uri="{FF2B5EF4-FFF2-40B4-BE49-F238E27FC236}">
                <a16:creationId xmlns:a16="http://schemas.microsoft.com/office/drawing/2014/main" id="{8434C481-1217-42BF-8676-54A8D099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673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45AA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5AA5"/>
                </a:solidFill>
                <a:latin typeface="Arial"/>
                <a:ea typeface="Arial"/>
                <a:cs typeface="Arial"/>
              </a:rPr>
              <a:t>$6.9M</a:t>
            </a:r>
          </a:p>
        </p:txBody>
      </p:sp>
      <p:sp>
        <p:nvSpPr>
          <p:cNvPr id="31" name="scale-footer-divider">
            <a:extLst xmlns:a="http://schemas.openxmlformats.org/drawingml/2006/main">
              <a:ext uri="{FF2B5EF4-FFF2-40B4-BE49-F238E27FC236}">
                <a16:creationId xmlns:a16="http://schemas.microsoft.com/office/drawing/2014/main" id="{700B912F-66AD-4281-A4F2-3C640E05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791200"/>
            <a:ext cx="506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cale-footer">
            <a:extLst xmlns:a="http://schemas.openxmlformats.org/drawingml/2006/main">
              <a:ext uri="{FF2B5EF4-FFF2-40B4-BE49-F238E27FC236}">
                <a16:creationId xmlns:a16="http://schemas.microsoft.com/office/drawing/2014/main" id="{DA653CF7-EA17-4D12-86CA-79363A4A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876925"/>
            <a:ext cx="506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≈1.1% OF THE $9.5B SAM  •  ≈5.9% OF THE $1.7B SOM</a:t>
            </a:r>
          </a:p>
        </p:txBody>
      </p:sp>
      <p:sp>
        <p:nvSpPr>
          <p:cNvPr id="33" name="path-sources">
            <a:extLst xmlns:a="http://schemas.openxmlformats.org/drawingml/2006/main">
              <a:ext uri="{FF2B5EF4-FFF2-40B4-BE49-F238E27FC236}">
                <a16:creationId xmlns:a16="http://schemas.microsoft.com/office/drawing/2014/main" id="{6C5B1D5B-B6D6-4857-96B6-9E8EECF9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F7580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F7580"/>
                </a:solidFill>
                <a:latin typeface="Arial"/>
                <a:ea typeface="Arial"/>
                <a:cs typeface="Arial"/>
              </a:rPr>
              <a:t>Source: Pulse operating assumptions. Revenue figures are annual and rounded.</a:t>
            </a:r>
          </a:p>
        </p:txBody>
      </p:sp>
    </p:spTree>
    <p:extLst>
      <p:ext uri="{BB962C8B-B14F-4D97-AF65-F5344CB8AC3E}">
        <p14:creationId xmlns:p14="http://schemas.microsoft.com/office/powerpoint/2010/main" val="422497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2026-07-28T00:03:24.1110000Z</dcterms:created>
  <dcterms:modified xsi:type="dcterms:W3CDTF">2026-07-28T00:03:24.1110000Z</dcterms:modified>
</coreProperties>
</file>