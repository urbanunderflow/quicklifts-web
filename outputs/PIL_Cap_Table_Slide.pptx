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322f88ebcb475c" /><Relationship Type="http://schemas.openxmlformats.org/officeDocument/2006/relationships/extended-properties" Target="/docProps/app.xml" Id="R95ed7eb6673b45a0" /><Relationship Type="http://schemas.openxmlformats.org/officeDocument/2006/relationships/officeDocument" Target="/ppt/presentation.xml" Id="R92899cd2a1d241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7c70701c2f42fc"/>
  </p:sldMasterIdLst>
  <p:notesMasterIdLst>
    <p:notesMasterId xmlns:r="http://schemas.openxmlformats.org/officeDocument/2006/relationships" r:id="Rcd7bf69076c941c9"/>
  </p:notesMasterIdLst>
  <p:sldIdLst>
    <p:sldId xmlns:r="http://schemas.openxmlformats.org/officeDocument/2006/relationships" id="256" r:id="R592cfb8b9f0b40a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a87c39fafb449f" /><Relationship Type="http://schemas.openxmlformats.org/officeDocument/2006/relationships/slideMaster" Target="/ppt/slideMasters/slideMaster1.xml" Id="R687c70701c2f42fc" /><Relationship Type="http://schemas.openxmlformats.org/officeDocument/2006/relationships/notesMaster" Target="/ppt/notesMasters/notesMaster1.xml" Id="Rcd7bf69076c941c9" /><Relationship Type="http://schemas.openxmlformats.org/officeDocument/2006/relationships/presProps" Target="/ppt/presProps.xml" Id="R2e62d43439fa4cc4" /><Relationship Type="http://schemas.openxmlformats.org/officeDocument/2006/relationships/tableStyles" Target="/ppt/tableStyles.xml" Id="R161674ad09504bb0" /><Relationship Type="http://schemas.openxmlformats.org/officeDocument/2006/relationships/slide" Target="/ppt/slides/slide1.xml" Id="R592cfb8b9f0b40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5fdb680e064b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0a747a7e504b9e" /><Relationship Type="http://schemas.openxmlformats.org/officeDocument/2006/relationships/notesMaster" Target="/ppt/notesMasters/notesMaster1.xml" Id="Rbd477b6e7c9548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6fc463f6d344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ee410dfdef4fa0" /><Relationship Type="http://schemas.openxmlformats.org/officeDocument/2006/relationships/slideLayout" Target="/ppt/slideLayouts/slideLayout1.xml" Id="R20b8d9db444349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b8d9db444349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914274e1b4643" /><Relationship Type="http://schemas.openxmlformats.org/officeDocument/2006/relationships/chart" Target="/ppt/slides/charts/chart1.xml" Id="R4348551094de4103" /><Relationship Type="http://schemas.openxmlformats.org/officeDocument/2006/relationships/notesSlide" Target="/ppt/notesSlides/notesSlide1.xml" Id="Raf7f3ef3b47d41fd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Fully diluted ownership</c:v>
          </c:tx>
          <c:dPt>
            <c:idx val="0"/>
            <c:spPr>
              <a:solidFill xmlns:a="http://schemas.openxmlformats.org/drawingml/2006/main">
                <a:srgbClr val="C8FF00"/>
              </a:solidFill>
              <a:ln xmlns:a="http://schemas.openxmlformats.org/drawingml/2006/main" w="9525">
                <a:solidFill>
                  <a:srgbClr val="080A0C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9A78FF"/>
              </a:solidFill>
              <a:ln xmlns:a="http://schemas.openxmlformats.org/drawingml/2006/main" w="9525">
                <a:solidFill>
                  <a:srgbClr val="080A0C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F45AA5"/>
              </a:solidFill>
              <a:ln xmlns:a="http://schemas.openxmlformats.org/drawingml/2006/main" w="9525">
                <a:solidFill>
                  <a:srgbClr val="080A0C"/>
                </a:solidFill>
                <a:prstDash val="solid"/>
              </a:ln>
            </c:spPr>
          </c:dPt>
          <c:cat>
            <c:strLit>
              <c:ptCount val="3"/>
              <c:pt idx="0">
                <c:v>Founder common</c:v>
              </c:pt>
              <c:pt idx="1">
                <c:v>Option pool available</c:v>
              </c:pt>
              <c:pt idx="2">
                <c:v>Advisor options granted</c:v>
              </c:pt>
            </c:strLit>
          </c:cat>
          <c:val>
            <c:numLit>
              <c:formatCode>General</c:formatCode>
              <c:ptCount val="3"/>
              <c:pt idx="0">
                <c:v>90</c:v>
              </c:pt>
              <c:pt idx="1">
                <c:v>9.5</c:v>
              </c:pt>
              <c:pt idx="2">
                <c:v>0.5</c:v>
              </c:pt>
            </c:numLit>
          </c:val>
        </c:ser>
        <c:firstSliceAng val="270"/>
        <c:holeSize val="70"/>
      </c:doughnutChart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apitalization-eyebrow">
            <a:extLst xmlns:a="http://schemas.openxmlformats.org/drawingml/2006/main">
              <a:ext uri="{FF2B5EF4-FFF2-40B4-BE49-F238E27FC236}">
                <a16:creationId xmlns:a16="http://schemas.microsoft.com/office/drawing/2014/main" id="{8B96410D-1CD3-4FCE-BE55-906F2829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0383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519"/>
          </a:solidFill>
          <a:ln xmlns:a="http://schemas.openxmlformats.org/drawingml/2006/main" w="9525">
            <a:solidFill>
              <a:srgbClr val="2B2F35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●</a:t>
            </a:r>
            <a:r>
              <a:rPr sz="105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  CAPITALIZATION</a:t>
            </a:r>
          </a:p>
        </p:txBody>
      </p:sp>
      <p:sp>
        <p:nvSpPr>
          <p:cNvPr id="2" name="pre-financing-label">
            <a:extLst xmlns:a="http://schemas.openxmlformats.org/drawingml/2006/main">
              <a:ext uri="{FF2B5EF4-FFF2-40B4-BE49-F238E27FC236}">
                <a16:creationId xmlns:a16="http://schemas.microsoft.com/office/drawing/2014/main" id="{4F8ACE1A-131B-4ED0-B8FF-0A8F9D65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F758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F7580"/>
                </a:solidFill>
                <a:latin typeface="Arial"/>
                <a:ea typeface="Arial"/>
                <a:cs typeface="Arial"/>
              </a:rPr>
              <a:t>PRE-FINANCING</a:t>
            </a:r>
          </a:p>
        </p:txBody>
      </p:sp>
      <p:sp>
        <p:nvSpPr>
          <p:cNvPr id="3" name="cap-table-title">
            <a:extLst xmlns:a="http://schemas.openxmlformats.org/drawingml/2006/main">
              <a:ext uri="{FF2B5EF4-FFF2-40B4-BE49-F238E27FC236}">
                <a16:creationId xmlns:a16="http://schemas.microsoft.com/office/drawing/2014/main" id="{40CACE47-EBEC-4AFC-BE77-345BB194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Founder-led, with </a:t>
            </a:r>
            <a:r>
              <a:rPr sz="375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room to build the team.</a:t>
            </a:r>
          </a:p>
        </p:txBody>
      </p:sp>
      <p:sp>
        <p:nvSpPr>
          <p:cNvPr id="4" name="cap-table-subtitle">
            <a:extLst xmlns:a="http://schemas.openxmlformats.org/drawingml/2006/main">
              <a:ext uri="{FF2B5EF4-FFF2-40B4-BE49-F238E27FC236}">
                <a16:creationId xmlns:a16="http://schemas.microsoft.com/office/drawing/2014/main" id="{7F124498-6039-4513-9AFB-79970059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89DA7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989DA7"/>
                </a:solidFill>
                <a:latin typeface="Arial"/>
                <a:ea typeface="Arial"/>
                <a:cs typeface="Arial"/>
              </a:rPr>
              <a:t>10.0M fully diluted shares • 90% founder-owned • 950K options remain available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52450" y="2114550"/>
          <a:ext xmlns:a="http://schemas.openxmlformats.org/drawingml/2006/main" cx="3429000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48551094de4103"/>
          </a:graphicData>
        </a:graphic>
      </p:graphicFrame>
      <p:sp>
        <p:nvSpPr>
          <p:cNvPr id="6" name="founder-percent">
            <a:extLst xmlns:a="http://schemas.openxmlformats.org/drawingml/2006/main">
              <a:ext uri="{FF2B5EF4-FFF2-40B4-BE49-F238E27FC236}">
                <a16:creationId xmlns:a16="http://schemas.microsoft.com/office/drawing/2014/main" id="{309C0AC3-7C79-4976-8836-78F427B8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0375"/>
            <a:ext cx="213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398"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90%</a:t>
            </a:r>
          </a:p>
        </p:txBody>
      </p:sp>
      <p:sp>
        <p:nvSpPr>
          <p:cNvPr id="7" name="founder-owned-label">
            <a:extLst xmlns:a="http://schemas.openxmlformats.org/drawingml/2006/main">
              <a:ext uri="{FF2B5EF4-FFF2-40B4-BE49-F238E27FC236}">
                <a16:creationId xmlns:a16="http://schemas.microsoft.com/office/drawing/2014/main" id="{AF63C940-14CD-484B-81B6-91C0FBA2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480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8FF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8FF00"/>
                </a:solidFill>
                <a:latin typeface="Arial"/>
                <a:ea typeface="Arial"/>
                <a:cs typeface="Arial"/>
              </a:rPr>
              <a:t>FOUNDER OWNED</a:t>
            </a:r>
          </a:p>
        </p:txBody>
      </p:sp>
      <p:sp>
        <p:nvSpPr>
          <p:cNvPr id="8" name="pool-availability-callout">
            <a:extLst xmlns:a="http://schemas.openxmlformats.org/drawingml/2006/main">
              <a:ext uri="{FF2B5EF4-FFF2-40B4-BE49-F238E27FC236}">
                <a16:creationId xmlns:a16="http://schemas.microsoft.com/office/drawing/2014/main" id="{2240B495-0320-44DD-B265-338FB33A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9A78FF"/>
                </a:solidFill>
                <a:latin typeface="Arial"/>
                <a:ea typeface="Arial"/>
                <a:cs typeface="Arial"/>
              </a:rPr>
              <a:t>950K</a:t>
            </a:r>
            <a:r>
              <a:rPr sz="1425">
                <a:solidFill>
                  <a:srgbClr val="F5F6F7"/>
                </a:solidFill>
                <a:latin typeface="Arial"/>
                <a:ea typeface="Arial"/>
                <a:cs typeface="Arial"/>
              </a:rPr>
              <a:t>  options remain available</a:t>
            </a:r>
          </a:p>
        </p:txBody>
      </p:sp>
      <p:sp>
        <p:nvSpPr>
          <p:cNvPr id="9" name="ownership-table-title">
            <a:extLst xmlns:a="http://schemas.openxmlformats.org/drawingml/2006/main">
              <a:ext uri="{FF2B5EF4-FFF2-40B4-BE49-F238E27FC236}">
                <a16:creationId xmlns:a16="http://schemas.microsoft.com/office/drawing/2014/main" id="{9EC2AB40-EF0D-4636-97BE-C6DB79F0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706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Fully diluted ownership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4552950" y="2428875"/>
          <a:ext xmlns:a="http://schemas.openxmlformats.org/drawingml/2006/main" cx="70675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190750"/>
                <a:gridCol w="1495425"/>
                <a:gridCol w="1000125"/>
              </a:tblGrid>
              <a:tr h="361950">
                <a:tc>
                  <a:txBody>
                    <a:bodyPr lIns="95250" tIns="47625" rIns="95250" bIns="47625" anchor="ctr">
                      <a:norm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989DA7"/>
                          </a:solidFill>
                          <a:latin typeface="Arial"/>
                          <a:ea typeface="Arial"/>
                          <a:cs typeface="Arial"/>
                        </a:rPr>
                        <a:t>STAKEHOLDER / RESERVE</a:t>
                      </a:r>
                    </a:p>
                  </a:txBody>
                  <a:tcPr marL="91440" marR="91440" marT="45720" marB="45720">
                    <a:solidFill>
                      <a:srgbClr val="121519"/>
                    </a:solidFill>
                  </a:tcPr>
                </a:tc>
                <a:tc>
                  <a:txBody>
                    <a:bodyPr lIns="95250" tIns="47625" rIns="95250" bIns="47625" anchor="ctr">
                      <a:norm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989DA7"/>
                          </a:solidFill>
                          <a:latin typeface="Arial"/>
                          <a:ea typeface="Arial"/>
                          <a:cs typeface="Arial"/>
                        </a:rPr>
                        <a:t>SECURITY / STATUS</a:t>
                      </a:r>
                    </a:p>
                  </a:txBody>
                  <a:tcPr marL="91440" marR="91440" marT="45720" marB="45720">
                    <a:solidFill>
                      <a:srgbClr val="121519"/>
                    </a:solidFill>
                  </a:tcPr>
                </a:tc>
                <a:tc>
                  <a:txBody>
                    <a:bodyPr lIns="95250" tIns="47625" rIns="95250" bIns="47625" anchor="ctr">
                      <a:normAutofit/>
                    </a:bodyPr>
                    <a:lstStyle/>
                    <a:p>
                      <a:pPr algn="r"/>
                      <a:r>
                        <a:rPr sz="975" b="1">
                          <a:solidFill>
                            <a:srgbClr val="989DA7"/>
                          </a:solidFill>
                          <a:latin typeface="Arial"/>
                          <a:ea typeface="Arial"/>
                          <a:cs typeface="Arial"/>
                        </a:rPr>
                        <a:t>SHARES</a:t>
                      </a:r>
                    </a:p>
                  </a:txBody>
                  <a:tcPr marL="91440" marR="91440" marT="45720" marB="45720">
                    <a:solidFill>
                      <a:srgbClr val="121519"/>
                    </a:solidFill>
                  </a:tcPr>
                </a:tc>
                <a:tc>
                  <a:txBody>
                    <a:bodyPr lIns="95250" tIns="47625" rIns="95250" bIns="47625" anchor="ctr">
                      <a:normAutofit/>
                    </a:bodyPr>
                    <a:lstStyle/>
                    <a:p>
                      <a:pPr algn="r"/>
                      <a:r>
                        <a:rPr sz="975" b="1">
                          <a:solidFill>
                            <a:srgbClr val="989DA7"/>
                          </a:solidFill>
                          <a:latin typeface="Arial"/>
                          <a:ea typeface="Arial"/>
                          <a:cs typeface="Arial"/>
                        </a:rPr>
                        <a:t>FD %</a:t>
                      </a:r>
                    </a:p>
                  </a:txBody>
                  <a:tcPr marL="91440" marR="91440" marT="45720" marB="45720">
                    <a:solidFill>
                      <a:srgbClr val="121519"/>
                    </a:solidFill>
                  </a:tcPr>
                </a:tc>
              </a:tr>
              <a:tr h="409575">
                <a:tc>
                  <a:txBody>
                    <a:bodyPr lIns="95250" tIns="47625" rIns="95250" bIns="47625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5F6F7"/>
                          </a:solidFill>
                          <a:latin typeface="Arial"/>
                          <a:ea typeface="Arial"/>
                          <a:cs typeface="Arial"/>
                        </a:rPr>
                        <a:t>Tremaine Grant</a:t>
                      </a:r>
                    </a:p>
                  </a:txBody>
                  <a:tcPr marL="91440" marR="91440" marT="45720" marB="45720">
                    <a:solidFill>
                      <a:srgbClr val="0E1114"/>
                    </a:solidFill>
                  </a:tcPr>
                </a:tc>
                <a:tc>
                  <a:txBody>
                    <a:bodyPr lIns="95250" tIns="47625" rIns="95250" bIns="47625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5F6F7"/>
                          </a:solidFill>
                          <a:latin typeface="Arial"/>
                          <a:ea typeface="Arial"/>
                          <a:cs typeface="Arial"/>
                        </a:rPr>
                        <a:t>Founder common</a:t>
                      </a:r>
                    </a:p>
                  </a:txBody>
                  <a:tcPr marL="91440" marR="91440" marT="45720" marB="45720">
                    <a:solidFill>
                      <a:srgbClr val="0E1114"/>
                    </a:solidFill>
                  </a:tcPr>
                </a:tc>
                <a:tc>
                  <a:txBody>
                    <a:bodyPr lIns="95250" tIns="47625" rIns="95250" bIns="47625" anchor="ctr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F5F6F7"/>
                          </a:solidFill>
                          <a:latin typeface="Arial"/>
                          <a:ea typeface="Arial"/>
                          <a:cs typeface="Arial"/>
                        </a:rPr>
                        <a:t>9,000,000</a:t>
                      </a:r>
                    </a:p>
                  </a:txBody>
                  <a:tcPr marL="91440" marR="91440" marT="45720" marB="45720">
                    <a:solidFill>
                      <a:srgbClr val="0E1114"/>
                    </a:solidFill>
                  </a:tcPr>
                </a:tc>
                <a:tc>
                  <a:txBody>
                    <a:bodyPr lIns="95250" tIns="47625" rIns="95250" bIns="47625" anchor="ctr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F5F6F7"/>
                          </a:solidFill>
                          <a:latin typeface="Arial"/>
                          <a:ea typeface="Arial"/>
                          <a:cs typeface="Arial"/>
                        </a:rPr>
                        <a:t>90.00%</a:t>
                      </a:r>
                    </a:p>
                  </a:txBody>
                  <a:tcPr marL="91440" marR="91440" marT="45720" marB="45720">
                    <a:solidFill>
                      <a:srgbClr val="0E1114"/>
                    </a:solidFill>
                  </a:tcPr>
                </a:tc>
              </a:tr>
              <a:tr h="409575">
                <a:tc>
                  <a:txBody>
                    <a:bodyPr lIns="95250" tIns="47625" rIns="95250" bIns="47625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5F6F7"/>
                          </a:solidFill>
                          <a:latin typeface="Arial"/>
                          <a:ea typeface="Arial"/>
                          <a:cs typeface="Arial"/>
                        </a:rPr>
                        <a:t>Option pool available</a:t>
                      </a:r>
                    </a:p>
                  </a:txBody>
                  <a:tcPr marL="91440" marR="91440" marT="45720" marB="45720">
                    <a:solidFill>
                      <a:srgbClr val="101217"/>
                    </a:solidFill>
                  </a:tcPr>
                </a:tc>
                <a:tc>
                  <a:txBody>
                    <a:bodyPr lIns="95250" tIns="47625" rIns="95250" bIns="47625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5F6F7"/>
                          </a:solidFill>
                          <a:latin typeface="Arial"/>
                          <a:ea typeface="Arial"/>
                          <a:cs typeface="Arial"/>
                        </a:rPr>
                        <a:t>Reserved</a:t>
                      </a:r>
                    </a:p>
                  </a:txBody>
                  <a:tcPr marL="91440" marR="91440" marT="45720" marB="45720">
                    <a:solidFill>
                      <a:srgbClr val="101217"/>
                    </a:solidFill>
                  </a:tcPr>
                </a:tc>
                <a:tc>
                  <a:txBody>
                    <a:bodyPr lIns="95250" tIns="47625" rIns="95250" bIns="47625" anchor="ctr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F5F6F7"/>
                          </a:solidFill>
                          <a:latin typeface="Arial"/>
                          <a:ea typeface="Arial"/>
                          <a:cs typeface="Arial"/>
                        </a:rPr>
                        <a:t>950,000</a:t>
                      </a:r>
                    </a:p>
                  </a:txBody>
                  <a:tcPr marL="91440" marR="91440" marT="45720" marB="45720">
                    <a:solidFill>
                      <a:srgbClr val="101217"/>
                    </a:solidFill>
                  </a:tcPr>
                </a:tc>
                <a:tc>
                  <a:txBody>
                    <a:bodyPr lIns="95250" tIns="47625" rIns="95250" bIns="47625" anchor="ctr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F5F6F7"/>
                          </a:solidFill>
                          <a:latin typeface="Arial"/>
                          <a:ea typeface="Arial"/>
                          <a:cs typeface="Arial"/>
                        </a:rPr>
                        <a:t>9.50%</a:t>
                      </a:r>
                    </a:p>
                  </a:txBody>
                  <a:tcPr marL="91440" marR="91440" marT="45720" marB="45720">
                    <a:solidFill>
                      <a:srgbClr val="101217"/>
                    </a:solidFill>
                  </a:tcPr>
                </a:tc>
              </a:tr>
              <a:tr h="409575">
                <a:tc>
                  <a:txBody>
                    <a:bodyPr lIns="95250" tIns="47625" rIns="95250" bIns="47625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5F6F7"/>
                          </a:solidFill>
                          <a:latin typeface="Arial"/>
                          <a:ea typeface="Arial"/>
                          <a:cs typeface="Arial"/>
                        </a:rPr>
                        <a:t>Marques Zak</a:t>
                      </a:r>
                    </a:p>
                  </a:txBody>
                  <a:tcPr marL="91440" marR="91440" marT="45720" marB="45720">
                    <a:solidFill>
                      <a:srgbClr val="0E1114"/>
                    </a:solidFill>
                  </a:tcPr>
                </a:tc>
                <a:tc>
                  <a:txBody>
                    <a:bodyPr lIns="95250" tIns="47625" rIns="95250" bIns="47625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5F6F7"/>
                          </a:solidFill>
                          <a:latin typeface="Arial"/>
                          <a:ea typeface="Arial"/>
                          <a:cs typeface="Arial"/>
                        </a:rPr>
                        <a:t>Advisor options • unvested</a:t>
                      </a:r>
                    </a:p>
                  </a:txBody>
                  <a:tcPr marL="91440" marR="91440" marT="45720" marB="45720">
                    <a:solidFill>
                      <a:srgbClr val="0E1114"/>
                    </a:solidFill>
                  </a:tcPr>
                </a:tc>
                <a:tc>
                  <a:txBody>
                    <a:bodyPr lIns="95250" tIns="47625" rIns="95250" bIns="47625" anchor="ctr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F5F6F7"/>
                          </a:solidFill>
                          <a:latin typeface="Arial"/>
                          <a:ea typeface="Arial"/>
                          <a:cs typeface="Arial"/>
                        </a:rPr>
                        <a:t>25,000</a:t>
                      </a:r>
                    </a:p>
                  </a:txBody>
                  <a:tcPr marL="91440" marR="91440" marT="45720" marB="45720">
                    <a:solidFill>
                      <a:srgbClr val="0E1114"/>
                    </a:solidFill>
                  </a:tcPr>
                </a:tc>
                <a:tc>
                  <a:txBody>
                    <a:bodyPr lIns="95250" tIns="47625" rIns="95250" bIns="47625" anchor="ctr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F5F6F7"/>
                          </a:solidFill>
                          <a:latin typeface="Arial"/>
                          <a:ea typeface="Arial"/>
                          <a:cs typeface="Arial"/>
                        </a:rPr>
                        <a:t>0.25%</a:t>
                      </a:r>
                    </a:p>
                  </a:txBody>
                  <a:tcPr marL="91440" marR="91440" marT="45720" marB="45720">
                    <a:solidFill>
                      <a:srgbClr val="0E1114"/>
                    </a:solidFill>
                  </a:tcPr>
                </a:tc>
              </a:tr>
              <a:tr h="409575">
                <a:tc>
                  <a:txBody>
                    <a:bodyPr lIns="95250" tIns="47625" rIns="95250" bIns="47625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5F6F7"/>
                          </a:solidFill>
                          <a:latin typeface="Arial"/>
                          <a:ea typeface="Arial"/>
                          <a:cs typeface="Arial"/>
                        </a:rPr>
                        <a:t>Valerie Alexander</a:t>
                      </a:r>
                    </a:p>
                  </a:txBody>
                  <a:tcPr marL="91440" marR="91440" marT="45720" marB="45720">
                    <a:solidFill>
                      <a:srgbClr val="101217"/>
                    </a:solidFill>
                  </a:tcPr>
                </a:tc>
                <a:tc>
                  <a:txBody>
                    <a:bodyPr lIns="95250" tIns="47625" rIns="95250" bIns="47625" anchor="ctr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F5F6F7"/>
                          </a:solidFill>
                          <a:latin typeface="Arial"/>
                          <a:ea typeface="Arial"/>
                          <a:cs typeface="Arial"/>
                        </a:rPr>
                        <a:t>Advisor options • unvested</a:t>
                      </a:r>
                    </a:p>
                  </a:txBody>
                  <a:tcPr marL="91440" marR="91440" marT="45720" marB="45720">
                    <a:solidFill>
                      <a:srgbClr val="101217"/>
                    </a:solidFill>
                  </a:tcPr>
                </a:tc>
                <a:tc>
                  <a:txBody>
                    <a:bodyPr lIns="95250" tIns="47625" rIns="95250" bIns="47625" anchor="ctr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F5F6F7"/>
                          </a:solidFill>
                          <a:latin typeface="Arial"/>
                          <a:ea typeface="Arial"/>
                          <a:cs typeface="Arial"/>
                        </a:rPr>
                        <a:t>25,000</a:t>
                      </a:r>
                    </a:p>
                  </a:txBody>
                  <a:tcPr marL="91440" marR="91440" marT="45720" marB="45720">
                    <a:solidFill>
                      <a:srgbClr val="101217"/>
                    </a:solidFill>
                  </a:tcPr>
                </a:tc>
                <a:tc>
                  <a:txBody>
                    <a:bodyPr lIns="95250" tIns="47625" rIns="95250" bIns="47625" anchor="ctr">
                      <a:normAutofit/>
                    </a:bodyPr>
                    <a:lstStyle/>
                    <a:p>
                      <a:pPr algn="r"/>
                      <a:r>
                        <a:rPr sz="1350" b="0">
                          <a:solidFill>
                            <a:srgbClr val="F5F6F7"/>
                          </a:solidFill>
                          <a:latin typeface="Arial"/>
                          <a:ea typeface="Arial"/>
                          <a:cs typeface="Arial"/>
                        </a:rPr>
                        <a:t>0.25%</a:t>
                      </a:r>
                    </a:p>
                  </a:txBody>
                  <a:tcPr marL="91440" marR="91440" marT="45720" marB="45720">
                    <a:solidFill>
                      <a:srgbClr val="101217"/>
                    </a:solidFill>
                  </a:tcPr>
                </a:tc>
              </a:tr>
              <a:tr h="438150">
                <a:tc>
                  <a:txBody>
                    <a:bodyPr lIns="95250" tIns="47625" rIns="95250" bIns="47625" anchor="ctr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5F6F7"/>
                          </a:solidFill>
                          <a:latin typeface="Arial"/>
                          <a:ea typeface="Arial"/>
                          <a:cs typeface="Arial"/>
                        </a:rPr>
                        <a:t>TOTAL FULLY DILUTED</a:t>
                      </a:r>
                    </a:p>
                  </a:txBody>
                  <a:tcPr marL="91440" marR="91440" marT="45720" marB="45720">
                    <a:solidFill>
                      <a:srgbClr val="15191A"/>
                    </a:solidFill>
                  </a:tcPr>
                </a:tc>
                <a:tc>
                  <a:txBody>
                    <a:bodyPr lIns="95250" tIns="47625" rIns="95250" bIns="47625" anchor="ctr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5F6F7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15191A"/>
                    </a:solidFill>
                  </a:tcPr>
                </a:tc>
                <a:tc>
                  <a:txBody>
                    <a:bodyPr lIns="95250" tIns="47625" rIns="95250" bIns="47625" anchor="ctr">
                      <a:normAutofit/>
                    </a:bodyPr>
                    <a:lstStyle/>
                    <a:p>
                      <a:pPr algn="r"/>
                      <a:r>
                        <a:rPr sz="1275" b="1">
                          <a:solidFill>
                            <a:srgbClr val="F5F6F7"/>
                          </a:solidFill>
                          <a:latin typeface="Arial"/>
                          <a:ea typeface="Arial"/>
                          <a:cs typeface="Arial"/>
                        </a:rPr>
                        <a:t>10,000,000</a:t>
                      </a:r>
                    </a:p>
                  </a:txBody>
                  <a:tcPr marL="91440" marR="91440" marT="45720" marB="45720">
                    <a:solidFill>
                      <a:srgbClr val="15191A"/>
                    </a:solidFill>
                  </a:tcPr>
                </a:tc>
                <a:tc>
                  <a:txBody>
                    <a:bodyPr lIns="95250" tIns="47625" rIns="95250" bIns="47625" anchor="ctr">
                      <a:normAutofit/>
                    </a:bodyPr>
                    <a:lstStyle/>
                    <a:p>
                      <a:pPr algn="r"/>
                      <a:r>
                        <a:rPr sz="1275" b="1">
                          <a:solidFill>
                            <a:srgbClr val="F5F6F7"/>
                          </a:solidFill>
                          <a:latin typeface="Arial"/>
                          <a:ea typeface="Arial"/>
                          <a:cs typeface="Arial"/>
                        </a:rPr>
                        <a:t>100.00%</a:t>
                      </a:r>
                    </a:p>
                  </a:txBody>
                  <a:tcPr marL="91440" marR="91440" marT="45720" marB="45720">
                    <a:solidFill>
                      <a:srgbClr val="15191A"/>
                    </a:solidFill>
                  </a:tcPr>
                </a:tc>
              </a:tr>
            </a:tbl>
          </a:graphicData>
        </a:graphic>
      </p:graphicFrame>
      <p:sp>
        <p:nvSpPr>
          <p:cNvPr id="11" name="convertible-note-band">
            <a:extLst xmlns:a="http://schemas.openxmlformats.org/drawingml/2006/main">
              <a:ext uri="{FF2B5EF4-FFF2-40B4-BE49-F238E27FC236}">
                <a16:creationId xmlns:a16="http://schemas.microsoft.com/office/drawing/2014/main" id="{BA9D8838-0FCF-4D0E-A70A-C3DC1A40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130E"/>
          </a:solidFill>
          <a:ln xmlns:a="http://schemas.openxmlformats.org/drawingml/2006/main" w="14288">
            <a:solidFill>
              <a:srgbClr val="75420A"/>
            </a:solidFill>
            <a:prstDash val="solid"/>
          </a:ln>
        </p:spPr>
      </p:sp>
      <p:sp>
        <p:nvSpPr>
          <p:cNvPr id="12" name="note-principal">
            <a:extLst xmlns:a="http://schemas.openxmlformats.org/drawingml/2006/main">
              <a:ext uri="{FF2B5EF4-FFF2-40B4-BE49-F238E27FC236}">
                <a16:creationId xmlns:a16="http://schemas.microsoft.com/office/drawing/2014/main" id="{D6635675-D812-4998-BAFB-4A51BA38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24525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A22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A22E"/>
                </a:solidFill>
                <a:latin typeface="Arial"/>
                <a:ea typeface="Arial"/>
                <a:cs typeface="Arial"/>
              </a:rPr>
              <a:t>$25K</a:t>
            </a:r>
          </a:p>
        </p:txBody>
      </p:sp>
      <p:sp>
        <p:nvSpPr>
          <p:cNvPr id="13" name="note-label">
            <a:extLst xmlns:a="http://schemas.openxmlformats.org/drawingml/2006/main">
              <a:ext uri="{FF2B5EF4-FFF2-40B4-BE49-F238E27FC236}">
                <a16:creationId xmlns:a16="http://schemas.microsoft.com/office/drawing/2014/main" id="{0CFBBB5D-0ABC-4BFF-8138-F943CA35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695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A2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A22E"/>
                </a:solidFill>
                <a:latin typeface="Arial"/>
                <a:ea typeface="Arial"/>
                <a:cs typeface="Arial"/>
              </a:rPr>
              <a:t>UNCONVERTED NOTE</a:t>
            </a:r>
          </a:p>
        </p:txBody>
      </p:sp>
      <p:sp>
        <p:nvSpPr>
          <p:cNvPr id="14" name="note-holder">
            <a:extLst xmlns:a="http://schemas.openxmlformats.org/drawingml/2006/main">
              <a:ext uri="{FF2B5EF4-FFF2-40B4-BE49-F238E27FC236}">
                <a16:creationId xmlns:a16="http://schemas.microsoft.com/office/drawing/2014/main" id="{6F3B972E-64F3-43BB-B8A2-836C1895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5905500"/>
            <a:ext cx="352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6F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6F7"/>
                </a:solidFill>
                <a:latin typeface="Arial"/>
                <a:ea typeface="Arial"/>
                <a:cs typeface="Arial"/>
              </a:rPr>
              <a:t>Launch (Founder University)</a:t>
            </a:r>
          </a:p>
        </p:txBody>
      </p:sp>
      <p:sp>
        <p:nvSpPr>
          <p:cNvPr id="15" name="note-treatment">
            <a:extLst xmlns:a="http://schemas.openxmlformats.org/drawingml/2006/main">
              <a:ext uri="{FF2B5EF4-FFF2-40B4-BE49-F238E27FC236}">
                <a16:creationId xmlns:a16="http://schemas.microsoft.com/office/drawing/2014/main" id="{D130C3B8-13E7-4DFA-AFF8-D0C0DA70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74357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989DA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989DA7"/>
                </a:solidFill>
                <a:latin typeface="Arial"/>
                <a:ea typeface="Arial"/>
                <a:cs typeface="Arial"/>
              </a:rPr>
              <a:t>Excluded from current ownership until conversion.</a:t>
            </a:r>
          </a:p>
          <a:p xmlns:a="http://schemas.openxmlformats.org/drawingml/2006/main">
            <a:pPr>
              <a:defRPr sz="1275">
                <a:solidFill>
                  <a:srgbClr val="989DA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989DA7"/>
                </a:solidFill>
                <a:latin typeface="Arial"/>
                <a:ea typeface="Arial"/>
                <a:cs typeface="Arial"/>
              </a:rPr>
              <a:t>Terms governed by the executed note.</a:t>
            </a:r>
          </a:p>
        </p:txBody>
      </p:sp>
      <p:sp>
        <p:nvSpPr>
          <p:cNvPr id="16" name="cap-table-disclaimer">
            <a:extLst xmlns:a="http://schemas.openxmlformats.org/drawingml/2006/main">
              <a:ext uri="{FF2B5EF4-FFF2-40B4-BE49-F238E27FC236}">
                <a16:creationId xmlns:a16="http://schemas.microsoft.com/office/drawing/2014/main" id="{6377665F-9A16-476A-9E56-881B44C1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758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F7580"/>
                </a:solidFill>
                <a:latin typeface="Arial"/>
                <a:ea typeface="Arial"/>
                <a:cs typeface="Arial"/>
              </a:rPr>
              <a:t>Informational only • Governing documents control • Granted advisor options are unvested and unexercised</a:t>
            </a:r>
          </a:p>
        </p:txBody>
      </p:sp>
    </p:spTree>
    <p:extLst>
      <p:ext uri="{BB962C8B-B14F-4D97-AF65-F5344CB8AC3E}">
        <p14:creationId xmlns:p14="http://schemas.microsoft.com/office/powerpoint/2010/main" val="17076550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2026-07-22T19:04:40.3630000Z</dcterms:created>
  <dcterms:modified xsi:type="dcterms:W3CDTF">2026-07-22T19:04:40.3630000Z</dcterms:modified>
</coreProperties>
</file>