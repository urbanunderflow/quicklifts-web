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8157bed23b41ba" /><Relationship Type="http://schemas.openxmlformats.org/officeDocument/2006/relationships/extended-properties" Target="/docProps/app.xml" Id="R5cf55c7aeed4471d" /><Relationship Type="http://schemas.openxmlformats.org/officeDocument/2006/relationships/officeDocument" Target="/ppt/presentation.xml" Id="R2f337dad9bd345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c79a2eab874341"/>
  </p:sldMasterIdLst>
  <p:notesMasterIdLst>
    <p:notesMasterId xmlns:r="http://schemas.openxmlformats.org/officeDocument/2006/relationships" r:id="Rdb56dc91c63f4cc4"/>
  </p:notesMasterIdLst>
  <p:sldIdLst>
    <p:sldId xmlns:r="http://schemas.openxmlformats.org/officeDocument/2006/relationships" id="256" r:id="R8861bd55300c4e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04127aae4f05" /><Relationship Type="http://schemas.openxmlformats.org/officeDocument/2006/relationships/slideMaster" Target="/ppt/slideMasters/slideMaster1.xml" Id="R2bc79a2eab874341" /><Relationship Type="http://schemas.openxmlformats.org/officeDocument/2006/relationships/notesMaster" Target="/ppt/notesMasters/notesMaster1.xml" Id="Rdb56dc91c63f4cc4" /><Relationship Type="http://schemas.openxmlformats.org/officeDocument/2006/relationships/presProps" Target="/ppt/presProps.xml" Id="R3117af8f06464b30" /><Relationship Type="http://schemas.openxmlformats.org/officeDocument/2006/relationships/tableStyles" Target="/ppt/tableStyles.xml" Id="R2f75b6d8c43241ce" /><Relationship Type="http://schemas.openxmlformats.org/officeDocument/2006/relationships/slide" Target="/ppt/slides/slide1.xml" Id="R8861bd55300c4e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56fc57f9ae45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6df78265fb4852" /><Relationship Type="http://schemas.openxmlformats.org/officeDocument/2006/relationships/notesMaster" Target="/ppt/notesMasters/notesMaster1.xml" Id="Ra7c2aeba47ef4c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NCAA remains the primary institutional beachhead. Youth athletics is the first adjacent expansion because the same mental-performance product, governing-body relationships, and event-based acquisition channels can extend into club, school, and national youth-sport ecosystems. Campus-wide licensing, clinics and sports medicine, and professional teams/federations remain additional later-stage channels.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slide screenshot and market assumptions.</a:t>
            </a:r>
          </a:p>
          <a:p xmlns:a="http://schemas.openxmlformats.org/drawingml/2006/main">
            <a:r>
              <a:t>- /var/folders/bc/fcdjljdj1fd0xsly6ssdw8wc0000gn/T/TemporaryItems/NSIRD_screencaptureui_fdRWdG/Screenshot 2026-07-28 at 10.54.37 AM.png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66e18524b4e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87919bd57449a2" /><Relationship Type="http://schemas.openxmlformats.org/officeDocument/2006/relationships/slideLayout" Target="/ppt/slideLayouts/slideLayout1.xml" Id="R5a63320ac2ea41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63320ac2ea41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7eb96131d49d3" /><Relationship Type="http://schemas.openxmlformats.org/officeDocument/2006/relationships/notesSlide" Target="/ppt/notesSlides/notesSlide1.xml" Id="R1e3448a7c03746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ection-pill">
            <a:extLst xmlns:a="http://schemas.openxmlformats.org/drawingml/2006/main">
              <a:ext uri="{FF2B5EF4-FFF2-40B4-BE49-F238E27FC236}">
                <a16:creationId xmlns:a16="http://schemas.microsoft.com/office/drawing/2014/main" id="{BACFF901-A5BE-4C33-A831-DD01D41A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"/>
            <a:ext cx="1762125" cy="371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416">
              <a:alpha val="98000"/>
            </a:srgbClr>
          </a:solidFill>
          <a:ln xmlns:a="http://schemas.openxmlformats.org/drawingml/2006/main" w="9525">
            <a:solidFill>
              <a:srgbClr val="252A2F"/>
            </a:solidFill>
            <a:prstDash val="solid"/>
          </a:ln>
        </p:spPr>
      </p:sp>
      <p:sp>
        <p:nvSpPr>
          <p:cNvPr id="2" name="section-dot">
            <a:extLst xmlns:a="http://schemas.openxmlformats.org/drawingml/2006/main">
              <a:ext uri="{FF2B5EF4-FFF2-40B4-BE49-F238E27FC236}">
                <a16:creationId xmlns:a16="http://schemas.microsoft.com/office/drawing/2014/main" id="{C06F1783-6BE6-47DC-88D1-4B186408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8652A6E-7F64-4E36-AB36-845C57F2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"/>
            <a:ext cx="1190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THE MARKET</a:t>
            </a:r>
          </a:p>
        </p:txBody>
      </p:sp>
      <p:sp>
        <p:nvSpPr>
          <p:cNvPr id="4" name="headline-white">
            <a:extLst xmlns:a="http://schemas.openxmlformats.org/drawingml/2006/main">
              <a:ext uri="{FF2B5EF4-FFF2-40B4-BE49-F238E27FC236}">
                <a16:creationId xmlns:a16="http://schemas.microsoft.com/office/drawing/2014/main" id="{CAB4ECF4-EE2D-4537-8F4F-BDF9F7D0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There are over</a:t>
            </a:r>
          </a:p>
        </p:txBody>
      </p:sp>
      <p:sp>
        <p:nvSpPr>
          <p:cNvPr id="5" name="headline-lime">
            <a:extLst xmlns:a="http://schemas.openxmlformats.org/drawingml/2006/main">
              <a:ext uri="{FF2B5EF4-FFF2-40B4-BE49-F238E27FC236}">
                <a16:creationId xmlns:a16="http://schemas.microsoft.com/office/drawing/2014/main" id="{68F2E6C1-756F-47CB-A9DC-F5C5207B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381125"/>
            <a:ext cx="771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C8FF00"/>
                </a:solidFill>
                <a:latin typeface="Arial"/>
                <a:ea typeface="Arial"/>
                <a:cs typeface="Arial"/>
              </a:rPr>
              <a:t>1,100 NCAA programs in the U.S.</a:t>
            </a:r>
          </a:p>
        </p:txBody>
      </p:sp>
      <p:sp>
        <p:nvSpPr>
          <p:cNvPr id="6" name="primary-card">
            <a:extLst xmlns:a="http://schemas.openxmlformats.org/drawingml/2006/main">
              <a:ext uri="{FF2B5EF4-FFF2-40B4-BE49-F238E27FC236}">
                <a16:creationId xmlns:a16="http://schemas.microsoft.com/office/drawing/2014/main" id="{B939A002-093F-43E7-A9AB-B2826E5A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6500"/>
            <a:ext cx="11239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51719">
              <a:alpha val="98000"/>
            </a:srgbClr>
          </a:solidFill>
          <a:ln xmlns:a="http://schemas.openxmlformats.org/drawingml/2006/main" w="12383">
            <a:solidFill>
              <a:srgbClr val="C8FF00"/>
            </a:solidFill>
            <a:prstDash val="solid"/>
          </a:ln>
        </p:spPr>
      </p:sp>
      <p:sp>
        <p:nvSpPr>
          <p:cNvPr id="7" name="primary-label">
            <a:extLst xmlns:a="http://schemas.openxmlformats.org/drawingml/2006/main">
              <a:ext uri="{FF2B5EF4-FFF2-40B4-BE49-F238E27FC236}">
                <a16:creationId xmlns:a16="http://schemas.microsoft.com/office/drawing/2014/main" id="{7CC9781F-A8EF-412B-82A9-5F848545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8FF00"/>
                </a:solidFill>
                <a:latin typeface="Arial"/>
                <a:ea typeface="Arial"/>
                <a:cs typeface="Arial"/>
              </a:rPr>
              <a:t>PRIMARY FOCUS  ·  NCAA INSTITUTIONS</a:t>
            </a:r>
          </a:p>
        </p:txBody>
      </p:sp>
      <p:sp>
        <p:nvSpPr>
          <p:cNvPr id="8" name="stat-1-value">
            <a:extLst xmlns:a="http://schemas.openxmlformats.org/drawingml/2006/main">
              <a:ext uri="{FF2B5EF4-FFF2-40B4-BE49-F238E27FC236}">
                <a16:creationId xmlns:a16="http://schemas.microsoft.com/office/drawing/2014/main" id="{8AFE61A2-BE74-442A-8C59-AD8897AF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4D8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4D8FFF"/>
                </a:solidFill>
                <a:latin typeface="Arial"/>
                <a:ea typeface="Arial"/>
                <a:cs typeface="Arial"/>
              </a:rPr>
              <a:t>1,100+</a:t>
            </a:r>
          </a:p>
        </p:txBody>
      </p:sp>
      <p:sp>
        <p:nvSpPr>
          <p:cNvPr id="9" name="stat-1-label">
            <a:extLst xmlns:a="http://schemas.openxmlformats.org/drawingml/2006/main">
              <a:ext uri="{FF2B5EF4-FFF2-40B4-BE49-F238E27FC236}">
                <a16:creationId xmlns:a16="http://schemas.microsoft.com/office/drawing/2014/main" id="{924EB7A6-AB61-4921-A37B-EA41E5CC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NCAA member schools</a:t>
            </a:r>
          </a:p>
        </p:txBody>
      </p:sp>
      <p:sp>
        <p:nvSpPr>
          <p:cNvPr id="10" name="stat-2-value">
            <a:extLst xmlns:a="http://schemas.openxmlformats.org/drawingml/2006/main">
              <a:ext uri="{FF2B5EF4-FFF2-40B4-BE49-F238E27FC236}">
                <a16:creationId xmlns:a16="http://schemas.microsoft.com/office/drawing/2014/main" id="{E49DB481-8C23-41E6-85E1-66C918C5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9B72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9B72FF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11" name="stat-2-label">
            <a:extLst xmlns:a="http://schemas.openxmlformats.org/drawingml/2006/main">
              <a:ext uri="{FF2B5EF4-FFF2-40B4-BE49-F238E27FC236}">
                <a16:creationId xmlns:a16="http://schemas.microsoft.com/office/drawing/2014/main" id="{0A69F404-7B0D-49AE-BE3E-17A0059F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student-athletes per department</a:t>
            </a:r>
          </a:p>
        </p:txBody>
      </p:sp>
      <p:sp>
        <p:nvSpPr>
          <p:cNvPr id="12" name="stat-3-value">
            <a:extLst xmlns:a="http://schemas.openxmlformats.org/drawingml/2006/main">
              <a:ext uri="{FF2B5EF4-FFF2-40B4-BE49-F238E27FC236}">
                <a16:creationId xmlns:a16="http://schemas.microsoft.com/office/drawing/2014/main" id="{EB893B91-CC67-416F-BA0B-9B912893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C8FF00"/>
                </a:solidFill>
                <a:latin typeface="Arial"/>
                <a:ea typeface="Arial"/>
                <a:cs typeface="Arial"/>
              </a:rPr>
              <a:t>500K+</a:t>
            </a:r>
          </a:p>
        </p:txBody>
      </p:sp>
      <p:sp>
        <p:nvSpPr>
          <p:cNvPr id="13" name="stat-3-label">
            <a:extLst xmlns:a="http://schemas.openxmlformats.org/drawingml/2006/main">
              <a:ext uri="{FF2B5EF4-FFF2-40B4-BE49-F238E27FC236}">
                <a16:creationId xmlns:a16="http://schemas.microsoft.com/office/drawing/2014/main" id="{E8004C2E-840C-4449-82C4-F118D370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athletes covered by the mandate</a:t>
            </a:r>
          </a:p>
        </p:txBody>
      </p:sp>
      <p:sp>
        <p:nvSpPr>
          <p:cNvPr id="14" name="stat-rule-1">
            <a:extLst xmlns:a="http://schemas.openxmlformats.org/drawingml/2006/main">
              <a:ext uri="{FF2B5EF4-FFF2-40B4-BE49-F238E27FC236}">
                <a16:creationId xmlns:a16="http://schemas.microsoft.com/office/drawing/2014/main" id="{66572DBF-8F7A-406B-AAC0-AE0CE0BC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3338"/>
            </a:solidFill>
            <a:prstDash val="solid"/>
          </a:ln>
        </p:spPr>
      </p:sp>
      <p:sp>
        <p:nvSpPr>
          <p:cNvPr id="15" name="stat-rule-2">
            <a:extLst xmlns:a="http://schemas.openxmlformats.org/drawingml/2006/main">
              <a:ext uri="{FF2B5EF4-FFF2-40B4-BE49-F238E27FC236}">
                <a16:creationId xmlns:a16="http://schemas.microsoft.com/office/drawing/2014/main" id="{14267C67-73D1-4302-B47E-3F203BCF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3338"/>
            </a:solidFill>
            <a:prstDash val="solid"/>
          </a:ln>
        </p:spPr>
      </p:sp>
      <p:sp>
        <p:nvSpPr>
          <p:cNvPr id="16" name="later-label">
            <a:extLst xmlns:a="http://schemas.openxmlformats.org/drawingml/2006/main">
              <a:ext uri="{FF2B5EF4-FFF2-40B4-BE49-F238E27FC236}">
                <a16:creationId xmlns:a16="http://schemas.microsoft.com/office/drawing/2014/main" id="{5AD66C46-A25A-4D73-BD71-FCFA981F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33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58B9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58B96"/>
                </a:solidFill>
                <a:latin typeface="Arial"/>
                <a:ea typeface="Arial"/>
                <a:cs typeface="Arial"/>
              </a:rPr>
              <a:t>LATER EXPANSION</a:t>
            </a:r>
          </a:p>
        </p:txBody>
      </p:sp>
      <p:sp>
        <p:nvSpPr>
          <p:cNvPr id="17" name="expansion-1-card">
            <a:extLst xmlns:a="http://schemas.openxmlformats.org/drawingml/2006/main">
              <a:ext uri="{FF2B5EF4-FFF2-40B4-BE49-F238E27FC236}">
                <a16:creationId xmlns:a16="http://schemas.microsoft.com/office/drawing/2014/main" id="{488E19FB-FE4B-4373-8DDE-A44C70CC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14900"/>
            <a:ext cx="267652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51719">
              <a:alpha val="98000"/>
            </a:srgbClr>
          </a:solidFill>
          <a:ln xmlns:a="http://schemas.openxmlformats.org/drawingml/2006/main" w="9525">
            <a:solidFill>
              <a:srgbClr val="252A2F"/>
            </a:solidFill>
            <a:prstDash val="solid"/>
          </a:ln>
        </p:spPr>
      </p:sp>
      <p:sp>
        <p:nvSpPr>
          <p:cNvPr id="18" name="expansion-1-number-bg">
            <a:extLst xmlns:a="http://schemas.openxmlformats.org/drawingml/2006/main">
              <a:ext uri="{FF2B5EF4-FFF2-40B4-BE49-F238E27FC236}">
                <a16:creationId xmlns:a16="http://schemas.microsoft.com/office/drawing/2014/main" id="{5475B72A-C5CF-418F-AEA7-DED67F6C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9B72FF">
              <a:alpha val="13000"/>
            </a:srgbClr>
          </a:solidFill>
          <a:ln xmlns:a="http://schemas.openxmlformats.org/drawingml/2006/main" w="9525">
            <a:solidFill>
              <a:srgbClr val="9B72FF">
                <a:alpha val="35000"/>
              </a:srgbClr>
            </a:solidFill>
            <a:prstDash val="solid"/>
          </a:ln>
        </p:spPr>
      </p:sp>
      <p:sp>
        <p:nvSpPr>
          <p:cNvPr id="19" name="expansion-1-number">
            <a:extLst xmlns:a="http://schemas.openxmlformats.org/drawingml/2006/main">
              <a:ext uri="{FF2B5EF4-FFF2-40B4-BE49-F238E27FC236}">
                <a16:creationId xmlns:a16="http://schemas.microsoft.com/office/drawing/2014/main" id="{95DC098F-C544-4911-8918-0DE9E4BB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673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9B72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B72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0" name="expansion-1-title">
            <a:extLst xmlns:a="http://schemas.openxmlformats.org/drawingml/2006/main">
              <a:ext uri="{FF2B5EF4-FFF2-40B4-BE49-F238E27FC236}">
                <a16:creationId xmlns:a16="http://schemas.microsoft.com/office/drawing/2014/main" id="{11894F04-425C-4CFD-93DA-8F69CB50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43500"/>
            <a:ext cx="1647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Youth athletics</a:t>
            </a:r>
          </a:p>
        </p:txBody>
      </p:sp>
      <p:sp>
        <p:nvSpPr>
          <p:cNvPr id="21" name="expansion-1-detail">
            <a:extLst xmlns:a="http://schemas.openxmlformats.org/drawingml/2006/main">
              <a:ext uri="{FF2B5EF4-FFF2-40B4-BE49-F238E27FC236}">
                <a16:creationId xmlns:a16="http://schemas.microsoft.com/office/drawing/2014/main" id="{1AE90ECE-EBDF-4C12-9917-AE57BD44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86400"/>
            <a:ext cx="1647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DB2B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DB2BC"/>
                </a:solidFill>
                <a:latin typeface="Arial"/>
                <a:ea typeface="Arial"/>
                <a:cs typeface="Arial"/>
              </a:rPr>
              <a:t>Club, school + governing-body channels</a:t>
            </a:r>
          </a:p>
        </p:txBody>
      </p:sp>
      <p:sp>
        <p:nvSpPr>
          <p:cNvPr id="22" name="expansion-1-accent">
            <a:extLst xmlns:a="http://schemas.openxmlformats.org/drawingml/2006/main">
              <a:ext uri="{FF2B5EF4-FFF2-40B4-BE49-F238E27FC236}">
                <a16:creationId xmlns:a16="http://schemas.microsoft.com/office/drawing/2014/main" id="{C3A8FE75-171A-49BB-9275-CB2B10E2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229552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72FF"/>
          </a:solidFill>
          <a:ln xmlns:a="http://schemas.openxmlformats.org/drawingml/2006/main" w="0">
            <a:solidFill>
              <a:srgbClr val="9B72FF"/>
            </a:solidFill>
            <a:prstDash val="solid"/>
          </a:ln>
        </p:spPr>
      </p:sp>
      <p:sp>
        <p:nvSpPr>
          <p:cNvPr id="23" name="expansion-2-card">
            <a:extLst xmlns:a="http://schemas.openxmlformats.org/drawingml/2006/main">
              <a:ext uri="{FF2B5EF4-FFF2-40B4-BE49-F238E27FC236}">
                <a16:creationId xmlns:a16="http://schemas.microsoft.com/office/drawing/2014/main" id="{61D20890-32DA-433F-9CC0-1E6723FC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914900"/>
            <a:ext cx="267652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51719">
              <a:alpha val="98000"/>
            </a:srgbClr>
          </a:solidFill>
          <a:ln xmlns:a="http://schemas.openxmlformats.org/drawingml/2006/main" w="9525">
            <a:solidFill>
              <a:srgbClr val="252A2F"/>
            </a:solidFill>
            <a:prstDash val="solid"/>
          </a:ln>
        </p:spPr>
      </p:sp>
      <p:sp>
        <p:nvSpPr>
          <p:cNvPr id="24" name="expansion-2-number-bg">
            <a:extLst xmlns:a="http://schemas.openxmlformats.org/drawingml/2006/main">
              <a:ext uri="{FF2B5EF4-FFF2-40B4-BE49-F238E27FC236}">
                <a16:creationId xmlns:a16="http://schemas.microsoft.com/office/drawing/2014/main" id="{53DC9C75-E9ED-4D2D-A4DF-15485381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153025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4D8FFF">
              <a:alpha val="13000"/>
            </a:srgbClr>
          </a:solidFill>
          <a:ln xmlns:a="http://schemas.openxmlformats.org/drawingml/2006/main" w="9525">
            <a:solidFill>
              <a:srgbClr val="4D8FFF">
                <a:alpha val="35000"/>
              </a:srgbClr>
            </a:solidFill>
            <a:prstDash val="solid"/>
          </a:ln>
        </p:spPr>
      </p:sp>
      <p:sp>
        <p:nvSpPr>
          <p:cNvPr id="25" name="expansion-2-number">
            <a:extLst xmlns:a="http://schemas.openxmlformats.org/drawingml/2006/main">
              <a:ext uri="{FF2B5EF4-FFF2-40B4-BE49-F238E27FC236}">
                <a16:creationId xmlns:a16="http://schemas.microsoft.com/office/drawing/2014/main" id="{2E39963A-100C-4566-B44E-9BDF4899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2673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4D8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D8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expansion-2-title">
            <a:extLst xmlns:a="http://schemas.openxmlformats.org/drawingml/2006/main">
              <a:ext uri="{FF2B5EF4-FFF2-40B4-BE49-F238E27FC236}">
                <a16:creationId xmlns:a16="http://schemas.microsoft.com/office/drawing/2014/main" id="{1205F844-7B0C-441E-91CD-83FBFB77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43500"/>
            <a:ext cx="1647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1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Campus-wide licenses</a:t>
            </a:r>
          </a:p>
        </p:txBody>
      </p:sp>
      <p:sp>
        <p:nvSpPr>
          <p:cNvPr id="27" name="expansion-2-detail">
            <a:extLst xmlns:a="http://schemas.openxmlformats.org/drawingml/2006/main">
              <a:ext uri="{FF2B5EF4-FFF2-40B4-BE49-F238E27FC236}">
                <a16:creationId xmlns:a16="http://schemas.microsoft.com/office/drawing/2014/main" id="{2ADF6D74-0D67-4428-A11D-20AA3D3E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86400"/>
            <a:ext cx="1647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DB2B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DB2BC"/>
                </a:solidFill>
                <a:latin typeface="Arial"/>
                <a:ea typeface="Arial"/>
                <a:cs typeface="Arial"/>
              </a:rPr>
              <a:t>~$400K per institution</a:t>
            </a:r>
          </a:p>
        </p:txBody>
      </p:sp>
      <p:sp>
        <p:nvSpPr>
          <p:cNvPr id="28" name="expansion-2-accent">
            <a:extLst xmlns:a="http://schemas.openxmlformats.org/drawingml/2006/main">
              <a:ext uri="{FF2B5EF4-FFF2-40B4-BE49-F238E27FC236}">
                <a16:creationId xmlns:a16="http://schemas.microsoft.com/office/drawing/2014/main" id="{F6D8D0D2-8A3A-44B2-AC84-0E4AAAE2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048375"/>
            <a:ext cx="229552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8FFF"/>
          </a:solidFill>
          <a:ln xmlns:a="http://schemas.openxmlformats.org/drawingml/2006/main" w="0">
            <a:solidFill>
              <a:srgbClr val="4D8FFF"/>
            </a:solidFill>
            <a:prstDash val="solid"/>
          </a:ln>
        </p:spPr>
      </p:sp>
      <p:sp>
        <p:nvSpPr>
          <p:cNvPr id="29" name="expansion-3-card">
            <a:extLst xmlns:a="http://schemas.openxmlformats.org/drawingml/2006/main">
              <a:ext uri="{FF2B5EF4-FFF2-40B4-BE49-F238E27FC236}">
                <a16:creationId xmlns:a16="http://schemas.microsoft.com/office/drawing/2014/main" id="{4371189A-DE89-4092-AB50-0072468A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14900"/>
            <a:ext cx="267652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51719">
              <a:alpha val="98000"/>
            </a:srgbClr>
          </a:solidFill>
          <a:ln xmlns:a="http://schemas.openxmlformats.org/drawingml/2006/main" w="9525">
            <a:solidFill>
              <a:srgbClr val="252A2F"/>
            </a:solidFill>
            <a:prstDash val="solid"/>
          </a:ln>
        </p:spPr>
      </p:sp>
      <p:sp>
        <p:nvSpPr>
          <p:cNvPr id="30" name="expansion-3-number-bg">
            <a:extLst xmlns:a="http://schemas.openxmlformats.org/drawingml/2006/main">
              <a:ext uri="{FF2B5EF4-FFF2-40B4-BE49-F238E27FC236}">
                <a16:creationId xmlns:a16="http://schemas.microsoft.com/office/drawing/2014/main" id="{82C0F4C5-980E-4093-848D-0D6A9A98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53025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65AAF">
              <a:alpha val="13000"/>
            </a:srgbClr>
          </a:solidFill>
          <a:ln xmlns:a="http://schemas.openxmlformats.org/drawingml/2006/main" w="9525">
            <a:solidFill>
              <a:srgbClr val="F65AAF">
                <a:alpha val="35000"/>
              </a:srgbClr>
            </a:solidFill>
            <a:prstDash val="solid"/>
          </a:ln>
        </p:spPr>
      </p:sp>
      <p:sp>
        <p:nvSpPr>
          <p:cNvPr id="31" name="expansion-3-number">
            <a:extLst xmlns:a="http://schemas.openxmlformats.org/drawingml/2006/main">
              <a:ext uri="{FF2B5EF4-FFF2-40B4-BE49-F238E27FC236}">
                <a16:creationId xmlns:a16="http://schemas.microsoft.com/office/drawing/2014/main" id="{6B956803-4CCD-4BD1-A36F-CBA8F24B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673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65AA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65AA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2" name="expansion-3-title">
            <a:extLst xmlns:a="http://schemas.openxmlformats.org/drawingml/2006/main">
              <a:ext uri="{FF2B5EF4-FFF2-40B4-BE49-F238E27FC236}">
                <a16:creationId xmlns:a16="http://schemas.microsoft.com/office/drawing/2014/main" id="{E2F6079A-F00B-4E87-8DAB-61FC52BB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1647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33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Clinics &amp; sports medicine</a:t>
            </a:r>
          </a:p>
        </p:txBody>
      </p:sp>
      <p:sp>
        <p:nvSpPr>
          <p:cNvPr id="33" name="expansion-3-detail">
            <a:extLst xmlns:a="http://schemas.openxmlformats.org/drawingml/2006/main">
              <a:ext uri="{FF2B5EF4-FFF2-40B4-BE49-F238E27FC236}">
                <a16:creationId xmlns:a16="http://schemas.microsoft.com/office/drawing/2014/main" id="{52F4DA61-A15F-46DE-A36A-706B55E3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86400"/>
            <a:ext cx="1647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DB2B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DB2BC"/>
                </a:solidFill>
                <a:latin typeface="Arial"/>
                <a:ea typeface="Arial"/>
                <a:cs typeface="Arial"/>
              </a:rPr>
              <a:t>Access + referral network layer</a:t>
            </a:r>
          </a:p>
        </p:txBody>
      </p:sp>
      <p:sp>
        <p:nvSpPr>
          <p:cNvPr id="34" name="expansion-3-accent">
            <a:extLst xmlns:a="http://schemas.openxmlformats.org/drawingml/2006/main">
              <a:ext uri="{FF2B5EF4-FFF2-40B4-BE49-F238E27FC236}">
                <a16:creationId xmlns:a16="http://schemas.microsoft.com/office/drawing/2014/main" id="{A4312EB0-8909-420F-9DD2-A9A494B9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48375"/>
            <a:ext cx="229552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5AAF"/>
          </a:solidFill>
          <a:ln xmlns:a="http://schemas.openxmlformats.org/drawingml/2006/main" w="0">
            <a:solidFill>
              <a:srgbClr val="F65AAF"/>
            </a:solidFill>
            <a:prstDash val="solid"/>
          </a:ln>
        </p:spPr>
      </p:sp>
      <p:sp>
        <p:nvSpPr>
          <p:cNvPr id="35" name="expansion-4-card">
            <a:extLst xmlns:a="http://schemas.openxmlformats.org/drawingml/2006/main">
              <a:ext uri="{FF2B5EF4-FFF2-40B4-BE49-F238E27FC236}">
                <a16:creationId xmlns:a16="http://schemas.microsoft.com/office/drawing/2014/main" id="{63EC3943-5E26-4B42-84E5-71CF1B68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267652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51719">
              <a:alpha val="98000"/>
            </a:srgbClr>
          </a:solidFill>
          <a:ln xmlns:a="http://schemas.openxmlformats.org/drawingml/2006/main" w="9525">
            <a:solidFill>
              <a:srgbClr val="252A2F"/>
            </a:solidFill>
            <a:prstDash val="solid"/>
          </a:ln>
        </p:spPr>
      </p:sp>
      <p:sp>
        <p:nvSpPr>
          <p:cNvPr id="36" name="expansion-4-number-bg">
            <a:extLst xmlns:a="http://schemas.openxmlformats.org/drawingml/2006/main">
              <a:ext uri="{FF2B5EF4-FFF2-40B4-BE49-F238E27FC236}">
                <a16:creationId xmlns:a16="http://schemas.microsoft.com/office/drawing/2014/main" id="{03A47D49-4F35-46F3-9ADA-547777B5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153025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9C38">
              <a:alpha val="13000"/>
            </a:srgbClr>
          </a:solidFill>
          <a:ln xmlns:a="http://schemas.openxmlformats.org/drawingml/2006/main" w="9525">
            <a:solidFill>
              <a:srgbClr val="FF9C38">
                <a:alpha val="35000"/>
              </a:srgbClr>
            </a:solidFill>
            <a:prstDash val="solid"/>
          </a:ln>
        </p:spPr>
      </p:sp>
      <p:sp>
        <p:nvSpPr>
          <p:cNvPr id="37" name="expansion-4-number">
            <a:extLst xmlns:a="http://schemas.openxmlformats.org/drawingml/2006/main">
              <a:ext uri="{FF2B5EF4-FFF2-40B4-BE49-F238E27FC236}">
                <a16:creationId xmlns:a16="http://schemas.microsoft.com/office/drawing/2014/main" id="{31D7B9D4-0A11-4DF7-BA7C-574792C8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2673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9C3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9C3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expansion-4-title">
            <a:extLst xmlns:a="http://schemas.openxmlformats.org/drawingml/2006/main">
              <a:ext uri="{FF2B5EF4-FFF2-40B4-BE49-F238E27FC236}">
                <a16:creationId xmlns:a16="http://schemas.microsoft.com/office/drawing/2014/main" id="{0B0C6E4E-C168-4961-8577-B56E49C6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143500"/>
            <a:ext cx="1647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98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5F5F2"/>
                </a:solidFill>
                <a:latin typeface="Arial"/>
                <a:ea typeface="Arial"/>
                <a:cs typeface="Arial"/>
              </a:rPr>
              <a:t>Pro teams &amp; federations</a:t>
            </a:r>
          </a:p>
        </p:txBody>
      </p:sp>
      <p:sp>
        <p:nvSpPr>
          <p:cNvPr id="39" name="expansion-4-detail">
            <a:extLst xmlns:a="http://schemas.openxmlformats.org/drawingml/2006/main">
              <a:ext uri="{FF2B5EF4-FFF2-40B4-BE49-F238E27FC236}">
                <a16:creationId xmlns:a16="http://schemas.microsoft.com/office/drawing/2014/main" id="{8174B266-B005-4707-AC52-31F9E7E5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486400"/>
            <a:ext cx="1647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DB2B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DB2BC"/>
                </a:solidFill>
                <a:latin typeface="Arial"/>
                <a:ea typeface="Arial"/>
                <a:cs typeface="Arial"/>
              </a:rPr>
              <a:t>Horizon after NCAA proof</a:t>
            </a:r>
          </a:p>
        </p:txBody>
      </p:sp>
      <p:sp>
        <p:nvSpPr>
          <p:cNvPr id="40" name="expansion-4-accent">
            <a:extLst xmlns:a="http://schemas.openxmlformats.org/drawingml/2006/main">
              <a:ext uri="{FF2B5EF4-FFF2-40B4-BE49-F238E27FC236}">
                <a16:creationId xmlns:a16="http://schemas.microsoft.com/office/drawing/2014/main" id="{B895E925-47C5-40D3-A588-9FD4BE2D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6048375"/>
            <a:ext cx="229552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C38"/>
          </a:solidFill>
          <a:ln xmlns:a="http://schemas.openxmlformats.org/drawingml/2006/main" w="0">
            <a:solidFill>
              <a:srgbClr val="FF9C3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83903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2026-07-28T14:56:48.1000000Z</dcterms:created>
  <dcterms:modified xsi:type="dcterms:W3CDTF">2026-07-28T14:56:48.1000000Z</dcterms:modified>
</coreProperties>
</file>