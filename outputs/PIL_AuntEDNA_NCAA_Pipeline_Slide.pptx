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e4616404b84829" /><Relationship Type="http://schemas.openxmlformats.org/officeDocument/2006/relationships/extended-properties" Target="/docProps/app.xml" Id="Re2e627bf84de410a" /><Relationship Type="http://schemas.openxmlformats.org/officeDocument/2006/relationships/officeDocument" Target="/ppt/presentation.xml" Id="R16027aef32504fe8" /></Relationships>
</file>

<file path=ppt/presentation.xml><?xml version="1.0" encoding="utf-8"?>
<p:presentation xmlns:p="http://schemas.openxmlformats.org/presentationml/2006/main">
  <p:sldMasterIdLst>
    <p:sldMasterId xmlns:r="http://schemas.openxmlformats.org/officeDocument/2006/relationships" id="2147483648" r:id="Rfb26a2e6240d41ca"/>
  </p:sldMasterIdLst>
  <p:notesMasterIdLst>
    <p:notesMasterId xmlns:r="http://schemas.openxmlformats.org/officeDocument/2006/relationships" r:id="Rbe8ec7bb1d6148b4"/>
  </p:notesMasterIdLst>
  <p:sldIdLst>
    <p:sldId xmlns:r="http://schemas.openxmlformats.org/officeDocument/2006/relationships" id="256" r:id="Rf40bcd5f45b743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0d5ea8f5c246ea" /><Relationship Type="http://schemas.openxmlformats.org/officeDocument/2006/relationships/slideMaster" Target="/ppt/slideMasters/slideMaster1.xml" Id="Rfb26a2e6240d41ca" /><Relationship Type="http://schemas.openxmlformats.org/officeDocument/2006/relationships/notesMaster" Target="/ppt/notesMasters/notesMaster1.xml" Id="Rbe8ec7bb1d6148b4" /><Relationship Type="http://schemas.openxmlformats.org/officeDocument/2006/relationships/presProps" Target="/ppt/presProps.xml" Id="R7b58761d0bc34bbe" /><Relationship Type="http://schemas.openxmlformats.org/officeDocument/2006/relationships/tableStyles" Target="/ppt/tableStyles.xml" Id="R6364e4f6d4ce4f6b" /><Relationship Type="http://schemas.openxmlformats.org/officeDocument/2006/relationships/slide" Target="/ppt/slides/slide1.xml" Id="Rf40bcd5f45b743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ec6a05c4d847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86fdf264104fb7" /><Relationship Type="http://schemas.openxmlformats.org/officeDocument/2006/relationships/notesMaster" Target="/ppt/notesMasters/notesMaster1.xml" Id="Refa2c537186845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AuntEDNA.ai contributes three forms of leverage to PulseCheck: clinical escalation infrastructure, evidence-building capacity, and an established institutional channel into college athletics. Tracey should lead the verbal story: she brings lived athlete experience plus two decades of coaching and athletics administration. Jelanna complements that with Big Four transformation and Big Pharma execution. Together, their Alfreeda Goff Foundation relationship with the NCAA creates direct access and a credible pilot pipeline.</a:t>
            </a:r>
          </a:p>
          <a:p xmlns:a="http://schemas.openxmlformats.org/drawingml/2006/main">
            <a:r>
              <a:t/>
            </a:r>
          </a:p>
          <a:p xmlns:a="http://schemas.openxmlformats.org/drawingml/2006/main">
            <a:r>
              <a:t>Public sources describe the Alfreeda Goff Foundation as formerly athLEDA and state that the NCAA partnership began in 2020. The six-year label reflects the current 2026 deck date. Public AuntEDNA materials describe the NSF Phase I award as $275K. The 80% adherence figure and PulseCheck's planned inclusion in a $1.4M Phase II proposal are company-provided figures and should be presented as evidence/preparation, not as an awarded Phase II grant.</a:t>
            </a:r>
          </a:p>
          <a:p xmlns:a="http://schemas.openxmlformats.org/drawingml/2006/main">
            <a:r>
              <a:t/>
            </a:r>
          </a:p>
          <a:p xmlns:a="http://schemas.openxmlformats.org/drawingml/2006/main">
            <a:r>
              <a:t>[Sources]</a:t>
            </a:r>
          </a:p>
          <a:p xmlns:a="http://schemas.openxmlformats.org/drawingml/2006/main">
            <a:r>
              <a:t>- https://www.uri.edu/magazine/issues/spring-2023/ensuring-student-athlete-success-on-and-beyond-the-field/</a:t>
            </a:r>
          </a:p>
          <a:p xmlns:a="http://schemas.openxmlformats.org/drawingml/2006/main">
            <a:r>
              <a:t>- https://www.ncaa.org/news/2022/11/22/media-center-arise-program-opening-new-doors-ideas-for-hbcu-student-athletes.aspx</a:t>
            </a:r>
          </a:p>
          <a:p xmlns:a="http://schemas.openxmlformats.org/drawingml/2006/main">
            <a:r>
              <a:t>- https://rwuhawks.com/sports/womens-basketball/roster/coaches/tracey-hathaway/36</a:t>
            </a:r>
          </a:p>
          <a:p xmlns:a="http://schemas.openxmlformats.org/drawingml/2006/main">
            <a:r>
              <a:t>- https://auntedna.ai/about-us-2/</a:t>
            </a:r>
          </a:p>
          <a:p xmlns:a="http://schemas.openxmlformats.org/drawingml/2006/main">
            <a:r>
              <a:t>- https://hamptonpirates.com/news/2025/9/11/general-hampton-university-athletics-joins-with-athleda-org-for-student-athlete-programming.aspx</a:t>
            </a:r>
          </a:p>
          <a:p xmlns:a="http://schemas.openxmlformats.org/drawingml/2006/main">
            <a:r>
              <a:t>- https://www.linkedin.com/in/jelanna-salas-olivera-she-ella-316a0521</a:t>
            </a:r>
          </a:p>
          <a:p xmlns:a="http://schemas.openxmlformats.org/drawingml/2006/main">
            <a:r>
              <a:t>- https://www.linkedin.com/posts/auntedna-ai_mentalhealthtech-responsibleai-collegeathletes-activity-7336391390999781377-RZ0e</a:t>
            </a:r>
          </a:p>
          <a:p xmlns:a="http://schemas.openxmlformats.org/drawingml/2006/main">
            <a:r>
              <a:t>- User-provided information: 80% adherence result; Jelanna's former cheerleading background; PulseCheck's planned Phase II participation and $1.4M proposal target.</a:t>
            </a:r>
          </a:p>
          <a:p xmlns:a="http://schemas.openxmlformats.org/drawingml/2006/main">
            <a:r>
              <a:t>- /Users/tremainegrant/Documents/GitHub/QuickLifts-Web/public/investor/july-2026/hero-basketball-huddle.png</a:t>
            </a:r>
          </a:p>
          <a:p xmlns:a="http://schemas.openxmlformats.org/drawingml/2006/main">
            <a:r>
              <a:t>- /Users/tremainegrant/Documents/GitHub/QuickLifts-Web/public/dr-tracey-basketball.jpeg</a:t>
            </a:r>
          </a:p>
          <a:p xmlns:a="http://schemas.openxmlformats.org/drawingml/2006/main">
            <a:r>
              <a:t>- /Users/tremainegrant/Documents/GitHub/QuickLifts-Web/public/dr-tracey.png</a:t>
            </a:r>
          </a:p>
          <a:p xmlns:a="http://schemas.openxmlformats.org/drawingml/2006/main">
            <a:r>
              <a:t>- /Users/tremainegrant/Documents/GitHub/QuickLifts-Web/public/jelanna.jpg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3eca54929146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f0932699d34d9a" /><Relationship Type="http://schemas.openxmlformats.org/officeDocument/2006/relationships/slideLayout" Target="/ppt/slideLayouts/slideLayout1.xml" Id="R69485ba27ac840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85ba27ac840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3d9c0550ac46a9" /><Relationship Type="http://schemas.openxmlformats.org/officeDocument/2006/relationships/image" Target="/ppt/media/image.png" Id="R937c2d385f614be1" /><Relationship Type="http://schemas.openxmlformats.org/officeDocument/2006/relationships/image" Target="/ppt/media/image.jpeg" Id="R0143ee662c6c40c2" /><Relationship Type="http://schemas.openxmlformats.org/officeDocument/2006/relationships/image" Target="/ppt/media/image2.png" Id="Rc409d090c3294671" /><Relationship Type="http://schemas.openxmlformats.org/officeDocument/2006/relationships/image" Target="/ppt/media/image2.jpeg" Id="R80f4d76d43724e24" /><Relationship Type="http://schemas.openxmlformats.org/officeDocument/2006/relationships/notesSlide" Target="/ppt/notesSlides/notesSlide1.xml" Id="Rd9eef50282ab4ab7" /></Relationships>
</file>

<file path=ppt/slides/slide1.xml><?xml version="1.0" encoding="utf-8"?>
<p:sld xmlns:p="http://schemas.openxmlformats.org/presentationml/2006/main">
  <p:cSld>
    <p:bg>
      <p:bgPr>
        <a:solidFill xmlns:a="http://schemas.openxmlformats.org/drawingml/2006/main">
          <a:srgbClr val="050708"/>
        </a:solidFill>
      </p:bgPr>
    </p:bg>
    <p:spTree>
      <p:nvGrpSpPr>
        <p:cNvPr id="1" name=""/>
        <p:cNvGrpSpPr/>
        <p:nvPr/>
      </p:nvGrpSpPr>
      <p:grpSpPr>
        <a:xfrm xmlns:a="http://schemas.openxmlformats.org/drawingml/2006/main"/>
      </p:grpSpPr>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937c2d385f614be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darkener">
            <a:extLst xmlns:a="http://schemas.openxmlformats.org/drawingml/2006/main">
              <a:ext uri="{FF2B5EF4-FFF2-40B4-BE49-F238E27FC236}">
                <a16:creationId xmlns:a16="http://schemas.microsoft.com/office/drawing/2014/main" id="{A5DAB79D-99D2-4224-921B-D8B7EAA8B1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407">
              <a:alpha val="83000"/>
            </a:srgbClr>
          </a:solidFill>
          <a:ln xmlns:a="http://schemas.openxmlformats.org/drawingml/2006/main" w="0">
            <a:noFill/>
            <a:prstDash val="solid"/>
          </a:ln>
        </p:spPr>
      </p:sp>
      <p:sp>
        <p:nvSpPr>
          <p:cNvPr id="3" name="content-depth">
            <a:extLst xmlns:a="http://schemas.openxmlformats.org/drawingml/2006/main">
              <a:ext uri="{FF2B5EF4-FFF2-40B4-BE49-F238E27FC236}">
                <a16:creationId xmlns:a16="http://schemas.microsoft.com/office/drawing/2014/main" id="{7BCCEAB3-5146-4A1E-A7B5-E5C0972C1090}"/>
              </a:ext>
            </a:extLst>
          </p:cNvPr>
          <p:cNvSpPr>
            <a:spLocks xmlns:a="http://schemas.openxmlformats.org/drawingml/2006/main" noGrp="1"/>
          </p:cNvSpPr>
          <p:nvPr/>
        </p:nvSpPr>
        <p:spPr>
          <a:xfrm xmlns:a="http://schemas.openxmlformats.org/drawingml/2006/main">
            <a:off x="0" y="1809750"/>
            <a:ext cx="12192000" cy="5048250"/>
          </a:xfrm>
          <a:prstGeom xmlns:a="http://schemas.openxmlformats.org/drawingml/2006/main" prst="rect">
            <a:avLst/>
          </a:prstGeom>
          <a:gradFill xmlns:a="http://schemas.openxmlformats.org/drawingml/2006/main">
            <a:gsLst>
              <a:gs pos="0">
                <a:srgbClr val="050708"/>
              </a:gs>
              <a:gs pos="100000">
                <a:srgbClr val="050708"/>
              </a:gs>
            </a:gsLst>
            <a:lin ang="5400000"/>
          </a:gradFill>
          <a:ln xmlns:a="http://schemas.openxmlformats.org/drawingml/2006/main" w="0">
            <a:noFill/>
            <a:prstDash val="solid"/>
          </a:ln>
        </p:spPr>
      </p:sp>
      <p:sp>
        <p:nvSpPr>
          <p:cNvPr id="4" name="section-pill">
            <a:extLst xmlns:a="http://schemas.openxmlformats.org/drawingml/2006/main">
              <a:ext uri="{FF2B5EF4-FFF2-40B4-BE49-F238E27FC236}">
                <a16:creationId xmlns:a16="http://schemas.microsoft.com/office/drawing/2014/main" id="{9020C5BA-506C-4D47-825B-7DB3EC7BB62C}"/>
              </a:ext>
            </a:extLst>
          </p:cNvPr>
          <p:cNvSpPr>
            <a:spLocks xmlns:a="http://schemas.openxmlformats.org/drawingml/2006/main" noGrp="1"/>
          </p:cNvSpPr>
          <p:nvPr/>
        </p:nvSpPr>
        <p:spPr>
          <a:xfrm xmlns:a="http://schemas.openxmlformats.org/drawingml/2006/main">
            <a:off x="533400" y="285750"/>
            <a:ext cx="2571750" cy="381000"/>
          </a:xfrm>
          <a:prstGeom xmlns:a="http://schemas.openxmlformats.org/drawingml/2006/main" prst="roundRect">
            <a:avLst>
              <a:gd name="adj" fmla="val 50000"/>
            </a:avLst>
          </a:prstGeom>
          <a:solidFill xmlns:a="http://schemas.openxmlformats.org/drawingml/2006/main">
            <a:srgbClr val="121619">
              <a:alpha val="96000"/>
            </a:srgbClr>
          </a:solidFill>
          <a:ln xmlns:a="http://schemas.openxmlformats.org/drawingml/2006/main" w="9525">
            <a:solidFill>
              <a:srgbClr val="343A40"/>
            </a:solidFill>
            <a:prstDash val="solid"/>
          </a:ln>
        </p:spPr>
      </p:sp>
      <p:sp>
        <p:nvSpPr>
          <p:cNvPr id="5" name="section-dot">
            <a:extLst xmlns:a="http://schemas.openxmlformats.org/drawingml/2006/main">
              <a:ext uri="{FF2B5EF4-FFF2-40B4-BE49-F238E27FC236}">
                <a16:creationId xmlns:a16="http://schemas.microsoft.com/office/drawing/2014/main" id="{AD3C3DC5-58CC-4BD2-A5F5-559C7F09591E}"/>
              </a:ext>
            </a:extLst>
          </p:cNvPr>
          <p:cNvSpPr>
            <a:spLocks xmlns:a="http://schemas.openxmlformats.org/drawingml/2006/main" noGrp="1"/>
          </p:cNvSpPr>
          <p:nvPr/>
        </p:nvSpPr>
        <p:spPr>
          <a:xfrm xmlns:a="http://schemas.openxmlformats.org/drawingml/2006/main">
            <a:off x="723900" y="428625"/>
            <a:ext cx="76200" cy="76200"/>
          </a:xfrm>
          <a:prstGeom xmlns:a="http://schemas.openxmlformats.org/drawingml/2006/main" prst="ellipse">
            <a:avLst/>
          </a:prstGeom>
          <a:solidFill xmlns:a="http://schemas.openxmlformats.org/drawingml/2006/main">
            <a:srgbClr val="C8FF00"/>
          </a:solidFill>
          <a:ln xmlns:a="http://schemas.openxmlformats.org/drawingml/2006/main" w="0">
            <a:noFill/>
            <a:prstDash val="solid"/>
          </a:ln>
        </p:spPr>
      </p:sp>
      <p:sp>
        <p:nvSpPr>
          <p:cNvPr id="6" name="section-label">
            <a:extLst xmlns:a="http://schemas.openxmlformats.org/drawingml/2006/main">
              <a:ext uri="{FF2B5EF4-FFF2-40B4-BE49-F238E27FC236}">
                <a16:creationId xmlns:a16="http://schemas.microsoft.com/office/drawing/2014/main" id="{37DF6537-BF87-4D8F-88E1-65EDDE98221A}"/>
              </a:ext>
            </a:extLst>
          </p:cNvPr>
          <p:cNvSpPr>
            <a:spLocks xmlns:a="http://schemas.openxmlformats.org/drawingml/2006/main" noGrp="1"/>
          </p:cNvSpPr>
          <p:nvPr/>
        </p:nvSpPr>
        <p:spPr>
          <a:xfrm xmlns:a="http://schemas.openxmlformats.org/drawingml/2006/main">
            <a:off x="933450" y="3714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5F5F2"/>
                </a:solidFill>
                <a:latin typeface="Arial"/>
                <a:ea typeface="Arial"/>
                <a:cs typeface="Arial"/>
              </a:defRPr>
            </a:pPr>
            <a:r>
              <a:rPr sz="975" b="1" i="0">
                <a:solidFill>
                  <a:srgbClr val="F5F5F2"/>
                </a:solidFill>
                <a:latin typeface="Arial"/>
                <a:ea typeface="Arial"/>
                <a:cs typeface="Arial"/>
              </a:rPr>
              <a:t>CLINICAL + GTM PATHWAY</a:t>
            </a:r>
          </a:p>
        </p:txBody>
      </p:sp>
      <p:sp>
        <p:nvSpPr>
          <p:cNvPr id="7" name="headline-white">
            <a:extLst xmlns:a="http://schemas.openxmlformats.org/drawingml/2006/main">
              <a:ext uri="{FF2B5EF4-FFF2-40B4-BE49-F238E27FC236}">
                <a16:creationId xmlns:a16="http://schemas.microsoft.com/office/drawing/2014/main" id="{F42C38A7-68B8-48B4-800A-A7FB7353BD4D}"/>
              </a:ext>
            </a:extLst>
          </p:cNvPr>
          <p:cNvSpPr>
            <a:spLocks xmlns:a="http://schemas.openxmlformats.org/drawingml/2006/main" noGrp="1"/>
          </p:cNvSpPr>
          <p:nvPr/>
        </p:nvSpPr>
        <p:spPr>
          <a:xfrm xmlns:a="http://schemas.openxmlformats.org/drawingml/2006/main">
            <a:off x="533400" y="8477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5F5F2"/>
                </a:solidFill>
                <a:latin typeface="Arial"/>
                <a:ea typeface="Arial"/>
                <a:cs typeface="Arial"/>
              </a:defRPr>
            </a:pPr>
            <a:r>
              <a:rPr sz="2400" b="1" i="0">
                <a:solidFill>
                  <a:srgbClr val="F5F5F2"/>
                </a:solidFill>
                <a:latin typeface="Arial"/>
                <a:ea typeface="Arial"/>
                <a:cs typeface="Arial"/>
              </a:rPr>
              <a:t>AuntEDNA.ai brings clinical care + an</a:t>
            </a:r>
          </a:p>
        </p:txBody>
      </p:sp>
      <p:sp>
        <p:nvSpPr>
          <p:cNvPr id="8" name="headline-accent">
            <a:extLst xmlns:a="http://schemas.openxmlformats.org/drawingml/2006/main">
              <a:ext uri="{FF2B5EF4-FFF2-40B4-BE49-F238E27FC236}">
                <a16:creationId xmlns:a16="http://schemas.microsoft.com/office/drawing/2014/main" id="{7BB58054-DD18-4942-BD79-46B8C761D695}"/>
              </a:ext>
            </a:extLst>
          </p:cNvPr>
          <p:cNvSpPr>
            <a:spLocks xmlns:a="http://schemas.openxmlformats.org/drawingml/2006/main" noGrp="1"/>
          </p:cNvSpPr>
          <p:nvPr/>
        </p:nvSpPr>
        <p:spPr>
          <a:xfrm xmlns:a="http://schemas.openxmlformats.org/drawingml/2006/main">
            <a:off x="6429375" y="8477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65AAF"/>
                </a:solidFill>
                <a:latin typeface="Arial"/>
                <a:ea typeface="Arial"/>
                <a:cs typeface="Arial"/>
              </a:defRPr>
            </a:pPr>
            <a:r>
              <a:rPr sz="2400" b="1" i="0">
                <a:solidFill>
                  <a:srgbClr val="F65AAF"/>
                </a:solidFill>
                <a:latin typeface="Arial"/>
                <a:ea typeface="Arial"/>
                <a:cs typeface="Arial"/>
              </a:rPr>
              <a:t>active NCAA pipeline.</a:t>
            </a:r>
          </a:p>
        </p:txBody>
      </p:sp>
      <p:sp>
        <p:nvSpPr>
          <p:cNvPr id="9" name="subtitle">
            <a:extLst xmlns:a="http://schemas.openxmlformats.org/drawingml/2006/main">
              <a:ext uri="{FF2B5EF4-FFF2-40B4-BE49-F238E27FC236}">
                <a16:creationId xmlns:a16="http://schemas.microsoft.com/office/drawing/2014/main" id="{73A6F0C0-A6EB-4EB7-B4F6-E683B24A85C5}"/>
              </a:ext>
            </a:extLst>
          </p:cNvPr>
          <p:cNvSpPr>
            <a:spLocks xmlns:a="http://schemas.openxmlformats.org/drawingml/2006/main" noGrp="1"/>
          </p:cNvSpPr>
          <p:nvPr/>
        </p:nvSpPr>
        <p:spPr>
          <a:xfrm xmlns:a="http://schemas.openxmlformats.org/drawingml/2006/main">
            <a:off x="533400" y="138112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AEB3BD"/>
                </a:solidFill>
                <a:latin typeface="Arial"/>
                <a:ea typeface="Arial"/>
                <a:cs typeface="Arial"/>
              </a:defRPr>
            </a:pPr>
            <a:r>
              <a:rPr sz="1425" b="0" i="0">
                <a:solidFill>
                  <a:srgbClr val="AEB3BD"/>
                </a:solidFill>
                <a:latin typeface="Arial"/>
                <a:ea typeface="Arial"/>
                <a:cs typeface="Arial"/>
              </a:rPr>
              <a:t>PulseCheck owns detection, scoring and routing. AuntEDNA adds clinical escalation, research validation and institutional access.</a:t>
            </a:r>
          </a:p>
        </p:txBody>
      </p:sp>
      <p:sp>
        <p:nvSpPr>
          <p:cNvPr id="10" name="tracey-card">
            <a:extLst xmlns:a="http://schemas.openxmlformats.org/drawingml/2006/main">
              <a:ext uri="{FF2B5EF4-FFF2-40B4-BE49-F238E27FC236}">
                <a16:creationId xmlns:a16="http://schemas.microsoft.com/office/drawing/2014/main" id="{F6CDB533-1002-451E-91A6-031D6D08F0C7}"/>
              </a:ext>
            </a:extLst>
          </p:cNvPr>
          <p:cNvSpPr>
            <a:spLocks xmlns:a="http://schemas.openxmlformats.org/drawingml/2006/main" noGrp="1"/>
          </p:cNvSpPr>
          <p:nvPr/>
        </p:nvSpPr>
        <p:spPr>
          <a:xfrm xmlns:a="http://schemas.openxmlformats.org/drawingml/2006/main">
            <a:off x="533400" y="1952625"/>
            <a:ext cx="4000500" cy="3352800"/>
          </a:xfrm>
          <a:prstGeom xmlns:a="http://schemas.openxmlformats.org/drawingml/2006/main" prst="roundRect">
            <a:avLst>
              <a:gd name="adj" fmla="val 3409"/>
            </a:avLst>
          </a:prstGeom>
          <a:solidFill xmlns:a="http://schemas.openxmlformats.org/drawingml/2006/main">
            <a:srgbClr val="111518">
              <a:alpha val="96000"/>
            </a:srgbClr>
          </a:solidFill>
          <a:ln xmlns:a="http://schemas.openxmlformats.org/drawingml/2006/main" w="9525">
            <a:solidFill>
              <a:srgbClr val="343A40"/>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0143ee662c6c40c2"/>
          <a:srcRect xmlns:a="http://schemas.openxmlformats.org/drawingml/2006/main" l="12963" t="0" r="12963" b="0"/>
          <a:stretch xmlns:a="http://schemas.openxmlformats.org/drawingml/2006/main">
            <a:fillRect l="0" t="0" r="0" b="0"/>
          </a:stretch>
        </p:blipFill>
        <p:spPr>
          <a:xfrm xmlns:a="http://schemas.openxmlformats.org/drawingml/2006/main">
            <a:off x="542925" y="1962150"/>
            <a:ext cx="1409700" cy="3333750"/>
          </a:xfrm>
          <a:prstGeom xmlns:a="http://schemas.openxmlformats.org/drawingml/2006/main" prst="roundRect">
            <a:avLst>
              <a:gd name="adj" fmla="val 8108"/>
            </a:avLst>
          </a:prstGeom>
        </p:spPr>
      </p:pic>
      <p:sp>
        <p:nvSpPr>
          <p:cNvPr id="12" name="tracey-photo-fade">
            <a:extLst xmlns:a="http://schemas.openxmlformats.org/drawingml/2006/main">
              <a:ext uri="{FF2B5EF4-FFF2-40B4-BE49-F238E27FC236}">
                <a16:creationId xmlns:a16="http://schemas.microsoft.com/office/drawing/2014/main" id="{F1F05E11-ABB3-4582-937C-6D1E3FBE10BC}"/>
              </a:ext>
            </a:extLst>
          </p:cNvPr>
          <p:cNvSpPr>
            <a:spLocks xmlns:a="http://schemas.openxmlformats.org/drawingml/2006/main" noGrp="1"/>
          </p:cNvSpPr>
          <p:nvPr/>
        </p:nvSpPr>
        <p:spPr>
          <a:xfrm xmlns:a="http://schemas.openxmlformats.org/drawingml/2006/main">
            <a:off x="1285875" y="1962150"/>
            <a:ext cx="666750" cy="3333750"/>
          </a:xfrm>
          <a:prstGeom xmlns:a="http://schemas.openxmlformats.org/drawingml/2006/main" prst="rect">
            <a:avLst/>
          </a:prstGeom>
          <a:gradFill xmlns:a="http://schemas.openxmlformats.org/drawingml/2006/main">
            <a:gsLst>
              <a:gs pos="0">
                <a:srgbClr val="111518"/>
              </a:gs>
              <a:gs pos="100000">
                <a:srgbClr val="111518"/>
              </a:gs>
            </a:gsLst>
            <a:lin ang="0"/>
          </a:gradFill>
          <a:ln xmlns:a="http://schemas.openxmlformats.org/drawingml/2006/main" w="0">
            <a:noFill/>
            <a:prstDash val="solid"/>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c409d090c3294671"/>
          <a:srcRect xmlns:a="http://schemas.openxmlformats.org/drawingml/2006/main" l="0" t="2857" r="0" b="2857"/>
          <a:stretch xmlns:a="http://schemas.openxmlformats.org/drawingml/2006/main">
            <a:fillRect l="0" t="0" r="0" b="0"/>
          </a:stretch>
        </p:blipFill>
        <p:spPr>
          <a:xfrm xmlns:a="http://schemas.openxmlformats.org/drawingml/2006/main">
            <a:off x="1752600" y="2133600"/>
            <a:ext cx="590550" cy="590550"/>
          </a:xfrm>
          <a:prstGeom xmlns:a="http://schemas.openxmlformats.org/drawingml/2006/main" prst="ellipse">
            <a:avLst/>
          </a:prstGeom>
        </p:spPr>
      </p:pic>
      <p:sp>
        <p:nvSpPr>
          <p:cNvPr id="14" name="tracey-name">
            <a:extLst xmlns:a="http://schemas.openxmlformats.org/drawingml/2006/main">
              <a:ext uri="{FF2B5EF4-FFF2-40B4-BE49-F238E27FC236}">
                <a16:creationId xmlns:a16="http://schemas.microsoft.com/office/drawing/2014/main" id="{7FE50F29-9A1D-4F53-96A7-D7006F47F9C1}"/>
              </a:ext>
            </a:extLst>
          </p:cNvPr>
          <p:cNvSpPr>
            <a:spLocks xmlns:a="http://schemas.openxmlformats.org/drawingml/2006/main" noGrp="1"/>
          </p:cNvSpPr>
          <p:nvPr/>
        </p:nvSpPr>
        <p:spPr>
          <a:xfrm xmlns:a="http://schemas.openxmlformats.org/drawingml/2006/main">
            <a:off x="2476500" y="21526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5F5F2"/>
                </a:solidFill>
                <a:latin typeface="Arial"/>
                <a:ea typeface="Arial"/>
                <a:cs typeface="Arial"/>
              </a:defRPr>
            </a:pPr>
            <a:r>
              <a:rPr sz="1425" b="1" i="0">
                <a:solidFill>
                  <a:srgbClr val="F5F5F2"/>
                </a:solidFill>
                <a:latin typeface="Arial"/>
                <a:ea typeface="Arial"/>
                <a:cs typeface="Arial"/>
              </a:rPr>
              <a:t>Dr. Tracey Hathaway</a:t>
            </a:r>
          </a:p>
        </p:txBody>
      </p:sp>
      <p:sp>
        <p:nvSpPr>
          <p:cNvPr id="15" name="tracey-role">
            <a:extLst xmlns:a="http://schemas.openxmlformats.org/drawingml/2006/main">
              <a:ext uri="{FF2B5EF4-FFF2-40B4-BE49-F238E27FC236}">
                <a16:creationId xmlns:a16="http://schemas.microsoft.com/office/drawing/2014/main" id="{677D9E08-EB98-42D2-B514-E1B85D5FA264}"/>
              </a:ext>
            </a:extLst>
          </p:cNvPr>
          <p:cNvSpPr>
            <a:spLocks xmlns:a="http://schemas.openxmlformats.org/drawingml/2006/main" noGrp="1"/>
          </p:cNvSpPr>
          <p:nvPr/>
        </p:nvSpPr>
        <p:spPr>
          <a:xfrm xmlns:a="http://schemas.openxmlformats.org/drawingml/2006/main">
            <a:off x="2476500" y="24479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F65AAF"/>
                </a:solidFill>
                <a:latin typeface="Arial"/>
                <a:ea typeface="Arial"/>
                <a:cs typeface="Arial"/>
              </a:defRPr>
            </a:pPr>
            <a:r>
              <a:rPr sz="788" b="1" i="0">
                <a:solidFill>
                  <a:srgbClr val="F65AAF"/>
                </a:solidFill>
                <a:latin typeface="Arial"/>
                <a:ea typeface="Arial"/>
                <a:cs typeface="Arial"/>
              </a:rPr>
              <a:t>CO-FOUNDER • ATHLETICS ACCESS</a:t>
            </a:r>
          </a:p>
        </p:txBody>
      </p:sp>
      <p:sp>
        <p:nvSpPr>
          <p:cNvPr id="16" name="tracey-journey">
            <a:extLst xmlns:a="http://schemas.openxmlformats.org/drawingml/2006/main">
              <a:ext uri="{FF2B5EF4-FFF2-40B4-BE49-F238E27FC236}">
                <a16:creationId xmlns:a16="http://schemas.microsoft.com/office/drawing/2014/main" id="{794C431C-9BD4-4514-8166-977736B692CF}"/>
              </a:ext>
            </a:extLst>
          </p:cNvPr>
          <p:cNvSpPr>
            <a:spLocks xmlns:a="http://schemas.openxmlformats.org/drawingml/2006/main" noGrp="1"/>
          </p:cNvSpPr>
          <p:nvPr/>
        </p:nvSpPr>
        <p:spPr>
          <a:xfrm xmlns:a="http://schemas.openxmlformats.org/drawingml/2006/main">
            <a:off x="1752600" y="2924175"/>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770"/>
          </a:bodyPr>
          <a:lstStyle xmlns:a="http://schemas.openxmlformats.org/drawingml/2006/main"/>
          <a:p xmlns:a="http://schemas.openxmlformats.org/drawingml/2006/main">
            <a:pPr algn="l">
              <a:defRPr sz="1125" b="1" i="0">
                <a:solidFill>
                  <a:srgbClr val="C8FF00"/>
                </a:solidFill>
                <a:latin typeface="Arial"/>
                <a:ea typeface="Arial"/>
                <a:cs typeface="Arial"/>
              </a:defRPr>
            </a:pPr>
            <a:r>
              <a:rPr sz="1125" b="1" i="0">
                <a:solidFill>
                  <a:srgbClr val="C8FF00"/>
                </a:solidFill>
                <a:latin typeface="Arial"/>
                <a:ea typeface="Arial"/>
                <a:cs typeface="Arial"/>
              </a:rPr>
              <a:t>ATHLETE → COACH → ATHLETIC DIRECTOR</a:t>
            </a:r>
          </a:p>
        </p:txBody>
      </p:sp>
      <p:sp>
        <p:nvSpPr>
          <p:cNvPr id="17" name="tracey-bullet-1-dot">
            <a:extLst xmlns:a="http://schemas.openxmlformats.org/drawingml/2006/main">
              <a:ext uri="{FF2B5EF4-FFF2-40B4-BE49-F238E27FC236}">
                <a16:creationId xmlns:a16="http://schemas.microsoft.com/office/drawing/2014/main" id="{BE44F3EA-8AC8-4084-B4F5-815CBB0CC2A7}"/>
              </a:ext>
            </a:extLst>
          </p:cNvPr>
          <p:cNvSpPr>
            <a:spLocks xmlns:a="http://schemas.openxmlformats.org/drawingml/2006/main" noGrp="1"/>
          </p:cNvSpPr>
          <p:nvPr/>
        </p:nvSpPr>
        <p:spPr>
          <a:xfrm xmlns:a="http://schemas.openxmlformats.org/drawingml/2006/main">
            <a:off x="1752600" y="3343275"/>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18" name="tracey-bullet-1">
            <a:extLst xmlns:a="http://schemas.openxmlformats.org/drawingml/2006/main">
              <a:ext uri="{FF2B5EF4-FFF2-40B4-BE49-F238E27FC236}">
                <a16:creationId xmlns:a16="http://schemas.microsoft.com/office/drawing/2014/main" id="{725F1E80-A30B-42F8-8401-AD83185A7B3E}"/>
              </a:ext>
            </a:extLst>
          </p:cNvPr>
          <p:cNvSpPr>
            <a:spLocks xmlns:a="http://schemas.openxmlformats.org/drawingml/2006/main" noGrp="1"/>
          </p:cNvSpPr>
          <p:nvPr/>
        </p:nvSpPr>
        <p:spPr>
          <a:xfrm xmlns:a="http://schemas.openxmlformats.org/drawingml/2006/main">
            <a:off x="1895475" y="3276600"/>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Former D1 women’s basketball player, University of Rhode Island</a:t>
            </a:r>
          </a:p>
        </p:txBody>
      </p:sp>
      <p:sp>
        <p:nvSpPr>
          <p:cNvPr id="19" name="tracey-bullet-2-dot">
            <a:extLst xmlns:a="http://schemas.openxmlformats.org/drawingml/2006/main">
              <a:ext uri="{FF2B5EF4-FFF2-40B4-BE49-F238E27FC236}">
                <a16:creationId xmlns:a16="http://schemas.microsoft.com/office/drawing/2014/main" id="{55F730D7-BBE9-4648-A5EB-3B6B5F26A1A1}"/>
              </a:ext>
            </a:extLst>
          </p:cNvPr>
          <p:cNvSpPr>
            <a:spLocks xmlns:a="http://schemas.openxmlformats.org/drawingml/2006/main" noGrp="1"/>
          </p:cNvSpPr>
          <p:nvPr/>
        </p:nvSpPr>
        <p:spPr>
          <a:xfrm xmlns:a="http://schemas.openxmlformats.org/drawingml/2006/main">
            <a:off x="1752600" y="3790950"/>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20" name="tracey-bullet-2">
            <a:extLst xmlns:a="http://schemas.openxmlformats.org/drawingml/2006/main">
              <a:ext uri="{FF2B5EF4-FFF2-40B4-BE49-F238E27FC236}">
                <a16:creationId xmlns:a16="http://schemas.microsoft.com/office/drawing/2014/main" id="{A5413AB0-64CB-4064-A7CF-274E83BA2A5C}"/>
              </a:ext>
            </a:extLst>
          </p:cNvPr>
          <p:cNvSpPr>
            <a:spLocks xmlns:a="http://schemas.openxmlformats.org/drawingml/2006/main" noGrp="1"/>
          </p:cNvSpPr>
          <p:nvPr/>
        </p:nvSpPr>
        <p:spPr>
          <a:xfrm xmlns:a="http://schemas.openxmlformats.org/drawingml/2006/main">
            <a:off x="1895475" y="3724275"/>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Two decades across coaching and collegiate athletics administration</a:t>
            </a:r>
          </a:p>
        </p:txBody>
      </p:sp>
      <p:sp>
        <p:nvSpPr>
          <p:cNvPr id="21" name="tracey-bullet-3-dot">
            <a:extLst xmlns:a="http://schemas.openxmlformats.org/drawingml/2006/main">
              <a:ext uri="{FF2B5EF4-FFF2-40B4-BE49-F238E27FC236}">
                <a16:creationId xmlns:a16="http://schemas.microsoft.com/office/drawing/2014/main" id="{A1A89323-E89B-4A8F-9F9D-7F4D6A5E0389}"/>
              </a:ext>
            </a:extLst>
          </p:cNvPr>
          <p:cNvSpPr>
            <a:spLocks xmlns:a="http://schemas.openxmlformats.org/drawingml/2006/main" noGrp="1"/>
          </p:cNvSpPr>
          <p:nvPr/>
        </p:nvSpPr>
        <p:spPr>
          <a:xfrm xmlns:a="http://schemas.openxmlformats.org/drawingml/2006/main">
            <a:off x="1752600" y="4238625"/>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22" name="tracey-bullet-3">
            <a:extLst xmlns:a="http://schemas.openxmlformats.org/drawingml/2006/main">
              <a:ext uri="{FF2B5EF4-FFF2-40B4-BE49-F238E27FC236}">
                <a16:creationId xmlns:a16="http://schemas.microsoft.com/office/drawing/2014/main" id="{0F190922-1400-4C14-BFE1-EBED06E1F70E}"/>
              </a:ext>
            </a:extLst>
          </p:cNvPr>
          <p:cNvSpPr>
            <a:spLocks xmlns:a="http://schemas.openxmlformats.org/drawingml/2006/main" noGrp="1"/>
          </p:cNvSpPr>
          <p:nvPr/>
        </p:nvSpPr>
        <p:spPr>
          <a:xfrm xmlns:a="http://schemas.openxmlformats.org/drawingml/2006/main">
            <a:off x="1895475" y="4171950"/>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Former women’s basketball coach, athletic director and NCAA committee contributor</a:t>
            </a:r>
          </a:p>
        </p:txBody>
      </p:sp>
      <p:sp>
        <p:nvSpPr>
          <p:cNvPr id="23" name="tracey-footnote">
            <a:extLst xmlns:a="http://schemas.openxmlformats.org/drawingml/2006/main">
              <a:ext uri="{FF2B5EF4-FFF2-40B4-BE49-F238E27FC236}">
                <a16:creationId xmlns:a16="http://schemas.microsoft.com/office/drawing/2014/main" id="{71DAC9B6-A4B0-4F3B-9E3B-FB64E8F09627}"/>
              </a:ext>
            </a:extLst>
          </p:cNvPr>
          <p:cNvSpPr>
            <a:spLocks xmlns:a="http://schemas.openxmlformats.org/drawingml/2006/main" noGrp="1"/>
          </p:cNvSpPr>
          <p:nvPr/>
        </p:nvSpPr>
        <p:spPr>
          <a:xfrm xmlns:a="http://schemas.openxmlformats.org/drawingml/2006/main">
            <a:off x="1752600" y="48101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377"/>
          </a:bodyPr>
          <a:lstStyle xmlns:a="http://schemas.openxmlformats.org/drawingml/2006/main"/>
          <a:p xmlns:a="http://schemas.openxmlformats.org/drawingml/2006/main">
            <a:pPr algn="l">
              <a:defRPr sz="1013" b="1" i="0">
                <a:solidFill>
                  <a:srgbClr val="F5F5F2"/>
                </a:solidFill>
                <a:latin typeface="Arial"/>
                <a:ea typeface="Arial"/>
                <a:cs typeface="Arial"/>
              </a:defRPr>
            </a:pPr>
            <a:r>
              <a:rPr sz="1013" b="1" i="0">
                <a:solidFill>
                  <a:srgbClr val="F5F5F2"/>
                </a:solidFill>
                <a:latin typeface="Arial"/>
                <a:ea typeface="Arial"/>
                <a:cs typeface="Arial"/>
              </a:rPr>
              <a:t>Deep, active relationships across college athletics.</a:t>
            </a:r>
          </a:p>
        </p:txBody>
      </p:sp>
      <p:sp>
        <p:nvSpPr>
          <p:cNvPr id="24" name="jelanna-card">
            <a:extLst xmlns:a="http://schemas.openxmlformats.org/drawingml/2006/main">
              <a:ext uri="{FF2B5EF4-FFF2-40B4-BE49-F238E27FC236}">
                <a16:creationId xmlns:a16="http://schemas.microsoft.com/office/drawing/2014/main" id="{E7BD0F66-3FF1-4AAC-BA01-5C173144946E}"/>
              </a:ext>
            </a:extLst>
          </p:cNvPr>
          <p:cNvSpPr>
            <a:spLocks xmlns:a="http://schemas.openxmlformats.org/drawingml/2006/main" noGrp="1"/>
          </p:cNvSpPr>
          <p:nvPr/>
        </p:nvSpPr>
        <p:spPr>
          <a:xfrm xmlns:a="http://schemas.openxmlformats.org/drawingml/2006/main">
            <a:off x="4686300" y="1952625"/>
            <a:ext cx="2724150" cy="3352800"/>
          </a:xfrm>
          <a:prstGeom xmlns:a="http://schemas.openxmlformats.org/drawingml/2006/main" prst="roundRect">
            <a:avLst>
              <a:gd name="adj" fmla="val 4196"/>
            </a:avLst>
          </a:prstGeom>
          <a:solidFill xmlns:a="http://schemas.openxmlformats.org/drawingml/2006/main">
            <a:srgbClr val="111518">
              <a:alpha val="96000"/>
            </a:srgbClr>
          </a:solidFill>
          <a:ln xmlns:a="http://schemas.openxmlformats.org/drawingml/2006/main" w="9525">
            <a:solidFill>
              <a:srgbClr val="343A40"/>
            </a:solidFill>
            <a:prstDash val="solid"/>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80f4d76d43724e24"/>
          <a:srcRect xmlns:a="http://schemas.openxmlformats.org/drawingml/2006/main" l="0" t="5619" r="0" b="5619"/>
          <a:stretch xmlns:a="http://schemas.openxmlformats.org/drawingml/2006/main">
            <a:fillRect l="0" t="0" r="0" b="0"/>
          </a:stretch>
        </p:blipFill>
        <p:spPr>
          <a:xfrm xmlns:a="http://schemas.openxmlformats.org/drawingml/2006/main">
            <a:off x="4905375" y="2152650"/>
            <a:ext cx="800100" cy="800100"/>
          </a:xfrm>
          <a:prstGeom xmlns:a="http://schemas.openxmlformats.org/drawingml/2006/main" prst="ellipse">
            <a:avLst/>
          </a:prstGeom>
        </p:spPr>
      </p:pic>
      <p:sp>
        <p:nvSpPr>
          <p:cNvPr id="26" name="jelanna-name">
            <a:extLst xmlns:a="http://schemas.openxmlformats.org/drawingml/2006/main">
              <a:ext uri="{FF2B5EF4-FFF2-40B4-BE49-F238E27FC236}">
                <a16:creationId xmlns:a16="http://schemas.microsoft.com/office/drawing/2014/main" id="{A797032F-1082-4390-81D8-25726B194D40}"/>
              </a:ext>
            </a:extLst>
          </p:cNvPr>
          <p:cNvSpPr>
            <a:spLocks xmlns:a="http://schemas.openxmlformats.org/drawingml/2006/main" noGrp="1"/>
          </p:cNvSpPr>
          <p:nvPr/>
        </p:nvSpPr>
        <p:spPr>
          <a:xfrm xmlns:a="http://schemas.openxmlformats.org/drawingml/2006/main">
            <a:off x="4905375" y="3086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5F5F2"/>
                </a:solidFill>
                <a:latin typeface="Arial"/>
                <a:ea typeface="Arial"/>
                <a:cs typeface="Arial"/>
              </a:defRPr>
            </a:pPr>
            <a:r>
              <a:rPr sz="1425" b="1" i="0">
                <a:solidFill>
                  <a:srgbClr val="F5F5F2"/>
                </a:solidFill>
                <a:latin typeface="Arial"/>
                <a:ea typeface="Arial"/>
                <a:cs typeface="Arial"/>
              </a:rPr>
              <a:t>Jelanna Salas Olivera</a:t>
            </a:r>
          </a:p>
        </p:txBody>
      </p:sp>
      <p:sp>
        <p:nvSpPr>
          <p:cNvPr id="27" name="jelanna-role">
            <a:extLst xmlns:a="http://schemas.openxmlformats.org/drawingml/2006/main">
              <a:ext uri="{FF2B5EF4-FFF2-40B4-BE49-F238E27FC236}">
                <a16:creationId xmlns:a16="http://schemas.microsoft.com/office/drawing/2014/main" id="{262D11D9-6527-406C-BE4D-1FFF48A4C4F1}"/>
              </a:ext>
            </a:extLst>
          </p:cNvPr>
          <p:cNvSpPr>
            <a:spLocks xmlns:a="http://schemas.openxmlformats.org/drawingml/2006/main" noGrp="1"/>
          </p:cNvSpPr>
          <p:nvPr/>
        </p:nvSpPr>
        <p:spPr>
          <a:xfrm xmlns:a="http://schemas.openxmlformats.org/drawingml/2006/main">
            <a:off x="4905375" y="34099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9B72FF"/>
                </a:solidFill>
                <a:latin typeface="Arial"/>
                <a:ea typeface="Arial"/>
                <a:cs typeface="Arial"/>
              </a:defRPr>
            </a:pPr>
            <a:r>
              <a:rPr sz="788" b="1" i="0">
                <a:solidFill>
                  <a:srgbClr val="9B72FF"/>
                </a:solidFill>
                <a:latin typeface="Arial"/>
                <a:ea typeface="Arial"/>
                <a:cs typeface="Arial"/>
              </a:rPr>
              <a:t>CO-FOUNDER • ENTERPRISE EXECUTION</a:t>
            </a:r>
          </a:p>
        </p:txBody>
      </p:sp>
      <p:sp>
        <p:nvSpPr>
          <p:cNvPr id="28" name="jelanna-journey">
            <a:extLst xmlns:a="http://schemas.openxmlformats.org/drawingml/2006/main">
              <a:ext uri="{FF2B5EF4-FFF2-40B4-BE49-F238E27FC236}">
                <a16:creationId xmlns:a16="http://schemas.microsoft.com/office/drawing/2014/main" id="{75B96B4B-CAF1-400A-80AD-99FED9AFE5D5}"/>
              </a:ext>
            </a:extLst>
          </p:cNvPr>
          <p:cNvSpPr>
            <a:spLocks xmlns:a="http://schemas.openxmlformats.org/drawingml/2006/main" noGrp="1"/>
          </p:cNvSpPr>
          <p:nvPr/>
        </p:nvSpPr>
        <p:spPr>
          <a:xfrm xmlns:a="http://schemas.openxmlformats.org/drawingml/2006/main">
            <a:off x="4905375" y="37528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C8FF00"/>
                </a:solidFill>
                <a:latin typeface="Arial"/>
                <a:ea typeface="Arial"/>
                <a:cs typeface="Arial"/>
              </a:defRPr>
            </a:pPr>
            <a:r>
              <a:rPr sz="1088" b="1" i="0">
                <a:solidFill>
                  <a:srgbClr val="C8FF00"/>
                </a:solidFill>
                <a:latin typeface="Arial"/>
                <a:ea typeface="Arial"/>
                <a:cs typeface="Arial"/>
              </a:rPr>
              <a:t>BIG FOUR → BIG PHARMA → DIGITAL HEALTH</a:t>
            </a:r>
          </a:p>
        </p:txBody>
      </p:sp>
      <p:sp>
        <p:nvSpPr>
          <p:cNvPr id="29" name="jelanna-bullet-1-dot">
            <a:extLst xmlns:a="http://schemas.openxmlformats.org/drawingml/2006/main">
              <a:ext uri="{FF2B5EF4-FFF2-40B4-BE49-F238E27FC236}">
                <a16:creationId xmlns:a16="http://schemas.microsoft.com/office/drawing/2014/main" id="{F9CA83C7-6C69-47F0-AD89-3C839863D6F6}"/>
              </a:ext>
            </a:extLst>
          </p:cNvPr>
          <p:cNvSpPr>
            <a:spLocks xmlns:a="http://schemas.openxmlformats.org/drawingml/2006/main" noGrp="1"/>
          </p:cNvSpPr>
          <p:nvPr/>
        </p:nvSpPr>
        <p:spPr>
          <a:xfrm xmlns:a="http://schemas.openxmlformats.org/drawingml/2006/main">
            <a:off x="4905375" y="42862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0" name="jelanna-bullet-1">
            <a:extLst xmlns:a="http://schemas.openxmlformats.org/drawingml/2006/main">
              <a:ext uri="{FF2B5EF4-FFF2-40B4-BE49-F238E27FC236}">
                <a16:creationId xmlns:a16="http://schemas.microsoft.com/office/drawing/2014/main" id="{16E84141-FA26-46FA-A73B-CE955EDC5A4D}"/>
              </a:ext>
            </a:extLst>
          </p:cNvPr>
          <p:cNvSpPr>
            <a:spLocks xmlns:a="http://schemas.openxmlformats.org/drawingml/2006/main" noGrp="1"/>
          </p:cNvSpPr>
          <p:nvPr/>
        </p:nvSpPr>
        <p:spPr>
          <a:xfrm xmlns:a="http://schemas.openxmlformats.org/drawingml/2006/main">
            <a:off x="5048250" y="42195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447"/>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Transformation consulting across EY and KPMG</a:t>
            </a:r>
          </a:p>
        </p:txBody>
      </p:sp>
      <p:sp>
        <p:nvSpPr>
          <p:cNvPr id="31" name="jelanna-bullet-2-dot">
            <a:extLst xmlns:a="http://schemas.openxmlformats.org/drawingml/2006/main">
              <a:ext uri="{FF2B5EF4-FFF2-40B4-BE49-F238E27FC236}">
                <a16:creationId xmlns:a16="http://schemas.microsoft.com/office/drawing/2014/main" id="{434C5D62-F0FC-4504-A243-6DF63CDA1971}"/>
              </a:ext>
            </a:extLst>
          </p:cNvPr>
          <p:cNvSpPr>
            <a:spLocks xmlns:a="http://schemas.openxmlformats.org/drawingml/2006/main" noGrp="1"/>
          </p:cNvSpPr>
          <p:nvPr/>
        </p:nvSpPr>
        <p:spPr>
          <a:xfrm xmlns:a="http://schemas.openxmlformats.org/drawingml/2006/main">
            <a:off x="4905375" y="46291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2" name="jelanna-bullet-2">
            <a:extLst xmlns:a="http://schemas.openxmlformats.org/drawingml/2006/main">
              <a:ext uri="{FF2B5EF4-FFF2-40B4-BE49-F238E27FC236}">
                <a16:creationId xmlns:a16="http://schemas.microsoft.com/office/drawing/2014/main" id="{0966CED8-F3BB-4694-B7BC-FD17E727812D}"/>
              </a:ext>
            </a:extLst>
          </p:cNvPr>
          <p:cNvSpPr>
            <a:spLocks xmlns:a="http://schemas.openxmlformats.org/drawingml/2006/main" noGrp="1"/>
          </p:cNvSpPr>
          <p:nvPr/>
        </p:nvSpPr>
        <p:spPr>
          <a:xfrm xmlns:a="http://schemas.openxmlformats.org/drawingml/2006/main">
            <a:off x="5048250" y="45624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Big Pharma experience at Eli Lilly</a:t>
            </a:r>
          </a:p>
        </p:txBody>
      </p:sp>
      <p:sp>
        <p:nvSpPr>
          <p:cNvPr id="33" name="jelanna-bullet-3-dot">
            <a:extLst xmlns:a="http://schemas.openxmlformats.org/drawingml/2006/main">
              <a:ext uri="{FF2B5EF4-FFF2-40B4-BE49-F238E27FC236}">
                <a16:creationId xmlns:a16="http://schemas.microsoft.com/office/drawing/2014/main" id="{CCF29CE9-9E74-4C16-975F-94B807C73AB6}"/>
              </a:ext>
            </a:extLst>
          </p:cNvPr>
          <p:cNvSpPr>
            <a:spLocks xmlns:a="http://schemas.openxmlformats.org/drawingml/2006/main" noGrp="1"/>
          </p:cNvSpPr>
          <p:nvPr/>
        </p:nvSpPr>
        <p:spPr>
          <a:xfrm xmlns:a="http://schemas.openxmlformats.org/drawingml/2006/main">
            <a:off x="4905375" y="49720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4" name="jelanna-bullet-3">
            <a:extLst xmlns:a="http://schemas.openxmlformats.org/drawingml/2006/main">
              <a:ext uri="{FF2B5EF4-FFF2-40B4-BE49-F238E27FC236}">
                <a16:creationId xmlns:a16="http://schemas.microsoft.com/office/drawing/2014/main" id="{EAC6E8AF-CB3D-4718-AC5C-E3CC50CEC773}"/>
              </a:ext>
            </a:extLst>
          </p:cNvPr>
          <p:cNvSpPr>
            <a:spLocks xmlns:a="http://schemas.openxmlformats.org/drawingml/2006/main" noGrp="1"/>
          </p:cNvSpPr>
          <p:nvPr/>
        </p:nvSpPr>
        <p:spPr>
          <a:xfrm xmlns:a="http://schemas.openxmlformats.org/drawingml/2006/main">
            <a:off x="5048250" y="49053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defRPr sz="1013" b="0" i="0">
                <a:solidFill>
                  <a:srgbClr val="AEB3BD"/>
                </a:solidFill>
                <a:latin typeface="Arial"/>
                <a:ea typeface="Arial"/>
                <a:cs typeface="Arial"/>
              </a:defRPr>
            </a:pPr>
            <a:r>
              <a:rPr sz="1013" b="0" i="0">
                <a:solidFill>
                  <a:srgbClr val="AEB3BD"/>
                </a:solidFill>
                <a:latin typeface="Arial"/>
                <a:ea typeface="Arial"/>
                <a:cs typeface="Arial"/>
              </a:rPr>
              <a:t>Former cheerleader with enterprise, product and healthcare fluency</a:t>
            </a:r>
          </a:p>
        </p:txBody>
      </p:sp>
      <p:sp>
        <p:nvSpPr>
          <p:cNvPr id="35" name="leverage-card">
            <a:extLst xmlns:a="http://schemas.openxmlformats.org/drawingml/2006/main">
              <a:ext uri="{FF2B5EF4-FFF2-40B4-BE49-F238E27FC236}">
                <a16:creationId xmlns:a16="http://schemas.microsoft.com/office/drawing/2014/main" id="{B790B975-3978-44C2-90E7-1D9266BC4A0B}"/>
              </a:ext>
            </a:extLst>
          </p:cNvPr>
          <p:cNvSpPr>
            <a:spLocks xmlns:a="http://schemas.openxmlformats.org/drawingml/2006/main" noGrp="1"/>
          </p:cNvSpPr>
          <p:nvPr/>
        </p:nvSpPr>
        <p:spPr>
          <a:xfrm xmlns:a="http://schemas.openxmlformats.org/drawingml/2006/main">
            <a:off x="7562850" y="1952625"/>
            <a:ext cx="4095750" cy="3352800"/>
          </a:xfrm>
          <a:prstGeom xmlns:a="http://schemas.openxmlformats.org/drawingml/2006/main" prst="roundRect">
            <a:avLst>
              <a:gd name="adj" fmla="val 3409"/>
            </a:avLst>
          </a:prstGeom>
          <a:solidFill xmlns:a="http://schemas.openxmlformats.org/drawingml/2006/main">
            <a:srgbClr val="111518">
              <a:alpha val="96000"/>
            </a:srgbClr>
          </a:solidFill>
          <a:ln xmlns:a="http://schemas.openxmlformats.org/drawingml/2006/main" w="9525">
            <a:solidFill>
              <a:srgbClr val="343A40"/>
            </a:solidFill>
            <a:prstDash val="solid"/>
          </a:ln>
        </p:spPr>
      </p:sp>
      <p:sp>
        <p:nvSpPr>
          <p:cNvPr id="36" name="leverage-label">
            <a:extLst xmlns:a="http://schemas.openxmlformats.org/drawingml/2006/main">
              <a:ext uri="{FF2B5EF4-FFF2-40B4-BE49-F238E27FC236}">
                <a16:creationId xmlns:a16="http://schemas.microsoft.com/office/drawing/2014/main" id="{C777263B-7BB8-47B6-BBE8-B35083537A0F}"/>
              </a:ext>
            </a:extLst>
          </p:cNvPr>
          <p:cNvSpPr>
            <a:spLocks xmlns:a="http://schemas.openxmlformats.org/drawingml/2006/main" noGrp="1"/>
          </p:cNvSpPr>
          <p:nvPr/>
        </p:nvSpPr>
        <p:spPr>
          <a:xfrm xmlns:a="http://schemas.openxmlformats.org/drawingml/2006/main">
            <a:off x="7810500" y="21526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C8FF00"/>
                </a:solidFill>
                <a:latin typeface="Arial"/>
                <a:ea typeface="Arial"/>
                <a:cs typeface="Arial"/>
              </a:defRPr>
            </a:pPr>
            <a:r>
              <a:rPr sz="900" b="1" i="0">
                <a:solidFill>
                  <a:srgbClr val="C8FF00"/>
                </a:solidFill>
                <a:latin typeface="Arial"/>
                <a:ea typeface="Arial"/>
                <a:cs typeface="Arial"/>
              </a:rPr>
              <a:t>THE SHARED ADVANTAGE</a:t>
            </a:r>
          </a:p>
        </p:txBody>
      </p:sp>
      <p:sp>
        <p:nvSpPr>
          <p:cNvPr id="37" name="six-years-stat">
            <a:extLst xmlns:a="http://schemas.openxmlformats.org/drawingml/2006/main">
              <a:ext uri="{FF2B5EF4-FFF2-40B4-BE49-F238E27FC236}">
                <a16:creationId xmlns:a16="http://schemas.microsoft.com/office/drawing/2014/main" id="{CC84F4DD-FE83-4583-838E-0D8F6DFCC352}"/>
              </a:ext>
            </a:extLst>
          </p:cNvPr>
          <p:cNvSpPr>
            <a:spLocks xmlns:a="http://schemas.openxmlformats.org/drawingml/2006/main" noGrp="1"/>
          </p:cNvSpPr>
          <p:nvPr/>
        </p:nvSpPr>
        <p:spPr>
          <a:xfrm xmlns:a="http://schemas.openxmlformats.org/drawingml/2006/main">
            <a:off x="7791450" y="24574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F5F5F2"/>
                </a:solidFill>
                <a:latin typeface="Arial"/>
                <a:ea typeface="Arial"/>
                <a:cs typeface="Arial"/>
              </a:defRPr>
            </a:pPr>
            <a:r>
              <a:rPr sz="2700" b="1" i="0">
                <a:solidFill>
                  <a:srgbClr val="F5F5F2"/>
                </a:solidFill>
                <a:latin typeface="Arial"/>
                <a:ea typeface="Arial"/>
                <a:cs typeface="Arial"/>
              </a:rPr>
              <a:t>6 YEARS</a:t>
            </a:r>
          </a:p>
        </p:txBody>
      </p:sp>
      <p:sp>
        <p:nvSpPr>
          <p:cNvPr id="38" name="six-years-desc">
            <a:extLst xmlns:a="http://schemas.openxmlformats.org/drawingml/2006/main">
              <a:ext uri="{FF2B5EF4-FFF2-40B4-BE49-F238E27FC236}">
                <a16:creationId xmlns:a16="http://schemas.microsoft.com/office/drawing/2014/main" id="{C19658BA-77A3-4485-B118-DC2EDECFE588}"/>
              </a:ext>
            </a:extLst>
          </p:cNvPr>
          <p:cNvSpPr>
            <a:spLocks xmlns:a="http://schemas.openxmlformats.org/drawingml/2006/main" noGrp="1"/>
          </p:cNvSpPr>
          <p:nvPr/>
        </p:nvSpPr>
        <p:spPr>
          <a:xfrm xmlns:a="http://schemas.openxmlformats.org/drawingml/2006/main">
            <a:off x="96202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65AAF"/>
                </a:solidFill>
                <a:latin typeface="Arial"/>
                <a:ea typeface="Arial"/>
                <a:cs typeface="Arial"/>
              </a:defRPr>
            </a:pPr>
            <a:r>
              <a:rPr sz="1125" b="1" i="0">
                <a:solidFill>
                  <a:srgbClr val="F65AAF"/>
                </a:solidFill>
                <a:latin typeface="Arial"/>
                <a:ea typeface="Arial"/>
                <a:cs typeface="Arial"/>
              </a:rPr>
              <a:t>building with the NCAA</a:t>
            </a:r>
          </a:p>
        </p:txBody>
      </p:sp>
      <p:sp>
        <p:nvSpPr>
          <p:cNvPr id="39" name="foundation-copy">
            <a:extLst xmlns:a="http://schemas.openxmlformats.org/drawingml/2006/main">
              <a:ext uri="{FF2B5EF4-FFF2-40B4-BE49-F238E27FC236}">
                <a16:creationId xmlns:a16="http://schemas.microsoft.com/office/drawing/2014/main" id="{1304D5FB-1C9D-44A6-A970-77B56A33044A}"/>
              </a:ext>
            </a:extLst>
          </p:cNvPr>
          <p:cNvSpPr>
            <a:spLocks xmlns:a="http://schemas.openxmlformats.org/drawingml/2006/main" noGrp="1"/>
          </p:cNvSpPr>
          <p:nvPr/>
        </p:nvSpPr>
        <p:spPr>
          <a:xfrm xmlns:a="http://schemas.openxmlformats.org/drawingml/2006/main">
            <a:off x="7810500" y="3105150"/>
            <a:ext cx="3562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AEB3BD"/>
                </a:solidFill>
                <a:latin typeface="Arial"/>
                <a:ea typeface="Arial"/>
                <a:cs typeface="Arial"/>
              </a:defRPr>
            </a:pPr>
            <a:r>
              <a:rPr sz="1200" b="0" i="0">
                <a:solidFill>
                  <a:srgbClr val="AEB3BD"/>
                </a:solidFill>
                <a:latin typeface="Arial"/>
                <a:ea typeface="Arial"/>
                <a:cs typeface="Arial"/>
              </a:rPr>
              <a:t>Together they co-founded athLEDA, now the Alfreeda Goff Foundation—developing athletes for life after sport through NCAA-backed programming.</a:t>
            </a:r>
          </a:p>
        </p:txBody>
      </p:sp>
      <p:sp>
        <p:nvSpPr>
          <p:cNvPr id="40" name="leverage-divider">
            <a:extLst xmlns:a="http://schemas.openxmlformats.org/drawingml/2006/main">
              <a:ext uri="{FF2B5EF4-FFF2-40B4-BE49-F238E27FC236}">
                <a16:creationId xmlns:a16="http://schemas.microsoft.com/office/drawing/2014/main" id="{22D69CD7-2E1C-49F6-B839-0C9C9F1C2397}"/>
              </a:ext>
            </a:extLst>
          </p:cNvPr>
          <p:cNvSpPr>
            <a:spLocks xmlns:a="http://schemas.openxmlformats.org/drawingml/2006/main" noGrp="1"/>
          </p:cNvSpPr>
          <p:nvPr/>
        </p:nvSpPr>
        <p:spPr>
          <a:xfrm xmlns:a="http://schemas.openxmlformats.org/drawingml/2006/main">
            <a:off x="7810500" y="3867150"/>
            <a:ext cx="35623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41" name="pipeline-label">
            <a:extLst xmlns:a="http://schemas.openxmlformats.org/drawingml/2006/main">
              <a:ext uri="{FF2B5EF4-FFF2-40B4-BE49-F238E27FC236}">
                <a16:creationId xmlns:a16="http://schemas.microsoft.com/office/drawing/2014/main" id="{582FBF83-018B-4774-9017-BDCDF4DF1C1D}"/>
              </a:ext>
            </a:extLst>
          </p:cNvPr>
          <p:cNvSpPr>
            <a:spLocks xmlns:a="http://schemas.openxmlformats.org/drawingml/2006/main" noGrp="1"/>
          </p:cNvSpPr>
          <p:nvPr/>
        </p:nvSpPr>
        <p:spPr>
          <a:xfrm xmlns:a="http://schemas.openxmlformats.org/drawingml/2006/main">
            <a:off x="7810500" y="40386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4D8FFF"/>
                </a:solidFill>
                <a:latin typeface="Arial"/>
                <a:ea typeface="Arial"/>
                <a:cs typeface="Arial"/>
              </a:defRPr>
            </a:pPr>
            <a:r>
              <a:rPr sz="975" b="1" i="0">
                <a:solidFill>
                  <a:srgbClr val="4D8FFF"/>
                </a:solidFill>
                <a:latin typeface="Arial"/>
                <a:ea typeface="Arial"/>
                <a:cs typeface="Arial"/>
              </a:rPr>
              <a:t>ACTIVE RELATIONSHIPS → PILOT PIPELINE</a:t>
            </a:r>
          </a:p>
        </p:txBody>
      </p:sp>
      <p:sp>
        <p:nvSpPr>
          <p:cNvPr id="42" name="pipeline-schools">
            <a:extLst xmlns:a="http://schemas.openxmlformats.org/drawingml/2006/main">
              <a:ext uri="{FF2B5EF4-FFF2-40B4-BE49-F238E27FC236}">
                <a16:creationId xmlns:a16="http://schemas.microsoft.com/office/drawing/2014/main" id="{07115E4F-C7D8-45DE-AC11-FF1357028DF0}"/>
              </a:ext>
            </a:extLst>
          </p:cNvPr>
          <p:cNvSpPr>
            <a:spLocks xmlns:a="http://schemas.openxmlformats.org/drawingml/2006/main" noGrp="1"/>
          </p:cNvSpPr>
          <p:nvPr/>
        </p:nvSpPr>
        <p:spPr>
          <a:xfrm xmlns:a="http://schemas.openxmlformats.org/drawingml/2006/main">
            <a:off x="7810500" y="43434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F5F5F2"/>
                </a:solidFill>
                <a:latin typeface="Arial"/>
                <a:ea typeface="Arial"/>
                <a:cs typeface="Arial"/>
              </a:defRPr>
            </a:pPr>
            <a:r>
              <a:rPr sz="1238" b="1" i="0">
                <a:solidFill>
                  <a:srgbClr val="F5F5F2"/>
                </a:solidFill>
                <a:latin typeface="Arial"/>
                <a:ea typeface="Arial"/>
                <a:cs typeface="Arial"/>
              </a:rPr>
              <a:t>Hampton  •  UMES  •  Claflin  •  Clark Atlanta</a:t>
            </a:r>
          </a:p>
        </p:txBody>
      </p:sp>
      <p:sp>
        <p:nvSpPr>
          <p:cNvPr id="43" name="pipeline-copy">
            <a:extLst xmlns:a="http://schemas.openxmlformats.org/drawingml/2006/main">
              <a:ext uri="{FF2B5EF4-FFF2-40B4-BE49-F238E27FC236}">
                <a16:creationId xmlns:a16="http://schemas.microsoft.com/office/drawing/2014/main" id="{7DC4549D-43C7-435D-9CC5-B765B4FEFCC8}"/>
              </a:ext>
            </a:extLst>
          </p:cNvPr>
          <p:cNvSpPr>
            <a:spLocks xmlns:a="http://schemas.openxmlformats.org/drawingml/2006/main" noGrp="1"/>
          </p:cNvSpPr>
          <p:nvPr/>
        </p:nvSpPr>
        <p:spPr>
          <a:xfrm xmlns:a="http://schemas.openxmlformats.org/drawingml/2006/main">
            <a:off x="7810500" y="47244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AEB3BD"/>
                </a:solidFill>
                <a:latin typeface="Arial"/>
                <a:ea typeface="Arial"/>
                <a:cs typeface="Arial"/>
              </a:defRPr>
            </a:pPr>
            <a:r>
              <a:rPr sz="1050" b="0" i="0">
                <a:solidFill>
                  <a:srgbClr val="AEB3BD"/>
                </a:solidFill>
                <a:latin typeface="Arial"/>
                <a:ea typeface="Arial"/>
                <a:cs typeface="Arial"/>
              </a:rPr>
              <a:t>Their nonprofit trust, athletics network and campus access feed directly into PulseCheck’s GTM motion.</a:t>
            </a:r>
          </a:p>
        </p:txBody>
      </p:sp>
      <p:sp>
        <p:nvSpPr>
          <p:cNvPr id="44" name="proof-strip">
            <a:extLst xmlns:a="http://schemas.openxmlformats.org/drawingml/2006/main">
              <a:ext uri="{FF2B5EF4-FFF2-40B4-BE49-F238E27FC236}">
                <a16:creationId xmlns:a16="http://schemas.microsoft.com/office/drawing/2014/main" id="{F719758F-EADF-4DCE-8AF4-ACBEE5A05D3C}"/>
              </a:ext>
            </a:extLst>
          </p:cNvPr>
          <p:cNvSpPr>
            <a:spLocks xmlns:a="http://schemas.openxmlformats.org/drawingml/2006/main" noGrp="1"/>
          </p:cNvSpPr>
          <p:nvPr/>
        </p:nvSpPr>
        <p:spPr>
          <a:xfrm xmlns:a="http://schemas.openxmlformats.org/drawingml/2006/main">
            <a:off x="533400" y="5476875"/>
            <a:ext cx="11125200" cy="990600"/>
          </a:xfrm>
          <a:prstGeom xmlns:a="http://schemas.openxmlformats.org/drawingml/2006/main" prst="roundRect">
            <a:avLst>
              <a:gd name="adj" fmla="val 11538"/>
            </a:avLst>
          </a:prstGeom>
          <a:solidFill xmlns:a="http://schemas.openxmlformats.org/drawingml/2006/main">
            <a:srgbClr val="111518">
              <a:alpha val="98000"/>
            </a:srgbClr>
          </a:solidFill>
          <a:ln xmlns:a="http://schemas.openxmlformats.org/drawingml/2006/main" w="9525">
            <a:solidFill>
              <a:srgbClr val="343A40"/>
            </a:solidFill>
            <a:prstDash val="solid"/>
          </a:ln>
        </p:spPr>
      </p:sp>
      <p:sp>
        <p:nvSpPr>
          <p:cNvPr id="45" name="proof-strip-label">
            <a:extLst xmlns:a="http://schemas.openxmlformats.org/drawingml/2006/main">
              <a:ext uri="{FF2B5EF4-FFF2-40B4-BE49-F238E27FC236}">
                <a16:creationId xmlns:a16="http://schemas.microsoft.com/office/drawing/2014/main" id="{4A302173-4C1A-45ED-A84D-295A42DE2652}"/>
              </a:ext>
            </a:extLst>
          </p:cNvPr>
          <p:cNvSpPr>
            <a:spLocks xmlns:a="http://schemas.openxmlformats.org/drawingml/2006/main" noGrp="1"/>
          </p:cNvSpPr>
          <p:nvPr/>
        </p:nvSpPr>
        <p:spPr>
          <a:xfrm xmlns:a="http://schemas.openxmlformats.org/drawingml/2006/main">
            <a:off x="742950" y="56197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1" i="0">
                <a:solidFill>
                  <a:srgbClr val="C8FF00"/>
                </a:solidFill>
                <a:latin typeface="Arial"/>
                <a:ea typeface="Arial"/>
                <a:cs typeface="Arial"/>
              </a:defRPr>
            </a:pPr>
            <a:r>
              <a:rPr sz="788" b="1" i="0">
                <a:solidFill>
                  <a:srgbClr val="C8FF00"/>
                </a:solidFill>
                <a:latin typeface="Arial"/>
                <a:ea typeface="Arial"/>
                <a:cs typeface="Arial"/>
              </a:rPr>
              <a:t>RESEARCH + COMMERCIALIZATION LEVERAGE</a:t>
            </a:r>
          </a:p>
        </p:txBody>
      </p:sp>
      <p:sp>
        <p:nvSpPr>
          <p:cNvPr id="46" name="phase1-value">
            <a:extLst xmlns:a="http://schemas.openxmlformats.org/drawingml/2006/main">
              <a:ext uri="{FF2B5EF4-FFF2-40B4-BE49-F238E27FC236}">
                <a16:creationId xmlns:a16="http://schemas.microsoft.com/office/drawing/2014/main" id="{B3E25A29-5F34-49ED-97C9-EA9EEE5D8AE9}"/>
              </a:ext>
            </a:extLst>
          </p:cNvPr>
          <p:cNvSpPr>
            <a:spLocks xmlns:a="http://schemas.openxmlformats.org/drawingml/2006/main" noGrp="1"/>
          </p:cNvSpPr>
          <p:nvPr/>
        </p:nvSpPr>
        <p:spPr>
          <a:xfrm xmlns:a="http://schemas.openxmlformats.org/drawingml/2006/main">
            <a:off x="742950" y="5876925"/>
            <a:ext cx="104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4D8FFF"/>
                </a:solidFill>
                <a:latin typeface="Arial"/>
                <a:ea typeface="Arial"/>
                <a:cs typeface="Arial"/>
              </a:defRPr>
            </a:pPr>
            <a:r>
              <a:rPr sz="1875" b="1" i="0">
                <a:solidFill>
                  <a:srgbClr val="4D8FFF"/>
                </a:solidFill>
                <a:latin typeface="Arial"/>
                <a:ea typeface="Arial"/>
                <a:cs typeface="Arial"/>
              </a:rPr>
              <a:t>$275K</a:t>
            </a:r>
          </a:p>
        </p:txBody>
      </p:sp>
      <p:sp>
        <p:nvSpPr>
          <p:cNvPr id="47" name="phase1-copy">
            <a:extLst xmlns:a="http://schemas.openxmlformats.org/drawingml/2006/main">
              <a:ext uri="{FF2B5EF4-FFF2-40B4-BE49-F238E27FC236}">
                <a16:creationId xmlns:a16="http://schemas.microsoft.com/office/drawing/2014/main" id="{5DA27610-5602-4EEA-A235-5A6B168A0FFF}"/>
              </a:ext>
            </a:extLst>
          </p:cNvPr>
          <p:cNvSpPr>
            <a:spLocks xmlns:a="http://schemas.openxmlformats.org/drawingml/2006/main" noGrp="1"/>
          </p:cNvSpPr>
          <p:nvPr/>
        </p:nvSpPr>
        <p:spPr>
          <a:xfrm xmlns:a="http://schemas.openxmlformats.org/drawingml/2006/main">
            <a:off x="1657350" y="5857875"/>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F5F5F2"/>
                </a:solidFill>
                <a:latin typeface="Arial"/>
                <a:ea typeface="Arial"/>
                <a:cs typeface="Arial"/>
              </a:defRPr>
            </a:pPr>
            <a:r>
              <a:rPr sz="1013" b="1" i="0">
                <a:solidFill>
                  <a:srgbClr val="F5F5F2"/>
                </a:solidFill>
                <a:latin typeface="Arial"/>
                <a:ea typeface="Arial"/>
                <a:cs typeface="Arial"/>
              </a:rPr>
              <a:t>NSF Phase I</a:t>
            </a:r>
          </a:p>
          <a:p xmlns:a="http://schemas.openxmlformats.org/drawingml/2006/main">
            <a:pPr algn="l">
              <a:defRPr sz="1013" b="1" i="0">
                <a:solidFill>
                  <a:srgbClr val="F5F5F2"/>
                </a:solidFill>
                <a:latin typeface="Arial"/>
                <a:ea typeface="Arial"/>
                <a:cs typeface="Arial"/>
              </a:defRPr>
            </a:pPr>
            <a:r>
              <a:rPr sz="1013" b="1" i="0">
                <a:solidFill>
                  <a:srgbClr val="F5F5F2"/>
                </a:solidFill>
                <a:latin typeface="Arial"/>
                <a:ea typeface="Arial"/>
                <a:cs typeface="Arial"/>
              </a:rPr>
              <a:t>funded research</a:t>
            </a:r>
          </a:p>
        </p:txBody>
      </p:sp>
      <p:sp>
        <p:nvSpPr>
          <p:cNvPr id="48" name="proof-rule-1">
            <a:extLst xmlns:a="http://schemas.openxmlformats.org/drawingml/2006/main">
              <a:ext uri="{FF2B5EF4-FFF2-40B4-BE49-F238E27FC236}">
                <a16:creationId xmlns:a16="http://schemas.microsoft.com/office/drawing/2014/main" id="{23A8C753-C39F-46BE-9645-8570AE0AA0DE}"/>
              </a:ext>
            </a:extLst>
          </p:cNvPr>
          <p:cNvSpPr>
            <a:spLocks xmlns:a="http://schemas.openxmlformats.org/drawingml/2006/main" noGrp="1"/>
          </p:cNvSpPr>
          <p:nvPr/>
        </p:nvSpPr>
        <p:spPr>
          <a:xfrm xmlns:a="http://schemas.openxmlformats.org/drawingml/2006/main">
            <a:off x="3409950" y="5648325"/>
            <a:ext cx="0" cy="638175"/>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49" name="adherence-value">
            <a:extLst xmlns:a="http://schemas.openxmlformats.org/drawingml/2006/main">
              <a:ext uri="{FF2B5EF4-FFF2-40B4-BE49-F238E27FC236}">
                <a16:creationId xmlns:a16="http://schemas.microsoft.com/office/drawing/2014/main" id="{49E6C58B-4F71-48D2-88ED-C96A59411EC4}"/>
              </a:ext>
            </a:extLst>
          </p:cNvPr>
          <p:cNvSpPr>
            <a:spLocks xmlns:a="http://schemas.openxmlformats.org/drawingml/2006/main" noGrp="1"/>
          </p:cNvSpPr>
          <p:nvPr/>
        </p:nvSpPr>
        <p:spPr>
          <a:xfrm xmlns:a="http://schemas.openxmlformats.org/drawingml/2006/main">
            <a:off x="3695700" y="5876925"/>
            <a:ext cx="95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C8FF00"/>
                </a:solidFill>
                <a:latin typeface="Arial"/>
                <a:ea typeface="Arial"/>
                <a:cs typeface="Arial"/>
              </a:defRPr>
            </a:pPr>
            <a:r>
              <a:rPr sz="1875" b="1" i="0">
                <a:solidFill>
                  <a:srgbClr val="C8FF00"/>
                </a:solidFill>
                <a:latin typeface="Arial"/>
                <a:ea typeface="Arial"/>
                <a:cs typeface="Arial"/>
              </a:rPr>
              <a:t>80%</a:t>
            </a:r>
          </a:p>
        </p:txBody>
      </p:sp>
      <p:sp>
        <p:nvSpPr>
          <p:cNvPr id="50" name="adherence-copy">
            <a:extLst xmlns:a="http://schemas.openxmlformats.org/drawingml/2006/main">
              <a:ext uri="{FF2B5EF4-FFF2-40B4-BE49-F238E27FC236}">
                <a16:creationId xmlns:a16="http://schemas.microsoft.com/office/drawing/2014/main" id="{2383FD93-BF7D-433B-98A9-6734D34ACA81}"/>
              </a:ext>
            </a:extLst>
          </p:cNvPr>
          <p:cNvSpPr>
            <a:spLocks xmlns:a="http://schemas.openxmlformats.org/drawingml/2006/main" noGrp="1"/>
          </p:cNvSpPr>
          <p:nvPr/>
        </p:nvSpPr>
        <p:spPr>
          <a:xfrm xmlns:a="http://schemas.openxmlformats.org/drawingml/2006/main">
            <a:off x="4572000" y="585787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F5F5F2"/>
                </a:solidFill>
                <a:latin typeface="Arial"/>
                <a:ea typeface="Arial"/>
                <a:cs typeface="Arial"/>
              </a:defRPr>
            </a:pPr>
            <a:r>
              <a:rPr sz="1013" b="1" i="0">
                <a:solidFill>
                  <a:srgbClr val="F5F5F2"/>
                </a:solidFill>
                <a:latin typeface="Arial"/>
                <a:ea typeface="Arial"/>
                <a:cs typeface="Arial"/>
              </a:rPr>
              <a:t>adherence evidence</a:t>
            </a:r>
          </a:p>
          <a:p xmlns:a="http://schemas.openxmlformats.org/drawingml/2006/main">
            <a:pPr algn="l">
              <a:defRPr sz="1013" b="1" i="0">
                <a:solidFill>
                  <a:srgbClr val="F5F5F2"/>
                </a:solidFill>
                <a:latin typeface="Arial"/>
                <a:ea typeface="Arial"/>
                <a:cs typeface="Arial"/>
              </a:defRPr>
            </a:pPr>
            <a:r>
              <a:rPr sz="1013" b="1" i="0">
                <a:solidFill>
                  <a:srgbClr val="F5F5F2"/>
                </a:solidFill>
                <a:latin typeface="Arial"/>
                <a:ea typeface="Arial"/>
                <a:cs typeface="Arial"/>
              </a:rPr>
              <a:t>across 1,000+ athletes</a:t>
            </a:r>
          </a:p>
        </p:txBody>
      </p:sp>
      <p:sp>
        <p:nvSpPr>
          <p:cNvPr id="51" name="proof-rule-2">
            <a:extLst xmlns:a="http://schemas.openxmlformats.org/drawingml/2006/main">
              <a:ext uri="{FF2B5EF4-FFF2-40B4-BE49-F238E27FC236}">
                <a16:creationId xmlns:a16="http://schemas.microsoft.com/office/drawing/2014/main" id="{1239A951-A6F6-4952-92BA-D24674C02A49}"/>
              </a:ext>
            </a:extLst>
          </p:cNvPr>
          <p:cNvSpPr>
            <a:spLocks xmlns:a="http://schemas.openxmlformats.org/drawingml/2006/main" noGrp="1"/>
          </p:cNvSpPr>
          <p:nvPr/>
        </p:nvSpPr>
        <p:spPr>
          <a:xfrm xmlns:a="http://schemas.openxmlformats.org/drawingml/2006/main">
            <a:off x="6705600" y="5648325"/>
            <a:ext cx="0" cy="638175"/>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52" name="phase2-value">
            <a:extLst xmlns:a="http://schemas.openxmlformats.org/drawingml/2006/main">
              <a:ext uri="{FF2B5EF4-FFF2-40B4-BE49-F238E27FC236}">
                <a16:creationId xmlns:a16="http://schemas.microsoft.com/office/drawing/2014/main" id="{E4C0F3E9-5B9A-4BEC-9502-DF3117331094}"/>
              </a:ext>
            </a:extLst>
          </p:cNvPr>
          <p:cNvSpPr>
            <a:spLocks xmlns:a="http://schemas.openxmlformats.org/drawingml/2006/main" noGrp="1"/>
          </p:cNvSpPr>
          <p:nvPr/>
        </p:nvSpPr>
        <p:spPr>
          <a:xfrm xmlns:a="http://schemas.openxmlformats.org/drawingml/2006/main">
            <a:off x="6991350" y="5876925"/>
            <a:ext cx="104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F65AAF"/>
                </a:solidFill>
                <a:latin typeface="Arial"/>
                <a:ea typeface="Arial"/>
                <a:cs typeface="Arial"/>
              </a:defRPr>
            </a:pPr>
            <a:r>
              <a:rPr sz="1875" b="1" i="0">
                <a:solidFill>
                  <a:srgbClr val="F65AAF"/>
                </a:solidFill>
                <a:latin typeface="Arial"/>
                <a:ea typeface="Arial"/>
                <a:cs typeface="Arial"/>
              </a:rPr>
              <a:t>$1.4M</a:t>
            </a:r>
          </a:p>
        </p:txBody>
      </p:sp>
      <p:sp>
        <p:nvSpPr>
          <p:cNvPr id="53" name="phase2-copy">
            <a:extLst xmlns:a="http://schemas.openxmlformats.org/drawingml/2006/main">
              <a:ext uri="{FF2B5EF4-FFF2-40B4-BE49-F238E27FC236}">
                <a16:creationId xmlns:a16="http://schemas.microsoft.com/office/drawing/2014/main" id="{3509222D-C460-42ED-AEB7-951ACD434324}"/>
              </a:ext>
            </a:extLst>
          </p:cNvPr>
          <p:cNvSpPr>
            <a:spLocks xmlns:a="http://schemas.openxmlformats.org/drawingml/2006/main" noGrp="1"/>
          </p:cNvSpPr>
          <p:nvPr/>
        </p:nvSpPr>
        <p:spPr>
          <a:xfrm xmlns:a="http://schemas.openxmlformats.org/drawingml/2006/main">
            <a:off x="7934325" y="581025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5F5F2"/>
                </a:solidFill>
                <a:latin typeface="Arial"/>
                <a:ea typeface="Arial"/>
                <a:cs typeface="Arial"/>
              </a:defRPr>
            </a:pPr>
            <a:r>
              <a:rPr sz="1050" b="1" i="0">
                <a:solidFill>
                  <a:srgbClr val="F5F5F2"/>
                </a:solidFill>
                <a:latin typeface="Arial"/>
                <a:ea typeface="Arial"/>
                <a:cs typeface="Arial"/>
              </a:rPr>
              <a:t>Phase II proposal preparation</a:t>
            </a:r>
          </a:p>
        </p:txBody>
      </p:sp>
      <p:sp>
        <p:nvSpPr>
          <p:cNvPr id="54" name="phase2-detail">
            <a:extLst xmlns:a="http://schemas.openxmlformats.org/drawingml/2006/main">
              <a:ext uri="{FF2B5EF4-FFF2-40B4-BE49-F238E27FC236}">
                <a16:creationId xmlns:a16="http://schemas.microsoft.com/office/drawing/2014/main" id="{E08E3E6D-1950-44CF-B115-A7EBE4E9F06C}"/>
              </a:ext>
            </a:extLst>
          </p:cNvPr>
          <p:cNvSpPr>
            <a:spLocks xmlns:a="http://schemas.openxmlformats.org/drawingml/2006/main" noGrp="1"/>
          </p:cNvSpPr>
          <p:nvPr/>
        </p:nvSpPr>
        <p:spPr>
          <a:xfrm xmlns:a="http://schemas.openxmlformats.org/drawingml/2006/main">
            <a:off x="7934325" y="606742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92"/>
          </a:bodyPr>
          <a:lstStyle xmlns:a="http://schemas.openxmlformats.org/drawingml/2006/main"/>
          <a:p xmlns:a="http://schemas.openxmlformats.org/drawingml/2006/main">
            <a:pPr algn="l">
              <a:defRPr sz="938" b="0" i="0">
                <a:solidFill>
                  <a:srgbClr val="AEB3BD"/>
                </a:solidFill>
                <a:latin typeface="Arial"/>
                <a:ea typeface="Arial"/>
                <a:cs typeface="Arial"/>
              </a:defRPr>
            </a:pPr>
            <a:r>
              <a:rPr sz="938" b="0" i="0">
                <a:solidFill>
                  <a:srgbClr val="AEB3BD"/>
                </a:solidFill>
                <a:latin typeface="Arial"/>
                <a:ea typeface="Arial"/>
                <a:cs typeface="Arial"/>
              </a:rPr>
              <a:t>PulseCheck included for commercialization, pilot subsidy + integrations</a:t>
            </a:r>
          </a:p>
        </p:txBody>
      </p:sp>
    </p:spTree>
    <p:extLst>
      <p:ext uri="{BB962C8B-B14F-4D97-AF65-F5344CB8AC3E}">
        <p14:creationId xmlns:p14="http://schemas.microsoft.com/office/powerpoint/2010/main" val="455018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2026-07-28T13:45:29.2050000Z</dcterms:created>
  <dcterms:modified xsi:type="dcterms:W3CDTF">2026-07-28T13:45:29.2050000Z</dcterms:modified>
</coreProperties>
</file>