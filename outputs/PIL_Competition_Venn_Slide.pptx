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ba78ea3ed8409b" /><Relationship Type="http://schemas.openxmlformats.org/officeDocument/2006/relationships/extended-properties" Target="/docProps/app.xml" Id="Rb0b1de89eac0480c" /><Relationship Type="http://schemas.openxmlformats.org/officeDocument/2006/relationships/officeDocument" Target="/ppt/presentation.xml" Id="Ref4d4c3ca7a447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ac0d605afb41e1"/>
  </p:sldMasterIdLst>
  <p:notesMasterIdLst>
    <p:notesMasterId xmlns:r="http://schemas.openxmlformats.org/officeDocument/2006/relationships" r:id="R4b7d7096f0aa414b"/>
  </p:notesMasterIdLst>
  <p:sldIdLst>
    <p:sldId xmlns:r="http://schemas.openxmlformats.org/officeDocument/2006/relationships" id="256" r:id="R361ecd94ccd14a5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7a060fefaf4f35" /><Relationship Type="http://schemas.openxmlformats.org/officeDocument/2006/relationships/slideMaster" Target="/ppt/slideMasters/slideMaster1.xml" Id="R14ac0d605afb41e1" /><Relationship Type="http://schemas.openxmlformats.org/officeDocument/2006/relationships/notesMaster" Target="/ppt/notesMasters/notesMaster1.xml" Id="R4b7d7096f0aa414b" /><Relationship Type="http://schemas.openxmlformats.org/officeDocument/2006/relationships/presProps" Target="/ppt/presProps.xml" Id="R403048461b4e4d09" /><Relationship Type="http://schemas.openxmlformats.org/officeDocument/2006/relationships/tableStyles" Target="/ppt/tableStyles.xml" Id="Rc31f39f9499d40cc" /><Relationship Type="http://schemas.openxmlformats.org/officeDocument/2006/relationships/slide" Target="/ppt/slides/slide1.xml" Id="R361ecd94ccd14a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d0c4ce95e344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0f045ebf224ede" /><Relationship Type="http://schemas.openxmlformats.org/officeDocument/2006/relationships/notesMaster" Target="/ppt/notesMasters/notesMaster1.xml" Id="Rd9567605110548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PulseCheck's competitive advantage is not simply feature breadth. It uses performance as the athlete's entry point, translates physiological and behavioral signals through the demands of a specific sport, trains mental skills daily, and creates a pathway to licensed care when escalation is needed. TimelyCare reports a footprint of nearly 500 colleges and universities. WHOOP also has a demonstrated collegiate-athletics footprint, including university-wide or department partnerships. The campus presence of these tools can be a distribution advantage: PulseCheck can deploy alongside existing investments, integrate where practical, and help institutions consolidate fragmented point solutions over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slide intentionally avoids unsupported claims that most institutions are unhappy with TimelyCare or that athletes do not use it. It also does not claim WHOOP cannot recognize activity types; the gap presented is sport-specific mental-performance context and training.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https://timelycare.com/</a:t>
            </a:r>
          </a:p>
          <a:p xmlns:a="http://schemas.openxmlformats.org/drawingml/2006/main">
            <a:r>
              <a:t>- https://support.whoop.com/s/article/WHOOP-Strain</a:t>
            </a:r>
          </a:p>
          <a:p xmlns:a="http://schemas.openxmlformats.org/drawingml/2006/main">
            <a:r>
              <a:t>- https://support.whoop.com/s/article/WHOOP-Recovery</a:t>
            </a:r>
          </a:p>
          <a:p xmlns:a="http://schemas.openxmlformats.org/drawingml/2006/main">
            <a:r>
              <a:t>- https://www.whoop.com/us/en/press-center/official-performance-partner-howard-university-athletics/</a:t>
            </a:r>
          </a:p>
          <a:p xmlns:a="http://schemas.openxmlformats.org/drawingml/2006/main">
            <a:r>
              <a:t>- https://support.calm.com/hc/en-us/articles/360000069973-Breathing-Exercises</a:t>
            </a:r>
          </a:p>
          <a:p xmlns:a="http://schemas.openxmlformats.org/drawingml/2006/main">
            <a:r>
              <a:t>- https://support.calm.com/hc/en-us/articles/35795753391003-Available-Calm-Apps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6a5f098c1e43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642e8407fa4dce" /><Relationship Type="http://schemas.openxmlformats.org/officeDocument/2006/relationships/slideLayout" Target="/ppt/slideLayouts/slideLayout1.xml" Id="R887f763b02ca4f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7f763b02ca4f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631835b72a47c0" /><Relationship Type="http://schemas.openxmlformats.org/officeDocument/2006/relationships/notesSlide" Target="/ppt/notesSlides/notesSlide1.xml" Id="R0758921002874eb5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080A"/>
            </a:gs>
            <a:gs pos="100000">
              <a:srgbClr val="0A0E11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eyebrow-pill">
            <a:extLst xmlns:a="http://schemas.openxmlformats.org/drawingml/2006/main">
              <a:ext uri="{FF2B5EF4-FFF2-40B4-BE49-F238E27FC236}">
                <a16:creationId xmlns:a16="http://schemas.microsoft.com/office/drawing/2014/main" id="{E1B68E7C-E78C-41A0-AFC7-89278431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1952625" cy="3714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518"/>
          </a:solidFill>
          <a:ln xmlns:a="http://schemas.openxmlformats.org/drawingml/2006/main" w="9525">
            <a:solidFill>
              <a:srgbClr val="2E353A"/>
            </a:solidFill>
            <a:prstDash val="solid"/>
          </a:ln>
        </p:spPr>
      </p:sp>
      <p:sp>
        <p:nvSpPr>
          <p:cNvPr id="2" name="eyebrow-dot">
            <a:extLst xmlns:a="http://schemas.openxmlformats.org/drawingml/2006/main">
              <a:ext uri="{FF2B5EF4-FFF2-40B4-BE49-F238E27FC236}">
                <a16:creationId xmlns:a16="http://schemas.microsoft.com/office/drawing/2014/main" id="{8824B4C8-0B79-4BD1-92CD-48211B0F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35D794DE-789D-4E64-90A8-907D9AAF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09575"/>
            <a:ext cx="13620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4F4F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4F4F1"/>
                </a:solidFill>
                <a:latin typeface="Arial"/>
                <a:ea typeface="Arial"/>
                <a:cs typeface="Arial"/>
              </a:rPr>
              <a:t>COMPETITION</a:t>
            </a:r>
          </a:p>
        </p:txBody>
      </p:sp>
      <p:sp>
        <p:nvSpPr>
          <p:cNvPr id="4" name="headline">
            <a:extLst xmlns:a="http://schemas.openxmlformats.org/drawingml/2006/main">
              <a:ext uri="{FF2B5EF4-FFF2-40B4-BE49-F238E27FC236}">
                <a16:creationId xmlns:a16="http://schemas.microsoft.com/office/drawing/2014/main" id="{EE9F7E4E-EEB8-4AFC-9C6A-9F85CA105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23925"/>
            <a:ext cx="11010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639"/>
          </a:bodyPr>
          <a:lstStyle xmlns:a="http://schemas.openxmlformats.org/drawingml/2006/main"/>
          <a:p xmlns:a="http://schemas.openxmlformats.org/drawingml/2006/main">
            <a:pPr algn="l">
              <a:defRPr sz="3675" b="1" i="0">
                <a:solidFill>
                  <a:srgbClr val="F4F4F1"/>
                </a:solidFill>
                <a:latin typeface="Arial"/>
                <a:ea typeface="Arial"/>
                <a:cs typeface="Arial"/>
              </a:defRPr>
            </a:pPr>
            <a:r>
              <a:rPr sz="3675" b="1" i="0">
                <a:solidFill>
                  <a:srgbClr val="F4F4F1"/>
                </a:solidFill>
                <a:latin typeface="Arial"/>
                <a:ea typeface="Arial"/>
                <a:cs typeface="Arial"/>
              </a:rPr>
              <a:t>PulseCheck unifies what universities already buy.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2D477EF4-190C-45DE-B3F2-25691AD49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81150"/>
            <a:ext cx="10877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AAAEB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AAEB8"/>
                </a:solidFill>
                <a:latin typeface="Arial"/>
                <a:ea typeface="Arial"/>
                <a:cs typeface="Arial"/>
              </a:rPr>
              <a:t>WHOOP measures physiological readiness. Calm builds mindfulness. TimelyCare delivers licensed care. PulseCheck connects all three through sport-specific mental performance.</a:t>
            </a:r>
          </a:p>
        </p:txBody>
      </p:sp>
      <p:sp>
        <p:nvSpPr>
          <p:cNvPr id="6" name="whoop-circle">
            <a:extLst xmlns:a="http://schemas.openxmlformats.org/drawingml/2006/main">
              <a:ext uri="{FF2B5EF4-FFF2-40B4-BE49-F238E27FC236}">
                <a16:creationId xmlns:a16="http://schemas.microsoft.com/office/drawing/2014/main" id="{A27CDE61-4F1A-4B3B-BD25-5A261A55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8FFF">
              <a:alpha val="13000"/>
            </a:srgbClr>
          </a:solidFill>
          <a:ln xmlns:a="http://schemas.openxmlformats.org/drawingml/2006/main" w="19050">
            <a:solidFill>
              <a:srgbClr val="4D8FFF"/>
            </a:solidFill>
            <a:prstDash val="solid"/>
          </a:ln>
        </p:spPr>
      </p:sp>
      <p:sp>
        <p:nvSpPr>
          <p:cNvPr id="7" name="calm-circle">
            <a:extLst xmlns:a="http://schemas.openxmlformats.org/drawingml/2006/main">
              <a:ext uri="{FF2B5EF4-FFF2-40B4-BE49-F238E27FC236}">
                <a16:creationId xmlns:a16="http://schemas.microsoft.com/office/drawing/2014/main" id="{B93EAE19-FE9E-4C74-A1C5-225124F1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57175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72FF">
              <a:alpha val="13000"/>
            </a:srgbClr>
          </a:solidFill>
          <a:ln xmlns:a="http://schemas.openxmlformats.org/drawingml/2006/main" w="19050">
            <a:solidFill>
              <a:srgbClr val="9A72FF"/>
            </a:solidFill>
            <a:prstDash val="solid"/>
          </a:ln>
        </p:spPr>
      </p:sp>
      <p:sp>
        <p:nvSpPr>
          <p:cNvPr id="8" name="timelycare-circle">
            <a:extLst xmlns:a="http://schemas.openxmlformats.org/drawingml/2006/main">
              <a:ext uri="{FF2B5EF4-FFF2-40B4-BE49-F238E27FC236}">
                <a16:creationId xmlns:a16="http://schemas.microsoft.com/office/drawing/2014/main" id="{CF37B9B0-4E47-45F8-9D6B-B763252A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90925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A36">
              <a:alpha val="13000"/>
            </a:srgbClr>
          </a:solidFill>
          <a:ln xmlns:a="http://schemas.openxmlformats.org/drawingml/2006/main" w="19050">
            <a:solidFill>
              <a:srgbClr val="FF9A36"/>
            </a:solidFill>
            <a:prstDash val="solid"/>
          </a:ln>
        </p:spPr>
      </p:sp>
      <p:sp>
        <p:nvSpPr>
          <p:cNvPr id="9" name="whoop-name">
            <a:extLst xmlns:a="http://schemas.openxmlformats.org/drawingml/2006/main">
              <a:ext uri="{FF2B5EF4-FFF2-40B4-BE49-F238E27FC236}">
                <a16:creationId xmlns:a16="http://schemas.microsoft.com/office/drawing/2014/main" id="{4D6D2E4D-8F52-4F9A-92BC-CAC512B9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76550"/>
            <a:ext cx="1257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4D8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4D8FFF"/>
                </a:solidFill>
                <a:latin typeface="Arial"/>
                <a:ea typeface="Arial"/>
                <a:cs typeface="Arial"/>
              </a:rPr>
              <a:t>WHOOP</a:t>
            </a:r>
          </a:p>
        </p:txBody>
      </p:sp>
      <p:sp>
        <p:nvSpPr>
          <p:cNvPr id="10" name="whoop-competency">
            <a:extLst xmlns:a="http://schemas.openxmlformats.org/drawingml/2006/main">
              <a:ext uri="{FF2B5EF4-FFF2-40B4-BE49-F238E27FC236}">
                <a16:creationId xmlns:a16="http://schemas.microsoft.com/office/drawing/2014/main" id="{9AEDFA6E-AACC-4242-83ED-6C10A06A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09925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4F4F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4F4F1"/>
                </a:solidFill>
                <a:latin typeface="Arial"/>
                <a:ea typeface="Arial"/>
                <a:cs typeface="Arial"/>
              </a:rPr>
              <a:t>PHYSIOLOGICAL READINESS</a:t>
            </a:r>
          </a:p>
        </p:txBody>
      </p:sp>
      <p:sp>
        <p:nvSpPr>
          <p:cNvPr id="11" name="whoop-detail">
            <a:extLst xmlns:a="http://schemas.openxmlformats.org/drawingml/2006/main">
              <a:ext uri="{FF2B5EF4-FFF2-40B4-BE49-F238E27FC236}">
                <a16:creationId xmlns:a16="http://schemas.microsoft.com/office/drawing/2014/main" id="{71D64585-C2F6-4883-9CD8-4C9A5D35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09975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AAEB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AAEB8"/>
                </a:solidFill>
                <a:latin typeface="Arial"/>
                <a:ea typeface="Arial"/>
                <a:cs typeface="Arial"/>
              </a:rPr>
              <a:t>Sleep • strain • recovery</a:t>
            </a:r>
          </a:p>
        </p:txBody>
      </p:sp>
      <p:sp>
        <p:nvSpPr>
          <p:cNvPr id="12" name="whoop-gap">
            <a:extLst xmlns:a="http://schemas.openxmlformats.org/drawingml/2006/main">
              <a:ext uri="{FF2B5EF4-FFF2-40B4-BE49-F238E27FC236}">
                <a16:creationId xmlns:a16="http://schemas.microsoft.com/office/drawing/2014/main" id="{3B0551F5-D8D3-4325-B86B-1BF3BAC1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00500"/>
            <a:ext cx="1666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AAAEB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EB8"/>
                </a:solidFill>
                <a:latin typeface="Arial"/>
                <a:ea typeface="Arial"/>
                <a:cs typeface="Arial"/>
              </a:rPr>
              <a:t>Measures load—not sport-specific mental demands.</a:t>
            </a:r>
          </a:p>
        </p:txBody>
      </p:sp>
      <p:sp>
        <p:nvSpPr>
          <p:cNvPr id="13" name="calm-name">
            <a:extLst xmlns:a="http://schemas.openxmlformats.org/drawingml/2006/main">
              <a:ext uri="{FF2B5EF4-FFF2-40B4-BE49-F238E27FC236}">
                <a16:creationId xmlns:a16="http://schemas.microsoft.com/office/drawing/2014/main" id="{4BFFBF7A-0ADD-4FA9-9055-BA09E472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876550"/>
            <a:ext cx="857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1" i="0">
                <a:solidFill>
                  <a:srgbClr val="9A72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9A72FF"/>
                </a:solidFill>
                <a:latin typeface="Arial"/>
                <a:ea typeface="Arial"/>
                <a:cs typeface="Arial"/>
              </a:rPr>
              <a:t>Calm</a:t>
            </a:r>
          </a:p>
        </p:txBody>
      </p:sp>
      <p:sp>
        <p:nvSpPr>
          <p:cNvPr id="14" name="calm-competency">
            <a:extLst xmlns:a="http://schemas.openxmlformats.org/drawingml/2006/main">
              <a:ext uri="{FF2B5EF4-FFF2-40B4-BE49-F238E27FC236}">
                <a16:creationId xmlns:a16="http://schemas.microsoft.com/office/drawing/2014/main" id="{D70890FC-DFC9-443F-A685-1A5F4255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209925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F4F4F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4F4F1"/>
                </a:solidFill>
                <a:latin typeface="Arial"/>
                <a:ea typeface="Arial"/>
                <a:cs typeface="Arial"/>
              </a:rPr>
              <a:t>MINDFULNESS SKILLS</a:t>
            </a:r>
          </a:p>
        </p:txBody>
      </p:sp>
      <p:sp>
        <p:nvSpPr>
          <p:cNvPr id="15" name="calm-detail">
            <a:extLst xmlns:a="http://schemas.openxmlformats.org/drawingml/2006/main">
              <a:ext uri="{FF2B5EF4-FFF2-40B4-BE49-F238E27FC236}">
                <a16:creationId xmlns:a16="http://schemas.microsoft.com/office/drawing/2014/main" id="{8FB45378-C4BA-4F6D-B9E4-961482C7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609975"/>
            <a:ext cx="1962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AAAEB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AAEB8"/>
                </a:solidFill>
                <a:latin typeface="Arial"/>
                <a:ea typeface="Arial"/>
                <a:cs typeface="Arial"/>
              </a:rPr>
              <a:t>Breathing • meditation • sleep</a:t>
            </a:r>
          </a:p>
        </p:txBody>
      </p:sp>
      <p:sp>
        <p:nvSpPr>
          <p:cNvPr id="16" name="calm-gap">
            <a:extLst xmlns:a="http://schemas.openxmlformats.org/drawingml/2006/main">
              <a:ext uri="{FF2B5EF4-FFF2-40B4-BE49-F238E27FC236}">
                <a16:creationId xmlns:a16="http://schemas.microsoft.com/office/drawing/2014/main" id="{74E6674B-DACD-4B91-BD26-CAC569EC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4000500"/>
            <a:ext cx="133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439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AAAEB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EB8"/>
                </a:solidFill>
                <a:latin typeface="Arial"/>
                <a:ea typeface="Arial"/>
                <a:cs typeface="Arial"/>
              </a:rPr>
              <a:t>General wellness—not designed around competition.</a:t>
            </a:r>
          </a:p>
        </p:txBody>
      </p:sp>
      <p:sp>
        <p:nvSpPr>
          <p:cNvPr id="17" name="timelycare-name">
            <a:extLst xmlns:a="http://schemas.openxmlformats.org/drawingml/2006/main">
              <a:ext uri="{FF2B5EF4-FFF2-40B4-BE49-F238E27FC236}">
                <a16:creationId xmlns:a16="http://schemas.microsoft.com/office/drawing/2014/main" id="{E54B38E0-5A82-4EDA-9A6E-FDE30891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610225"/>
            <a:ext cx="1771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F9A36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9A36"/>
                </a:solidFill>
                <a:latin typeface="Arial"/>
                <a:ea typeface="Arial"/>
                <a:cs typeface="Arial"/>
              </a:rPr>
              <a:t>TimelyCare</a:t>
            </a:r>
          </a:p>
        </p:txBody>
      </p:sp>
      <p:sp>
        <p:nvSpPr>
          <p:cNvPr id="18" name="timelycare-competency">
            <a:extLst xmlns:a="http://schemas.openxmlformats.org/drawingml/2006/main">
              <a:ext uri="{FF2B5EF4-FFF2-40B4-BE49-F238E27FC236}">
                <a16:creationId xmlns:a16="http://schemas.microsoft.com/office/drawing/2014/main" id="{EA0BE6BD-5A8B-4B9E-8912-5685EE32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590550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4F4F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4F4F1"/>
                </a:solidFill>
                <a:latin typeface="Arial"/>
                <a:ea typeface="Arial"/>
                <a:cs typeface="Arial"/>
              </a:rPr>
              <a:t>LICENSED CARE</a:t>
            </a:r>
          </a:p>
        </p:txBody>
      </p:sp>
      <p:sp>
        <p:nvSpPr>
          <p:cNvPr id="19" name="timelycare-detail">
            <a:extLst xmlns:a="http://schemas.openxmlformats.org/drawingml/2006/main">
              <a:ext uri="{FF2B5EF4-FFF2-40B4-BE49-F238E27FC236}">
                <a16:creationId xmlns:a16="http://schemas.microsoft.com/office/drawing/2014/main" id="{0014198D-38FB-423E-B436-F71793A9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6191250"/>
            <a:ext cx="2076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AAAEB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EB8"/>
                </a:solidFill>
                <a:latin typeface="Arial"/>
                <a:ea typeface="Arial"/>
                <a:cs typeface="Arial"/>
              </a:rPr>
              <a:t>24/7 counseling • psychiatry</a:t>
            </a:r>
          </a:p>
        </p:txBody>
      </p:sp>
      <p:sp>
        <p:nvSpPr>
          <p:cNvPr id="20" name="timelycare-proof">
            <a:extLst xmlns:a="http://schemas.openxmlformats.org/drawingml/2006/main">
              <a:ext uri="{FF2B5EF4-FFF2-40B4-BE49-F238E27FC236}">
                <a16:creationId xmlns:a16="http://schemas.microsoft.com/office/drawing/2014/main" id="{FA576905-1208-4402-99B1-33FA7980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429375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9A3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9A36"/>
                </a:solidFill>
                <a:latin typeface="Arial"/>
                <a:ea typeface="Arial"/>
                <a:cs typeface="Arial"/>
              </a:rPr>
              <a:t>Nearly 500 colleges</a:t>
            </a:r>
          </a:p>
        </p:txBody>
      </p:sp>
      <p:sp>
        <p:nvSpPr>
          <p:cNvPr id="21" name="pulsecheck-center">
            <a:extLst xmlns:a="http://schemas.openxmlformats.org/drawingml/2006/main">
              <a:ext uri="{FF2B5EF4-FFF2-40B4-BE49-F238E27FC236}">
                <a16:creationId xmlns:a16="http://schemas.microsoft.com/office/drawing/2014/main" id="{834B7D9C-DB9A-4B8F-B198-6E4B1216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238625"/>
            <a:ext cx="26289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131C09">
              <a:alpha val="94000"/>
            </a:srgbClr>
          </a:solidFill>
          <a:ln xmlns:a="http://schemas.openxmlformats.org/drawingml/2006/main" w="19050">
            <a:solidFill>
              <a:srgbClr val="C8FF00"/>
            </a:solidFill>
            <a:prstDash val="solid"/>
          </a:ln>
        </p:spPr>
      </p:sp>
      <p:sp>
        <p:nvSpPr>
          <p:cNvPr id="22" name="pulsecheck-name">
            <a:extLst xmlns:a="http://schemas.openxmlformats.org/drawingml/2006/main">
              <a:ext uri="{FF2B5EF4-FFF2-40B4-BE49-F238E27FC236}">
                <a16:creationId xmlns:a16="http://schemas.microsoft.com/office/drawing/2014/main" id="{EEC4E65F-1FBD-4B92-9024-5EAE6C3F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391025"/>
            <a:ext cx="2152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C8FF0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C8FF00"/>
                </a:solidFill>
                <a:latin typeface="Arial"/>
                <a:ea typeface="Arial"/>
                <a:cs typeface="Arial"/>
              </a:rPr>
              <a:t>PULSECHECK</a:t>
            </a:r>
          </a:p>
        </p:txBody>
      </p:sp>
      <p:sp>
        <p:nvSpPr>
          <p:cNvPr id="23" name="pulsecheck-category">
            <a:extLst xmlns:a="http://schemas.openxmlformats.org/drawingml/2006/main">
              <a:ext uri="{FF2B5EF4-FFF2-40B4-BE49-F238E27FC236}">
                <a16:creationId xmlns:a16="http://schemas.microsoft.com/office/drawing/2014/main" id="{D3D17B8A-2F0F-4B3A-8EB3-75038DDA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686300"/>
            <a:ext cx="2247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4F4F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4F4F1"/>
                </a:solidFill>
                <a:latin typeface="Arial"/>
                <a:ea typeface="Arial"/>
                <a:cs typeface="Arial"/>
              </a:rPr>
              <a:t>SPORT-SPECIFIC</a:t>
            </a:r>
          </a:p>
          <a:p xmlns:a="http://schemas.openxmlformats.org/drawingml/2006/main">
            <a:pPr algn="ctr">
              <a:defRPr sz="1275" b="1" i="0">
                <a:solidFill>
                  <a:srgbClr val="F4F4F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4F4F1"/>
                </a:solidFill>
                <a:latin typeface="Arial"/>
                <a:ea typeface="Arial"/>
                <a:cs typeface="Arial"/>
              </a:rPr>
              <a:t>MENTAL PERFORMANCE</a:t>
            </a:r>
          </a:p>
        </p:txBody>
      </p:sp>
      <p:sp>
        <p:nvSpPr>
          <p:cNvPr id="24" name="pulsecheck-action">
            <a:extLst xmlns:a="http://schemas.openxmlformats.org/drawingml/2006/main">
              <a:ext uri="{FF2B5EF4-FFF2-40B4-BE49-F238E27FC236}">
                <a16:creationId xmlns:a16="http://schemas.microsoft.com/office/drawing/2014/main" id="{C5F74B41-1B4A-41D3-9791-791CD094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5153025"/>
            <a:ext cx="2171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C8FF0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8FF00"/>
                </a:solidFill>
                <a:latin typeface="Arial"/>
                <a:ea typeface="Arial"/>
                <a:cs typeface="Arial"/>
              </a:rPr>
              <a:t>Detect early • train daily • escalate</a:t>
            </a:r>
          </a:p>
        </p:txBody>
      </p:sp>
      <p:sp>
        <p:nvSpPr>
          <p:cNvPr id="25" name="vertical-divider">
            <a:extLst xmlns:a="http://schemas.openxmlformats.org/drawingml/2006/main">
              <a:ext uri="{FF2B5EF4-FFF2-40B4-BE49-F238E27FC236}">
                <a16:creationId xmlns:a16="http://schemas.microsoft.com/office/drawing/2014/main" id="{A86D5B96-3CEE-48B9-A884-208547DE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28875"/>
            <a:ext cx="0" cy="391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E353A"/>
            </a:solidFill>
            <a:prstDash val="solid"/>
          </a:ln>
        </p:spPr>
      </p:sp>
      <p:sp>
        <p:nvSpPr>
          <p:cNvPr id="26" name="strategy-heading">
            <a:extLst xmlns:a="http://schemas.openxmlformats.org/drawingml/2006/main">
              <a:ext uri="{FF2B5EF4-FFF2-40B4-BE49-F238E27FC236}">
                <a16:creationId xmlns:a16="http://schemas.microsoft.com/office/drawing/2014/main" id="{482335DB-71C8-4E89-8BFA-EC6C2E0D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505075"/>
            <a:ext cx="4038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C8FF0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C8FF00"/>
                </a:solidFill>
                <a:latin typeface="Arial"/>
                <a:ea typeface="Arial"/>
                <a:cs typeface="Arial"/>
              </a:rPr>
              <a:t>WHY THE OVERLAP MATTERS</a:t>
            </a:r>
          </a:p>
        </p:txBody>
      </p:sp>
      <p:sp>
        <p:nvSpPr>
          <p:cNvPr id="27" name="strategy-1-number">
            <a:extLst xmlns:a="http://schemas.openxmlformats.org/drawingml/2006/main">
              <a:ext uri="{FF2B5EF4-FFF2-40B4-BE49-F238E27FC236}">
                <a16:creationId xmlns:a16="http://schemas.microsoft.com/office/drawing/2014/main" id="{2F135F7A-724A-4F49-AE99-74498E60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0003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4D8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4D8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8" name="strategy-1-headline">
            <a:extLst xmlns:a="http://schemas.openxmlformats.org/drawingml/2006/main">
              <a:ext uri="{FF2B5EF4-FFF2-40B4-BE49-F238E27FC236}">
                <a16:creationId xmlns:a16="http://schemas.microsoft.com/office/drawing/2014/main" id="{F078C5D5-7173-49D7-BE51-0BBC8057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000375"/>
            <a:ext cx="3543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4F4F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4F4F1"/>
                </a:solidFill>
                <a:latin typeface="Arial"/>
                <a:ea typeface="Arial"/>
                <a:cs typeface="Arial"/>
              </a:rPr>
              <a:t>PERFORMANCE DRIVES ADOPTION</a:t>
            </a:r>
          </a:p>
        </p:txBody>
      </p:sp>
      <p:sp>
        <p:nvSpPr>
          <p:cNvPr id="29" name="strategy-1-body">
            <a:extLst xmlns:a="http://schemas.openxmlformats.org/drawingml/2006/main">
              <a:ext uri="{FF2B5EF4-FFF2-40B4-BE49-F238E27FC236}">
                <a16:creationId xmlns:a16="http://schemas.microsoft.com/office/drawing/2014/main" id="{0D2DD503-C389-441B-AE8E-56AA82EB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257550"/>
            <a:ext cx="3543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AAEB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AAEB8"/>
                </a:solidFill>
                <a:latin typeface="Arial"/>
                <a:ea typeface="Arial"/>
                <a:cs typeface="Arial"/>
              </a:rPr>
              <a:t>Athletes engage to get better—not because something is wrong.</a:t>
            </a:r>
          </a:p>
        </p:txBody>
      </p:sp>
      <p:sp>
        <p:nvSpPr>
          <p:cNvPr id="30" name="strategy-rule-1">
            <a:extLst xmlns:a="http://schemas.openxmlformats.org/drawingml/2006/main">
              <a:ext uri="{FF2B5EF4-FFF2-40B4-BE49-F238E27FC236}">
                <a16:creationId xmlns:a16="http://schemas.microsoft.com/office/drawing/2014/main" id="{04793083-2BC6-465E-9EE3-C2B82A22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752850"/>
            <a:ext cx="403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E353A"/>
            </a:solidFill>
            <a:prstDash val="solid"/>
          </a:ln>
        </p:spPr>
      </p:sp>
      <p:sp>
        <p:nvSpPr>
          <p:cNvPr id="31" name="strategy-2-number">
            <a:extLst xmlns:a="http://schemas.openxmlformats.org/drawingml/2006/main">
              <a:ext uri="{FF2B5EF4-FFF2-40B4-BE49-F238E27FC236}">
                <a16:creationId xmlns:a16="http://schemas.microsoft.com/office/drawing/2014/main" id="{185618B1-CDDE-4554-8B87-B92193A9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9528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9A72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9A72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2" name="strategy-2-headline">
            <a:extLst xmlns:a="http://schemas.openxmlformats.org/drawingml/2006/main">
              <a:ext uri="{FF2B5EF4-FFF2-40B4-BE49-F238E27FC236}">
                <a16:creationId xmlns:a16="http://schemas.microsoft.com/office/drawing/2014/main" id="{0D88B221-2C95-4FA4-A3D8-7C5ABC0D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952875"/>
            <a:ext cx="3543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486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4F4F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4F4F1"/>
                </a:solidFill>
                <a:latin typeface="Arial"/>
                <a:ea typeface="Arial"/>
                <a:cs typeface="Arial"/>
              </a:rPr>
              <a:t>DAILY TRAINING CREATES A PATH TO CARE</a:t>
            </a:r>
          </a:p>
        </p:txBody>
      </p:sp>
      <p:sp>
        <p:nvSpPr>
          <p:cNvPr id="33" name="strategy-2-body">
            <a:extLst xmlns:a="http://schemas.openxmlformats.org/drawingml/2006/main">
              <a:ext uri="{FF2B5EF4-FFF2-40B4-BE49-F238E27FC236}">
                <a16:creationId xmlns:a16="http://schemas.microsoft.com/office/drawing/2014/main" id="{AAA77F35-FB63-4CD3-AF00-FF14A355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210050"/>
            <a:ext cx="3543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AAEB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AAEB8"/>
                </a:solidFill>
                <a:latin typeface="Arial"/>
                <a:ea typeface="Arial"/>
                <a:cs typeface="Arial"/>
              </a:rPr>
              <a:t>Engagement begins before an athlete needs clinical support.</a:t>
            </a:r>
          </a:p>
        </p:txBody>
      </p:sp>
      <p:sp>
        <p:nvSpPr>
          <p:cNvPr id="34" name="strategy-rule-2">
            <a:extLst xmlns:a="http://schemas.openxmlformats.org/drawingml/2006/main">
              <a:ext uri="{FF2B5EF4-FFF2-40B4-BE49-F238E27FC236}">
                <a16:creationId xmlns:a16="http://schemas.microsoft.com/office/drawing/2014/main" id="{CE369FEA-2882-452D-A024-43D76724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705350"/>
            <a:ext cx="403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E353A"/>
            </a:solidFill>
            <a:prstDash val="solid"/>
          </a:ln>
        </p:spPr>
      </p:sp>
      <p:sp>
        <p:nvSpPr>
          <p:cNvPr id="35" name="strategy-3-number">
            <a:extLst xmlns:a="http://schemas.openxmlformats.org/drawingml/2006/main">
              <a:ext uri="{FF2B5EF4-FFF2-40B4-BE49-F238E27FC236}">
                <a16:creationId xmlns:a16="http://schemas.microsoft.com/office/drawing/2014/main" id="{3830392D-5996-4207-A846-68551F79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9053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9A3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9A3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6" name="strategy-3-headline">
            <a:extLst xmlns:a="http://schemas.openxmlformats.org/drawingml/2006/main">
              <a:ext uri="{FF2B5EF4-FFF2-40B4-BE49-F238E27FC236}">
                <a16:creationId xmlns:a16="http://schemas.microsoft.com/office/drawing/2014/main" id="{E850A9BF-40C2-4B3F-A541-605FEB1E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905375"/>
            <a:ext cx="3543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4F4F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4F4F1"/>
                </a:solidFill>
                <a:latin typeface="Arial"/>
                <a:ea typeface="Arial"/>
                <a:cs typeface="Arial"/>
              </a:rPr>
              <a:t>EXISTING CONTRACTS SPEED ADOPTION</a:t>
            </a:r>
          </a:p>
        </p:txBody>
      </p:sp>
      <p:sp>
        <p:nvSpPr>
          <p:cNvPr id="37" name="strategy-3-body">
            <a:extLst xmlns:a="http://schemas.openxmlformats.org/drawingml/2006/main">
              <a:ext uri="{FF2B5EF4-FFF2-40B4-BE49-F238E27FC236}">
                <a16:creationId xmlns:a16="http://schemas.microsoft.com/office/drawing/2014/main" id="{C8B5AB76-3E92-4341-9AC7-D18D4703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162550"/>
            <a:ext cx="3543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AAEB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AAEB8"/>
                </a:solidFill>
                <a:latin typeface="Arial"/>
                <a:ea typeface="Arial"/>
                <a:cs typeface="Arial"/>
              </a:rPr>
              <a:t>Layer onto WHOOP and TimelyCare—or replace fragmented tools.</a:t>
            </a:r>
          </a:p>
        </p:txBody>
      </p:sp>
      <p:sp>
        <p:nvSpPr>
          <p:cNvPr id="38" name="deployment-band">
            <a:extLst xmlns:a="http://schemas.openxmlformats.org/drawingml/2006/main">
              <a:ext uri="{FF2B5EF4-FFF2-40B4-BE49-F238E27FC236}">
                <a16:creationId xmlns:a16="http://schemas.microsoft.com/office/drawing/2014/main" id="{F74C2AA0-EB8A-4ACA-A557-3AC54D92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772150"/>
            <a:ext cx="4276725" cy="752475"/>
          </a:xfrm>
          <a:prstGeom xmlns:a="http://schemas.openxmlformats.org/drawingml/2006/main" prst="roundRect">
            <a:avLst>
              <a:gd name="adj" fmla="val 15190"/>
            </a:avLst>
          </a:prstGeom>
          <a:solidFill xmlns:a="http://schemas.openxmlformats.org/drawingml/2006/main">
            <a:srgbClr val="12190E"/>
          </a:solidFill>
          <a:ln xmlns:a="http://schemas.openxmlformats.org/drawingml/2006/main" w="9525">
            <a:solidFill>
              <a:srgbClr val="3C4E00"/>
            </a:solidFill>
            <a:prstDash val="solid"/>
          </a:ln>
        </p:spPr>
      </p:sp>
      <p:sp>
        <p:nvSpPr>
          <p:cNvPr id="39" name="deployment-modes">
            <a:extLst xmlns:a="http://schemas.openxmlformats.org/drawingml/2006/main">
              <a:ext uri="{FF2B5EF4-FFF2-40B4-BE49-F238E27FC236}">
                <a16:creationId xmlns:a16="http://schemas.microsoft.com/office/drawing/2014/main" id="{82208C6D-64CD-41B2-8A33-0876BE06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915025"/>
            <a:ext cx="3857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C8FF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8FF00"/>
                </a:solidFill>
                <a:latin typeface="Arial"/>
                <a:ea typeface="Arial"/>
                <a:cs typeface="Arial"/>
              </a:rPr>
              <a:t>LAND ALONGSIDE  •  INTEGRATE  •  CONSOLIDATE</a:t>
            </a:r>
          </a:p>
        </p:txBody>
      </p:sp>
      <p:sp>
        <p:nvSpPr>
          <p:cNvPr id="40" name="deployment-explanation">
            <a:extLst xmlns:a="http://schemas.openxmlformats.org/drawingml/2006/main">
              <a:ext uri="{FF2B5EF4-FFF2-40B4-BE49-F238E27FC236}">
                <a16:creationId xmlns:a16="http://schemas.microsoft.com/office/drawing/2014/main" id="{22CFAC29-A5FE-46E4-B06C-C0C167F2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210300"/>
            <a:ext cx="35909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46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4F4F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4F4F1"/>
                </a:solidFill>
                <a:latin typeface="Arial"/>
                <a:ea typeface="Arial"/>
                <a:cs typeface="Arial"/>
              </a:rPr>
              <a:t>Existing university contracts shorten the path to adoption.</a:t>
            </a:r>
          </a:p>
        </p:txBody>
      </p:sp>
    </p:spTree>
    <p:extLst>
      <p:ext uri="{BB962C8B-B14F-4D97-AF65-F5344CB8AC3E}">
        <p14:creationId xmlns:p14="http://schemas.microsoft.com/office/powerpoint/2010/main" val="15122010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2026-07-28T12:17:48.3170000Z</dcterms:created>
  <dcterms:modified xsi:type="dcterms:W3CDTF">2026-07-28T12:17:48.3170000Z</dcterms:modified>
</coreProperties>
</file>