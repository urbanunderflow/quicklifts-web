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a57afe3e244b5c" /><Relationship Type="http://schemas.openxmlformats.org/officeDocument/2006/relationships/extended-properties" Target="/docProps/app.xml" Id="R2d94565724bb4973" /><Relationship Type="http://schemas.openxmlformats.org/officeDocument/2006/relationships/officeDocument" Target="/ppt/presentation.xml" Id="R25960eda25b74b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a4608a9edd41ae"/>
  </p:sldMasterIdLst>
  <p:notesMasterIdLst>
    <p:notesMasterId xmlns:r="http://schemas.openxmlformats.org/officeDocument/2006/relationships" r:id="R008725a9a51040aa"/>
  </p:notesMasterIdLst>
  <p:sldIdLst>
    <p:sldId xmlns:r="http://schemas.openxmlformats.org/officeDocument/2006/relationships" id="256" r:id="Ra6ba9c35aa674b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7f12a24d7d4168" /><Relationship Type="http://schemas.openxmlformats.org/officeDocument/2006/relationships/slideMaster" Target="/ppt/slideMasters/slideMaster1.xml" Id="R60a4608a9edd41ae" /><Relationship Type="http://schemas.openxmlformats.org/officeDocument/2006/relationships/notesMaster" Target="/ppt/notesMasters/notesMaster1.xml" Id="R008725a9a51040aa" /><Relationship Type="http://schemas.openxmlformats.org/officeDocument/2006/relationships/presProps" Target="/ppt/presProps.xml" Id="R9a127ed5b0424560" /><Relationship Type="http://schemas.openxmlformats.org/officeDocument/2006/relationships/tableStyles" Target="/ppt/tableStyles.xml" Id="Rebb92fecb24b45a6" /><Relationship Type="http://schemas.openxmlformats.org/officeDocument/2006/relationships/slide" Target="/ppt/slides/slide1.xml" Id="Ra6ba9c35aa674b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517307411948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36e3b2305749c1" /><Relationship Type="http://schemas.openxmlformats.org/officeDocument/2006/relationships/notesMaster" Target="/ppt/notesMasters/notesMaster1.xml" Id="Rdf3c2b152be04f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Tracey and Jelanna bring two connected assets to PulseCheck: AuntEDNA.ai’s clinical and research infrastructure, and the Alfreeda Goff Foundation’s trusted access across college athletics. Their six years of NCAA-backed programming have built relationships with athletic departments, coaches, administrators, and student-athletes. That access strengthens implementation and feeds qualified pilot opportunities into PulseCheck’s go-to-market motion.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NSF Phase II amount is a proposal target, not an awarded grant.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slide and user-provided direction, 2026-07-28.</a:t>
            </a:r>
          </a:p>
          <a:p xmlns:a="http://schemas.openxmlformats.org/drawingml/2006/main">
            <a:r>
              <a:t>- https://www.uri.edu/magazine/issues/spring-2023/ensuring-student-athlete-success-on-and-beyond-the-field/</a:t>
            </a:r>
          </a:p>
          <a:p xmlns:a="http://schemas.openxmlformats.org/drawingml/2006/main">
            <a:r>
              <a:t>- https://www.ncaa.org/news/2022/11/22/media-center-arise-program-opening-new-doors-ideas-for-hbcu-student-athletes.aspx</a:t>
            </a:r>
          </a:p>
          <a:p xmlns:a="http://schemas.openxmlformats.org/drawingml/2006/main">
            <a:r>
              <a:t>- https://auntedna.ai/about-us-2/</a:t>
            </a:r>
          </a:p>
          <a:p xmlns:a="http://schemas.openxmlformats.org/drawingml/2006/main">
            <a:r>
              <a:t>- User-provided information: six-year NCAA relationship; 80% adherence; PulseCheck inclusion in Phase II preparation.</a:t>
            </a:r>
          </a:p>
          <a:p xmlns:a="http://schemas.openxmlformats.org/drawingml/2006/main">
            <a:r>
              <a:t>- /Users/tremainegrant/Documents/GitHub/QuickLifts-Web/public/dr-tracey.png</a:t>
            </a:r>
          </a:p>
          <a:p xmlns:a="http://schemas.openxmlformats.org/drawingml/2006/main">
            <a:r>
              <a:t>- /Users/tremainegrant/Documents/GitHub/QuickLifts-Web/public/jelanna.jpg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ddd2eeed4f4c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5aad2fb3344a6b" /><Relationship Type="http://schemas.openxmlformats.org/officeDocument/2006/relationships/slideLayout" Target="/ppt/slideLayouts/slideLayout1.xml" Id="Rdecbc33876ed4c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cbc33876ed4c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0613eec4648f0" /><Relationship Type="http://schemas.openxmlformats.org/officeDocument/2006/relationships/image" Target="/ppt/media/image.png" Id="Rc2f44810b1904eea" /><Relationship Type="http://schemas.openxmlformats.org/officeDocument/2006/relationships/image" Target="/ppt/media/image2.png" Id="R011b3de0681143e6" /><Relationship Type="http://schemas.openxmlformats.org/officeDocument/2006/relationships/image" Target="/ppt/media/image.jpeg" Id="R82efae40d0314cba" /><Relationship Type="http://schemas.openxmlformats.org/officeDocument/2006/relationships/notesSlide" Target="/ppt/notesSlides/notesSlide1.xml" Id="R19492502169142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44810b1904ee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ackground-darkener">
            <a:extLst xmlns:a="http://schemas.openxmlformats.org/drawingml/2006/main">
              <a:ext uri="{FF2B5EF4-FFF2-40B4-BE49-F238E27FC236}">
                <a16:creationId xmlns:a16="http://schemas.microsoft.com/office/drawing/2014/main" id="{A5DAB79D-99D2-4224-921B-D8B7EAA8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07">
              <a:alpha val="8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ntent-depth">
            <a:extLst xmlns:a="http://schemas.openxmlformats.org/drawingml/2006/main">
              <a:ext uri="{FF2B5EF4-FFF2-40B4-BE49-F238E27FC236}">
                <a16:creationId xmlns:a16="http://schemas.microsoft.com/office/drawing/2014/main" id="{7BCCEAB3-5146-4A1E-A7B5-E5C0972C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5048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708"/>
              </a:gs>
              <a:gs pos="100000">
                <a:srgbClr val="050708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section-pill">
            <a:extLst xmlns:a="http://schemas.openxmlformats.org/drawingml/2006/main">
              <a:ext uri="{FF2B5EF4-FFF2-40B4-BE49-F238E27FC236}">
                <a16:creationId xmlns:a16="http://schemas.microsoft.com/office/drawing/2014/main" id="{9020C5BA-506C-4D47-825B-7DB3EC7B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9527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619">
              <a:alpha val="96000"/>
            </a:srgbClr>
          </a:solidFill>
          <a:ln xmlns:a="http://schemas.openxmlformats.org/drawingml/2006/main" w="9525">
            <a:solidFill>
              <a:srgbClr val="343A40"/>
            </a:solidFill>
            <a:prstDash val="solid"/>
          </a:ln>
        </p:spPr>
      </p:sp>
      <p:sp>
        <p:nvSpPr>
          <p:cNvPr id="5" name="section-dot">
            <a:extLst xmlns:a="http://schemas.openxmlformats.org/drawingml/2006/main">
              <a:ext uri="{FF2B5EF4-FFF2-40B4-BE49-F238E27FC236}">
                <a16:creationId xmlns:a16="http://schemas.microsoft.com/office/drawing/2014/main" id="{AD3C3DC5-58CC-4BD2-A5F5-559C7F09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7DF6537-BF87-4D8F-88E1-65EDDE98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5F5F2"/>
                </a:solidFill>
                <a:latin typeface="Arial"/>
                <a:ea typeface="Arial"/>
                <a:cs typeface="Arial"/>
              </a:rPr>
              <a:t>STRATEGIC PARTNERSHIP</a:t>
            </a:r>
          </a:p>
        </p:txBody>
      </p:sp>
      <p:sp>
        <p:nvSpPr>
          <p:cNvPr id="7" name="headline-white">
            <a:extLst xmlns:a="http://schemas.openxmlformats.org/drawingml/2006/main">
              <a:ext uri="{FF2B5EF4-FFF2-40B4-BE49-F238E27FC236}">
                <a16:creationId xmlns:a16="http://schemas.microsoft.com/office/drawing/2014/main" id="{F42C38A7-68B8-48B4-800A-A7FB7353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5F2"/>
                </a:solidFill>
                <a:latin typeface="Arial"/>
                <a:ea typeface="Arial"/>
                <a:cs typeface="Arial"/>
              </a:rPr>
              <a:t>AuntEDNA.ai brings clinical care + an</a:t>
            </a:r>
          </a:p>
        </p:txBody>
      </p:sp>
      <p:sp>
        <p:nvSpPr>
          <p:cNvPr id="8" name="headline-accent">
            <a:extLst xmlns:a="http://schemas.openxmlformats.org/drawingml/2006/main">
              <a:ext uri="{FF2B5EF4-FFF2-40B4-BE49-F238E27FC236}">
                <a16:creationId xmlns:a16="http://schemas.microsoft.com/office/drawing/2014/main" id="{7BB58054-DD18-4942-BD79-46B8C761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838200"/>
            <a:ext cx="5210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65AA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65AAF"/>
                </a:solidFill>
                <a:latin typeface="Arial"/>
                <a:ea typeface="Arial"/>
                <a:cs typeface="Arial"/>
              </a:rPr>
              <a:t>active NCAA pipeline.</a:t>
            </a:r>
          </a:p>
        </p:txBody>
      </p:sp>
      <p:sp>
        <p:nvSpPr>
          <p:cNvPr id="9" name="subtitle">
            <a:extLst xmlns:a="http://schemas.openxmlformats.org/drawingml/2006/main">
              <a:ext uri="{FF2B5EF4-FFF2-40B4-BE49-F238E27FC236}">
                <a16:creationId xmlns:a16="http://schemas.microsoft.com/office/drawing/2014/main" id="{73A6F0C0-A6EB-4EB7-B4F6-E683B24A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ADB2B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DB2BC"/>
                </a:solidFill>
                <a:latin typeface="Arial"/>
                <a:ea typeface="Arial"/>
                <a:cs typeface="Arial"/>
              </a:rPr>
              <a:t>PulseCheck owns detection, scoring and routing. AuntEDNA adds clinical escalation, research validation and institutional access.</a:t>
            </a:r>
          </a:p>
        </p:txBody>
      </p:sp>
      <p:sp>
        <p:nvSpPr>
          <p:cNvPr id="10" name="tracey-card">
            <a:extLst xmlns:a="http://schemas.openxmlformats.org/drawingml/2006/main">
              <a:ext uri="{FF2B5EF4-FFF2-40B4-BE49-F238E27FC236}">
                <a16:creationId xmlns:a16="http://schemas.microsoft.com/office/drawing/2014/main" id="{F6CDB533-1002-451E-91A6-031D6D08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5410200" cy="21336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111518">
              <a:alpha val="96000"/>
            </a:srgbClr>
          </a:solidFill>
          <a:ln xmlns:a="http://schemas.openxmlformats.org/drawingml/2006/main" w="9525">
            <a:solidFill>
              <a:srgbClr val="343A40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b3de0681143e6"/>
          <a:srcRect xmlns:a="http://schemas.openxmlformats.org/drawingml/2006/main" l="0" t="2857" r="0" b="28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095500"/>
            <a:ext cx="704850" cy="704850"/>
          </a:xfrm>
          <a:prstGeom xmlns:a="http://schemas.openxmlformats.org/drawingml/2006/main" prst="ellipse">
            <a:avLst/>
          </a:prstGeom>
        </p:spPr>
      </p:pic>
      <p:sp>
        <p:nvSpPr>
          <p:cNvPr id="14" name="tracey-name">
            <a:extLst xmlns:a="http://schemas.openxmlformats.org/drawingml/2006/main">
              <a:ext uri="{FF2B5EF4-FFF2-40B4-BE49-F238E27FC236}">
                <a16:creationId xmlns:a16="http://schemas.microsoft.com/office/drawing/2014/main" id="{7FE50F29-9A1D-4F53-96A7-D7006F47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764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5F2"/>
                </a:solidFill>
                <a:latin typeface="Arial"/>
                <a:ea typeface="Arial"/>
                <a:cs typeface="Arial"/>
              </a:rPr>
              <a:t>Dr. Tracey Hathaway</a:t>
            </a:r>
          </a:p>
        </p:txBody>
      </p:sp>
      <p:sp>
        <p:nvSpPr>
          <p:cNvPr id="15" name="tracey-role">
            <a:extLst xmlns:a="http://schemas.openxmlformats.org/drawingml/2006/main">
              <a:ext uri="{FF2B5EF4-FFF2-40B4-BE49-F238E27FC236}">
                <a16:creationId xmlns:a16="http://schemas.microsoft.com/office/drawing/2014/main" id="{677D9E08-EB98-42D2-B514-E1B85D5F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003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65AA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65AAF"/>
                </a:solidFill>
                <a:latin typeface="Arial"/>
                <a:ea typeface="Arial"/>
                <a:cs typeface="Arial"/>
              </a:rPr>
              <a:t>CO-FOUNDER • ATHLETICS ACCESS</a:t>
            </a:r>
          </a:p>
        </p:txBody>
      </p:sp>
      <p:sp>
        <p:nvSpPr>
          <p:cNvPr id="16" name="tracey-journey">
            <a:extLst xmlns:a="http://schemas.openxmlformats.org/drawingml/2006/main">
              <a:ext uri="{FF2B5EF4-FFF2-40B4-BE49-F238E27FC236}">
                <a16:creationId xmlns:a16="http://schemas.microsoft.com/office/drawing/2014/main" id="{794C431C-9BD4-4514-8166-977736B6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57475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8FF00"/>
                </a:solidFill>
                <a:latin typeface="Arial"/>
                <a:ea typeface="Arial"/>
                <a:cs typeface="Arial"/>
              </a:rPr>
              <a:t>ATHLETE → COACH → ATHLETIC DIRECTOR</a:t>
            </a:r>
          </a:p>
        </p:txBody>
      </p:sp>
      <p:sp>
        <p:nvSpPr>
          <p:cNvPr id="17" name="tracey-bullet-1-dot">
            <a:extLst xmlns:a="http://schemas.openxmlformats.org/drawingml/2006/main">
              <a:ext uri="{FF2B5EF4-FFF2-40B4-BE49-F238E27FC236}">
                <a16:creationId xmlns:a16="http://schemas.microsoft.com/office/drawing/2014/main" id="{BE44F3EA-8AC8-4084-B4F5-815CBB0C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5A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racey-bullet-1">
            <a:extLst xmlns:a="http://schemas.openxmlformats.org/drawingml/2006/main">
              <a:ext uri="{FF2B5EF4-FFF2-40B4-BE49-F238E27FC236}">
                <a16:creationId xmlns:a16="http://schemas.microsoft.com/office/drawing/2014/main" id="{725F1E80-A30B-42F8-8401-AD83185A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ADB2B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ADB2BC"/>
                </a:solidFill>
                <a:latin typeface="Arial"/>
                <a:ea typeface="Arial"/>
                <a:cs typeface="Arial"/>
              </a:rPr>
              <a:t>Former Division I women’s basketball player, University of Rhode Island</a:t>
            </a:r>
          </a:p>
        </p:txBody>
      </p:sp>
      <p:sp>
        <p:nvSpPr>
          <p:cNvPr id="19" name="tracey-bullet-2-dot">
            <a:extLst xmlns:a="http://schemas.openxmlformats.org/drawingml/2006/main">
              <a:ext uri="{FF2B5EF4-FFF2-40B4-BE49-F238E27FC236}">
                <a16:creationId xmlns:a16="http://schemas.microsoft.com/office/drawing/2014/main" id="{55F730D7-BBE9-4648-A5EB-3B6B5F26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5A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racey-bullet-2">
            <a:extLst xmlns:a="http://schemas.openxmlformats.org/drawingml/2006/main">
              <a:ext uri="{FF2B5EF4-FFF2-40B4-BE49-F238E27FC236}">
                <a16:creationId xmlns:a16="http://schemas.microsoft.com/office/drawing/2014/main" id="{A5413AB0-64CB-4064-A7CF-274E83BA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ADB2B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ADB2BC"/>
                </a:solidFill>
                <a:latin typeface="Arial"/>
                <a:ea typeface="Arial"/>
                <a:cs typeface="Arial"/>
              </a:rPr>
              <a:t>Former women’s basketball coach and athletic director</a:t>
            </a:r>
          </a:p>
        </p:txBody>
      </p:sp>
      <p:sp>
        <p:nvSpPr>
          <p:cNvPr id="21" name="tracey-bullet-3-dot">
            <a:extLst xmlns:a="http://schemas.openxmlformats.org/drawingml/2006/main">
              <a:ext uri="{FF2B5EF4-FFF2-40B4-BE49-F238E27FC236}">
                <a16:creationId xmlns:a16="http://schemas.microsoft.com/office/drawing/2014/main" id="{A1A89323-E89B-4A8F-9F9D-7F4D6A5E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5A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racey-bullet-3">
            <a:extLst xmlns:a="http://schemas.openxmlformats.org/drawingml/2006/main">
              <a:ext uri="{FF2B5EF4-FFF2-40B4-BE49-F238E27FC236}">
                <a16:creationId xmlns:a16="http://schemas.microsoft.com/office/drawing/2014/main" id="{0F190922-1400-4C14-BFE1-EBED06E1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ADB2B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ADB2BC"/>
                </a:solidFill>
                <a:latin typeface="Arial"/>
                <a:ea typeface="Arial"/>
                <a:cs typeface="Arial"/>
              </a:rPr>
              <a:t>Doctorate in Higher Education, Worcester State University</a:t>
            </a:r>
          </a:p>
        </p:txBody>
      </p:sp>
      <p:sp>
        <p:nvSpPr>
          <p:cNvPr id="23" name="tracey-footnote">
            <a:extLst xmlns:a="http://schemas.openxmlformats.org/drawingml/2006/main">
              <a:ext uri="{FF2B5EF4-FFF2-40B4-BE49-F238E27FC236}">
                <a16:creationId xmlns:a16="http://schemas.microsoft.com/office/drawing/2014/main" id="{71DAC9B6-A4B0-4F3B-9E3B-FB64E8F0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5F5F2"/>
                </a:solidFill>
                <a:latin typeface="Arial"/>
                <a:ea typeface="Arial"/>
                <a:cs typeface="Arial"/>
              </a:rPr>
              <a:t>Deep, active relationships across college athletics.</a:t>
            </a:r>
          </a:p>
        </p:txBody>
      </p:sp>
      <p:sp>
        <p:nvSpPr>
          <p:cNvPr id="24" name="jelanna-card">
            <a:extLst xmlns:a="http://schemas.openxmlformats.org/drawingml/2006/main">
              <a:ext uri="{FF2B5EF4-FFF2-40B4-BE49-F238E27FC236}">
                <a16:creationId xmlns:a16="http://schemas.microsoft.com/office/drawing/2014/main" id="{E7BD0F66-3FF1-4AAC-BA01-5C173144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5562600" cy="213360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111518">
              <a:alpha val="96000"/>
            </a:srgbClr>
          </a:solidFill>
          <a:ln xmlns:a="http://schemas.openxmlformats.org/drawingml/2006/main" w="9525">
            <a:solidFill>
              <a:srgbClr val="343A40"/>
            </a:solidFill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fae40d0314cba"/>
          <a:srcRect xmlns:a="http://schemas.openxmlformats.org/drawingml/2006/main" l="0" t="5619" r="0" b="56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2095500"/>
            <a:ext cx="704850" cy="704850"/>
          </a:xfrm>
          <a:prstGeom xmlns:a="http://schemas.openxmlformats.org/drawingml/2006/main" prst="ellipse">
            <a:avLst/>
          </a:prstGeom>
        </p:spPr>
      </p:pic>
      <p:sp>
        <p:nvSpPr>
          <p:cNvPr id="26" name="jelanna-name">
            <a:extLst xmlns:a="http://schemas.openxmlformats.org/drawingml/2006/main">
              <a:ext uri="{FF2B5EF4-FFF2-40B4-BE49-F238E27FC236}">
                <a16:creationId xmlns:a16="http://schemas.microsoft.com/office/drawing/2014/main" id="{A797032F-1082-4390-81D8-25726B19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5F2"/>
                </a:solidFill>
                <a:latin typeface="Arial"/>
                <a:ea typeface="Arial"/>
                <a:cs typeface="Arial"/>
              </a:rPr>
              <a:t>Jelanna Salas Olivera</a:t>
            </a:r>
          </a:p>
        </p:txBody>
      </p:sp>
      <p:sp>
        <p:nvSpPr>
          <p:cNvPr id="27" name="jelanna-role">
            <a:extLst xmlns:a="http://schemas.openxmlformats.org/drawingml/2006/main">
              <a:ext uri="{FF2B5EF4-FFF2-40B4-BE49-F238E27FC236}">
                <a16:creationId xmlns:a16="http://schemas.microsoft.com/office/drawing/2014/main" id="{262D11D9-6527-406C-BE4D-1FFF48A4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B72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9B72FF"/>
                </a:solidFill>
                <a:latin typeface="Arial"/>
                <a:ea typeface="Arial"/>
                <a:cs typeface="Arial"/>
              </a:rPr>
              <a:t>CO-FOUNDER • ENTERPRISE EXECUTION</a:t>
            </a:r>
          </a:p>
        </p:txBody>
      </p:sp>
      <p:sp>
        <p:nvSpPr>
          <p:cNvPr id="28" name="jelanna-journey">
            <a:extLst xmlns:a="http://schemas.openxmlformats.org/drawingml/2006/main">
              <a:ext uri="{FF2B5EF4-FFF2-40B4-BE49-F238E27FC236}">
                <a16:creationId xmlns:a16="http://schemas.microsoft.com/office/drawing/2014/main" id="{75B96B4B-CAF1-400A-80AD-99FED9AF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574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8FF00"/>
                </a:solidFill>
                <a:latin typeface="Arial"/>
                <a:ea typeface="Arial"/>
                <a:cs typeface="Arial"/>
              </a:rPr>
              <a:t>BIG FOUR → BIG PHARMA → DIGITAL HEALTH</a:t>
            </a:r>
          </a:p>
        </p:txBody>
      </p:sp>
      <p:sp>
        <p:nvSpPr>
          <p:cNvPr id="29" name="jelanna-bullet-1-dot">
            <a:extLst xmlns:a="http://schemas.openxmlformats.org/drawingml/2006/main">
              <a:ext uri="{FF2B5EF4-FFF2-40B4-BE49-F238E27FC236}">
                <a16:creationId xmlns:a16="http://schemas.microsoft.com/office/drawing/2014/main" id="{F9CA83C7-6C69-47F0-AD89-3C839863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861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jelanna-bullet-1">
            <a:extLst xmlns:a="http://schemas.openxmlformats.org/drawingml/2006/main">
              <a:ext uri="{FF2B5EF4-FFF2-40B4-BE49-F238E27FC236}">
                <a16:creationId xmlns:a16="http://schemas.microsoft.com/office/drawing/2014/main" id="{16E84141-FA26-46FA-A73B-CE955EDC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28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ADB2B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ADB2BC"/>
                </a:solidFill>
                <a:latin typeface="Arial"/>
                <a:ea typeface="Arial"/>
                <a:cs typeface="Arial"/>
              </a:rPr>
              <a:t>Transformation consulting across EY and KPMG</a:t>
            </a:r>
          </a:p>
        </p:txBody>
      </p:sp>
      <p:sp>
        <p:nvSpPr>
          <p:cNvPr id="31" name="jelanna-bullet-2-dot">
            <a:extLst xmlns:a="http://schemas.openxmlformats.org/drawingml/2006/main">
              <a:ext uri="{FF2B5EF4-FFF2-40B4-BE49-F238E27FC236}">
                <a16:creationId xmlns:a16="http://schemas.microsoft.com/office/drawing/2014/main" id="{434C5D62-F0FC-4504-A243-6DF63CDA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jelanna-bullet-2">
            <a:extLst xmlns:a="http://schemas.openxmlformats.org/drawingml/2006/main">
              <a:ext uri="{FF2B5EF4-FFF2-40B4-BE49-F238E27FC236}">
                <a16:creationId xmlns:a16="http://schemas.microsoft.com/office/drawing/2014/main" id="{0966CED8-F3BB-4694-B7BC-FD17E727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14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ADB2B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ADB2BC"/>
                </a:solidFill>
                <a:latin typeface="Arial"/>
                <a:ea typeface="Arial"/>
                <a:cs typeface="Arial"/>
              </a:rPr>
              <a:t>Big Pharma experience at Eli Lilly</a:t>
            </a:r>
          </a:p>
        </p:txBody>
      </p:sp>
      <p:sp>
        <p:nvSpPr>
          <p:cNvPr id="33" name="jelanna-bullet-3-dot">
            <a:extLst xmlns:a="http://schemas.openxmlformats.org/drawingml/2006/main">
              <a:ext uri="{FF2B5EF4-FFF2-40B4-BE49-F238E27FC236}">
                <a16:creationId xmlns:a16="http://schemas.microsoft.com/office/drawing/2014/main" id="{CCF29CE9-9E74-4C16-975F-94B807C7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57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jelanna-bullet-3">
            <a:extLst xmlns:a="http://schemas.openxmlformats.org/drawingml/2006/main">
              <a:ext uri="{FF2B5EF4-FFF2-40B4-BE49-F238E27FC236}">
                <a16:creationId xmlns:a16="http://schemas.microsoft.com/office/drawing/2014/main" id="{EAC6E8AF-CB3D-4718-AC5C-E3CC50CE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00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ADB2B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ADB2BC"/>
                </a:solidFill>
                <a:latin typeface="Arial"/>
                <a:ea typeface="Arial"/>
                <a:cs typeface="Arial"/>
              </a:rPr>
              <a:t>Former cheerleader with enterprise, product and healthcare fluency</a:t>
            </a:r>
          </a:p>
        </p:txBody>
      </p:sp>
      <p:sp>
        <p:nvSpPr>
          <p:cNvPr id="35" name="leverage-card">
            <a:extLst xmlns:a="http://schemas.openxmlformats.org/drawingml/2006/main">
              <a:ext uri="{FF2B5EF4-FFF2-40B4-BE49-F238E27FC236}">
                <a16:creationId xmlns:a16="http://schemas.microsoft.com/office/drawing/2014/main" id="{B790B975-3978-44C2-90E7-1D9266BC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11125200" cy="11049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111518">
              <a:alpha val="96000"/>
            </a:srgbClr>
          </a:solidFill>
          <a:ln xmlns:a="http://schemas.openxmlformats.org/drawingml/2006/main" w="9525">
            <a:solidFill>
              <a:srgbClr val="343A40"/>
            </a:solidFill>
            <a:prstDash val="solid"/>
          </a:ln>
        </p:spPr>
      </p:sp>
      <p:sp>
        <p:nvSpPr>
          <p:cNvPr id="36" name="leverage-label">
            <a:extLst xmlns:a="http://schemas.openxmlformats.org/drawingml/2006/main">
              <a:ext uri="{FF2B5EF4-FFF2-40B4-BE49-F238E27FC236}">
                <a16:creationId xmlns:a16="http://schemas.microsoft.com/office/drawing/2014/main" id="{C777263B-7BB8-47B6-BBE8-B3508353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8FF00"/>
                </a:solidFill>
                <a:latin typeface="Arial"/>
                <a:ea typeface="Arial"/>
                <a:cs typeface="Arial"/>
              </a:rPr>
              <a:t>THE ACCESS ENGINE</a:t>
            </a:r>
          </a:p>
        </p:txBody>
      </p:sp>
      <p:sp>
        <p:nvSpPr>
          <p:cNvPr id="37" name="six-years-stat">
            <a:extLst xmlns:a="http://schemas.openxmlformats.org/drawingml/2006/main">
              <a:ext uri="{FF2B5EF4-FFF2-40B4-BE49-F238E27FC236}">
                <a16:creationId xmlns:a16="http://schemas.microsoft.com/office/drawing/2014/main" id="{CC84F4DD-FE83-4583-838E-0D8F6DFC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5F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8" name="six-years-desc">
            <a:extLst xmlns:a="http://schemas.openxmlformats.org/drawingml/2006/main">
              <a:ext uri="{FF2B5EF4-FFF2-40B4-BE49-F238E27FC236}">
                <a16:creationId xmlns:a16="http://schemas.microsoft.com/office/drawing/2014/main" id="{C19658BA-77A3-4485-B118-DC2EDECF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65AA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65AAF"/>
                </a:solidFill>
                <a:latin typeface="Arial"/>
                <a:ea typeface="Arial"/>
                <a:cs typeface="Arial"/>
              </a:rPr>
              <a:t>CO-FOUNDED</a:t>
            </a:r>
          </a:p>
          <a:p xmlns:a="http://schemas.openxmlformats.org/drawingml/2006/main">
            <a:pPr algn="l">
              <a:buNone/>
              <a:defRPr sz="825" b="1" i="0">
                <a:solidFill>
                  <a:srgbClr val="F65AA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65AAF"/>
                </a:solidFill>
                <a:latin typeface="Arial"/>
                <a:ea typeface="Arial"/>
                <a:cs typeface="Arial"/>
              </a:rPr>
              <a:t>ORGANIZATIONS</a:t>
            </a:r>
          </a:p>
        </p:txBody>
      </p:sp>
      <p:sp>
        <p:nvSpPr>
          <p:cNvPr id="39" name="foundation-copy">
            <a:extLst xmlns:a="http://schemas.openxmlformats.org/drawingml/2006/main">
              <a:ext uri="{FF2B5EF4-FFF2-40B4-BE49-F238E27FC236}">
                <a16:creationId xmlns:a16="http://schemas.microsoft.com/office/drawing/2014/main" id="{1304D5FB-1C9D-44A6-A970-77B56A33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33900"/>
            <a:ext cx="4143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ADB2B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DB2BC"/>
                </a:solidFill>
                <a:latin typeface="Arial"/>
                <a:ea typeface="Arial"/>
                <a:cs typeface="Arial"/>
              </a:rPr>
              <a:t>Together, they co-founded AuntEDNA.ai and the Alfreeda Goff Foundation—pairing clinical infrastructure with athlete development.</a:t>
            </a:r>
          </a:p>
        </p:txBody>
      </p:sp>
      <p:sp>
        <p:nvSpPr>
          <p:cNvPr id="40" name="leverage-divider">
            <a:extLst xmlns:a="http://schemas.openxmlformats.org/drawingml/2006/main">
              <a:ext uri="{FF2B5EF4-FFF2-40B4-BE49-F238E27FC236}">
                <a16:creationId xmlns:a16="http://schemas.microsoft.com/office/drawing/2014/main" id="{22D69CD7-2E1C-49F6-B839-0C9C9F1C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0055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A40"/>
            </a:solidFill>
            <a:prstDash val="solid"/>
          </a:ln>
        </p:spPr>
      </p:sp>
      <p:sp>
        <p:nvSpPr>
          <p:cNvPr id="41" name="pipeline-label">
            <a:extLst xmlns:a="http://schemas.openxmlformats.org/drawingml/2006/main">
              <a:ext uri="{FF2B5EF4-FFF2-40B4-BE49-F238E27FC236}">
                <a16:creationId xmlns:a16="http://schemas.microsoft.com/office/drawing/2014/main" id="{582FBF83-018B-4774-9017-BDCDF4DF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43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4D8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D8FFF"/>
                </a:solidFill>
                <a:latin typeface="Arial"/>
                <a:ea typeface="Arial"/>
                <a:cs typeface="Arial"/>
              </a:rPr>
              <a:t>6 YEARS OF NCAA-BACKED WORK</a:t>
            </a:r>
          </a:p>
        </p:txBody>
      </p:sp>
      <p:sp>
        <p:nvSpPr>
          <p:cNvPr id="42" name="pipeline-schools">
            <a:extLst xmlns:a="http://schemas.openxmlformats.org/drawingml/2006/main">
              <a:ext uri="{FF2B5EF4-FFF2-40B4-BE49-F238E27FC236}">
                <a16:creationId xmlns:a16="http://schemas.microsoft.com/office/drawing/2014/main" id="{07115E4F-C7D8-45DE-AC11-FF135702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00575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5F5F2"/>
                </a:solidFill>
                <a:latin typeface="Arial"/>
                <a:ea typeface="Arial"/>
                <a:cs typeface="Arial"/>
              </a:rPr>
              <a:t>Athletic departments  •  coaches  •  student-athletes</a:t>
            </a:r>
          </a:p>
        </p:txBody>
      </p:sp>
      <p:sp>
        <p:nvSpPr>
          <p:cNvPr id="43" name="pipeline-copy">
            <a:extLst xmlns:a="http://schemas.openxmlformats.org/drawingml/2006/main">
              <a:ext uri="{FF2B5EF4-FFF2-40B4-BE49-F238E27FC236}">
                <a16:creationId xmlns:a16="http://schemas.microsoft.com/office/drawing/2014/main" id="{7DC4549D-43C7-435D-9CC5-B765B4FE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95850"/>
            <a:ext cx="376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ADB2B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DB2BC"/>
                </a:solidFill>
                <a:latin typeface="Arial"/>
                <a:ea typeface="Arial"/>
                <a:cs typeface="Arial"/>
              </a:rPr>
              <a:t>Trusted relationships create direct access and a qualified pilot pipeline for PulseCheck.</a:t>
            </a:r>
          </a:p>
        </p:txBody>
      </p:sp>
      <p:sp>
        <p:nvSpPr>
          <p:cNvPr id="44" name="proof-strip">
            <a:extLst xmlns:a="http://schemas.openxmlformats.org/drawingml/2006/main">
              <a:ext uri="{FF2B5EF4-FFF2-40B4-BE49-F238E27FC236}">
                <a16:creationId xmlns:a16="http://schemas.microsoft.com/office/drawing/2014/main" id="{F719758F-EADF-4DCE-8AF4-ACBEE5A0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1000125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11518">
              <a:alpha val="98000"/>
            </a:srgbClr>
          </a:solidFill>
          <a:ln xmlns:a="http://schemas.openxmlformats.org/drawingml/2006/main" w="9525">
            <a:solidFill>
              <a:srgbClr val="343A40"/>
            </a:solidFill>
            <a:prstDash val="solid"/>
          </a:ln>
        </p:spPr>
      </p:sp>
      <p:sp>
        <p:nvSpPr>
          <p:cNvPr id="45" name="proof-strip-label">
            <a:extLst xmlns:a="http://schemas.openxmlformats.org/drawingml/2006/main">
              <a:ext uri="{FF2B5EF4-FFF2-40B4-BE49-F238E27FC236}">
                <a16:creationId xmlns:a16="http://schemas.microsoft.com/office/drawing/2014/main" id="{4A302173-4C1A-45ED-A84D-295A42DE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C8FF00"/>
                </a:solidFill>
                <a:latin typeface="Arial"/>
                <a:ea typeface="Arial"/>
                <a:cs typeface="Arial"/>
              </a:rPr>
              <a:t>RESEARCH + COMMERCIALIZATION LEVERAGE</a:t>
            </a:r>
          </a:p>
        </p:txBody>
      </p:sp>
      <p:sp>
        <p:nvSpPr>
          <p:cNvPr id="46" name="phase1-value">
            <a:extLst xmlns:a="http://schemas.openxmlformats.org/drawingml/2006/main">
              <a:ext uri="{FF2B5EF4-FFF2-40B4-BE49-F238E27FC236}">
                <a16:creationId xmlns:a16="http://schemas.microsoft.com/office/drawing/2014/main" id="{B3E25A29-5F34-49ED-97C9-EA9EEE5D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76925"/>
            <a:ext cx="104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4D8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4D8FFF"/>
                </a:solidFill>
                <a:latin typeface="Arial"/>
                <a:ea typeface="Arial"/>
                <a:cs typeface="Arial"/>
              </a:rPr>
              <a:t>$275K</a:t>
            </a:r>
          </a:p>
        </p:txBody>
      </p:sp>
      <p:sp>
        <p:nvSpPr>
          <p:cNvPr id="47" name="phase1-copy">
            <a:extLst xmlns:a="http://schemas.openxmlformats.org/drawingml/2006/main">
              <a:ext uri="{FF2B5EF4-FFF2-40B4-BE49-F238E27FC236}">
                <a16:creationId xmlns:a16="http://schemas.microsoft.com/office/drawing/2014/main" id="{5DA27610-5602-4EEA-A235-5A6B168A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8483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F5F5F2"/>
                </a:solidFill>
                <a:latin typeface="Arial"/>
                <a:ea typeface="Arial"/>
                <a:cs typeface="Arial"/>
              </a:rPr>
              <a:t>NSF Phase I</a:t>
            </a:r>
          </a:p>
          <a:p xmlns:a="http://schemas.openxmlformats.org/drawingml/2006/main">
            <a:pPr algn="l">
              <a:buNone/>
              <a:defRPr sz="1013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F5F5F2"/>
                </a:solidFill>
                <a:latin typeface="Arial"/>
                <a:ea typeface="Arial"/>
                <a:cs typeface="Arial"/>
              </a:rPr>
              <a:t>funded research</a:t>
            </a:r>
          </a:p>
        </p:txBody>
      </p:sp>
      <p:sp>
        <p:nvSpPr>
          <p:cNvPr id="48" name="proof-rule-1">
            <a:extLst xmlns:a="http://schemas.openxmlformats.org/drawingml/2006/main">
              <a:ext uri="{FF2B5EF4-FFF2-40B4-BE49-F238E27FC236}">
                <a16:creationId xmlns:a16="http://schemas.microsoft.com/office/drawing/2014/main" id="{23A8C753-C39F-46BE-9645-8570AE0A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63880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A40"/>
            </a:solidFill>
            <a:prstDash val="solid"/>
          </a:ln>
        </p:spPr>
      </p:sp>
      <p:sp>
        <p:nvSpPr>
          <p:cNvPr id="49" name="adherence-value">
            <a:extLst xmlns:a="http://schemas.openxmlformats.org/drawingml/2006/main">
              <a:ext uri="{FF2B5EF4-FFF2-40B4-BE49-F238E27FC236}">
                <a16:creationId xmlns:a16="http://schemas.microsoft.com/office/drawing/2014/main" id="{49E6C58B-4F71-48D2-88ED-C96A5941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87692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8FF00"/>
                </a:solidFill>
                <a:latin typeface="Arial"/>
                <a:ea typeface="Arial"/>
                <a:cs typeface="Arial"/>
              </a:rPr>
              <a:t>80%</a:t>
            </a:r>
          </a:p>
        </p:txBody>
      </p:sp>
      <p:sp>
        <p:nvSpPr>
          <p:cNvPr id="50" name="adherence-copy">
            <a:extLst xmlns:a="http://schemas.openxmlformats.org/drawingml/2006/main">
              <a:ext uri="{FF2B5EF4-FFF2-40B4-BE49-F238E27FC236}">
                <a16:creationId xmlns:a16="http://schemas.microsoft.com/office/drawing/2014/main" id="{2383FD93-BF7D-433B-98A9-6734D34A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8483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F5F5F2"/>
                </a:solidFill>
                <a:latin typeface="Arial"/>
                <a:ea typeface="Arial"/>
                <a:cs typeface="Arial"/>
              </a:rPr>
              <a:t>adherence evidence</a:t>
            </a:r>
          </a:p>
          <a:p xmlns:a="http://schemas.openxmlformats.org/drawingml/2006/main">
            <a:pPr algn="l">
              <a:buNone/>
              <a:defRPr sz="1013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F5F5F2"/>
                </a:solidFill>
                <a:latin typeface="Arial"/>
                <a:ea typeface="Arial"/>
                <a:cs typeface="Arial"/>
              </a:rPr>
              <a:t>across 1,000+ athletes</a:t>
            </a:r>
          </a:p>
        </p:txBody>
      </p:sp>
      <p:sp>
        <p:nvSpPr>
          <p:cNvPr id="51" name="proof-rule-2">
            <a:extLst xmlns:a="http://schemas.openxmlformats.org/drawingml/2006/main">
              <a:ext uri="{FF2B5EF4-FFF2-40B4-BE49-F238E27FC236}">
                <a16:creationId xmlns:a16="http://schemas.microsoft.com/office/drawing/2014/main" id="{1239A951-A6F6-4952-92BA-D24674C0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3880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A40"/>
            </a:solidFill>
            <a:prstDash val="solid"/>
          </a:ln>
        </p:spPr>
      </p:sp>
      <p:sp>
        <p:nvSpPr>
          <p:cNvPr id="52" name="phase2-value">
            <a:extLst xmlns:a="http://schemas.openxmlformats.org/drawingml/2006/main">
              <a:ext uri="{FF2B5EF4-FFF2-40B4-BE49-F238E27FC236}">
                <a16:creationId xmlns:a16="http://schemas.microsoft.com/office/drawing/2014/main" id="{E4C0F3E9-5B9A-4BEC-9502-DF311733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876925"/>
            <a:ext cx="104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65AA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65AAF"/>
                </a:solidFill>
                <a:latin typeface="Arial"/>
                <a:ea typeface="Arial"/>
                <a:cs typeface="Arial"/>
              </a:rPr>
              <a:t>$1.4M</a:t>
            </a:r>
          </a:p>
        </p:txBody>
      </p:sp>
      <p:sp>
        <p:nvSpPr>
          <p:cNvPr id="53" name="phase2-copy">
            <a:extLst xmlns:a="http://schemas.openxmlformats.org/drawingml/2006/main">
              <a:ext uri="{FF2B5EF4-FFF2-40B4-BE49-F238E27FC236}">
                <a16:creationId xmlns:a16="http://schemas.microsoft.com/office/drawing/2014/main" id="{3509222D-C460-42ED-AEB7-951ACD43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10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5F5F2"/>
                </a:solidFill>
                <a:latin typeface="Arial"/>
                <a:ea typeface="Arial"/>
                <a:cs typeface="Arial"/>
              </a:rPr>
              <a:t>Phase II proposal preparation</a:t>
            </a:r>
          </a:p>
        </p:txBody>
      </p:sp>
      <p:sp>
        <p:nvSpPr>
          <p:cNvPr id="54" name="phase2-detail">
            <a:extLst xmlns:a="http://schemas.openxmlformats.org/drawingml/2006/main">
              <a:ext uri="{FF2B5EF4-FFF2-40B4-BE49-F238E27FC236}">
                <a16:creationId xmlns:a16="http://schemas.microsoft.com/office/drawing/2014/main" id="{E08E3E6D-1950-44CF-B115-A7EBE4E9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6067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92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AEB3BD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AEB3BD"/>
                </a:solidFill>
                <a:latin typeface="Arial"/>
                <a:ea typeface="Arial"/>
                <a:cs typeface="Arial"/>
              </a:rPr>
              <a:t>PulseCheck included for commercialization, pilot subsidy + integrations</a:t>
            </a:r>
          </a:p>
        </p:txBody>
      </p:sp>
    </p:spTree>
    <p:extLst>
      <p:ext uri="{BB962C8B-B14F-4D97-AF65-F5344CB8AC3E}">
        <p14:creationId xmlns:p14="http://schemas.microsoft.com/office/powerpoint/2010/main" val="455018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2026-07-28T15:15:23.3980000Z</dcterms:created>
  <dcterms:modified xsi:type="dcterms:W3CDTF">2026-07-28T15:15:23.3980000Z</dcterms:modified>
</coreProperties>
</file>