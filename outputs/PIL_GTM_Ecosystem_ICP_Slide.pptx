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0409c4528d490e" /><Relationship Type="http://schemas.openxmlformats.org/officeDocument/2006/relationships/extended-properties" Target="/docProps/app.xml" Id="R3d873ee15586405b" /><Relationship Type="http://schemas.openxmlformats.org/officeDocument/2006/relationships/officeDocument" Target="/ppt/presentation.xml" Id="Recb03794c9ce4448" /></Relationships>
</file>

<file path=ppt/presentation.xml><?xml version="1.0" encoding="utf-8"?>
<p:presentation xmlns:p="http://schemas.openxmlformats.org/presentationml/2006/main">
  <p:sldMasterIdLst>
    <p:sldMasterId xmlns:r="http://schemas.openxmlformats.org/officeDocument/2006/relationships" id="2147483648" r:id="Rfc0612c56cf9449b"/>
  </p:sldMasterIdLst>
  <p:notesMasterIdLst>
    <p:notesMasterId xmlns:r="http://schemas.openxmlformats.org/officeDocument/2006/relationships" r:id="R8dd2e780a7d04836"/>
  </p:notesMasterIdLst>
  <p:sldIdLst>
    <p:sldId xmlns:r="http://schemas.openxmlformats.org/officeDocument/2006/relationships" id="256" r:id="R192e334f7ac945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a548b7f72a48d1" /><Relationship Type="http://schemas.openxmlformats.org/officeDocument/2006/relationships/slideMaster" Target="/ppt/slideMasters/slideMaster1.xml" Id="Rfc0612c56cf9449b" /><Relationship Type="http://schemas.openxmlformats.org/officeDocument/2006/relationships/notesMaster" Target="/ppt/notesMasters/notesMaster1.xml" Id="R8dd2e780a7d04836" /><Relationship Type="http://schemas.openxmlformats.org/officeDocument/2006/relationships/presProps" Target="/ppt/presProps.xml" Id="R702c0212f7bb4a8b" /><Relationship Type="http://schemas.openxmlformats.org/officeDocument/2006/relationships/tableStyles" Target="/ppt/tableStyles.xml" Id="R0582f9ddfbe740bb" /><Relationship Type="http://schemas.openxmlformats.org/officeDocument/2006/relationships/slide" Target="/ppt/slides/slide1.xml" Id="R192e334f7ac945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667e2b735d48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6832c110c0421f" /><Relationship Type="http://schemas.openxmlformats.org/officeDocument/2006/relationships/notesMaster" Target="/ppt/notesMasters/notesMaster1.xml" Id="R0da2183050814d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PulseCheck's beachhead ideal customer profile is the athletic director: the executive buyer responsible for athlete health, performance, compliance and departmental budgets. The company lands inside college athletics, proves measurable outcomes, expands into youth and amateur athletics, and ultimately scales across the broader institutional ecosystem.</a:t>
            </a:r>
          </a:p>
          <a:p xmlns:a="http://schemas.openxmlformats.org/drawingml/2006/main">
            <a:r>
              <a:t/>
            </a:r>
          </a:p>
          <a:p xmlns:a="http://schemas.openxmlformats.org/drawingml/2006/main">
            <a:r>
              <a:t>[Sources]</a:t>
            </a:r>
          </a:p>
          <a:p xmlns:a="http://schemas.openxmlformats.org/drawingml/2006/main">
            <a:r>
              <a:t>- User-provided GTM slide and positioning.</a:t>
            </a:r>
          </a:p>
          <a:p xmlns:a="http://schemas.openxmlformats.org/drawingml/2006/main">
            <a:r>
              <a:t>- https://nacda.com/sports/2018/7/17/nacda-events-html.aspx</a:t>
            </a:r>
          </a:p>
          <a:p xmlns:a="http://schemas.openxmlformats.org/drawingml/2006/main">
            <a:r>
              <a:t>- https://www.ncaa.org/convention/</a:t>
            </a:r>
          </a:p>
          <a:p xmlns:a="http://schemas.openxmlformats.org/drawingml/2006/main">
            <a:r>
              <a:t>- https://niaaa.org/conferences</a:t>
            </a:r>
          </a:p>
          <a:p xmlns:a="http://schemas.openxmlformats.org/drawingml/2006/main">
            <a:r>
              <a:t>- https://aausports.org/junior-olympic-games/future-dates/</a:t>
            </a:r>
          </a:p>
          <a:p xmlns:a="http://schemas.openxmlformats.org/drawingml/2006/main">
            <a:r>
              <a:t>- https://nikeeyb.com/</a:t>
            </a:r>
          </a:p>
          <a:p xmlns:a="http://schemas.openxmlformats.org/drawingml/2006/main">
            <a:r>
              <a:t>- https://usavolleyball.org/story/usa-volleyball-brings-premier-junior-event-to-indianapolis-in-2026/</a:t>
            </a:r>
          </a:p>
          <a:p xmlns:a="http://schemas.openxmlformats.org/drawingml/2006/main">
            <a:r>
              <a:t>- https://www.usyouthsoccer.org/national-championships/</a:t>
            </a:r>
          </a:p>
          <a:p xmlns:a="http://schemas.openxmlformats.org/drawingml/2006/main">
            <a:r>
              <a:t>- https://nbnationalsout.com/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a874074f2241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80682d5f4043d4" /><Relationship Type="http://schemas.openxmlformats.org/officeDocument/2006/relationships/slideLayout" Target="/ppt/slideLayouts/slideLayout1.xml" Id="Re6e6e9f9478a4e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e6e9f9478a4e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94bc2be14fb4b6f" /><Relationship Type="http://schemas.openxmlformats.org/officeDocument/2006/relationships/notesSlide" Target="/ppt/notesSlides/notesSlide1.xml" Id="R5fbad2fa926d4c6d" /></Relationships>
</file>

<file path=ppt/slides/slide1.xml><?xml version="1.0" encoding="utf-8"?>
<p:sld xmlns:p="http://schemas.openxmlformats.org/presentationml/2006/main">
  <p:cSld>
    <p:bg>
      <p:bgPr>
        <a:solidFill xmlns:a="http://schemas.openxmlformats.org/drawingml/2006/main">
          <a:srgbClr val="070A0B"/>
        </a:solidFill>
      </p:bgPr>
    </p:bg>
    <p:spTree>
      <p:nvGrpSpPr>
        <p:cNvPr id="1" name=""/>
        <p:cNvGrpSpPr/>
        <p:nvPr/>
      </p:nvGrpSpPr>
      <p:grpSpPr>
        <a:xfrm xmlns:a="http://schemas.openxmlformats.org/drawingml/2006/main"/>
      </p:grpSpPr>
      <p:sp>
        <p:nvSpPr>
          <p:cNvPr id="32" name="section-pill">
            <a:extLst xmlns:a="http://schemas.openxmlformats.org/drawingml/2006/main">
              <a:ext uri="{FF2B5EF4-FFF2-40B4-BE49-F238E27FC236}">
                <a16:creationId xmlns:a16="http://schemas.microsoft.com/office/drawing/2014/main" id="{65E121EC-FF32-4F63-BCFB-4809E3664C87}"/>
              </a:ext>
            </a:extLst>
          </p:cNvPr>
          <p:cNvSpPr>
            <a:spLocks xmlns:a="http://schemas.openxmlformats.org/drawingml/2006/main" noGrp="1"/>
          </p:cNvSpPr>
          <p:nvPr/>
        </p:nvSpPr>
        <p:spPr>
          <a:xfrm xmlns:a="http://schemas.openxmlformats.org/drawingml/2006/main">
            <a:off x="590550" y="400050"/>
            <a:ext cx="2190750" cy="381000"/>
          </a:xfrm>
          <a:prstGeom xmlns:a="http://schemas.openxmlformats.org/drawingml/2006/main" prst="roundRect">
            <a:avLst>
              <a:gd name="adj" fmla="val 50000"/>
            </a:avLst>
          </a:prstGeom>
          <a:solidFill xmlns:a="http://schemas.openxmlformats.org/drawingml/2006/main">
            <a:srgbClr val="101416"/>
          </a:solidFill>
          <a:ln xmlns:a="http://schemas.openxmlformats.org/drawingml/2006/main" w="9525">
            <a:solidFill>
              <a:srgbClr val="30363B"/>
            </a:solidFill>
            <a:prstDash val="solid"/>
          </a:ln>
        </p:spPr>
      </p:sp>
      <p:sp>
        <p:nvSpPr>
          <p:cNvPr id="2" name="section-dot">
            <a:extLst xmlns:a="http://schemas.openxmlformats.org/drawingml/2006/main">
              <a:ext uri="{FF2B5EF4-FFF2-40B4-BE49-F238E27FC236}">
                <a16:creationId xmlns:a16="http://schemas.microsoft.com/office/drawing/2014/main" id="{791039C6-28B2-46B0-9821-F8EEA87D3AA5}"/>
              </a:ext>
            </a:extLst>
          </p:cNvPr>
          <p:cNvSpPr>
            <a:spLocks xmlns:a="http://schemas.openxmlformats.org/drawingml/2006/main" noGrp="1"/>
          </p:cNvSpPr>
          <p:nvPr/>
        </p:nvSpPr>
        <p:spPr>
          <a:xfrm xmlns:a="http://schemas.openxmlformats.org/drawingml/2006/main">
            <a:off x="762000" y="542925"/>
            <a:ext cx="76200" cy="76200"/>
          </a:xfrm>
          <a:prstGeom xmlns:a="http://schemas.openxmlformats.org/drawingml/2006/main" prst="ellipse">
            <a:avLst/>
          </a:prstGeom>
          <a:solidFill xmlns:a="http://schemas.openxmlformats.org/drawingml/2006/main">
            <a:srgbClr val="C8FF00"/>
          </a:solidFill>
          <a:ln xmlns:a="http://schemas.openxmlformats.org/drawingml/2006/main" w="0">
            <a:noFill/>
            <a:prstDash val="solid"/>
          </a:ln>
        </p:spPr>
      </p:sp>
      <p:sp>
        <p:nvSpPr>
          <p:cNvPr id="3" name="section-label">
            <a:extLst xmlns:a="http://schemas.openxmlformats.org/drawingml/2006/main">
              <a:ext uri="{FF2B5EF4-FFF2-40B4-BE49-F238E27FC236}">
                <a16:creationId xmlns:a16="http://schemas.microsoft.com/office/drawing/2014/main" id="{32FE4EC6-AF30-4FF0-A02F-031BE9B9C6FF}"/>
              </a:ext>
            </a:extLst>
          </p:cNvPr>
          <p:cNvSpPr>
            <a:spLocks xmlns:a="http://schemas.openxmlformats.org/drawingml/2006/main" noGrp="1"/>
          </p:cNvSpPr>
          <p:nvPr/>
        </p:nvSpPr>
        <p:spPr>
          <a:xfrm xmlns:a="http://schemas.openxmlformats.org/drawingml/2006/main">
            <a:off x="971550" y="485775"/>
            <a:ext cx="1571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1" i="0">
                <a:solidFill>
                  <a:srgbClr val="F5F5F2"/>
                </a:solidFill>
                <a:latin typeface="Arial"/>
                <a:ea typeface="Arial"/>
                <a:cs typeface="Arial"/>
              </a:defRPr>
            </a:pPr>
            <a:r>
              <a:rPr sz="1125" b="1" i="0">
                <a:solidFill>
                  <a:srgbClr val="F5F5F2"/>
                </a:solidFill>
                <a:latin typeface="Arial"/>
                <a:ea typeface="Arial"/>
                <a:cs typeface="Arial"/>
              </a:rPr>
              <a:t>GO-TO-MARKET</a:t>
            </a:r>
          </a:p>
        </p:txBody>
      </p:sp>
      <p:sp>
        <p:nvSpPr>
          <p:cNvPr id="4" name="icp-patch">
            <a:extLst xmlns:a="http://schemas.openxmlformats.org/drawingml/2006/main">
              <a:ext uri="{FF2B5EF4-FFF2-40B4-BE49-F238E27FC236}">
                <a16:creationId xmlns:a16="http://schemas.microsoft.com/office/drawing/2014/main" id="{1C127F55-DDEE-4F1B-AE2C-BE382D6707C9}"/>
              </a:ext>
            </a:extLst>
          </p:cNvPr>
          <p:cNvSpPr>
            <a:spLocks xmlns:a="http://schemas.openxmlformats.org/drawingml/2006/main" noGrp="1"/>
          </p:cNvSpPr>
          <p:nvPr/>
        </p:nvSpPr>
        <p:spPr>
          <a:xfrm xmlns:a="http://schemas.openxmlformats.org/drawingml/2006/main">
            <a:off x="9534525" y="342900"/>
            <a:ext cx="2152650" cy="752475"/>
          </a:xfrm>
          <a:prstGeom xmlns:a="http://schemas.openxmlformats.org/drawingml/2006/main" prst="roundRect">
            <a:avLst>
              <a:gd name="adj" fmla="val 15190"/>
            </a:avLst>
          </a:prstGeom>
          <a:solidFill xmlns:a="http://schemas.openxmlformats.org/drawingml/2006/main">
            <a:srgbClr val="12180D"/>
          </a:solidFill>
          <a:ln xmlns:a="http://schemas.openxmlformats.org/drawingml/2006/main" w="14288">
            <a:solidFill>
              <a:srgbClr val="C8FF00"/>
            </a:solidFill>
            <a:prstDash val="solid"/>
          </a:ln>
        </p:spPr>
      </p:sp>
      <p:sp>
        <p:nvSpPr>
          <p:cNvPr id="5" name="icp-kicker">
            <a:extLst xmlns:a="http://schemas.openxmlformats.org/drawingml/2006/main">
              <a:ext uri="{FF2B5EF4-FFF2-40B4-BE49-F238E27FC236}">
                <a16:creationId xmlns:a16="http://schemas.microsoft.com/office/drawing/2014/main" id="{896B2177-8818-4FF4-94E7-FD8C2FCFFB58}"/>
              </a:ext>
            </a:extLst>
          </p:cNvPr>
          <p:cNvSpPr>
            <a:spLocks xmlns:a="http://schemas.openxmlformats.org/drawingml/2006/main" noGrp="1"/>
          </p:cNvSpPr>
          <p:nvPr/>
        </p:nvSpPr>
        <p:spPr>
          <a:xfrm xmlns:a="http://schemas.openxmlformats.org/drawingml/2006/main">
            <a:off x="9715500" y="45720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i="0">
                <a:solidFill>
                  <a:srgbClr val="C8FF00"/>
                </a:solidFill>
                <a:latin typeface="Arial"/>
                <a:ea typeface="Arial"/>
                <a:cs typeface="Arial"/>
              </a:defRPr>
            </a:pPr>
            <a:r>
              <a:rPr sz="825" b="1" i="0">
                <a:solidFill>
                  <a:srgbClr val="C8FF00"/>
                </a:solidFill>
                <a:latin typeface="Arial"/>
                <a:ea typeface="Arial"/>
                <a:cs typeface="Arial"/>
              </a:rPr>
              <a:t>BEACHHEAD ICP</a:t>
            </a:r>
          </a:p>
        </p:txBody>
      </p:sp>
      <p:sp>
        <p:nvSpPr>
          <p:cNvPr id="6" name="icp-title">
            <a:extLst xmlns:a="http://schemas.openxmlformats.org/drawingml/2006/main">
              <a:ext uri="{FF2B5EF4-FFF2-40B4-BE49-F238E27FC236}">
                <a16:creationId xmlns:a16="http://schemas.microsoft.com/office/drawing/2014/main" id="{B7FD4E42-98B5-46A0-999D-76AD830CB652}"/>
              </a:ext>
            </a:extLst>
          </p:cNvPr>
          <p:cNvSpPr>
            <a:spLocks xmlns:a="http://schemas.openxmlformats.org/drawingml/2006/main" noGrp="1"/>
          </p:cNvSpPr>
          <p:nvPr/>
        </p:nvSpPr>
        <p:spPr>
          <a:xfrm xmlns:a="http://schemas.openxmlformats.org/drawingml/2006/main">
            <a:off x="9658350" y="638175"/>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F5F5F2"/>
                </a:solidFill>
                <a:latin typeface="Arial"/>
                <a:ea typeface="Arial"/>
                <a:cs typeface="Arial"/>
              </a:defRPr>
            </a:pPr>
            <a:r>
              <a:rPr sz="1275" b="1" i="0">
                <a:solidFill>
                  <a:srgbClr val="F5F5F2"/>
                </a:solidFill>
                <a:latin typeface="Arial"/>
                <a:ea typeface="Arial"/>
                <a:cs typeface="Arial"/>
              </a:rPr>
              <a:t>ATHLETIC DIRECTORS</a:t>
            </a:r>
          </a:p>
        </p:txBody>
      </p:sp>
      <p:sp>
        <p:nvSpPr>
          <p:cNvPr id="7" name="icp-scope">
            <a:extLst xmlns:a="http://schemas.openxmlformats.org/drawingml/2006/main">
              <a:ext uri="{FF2B5EF4-FFF2-40B4-BE49-F238E27FC236}">
                <a16:creationId xmlns:a16="http://schemas.microsoft.com/office/drawing/2014/main" id="{C3224B8C-0E15-48B5-8E49-DC7467CC4F04}"/>
              </a:ext>
            </a:extLst>
          </p:cNvPr>
          <p:cNvSpPr>
            <a:spLocks xmlns:a="http://schemas.openxmlformats.org/drawingml/2006/main" noGrp="1"/>
          </p:cNvSpPr>
          <p:nvPr/>
        </p:nvSpPr>
        <p:spPr>
          <a:xfrm xmlns:a="http://schemas.openxmlformats.org/drawingml/2006/main">
            <a:off x="9734550" y="885825"/>
            <a:ext cx="175260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713" b="1" i="0">
                <a:solidFill>
                  <a:srgbClr val="9FA4AD"/>
                </a:solidFill>
                <a:latin typeface="Arial"/>
                <a:ea typeface="Arial"/>
                <a:cs typeface="Arial"/>
              </a:defRPr>
            </a:pPr>
            <a:r>
              <a:rPr sz="713" b="1" i="0">
                <a:solidFill>
                  <a:srgbClr val="9FA4AD"/>
                </a:solidFill>
                <a:latin typeface="Arial"/>
                <a:ea typeface="Arial"/>
                <a:cs typeface="Arial"/>
              </a:rPr>
              <a:t>NCAA  •  NAIA  •  NJCAA</a:t>
            </a:r>
          </a:p>
        </p:txBody>
      </p:sp>
      <p:sp>
        <p:nvSpPr>
          <p:cNvPr id="8" name="headline">
            <a:extLst xmlns:a="http://schemas.openxmlformats.org/drawingml/2006/main">
              <a:ext uri="{FF2B5EF4-FFF2-40B4-BE49-F238E27FC236}">
                <a16:creationId xmlns:a16="http://schemas.microsoft.com/office/drawing/2014/main" id="{1F35C6F7-7F90-46A5-A5B6-E81DFA8465EC}"/>
              </a:ext>
            </a:extLst>
          </p:cNvPr>
          <p:cNvSpPr>
            <a:spLocks xmlns:a="http://schemas.openxmlformats.org/drawingml/2006/main" noGrp="1"/>
          </p:cNvSpPr>
          <p:nvPr/>
        </p:nvSpPr>
        <p:spPr>
          <a:xfrm xmlns:a="http://schemas.openxmlformats.org/drawingml/2006/main">
            <a:off x="590550" y="1066800"/>
            <a:ext cx="8286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750" b="1" i="0">
                <a:solidFill>
                  <a:srgbClr val="F5F5F2"/>
                </a:solidFill>
                <a:latin typeface="Arial"/>
                <a:ea typeface="Arial"/>
                <a:cs typeface="Arial"/>
              </a:defRPr>
            </a:pPr>
            <a:r>
              <a:rPr sz="3750" b="1" i="0">
                <a:solidFill>
                  <a:srgbClr val="F5F5F2"/>
                </a:solidFill>
                <a:latin typeface="Arial"/>
                <a:ea typeface="Arial"/>
                <a:cs typeface="Arial"/>
              </a:rPr>
              <a:t>Expand across the ecosystem.</a:t>
            </a:r>
          </a:p>
        </p:txBody>
      </p:sp>
      <p:sp>
        <p:nvSpPr>
          <p:cNvPr id="9" name="ecosystem-outer">
            <a:extLst xmlns:a="http://schemas.openxmlformats.org/drawingml/2006/main">
              <a:ext uri="{FF2B5EF4-FFF2-40B4-BE49-F238E27FC236}">
                <a16:creationId xmlns:a16="http://schemas.microsoft.com/office/drawing/2014/main" id="{A4DA374C-81A8-4986-93CE-60C019CF28FC}"/>
              </a:ext>
            </a:extLst>
          </p:cNvPr>
          <p:cNvSpPr>
            <a:spLocks xmlns:a="http://schemas.openxmlformats.org/drawingml/2006/main" noGrp="1"/>
          </p:cNvSpPr>
          <p:nvPr/>
        </p:nvSpPr>
        <p:spPr>
          <a:xfrm xmlns:a="http://schemas.openxmlformats.org/drawingml/2006/main">
            <a:off x="409575" y="1581150"/>
            <a:ext cx="5048250" cy="4857750"/>
          </a:xfrm>
          <a:prstGeom xmlns:a="http://schemas.openxmlformats.org/drawingml/2006/main" prst="ellipse">
            <a:avLst/>
          </a:prstGeom>
          <a:solidFill xmlns:a="http://schemas.openxmlformats.org/drawingml/2006/main">
            <a:srgbClr val="4D8FFF">
              <a:alpha val="5000"/>
            </a:srgbClr>
          </a:solidFill>
          <a:ln xmlns:a="http://schemas.openxmlformats.org/drawingml/2006/main" w="16193">
            <a:solidFill>
              <a:srgbClr val="4D8FFF"/>
            </a:solidFill>
            <a:prstDash val="solid"/>
          </a:ln>
        </p:spPr>
      </p:sp>
      <p:sp>
        <p:nvSpPr>
          <p:cNvPr id="10" name="ecosystem-youth">
            <a:extLst xmlns:a="http://schemas.openxmlformats.org/drawingml/2006/main">
              <a:ext uri="{FF2B5EF4-FFF2-40B4-BE49-F238E27FC236}">
                <a16:creationId xmlns:a16="http://schemas.microsoft.com/office/drawing/2014/main" id="{1844D141-481E-49E2-A38B-7BD5D9FF0B4A}"/>
              </a:ext>
            </a:extLst>
          </p:cNvPr>
          <p:cNvSpPr>
            <a:spLocks xmlns:a="http://schemas.openxmlformats.org/drawingml/2006/main" noGrp="1"/>
          </p:cNvSpPr>
          <p:nvPr/>
        </p:nvSpPr>
        <p:spPr>
          <a:xfrm xmlns:a="http://schemas.openxmlformats.org/drawingml/2006/main">
            <a:off x="942975" y="2400300"/>
            <a:ext cx="3981450" cy="3943350"/>
          </a:xfrm>
          <a:prstGeom xmlns:a="http://schemas.openxmlformats.org/drawingml/2006/main" prst="ellipse">
            <a:avLst/>
          </a:prstGeom>
          <a:solidFill xmlns:a="http://schemas.openxmlformats.org/drawingml/2006/main">
            <a:srgbClr val="9B72FF">
              <a:alpha val="4000"/>
            </a:srgbClr>
          </a:solidFill>
          <a:ln xmlns:a="http://schemas.openxmlformats.org/drawingml/2006/main" w="16193">
            <a:solidFill>
              <a:srgbClr val="9B72FF"/>
            </a:solidFill>
            <a:prstDash val="solid"/>
          </a:ln>
        </p:spPr>
      </p:sp>
      <p:sp>
        <p:nvSpPr>
          <p:cNvPr id="11" name="ecosystem-college">
            <a:extLst xmlns:a="http://schemas.openxmlformats.org/drawingml/2006/main">
              <a:ext uri="{FF2B5EF4-FFF2-40B4-BE49-F238E27FC236}">
                <a16:creationId xmlns:a16="http://schemas.microsoft.com/office/drawing/2014/main" id="{88CFF8CE-5598-4AFE-8A71-C7202648BD0B}"/>
              </a:ext>
            </a:extLst>
          </p:cNvPr>
          <p:cNvSpPr>
            <a:spLocks xmlns:a="http://schemas.openxmlformats.org/drawingml/2006/main" noGrp="1"/>
          </p:cNvSpPr>
          <p:nvPr/>
        </p:nvSpPr>
        <p:spPr>
          <a:xfrm xmlns:a="http://schemas.openxmlformats.org/drawingml/2006/main">
            <a:off x="1562100" y="3143250"/>
            <a:ext cx="2743200" cy="2724150"/>
          </a:xfrm>
          <a:prstGeom xmlns:a="http://schemas.openxmlformats.org/drawingml/2006/main" prst="ellipse">
            <a:avLst/>
          </a:prstGeom>
          <a:solidFill xmlns:a="http://schemas.openxmlformats.org/drawingml/2006/main">
            <a:srgbClr val="C8FF00">
              <a:alpha val="4000"/>
            </a:srgbClr>
          </a:solidFill>
          <a:ln xmlns:a="http://schemas.openxmlformats.org/drawingml/2006/main" w="16193">
            <a:solidFill>
              <a:srgbClr val="C8FF00"/>
            </a:solidFill>
            <a:prstDash val="solid"/>
          </a:ln>
        </p:spPr>
      </p:sp>
      <p:sp>
        <p:nvSpPr>
          <p:cNvPr id="12" name="ecosystem-ncaa">
            <a:extLst xmlns:a="http://schemas.openxmlformats.org/drawingml/2006/main">
              <a:ext uri="{FF2B5EF4-FFF2-40B4-BE49-F238E27FC236}">
                <a16:creationId xmlns:a16="http://schemas.microsoft.com/office/drawing/2014/main" id="{5D0067A5-B8FB-4031-AEC2-94430E4D9027}"/>
              </a:ext>
            </a:extLst>
          </p:cNvPr>
          <p:cNvSpPr>
            <a:spLocks xmlns:a="http://schemas.openxmlformats.org/drawingml/2006/main" noGrp="1"/>
          </p:cNvSpPr>
          <p:nvPr/>
        </p:nvSpPr>
        <p:spPr>
          <a:xfrm xmlns:a="http://schemas.openxmlformats.org/drawingml/2006/main">
            <a:off x="2324100" y="4067175"/>
            <a:ext cx="1219200" cy="1219200"/>
          </a:xfrm>
          <a:prstGeom xmlns:a="http://schemas.openxmlformats.org/drawingml/2006/main" prst="ellipse">
            <a:avLst/>
          </a:prstGeom>
          <a:solidFill xmlns:a="http://schemas.openxmlformats.org/drawingml/2006/main">
            <a:srgbClr val="C8FF00"/>
          </a:solidFill>
          <a:ln xmlns:a="http://schemas.openxmlformats.org/drawingml/2006/main" w="0">
            <a:noFill/>
            <a:prstDash val="solid"/>
          </a:ln>
        </p:spPr>
      </p:sp>
      <p:sp>
        <p:nvSpPr>
          <p:cNvPr id="13" name="outer-label">
            <a:extLst xmlns:a="http://schemas.openxmlformats.org/drawingml/2006/main">
              <a:ext uri="{FF2B5EF4-FFF2-40B4-BE49-F238E27FC236}">
                <a16:creationId xmlns:a16="http://schemas.microsoft.com/office/drawing/2014/main" id="{79D6BBAF-DA1C-46AC-A1D0-47E91E24E800}"/>
              </a:ext>
            </a:extLst>
          </p:cNvPr>
          <p:cNvSpPr>
            <a:spLocks xmlns:a="http://schemas.openxmlformats.org/drawingml/2006/main" noGrp="1"/>
          </p:cNvSpPr>
          <p:nvPr/>
        </p:nvSpPr>
        <p:spPr>
          <a:xfrm xmlns:a="http://schemas.openxmlformats.org/drawingml/2006/main">
            <a:off x="1362075" y="1971675"/>
            <a:ext cx="31337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4D8FFF"/>
                </a:solidFill>
                <a:latin typeface="Arial"/>
                <a:ea typeface="Arial"/>
                <a:cs typeface="Arial"/>
              </a:defRPr>
            </a:pPr>
            <a:r>
              <a:rPr sz="1200" b="1" i="0">
                <a:solidFill>
                  <a:srgbClr val="4D8FFF"/>
                </a:solidFill>
                <a:latin typeface="Arial"/>
                <a:ea typeface="Arial"/>
                <a:cs typeface="Arial"/>
              </a:rPr>
              <a:t>FULL INSTITUTIONAL ECOSYSTEM</a:t>
            </a:r>
          </a:p>
        </p:txBody>
      </p:sp>
      <p:sp>
        <p:nvSpPr>
          <p:cNvPr id="14" name="outer-sub">
            <a:extLst xmlns:a="http://schemas.openxmlformats.org/drawingml/2006/main">
              <a:ext uri="{FF2B5EF4-FFF2-40B4-BE49-F238E27FC236}">
                <a16:creationId xmlns:a16="http://schemas.microsoft.com/office/drawing/2014/main" id="{A3A5936B-23F9-4A8B-ACC6-A38E8ECCFDBA}"/>
              </a:ext>
            </a:extLst>
          </p:cNvPr>
          <p:cNvSpPr>
            <a:spLocks xmlns:a="http://schemas.openxmlformats.org/drawingml/2006/main" noGrp="1"/>
          </p:cNvSpPr>
          <p:nvPr/>
        </p:nvSpPr>
        <p:spPr>
          <a:xfrm xmlns:a="http://schemas.openxmlformats.org/drawingml/2006/main">
            <a:off x="1409700" y="2209800"/>
            <a:ext cx="30384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38" b="1" i="0">
                <a:solidFill>
                  <a:srgbClr val="9FA4AD"/>
                </a:solidFill>
                <a:latin typeface="Arial"/>
                <a:ea typeface="Arial"/>
                <a:cs typeface="Arial"/>
              </a:defRPr>
            </a:pPr>
            <a:r>
              <a:rPr sz="938" b="1" i="0">
                <a:solidFill>
                  <a:srgbClr val="9FA4AD"/>
                </a:solidFill>
                <a:latin typeface="Arial"/>
                <a:ea typeface="Arial"/>
                <a:cs typeface="Arial"/>
              </a:rPr>
              <a:t>SPORTS  •  EDUCATION  •  WORKFORCE</a:t>
            </a:r>
          </a:p>
        </p:txBody>
      </p:sp>
      <p:sp>
        <p:nvSpPr>
          <p:cNvPr id="15" name="youth-label">
            <a:extLst xmlns:a="http://schemas.openxmlformats.org/drawingml/2006/main">
              <a:ext uri="{FF2B5EF4-FFF2-40B4-BE49-F238E27FC236}">
                <a16:creationId xmlns:a16="http://schemas.microsoft.com/office/drawing/2014/main" id="{A7A169BE-11FB-414C-A981-526E678F5B09}"/>
              </a:ext>
            </a:extLst>
          </p:cNvPr>
          <p:cNvSpPr>
            <a:spLocks xmlns:a="http://schemas.openxmlformats.org/drawingml/2006/main" noGrp="1"/>
          </p:cNvSpPr>
          <p:nvPr/>
        </p:nvSpPr>
        <p:spPr>
          <a:xfrm xmlns:a="http://schemas.openxmlformats.org/drawingml/2006/main">
            <a:off x="1466850" y="2752725"/>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9B72FF"/>
                </a:solidFill>
                <a:latin typeface="Arial"/>
                <a:ea typeface="Arial"/>
                <a:cs typeface="Arial"/>
              </a:defRPr>
            </a:pPr>
            <a:r>
              <a:rPr sz="1200" b="1" i="0">
                <a:solidFill>
                  <a:srgbClr val="9B72FF"/>
                </a:solidFill>
                <a:latin typeface="Arial"/>
                <a:ea typeface="Arial"/>
                <a:cs typeface="Arial"/>
              </a:rPr>
              <a:t>YOUTH + AMATEUR ATHLETICS</a:t>
            </a:r>
          </a:p>
        </p:txBody>
      </p:sp>
      <p:sp>
        <p:nvSpPr>
          <p:cNvPr id="16" name="college-label">
            <a:extLst xmlns:a="http://schemas.openxmlformats.org/drawingml/2006/main">
              <a:ext uri="{FF2B5EF4-FFF2-40B4-BE49-F238E27FC236}">
                <a16:creationId xmlns:a16="http://schemas.microsoft.com/office/drawing/2014/main" id="{638B78D4-CE4D-4995-83BA-F6088A4BFA46}"/>
              </a:ext>
            </a:extLst>
          </p:cNvPr>
          <p:cNvSpPr>
            <a:spLocks xmlns:a="http://schemas.openxmlformats.org/drawingml/2006/main" noGrp="1"/>
          </p:cNvSpPr>
          <p:nvPr/>
        </p:nvSpPr>
        <p:spPr>
          <a:xfrm xmlns:a="http://schemas.openxmlformats.org/drawingml/2006/main">
            <a:off x="1971675" y="3581400"/>
            <a:ext cx="1924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C8FF00"/>
                </a:solidFill>
                <a:latin typeface="Arial"/>
                <a:ea typeface="Arial"/>
                <a:cs typeface="Arial"/>
              </a:defRPr>
            </a:pPr>
            <a:r>
              <a:rPr sz="1200" b="1" i="0">
                <a:solidFill>
                  <a:srgbClr val="C8FF00"/>
                </a:solidFill>
                <a:latin typeface="Arial"/>
                <a:ea typeface="Arial"/>
                <a:cs typeface="Arial"/>
              </a:rPr>
              <a:t>COLLEGE ATHLETICS</a:t>
            </a:r>
          </a:p>
        </p:txBody>
      </p:sp>
      <p:sp>
        <p:nvSpPr>
          <p:cNvPr id="17" name="ncaa-label">
            <a:extLst xmlns:a="http://schemas.openxmlformats.org/drawingml/2006/main">
              <a:ext uri="{FF2B5EF4-FFF2-40B4-BE49-F238E27FC236}">
                <a16:creationId xmlns:a16="http://schemas.microsoft.com/office/drawing/2014/main" id="{7EF9CB43-B4E1-4C89-9DC3-6533C433D55C}"/>
              </a:ext>
            </a:extLst>
          </p:cNvPr>
          <p:cNvSpPr>
            <a:spLocks xmlns:a="http://schemas.openxmlformats.org/drawingml/2006/main" noGrp="1"/>
          </p:cNvSpPr>
          <p:nvPr/>
        </p:nvSpPr>
        <p:spPr>
          <a:xfrm xmlns:a="http://schemas.openxmlformats.org/drawingml/2006/main">
            <a:off x="2486025" y="4495800"/>
            <a:ext cx="895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i="0">
                <a:solidFill>
                  <a:srgbClr val="070A0B"/>
                </a:solidFill>
                <a:latin typeface="Arial"/>
                <a:ea typeface="Arial"/>
                <a:cs typeface="Arial"/>
              </a:defRPr>
            </a:pPr>
            <a:r>
              <a:rPr sz="1725" b="1" i="0">
                <a:solidFill>
                  <a:srgbClr val="070A0B"/>
                </a:solidFill>
                <a:latin typeface="Arial"/>
                <a:ea typeface="Arial"/>
                <a:cs typeface="Arial"/>
              </a:rPr>
              <a:t>NCAA</a:t>
            </a:r>
          </a:p>
        </p:txBody>
      </p:sp>
      <p:sp>
        <p:nvSpPr>
          <p:cNvPr id="18" name="vertical-divider">
            <a:extLst xmlns:a="http://schemas.openxmlformats.org/drawingml/2006/main">
              <a:ext uri="{FF2B5EF4-FFF2-40B4-BE49-F238E27FC236}">
                <a16:creationId xmlns:a16="http://schemas.microsoft.com/office/drawing/2014/main" id="{E0F2B61F-F028-4E9F-A24E-C2E1787A2BB8}"/>
              </a:ext>
            </a:extLst>
          </p:cNvPr>
          <p:cNvSpPr>
            <a:spLocks xmlns:a="http://schemas.openxmlformats.org/drawingml/2006/main" noGrp="1"/>
          </p:cNvSpPr>
          <p:nvPr/>
        </p:nvSpPr>
        <p:spPr>
          <a:xfrm xmlns:a="http://schemas.openxmlformats.org/drawingml/2006/main">
            <a:off x="5953125" y="2200275"/>
            <a:ext cx="0" cy="3971925"/>
          </a:xfrm>
          <a:prstGeom xmlns:a="http://schemas.openxmlformats.org/drawingml/2006/main" prst="line">
            <a:avLst/>
          </a:prstGeom>
          <a:noFill xmlns:a="http://schemas.openxmlformats.org/drawingml/2006/main"/>
          <a:ln xmlns:a="http://schemas.openxmlformats.org/drawingml/2006/main" w="9525">
            <a:solidFill>
              <a:srgbClr val="30363B"/>
            </a:solidFill>
            <a:prstDash val="solid"/>
          </a:ln>
        </p:spPr>
      </p:sp>
      <p:sp>
        <p:nvSpPr>
          <p:cNvPr id="19" name="engine-heading">
            <a:extLst xmlns:a="http://schemas.openxmlformats.org/drawingml/2006/main">
              <a:ext uri="{FF2B5EF4-FFF2-40B4-BE49-F238E27FC236}">
                <a16:creationId xmlns:a16="http://schemas.microsoft.com/office/drawing/2014/main" id="{F5A5D413-E55F-4085-A6B5-B8BDB8EE3867}"/>
              </a:ext>
            </a:extLst>
          </p:cNvPr>
          <p:cNvSpPr>
            <a:spLocks xmlns:a="http://schemas.openxmlformats.org/drawingml/2006/main" noGrp="1"/>
          </p:cNvSpPr>
          <p:nvPr/>
        </p:nvSpPr>
        <p:spPr>
          <a:xfrm xmlns:a="http://schemas.openxmlformats.org/drawingml/2006/main">
            <a:off x="6391275" y="2314575"/>
            <a:ext cx="4667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i="0">
                <a:solidFill>
                  <a:srgbClr val="F5F5F2"/>
                </a:solidFill>
                <a:latin typeface="Arial"/>
                <a:ea typeface="Arial"/>
                <a:cs typeface="Arial"/>
              </a:defRPr>
            </a:pPr>
            <a:r>
              <a:rPr sz="2175" b="1" i="0">
                <a:solidFill>
                  <a:srgbClr val="F5F5F2"/>
                </a:solidFill>
                <a:latin typeface="Arial"/>
                <a:ea typeface="Arial"/>
                <a:cs typeface="Arial"/>
              </a:rPr>
              <a:t>Three acquisition engines</a:t>
            </a:r>
          </a:p>
        </p:txBody>
      </p:sp>
      <p:sp>
        <p:nvSpPr>
          <p:cNvPr id="20" name="engine-1-number">
            <a:extLst xmlns:a="http://schemas.openxmlformats.org/drawingml/2006/main">
              <a:ext uri="{FF2B5EF4-FFF2-40B4-BE49-F238E27FC236}">
                <a16:creationId xmlns:a16="http://schemas.microsoft.com/office/drawing/2014/main" id="{EC7BCCE3-6CEA-40F7-B3DD-CC79C844538C}"/>
              </a:ext>
            </a:extLst>
          </p:cNvPr>
          <p:cNvSpPr>
            <a:spLocks xmlns:a="http://schemas.openxmlformats.org/drawingml/2006/main" noGrp="1"/>
          </p:cNvSpPr>
          <p:nvPr/>
        </p:nvSpPr>
        <p:spPr>
          <a:xfrm xmlns:a="http://schemas.openxmlformats.org/drawingml/2006/main">
            <a:off x="6391275" y="3133725"/>
            <a:ext cx="52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C8FF00"/>
                </a:solidFill>
                <a:latin typeface="Arial"/>
                <a:ea typeface="Arial"/>
                <a:cs typeface="Arial"/>
              </a:defRPr>
            </a:pPr>
            <a:r>
              <a:rPr sz="2100" b="1" i="0">
                <a:solidFill>
                  <a:srgbClr val="C8FF00"/>
                </a:solidFill>
                <a:latin typeface="Arial"/>
                <a:ea typeface="Arial"/>
                <a:cs typeface="Arial"/>
              </a:rPr>
              <a:t>01</a:t>
            </a:r>
          </a:p>
        </p:txBody>
      </p:sp>
      <p:sp>
        <p:nvSpPr>
          <p:cNvPr id="21" name="engine-1-headline">
            <a:extLst xmlns:a="http://schemas.openxmlformats.org/drawingml/2006/main">
              <a:ext uri="{FF2B5EF4-FFF2-40B4-BE49-F238E27FC236}">
                <a16:creationId xmlns:a16="http://schemas.microsoft.com/office/drawing/2014/main" id="{F1F2A235-223C-483A-B862-F68D7F3A461D}"/>
              </a:ext>
            </a:extLst>
          </p:cNvPr>
          <p:cNvSpPr>
            <a:spLocks xmlns:a="http://schemas.openxmlformats.org/drawingml/2006/main" noGrp="1"/>
          </p:cNvSpPr>
          <p:nvPr/>
        </p:nvSpPr>
        <p:spPr>
          <a:xfrm xmlns:a="http://schemas.openxmlformats.org/drawingml/2006/main">
            <a:off x="7115175" y="3143250"/>
            <a:ext cx="4152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F5F5F2"/>
                </a:solidFill>
                <a:latin typeface="Arial"/>
                <a:ea typeface="Arial"/>
                <a:cs typeface="Arial"/>
              </a:defRPr>
            </a:pPr>
            <a:r>
              <a:rPr sz="1650" b="1" i="0">
                <a:solidFill>
                  <a:srgbClr val="F5F5F2"/>
                </a:solidFill>
                <a:latin typeface="Arial"/>
                <a:ea typeface="Arial"/>
                <a:cs typeface="Arial"/>
              </a:rPr>
              <a:t>Athletic Mind Council + Network</a:t>
            </a:r>
          </a:p>
        </p:txBody>
      </p:sp>
      <p:sp>
        <p:nvSpPr>
          <p:cNvPr id="22" name="engine-1-body">
            <a:extLst xmlns:a="http://schemas.openxmlformats.org/drawingml/2006/main">
              <a:ext uri="{FF2B5EF4-FFF2-40B4-BE49-F238E27FC236}">
                <a16:creationId xmlns:a16="http://schemas.microsoft.com/office/drawing/2014/main" id="{F0A34AC0-C39E-44F7-BBEA-30C6751B53BE}"/>
              </a:ext>
            </a:extLst>
          </p:cNvPr>
          <p:cNvSpPr>
            <a:spLocks xmlns:a="http://schemas.openxmlformats.org/drawingml/2006/main" noGrp="1"/>
          </p:cNvSpPr>
          <p:nvPr/>
        </p:nvSpPr>
        <p:spPr>
          <a:xfrm xmlns:a="http://schemas.openxmlformats.org/drawingml/2006/main">
            <a:off x="7115175" y="3495675"/>
            <a:ext cx="4152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890"/>
          </a:bodyPr>
          <a:lstStyle xmlns:a="http://schemas.openxmlformats.org/drawingml/2006/main"/>
          <a:p xmlns:a="http://schemas.openxmlformats.org/drawingml/2006/main">
            <a:pPr algn="l">
              <a:defRPr sz="1125" b="0" i="0">
                <a:solidFill>
                  <a:srgbClr val="9FA4AD"/>
                </a:solidFill>
                <a:latin typeface="Arial"/>
                <a:ea typeface="Arial"/>
                <a:cs typeface="Arial"/>
              </a:defRPr>
            </a:pPr>
            <a:r>
              <a:rPr sz="1125" b="0" i="0">
                <a:solidFill>
                  <a:srgbClr val="9FA4AD"/>
                </a:solidFill>
                <a:latin typeface="Arial"/>
                <a:ea typeface="Arial"/>
                <a:cs typeface="Arial"/>
              </a:rPr>
              <a:t>Olympic gold medalists, former professional athletes, clinicians, coaches and sport-governing-body leaders create warm access and credibility.</a:t>
            </a:r>
          </a:p>
        </p:txBody>
      </p:sp>
      <p:sp>
        <p:nvSpPr>
          <p:cNvPr id="23" name="engine-rule-1">
            <a:extLst xmlns:a="http://schemas.openxmlformats.org/drawingml/2006/main">
              <a:ext uri="{FF2B5EF4-FFF2-40B4-BE49-F238E27FC236}">
                <a16:creationId xmlns:a16="http://schemas.microsoft.com/office/drawing/2014/main" id="{E85E477C-B5F2-4091-8706-11FE5A17AA62}"/>
              </a:ext>
            </a:extLst>
          </p:cNvPr>
          <p:cNvSpPr>
            <a:spLocks xmlns:a="http://schemas.openxmlformats.org/drawingml/2006/main" noGrp="1"/>
          </p:cNvSpPr>
          <p:nvPr/>
        </p:nvSpPr>
        <p:spPr>
          <a:xfrm xmlns:a="http://schemas.openxmlformats.org/drawingml/2006/main">
            <a:off x="6391275" y="4057650"/>
            <a:ext cx="4876800" cy="0"/>
          </a:xfrm>
          <a:prstGeom xmlns:a="http://schemas.openxmlformats.org/drawingml/2006/main" prst="line">
            <a:avLst/>
          </a:prstGeom>
          <a:noFill xmlns:a="http://schemas.openxmlformats.org/drawingml/2006/main"/>
          <a:ln xmlns:a="http://schemas.openxmlformats.org/drawingml/2006/main" w="9525">
            <a:solidFill>
              <a:srgbClr val="30363B"/>
            </a:solidFill>
            <a:prstDash val="solid"/>
          </a:ln>
        </p:spPr>
      </p:sp>
      <p:sp>
        <p:nvSpPr>
          <p:cNvPr id="24" name="engine-2-number">
            <a:extLst xmlns:a="http://schemas.openxmlformats.org/drawingml/2006/main">
              <a:ext uri="{FF2B5EF4-FFF2-40B4-BE49-F238E27FC236}">
                <a16:creationId xmlns:a16="http://schemas.microsoft.com/office/drawing/2014/main" id="{038ED244-A326-4273-8A96-D4504AE260ED}"/>
              </a:ext>
            </a:extLst>
          </p:cNvPr>
          <p:cNvSpPr>
            <a:spLocks xmlns:a="http://schemas.openxmlformats.org/drawingml/2006/main" noGrp="1"/>
          </p:cNvSpPr>
          <p:nvPr/>
        </p:nvSpPr>
        <p:spPr>
          <a:xfrm xmlns:a="http://schemas.openxmlformats.org/drawingml/2006/main">
            <a:off x="6391275" y="4286250"/>
            <a:ext cx="52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C8FF00"/>
                </a:solidFill>
                <a:latin typeface="Arial"/>
                <a:ea typeface="Arial"/>
                <a:cs typeface="Arial"/>
              </a:defRPr>
            </a:pPr>
            <a:r>
              <a:rPr sz="2100" b="1" i="0">
                <a:solidFill>
                  <a:srgbClr val="C8FF00"/>
                </a:solidFill>
                <a:latin typeface="Arial"/>
                <a:ea typeface="Arial"/>
                <a:cs typeface="Arial"/>
              </a:rPr>
              <a:t>02</a:t>
            </a:r>
          </a:p>
        </p:txBody>
      </p:sp>
      <p:sp>
        <p:nvSpPr>
          <p:cNvPr id="25" name="engine-2-headline">
            <a:extLst xmlns:a="http://schemas.openxmlformats.org/drawingml/2006/main">
              <a:ext uri="{FF2B5EF4-FFF2-40B4-BE49-F238E27FC236}">
                <a16:creationId xmlns:a16="http://schemas.microsoft.com/office/drawing/2014/main" id="{E52C6990-5A07-4A50-8874-D2C26FA7AF99}"/>
              </a:ext>
            </a:extLst>
          </p:cNvPr>
          <p:cNvSpPr>
            <a:spLocks xmlns:a="http://schemas.openxmlformats.org/drawingml/2006/main" noGrp="1"/>
          </p:cNvSpPr>
          <p:nvPr/>
        </p:nvSpPr>
        <p:spPr>
          <a:xfrm xmlns:a="http://schemas.openxmlformats.org/drawingml/2006/main">
            <a:off x="7115175" y="4295775"/>
            <a:ext cx="4152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F5F5F2"/>
                </a:solidFill>
                <a:latin typeface="Arial"/>
                <a:ea typeface="Arial"/>
                <a:cs typeface="Arial"/>
              </a:defRPr>
            </a:pPr>
            <a:r>
              <a:rPr sz="1650" b="1" i="0">
                <a:solidFill>
                  <a:srgbClr val="F5F5F2"/>
                </a:solidFill>
                <a:latin typeface="Arial"/>
                <a:ea typeface="Arial"/>
                <a:cs typeface="Arial"/>
              </a:rPr>
              <a:t>Athletic Director Conferences</a:t>
            </a:r>
          </a:p>
        </p:txBody>
      </p:sp>
      <p:sp>
        <p:nvSpPr>
          <p:cNvPr id="26" name="engine-2-body">
            <a:extLst xmlns:a="http://schemas.openxmlformats.org/drawingml/2006/main">
              <a:ext uri="{FF2B5EF4-FFF2-40B4-BE49-F238E27FC236}">
                <a16:creationId xmlns:a16="http://schemas.microsoft.com/office/drawing/2014/main" id="{912605EC-AA5E-4AE3-B43D-CD3325C83FEC}"/>
              </a:ext>
            </a:extLst>
          </p:cNvPr>
          <p:cNvSpPr>
            <a:spLocks xmlns:a="http://schemas.openxmlformats.org/drawingml/2006/main" noGrp="1"/>
          </p:cNvSpPr>
          <p:nvPr/>
        </p:nvSpPr>
        <p:spPr>
          <a:xfrm xmlns:a="http://schemas.openxmlformats.org/drawingml/2006/main">
            <a:off x="7115175" y="4648200"/>
            <a:ext cx="41529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9FA4AD"/>
                </a:solidFill>
                <a:latin typeface="Arial"/>
                <a:ea typeface="Arial"/>
                <a:cs typeface="Arial"/>
              </a:defRPr>
            </a:pPr>
            <a:r>
              <a:rPr sz="1125" b="0" i="0">
                <a:solidFill>
                  <a:srgbClr val="9FA4AD"/>
                </a:solidFill>
                <a:latin typeface="Arial"/>
                <a:ea typeface="Arial"/>
                <a:cs typeface="Arial"/>
              </a:rPr>
              <a:t>NACDA &amp; Affiliates Convention  •  NCAA Convention</a:t>
            </a:r>
          </a:p>
          <a:p xmlns:a="http://schemas.openxmlformats.org/drawingml/2006/main">
            <a:pPr algn="l">
              <a:defRPr sz="1125" b="0" i="0">
                <a:solidFill>
                  <a:srgbClr val="9FA4AD"/>
                </a:solidFill>
                <a:latin typeface="Arial"/>
                <a:ea typeface="Arial"/>
                <a:cs typeface="Arial"/>
              </a:defRPr>
            </a:pPr>
            <a:r>
              <a:rPr sz="1125" b="0" i="0">
                <a:solidFill>
                  <a:srgbClr val="9FA4AD"/>
                </a:solidFill>
                <a:latin typeface="Arial"/>
                <a:ea typeface="Arial"/>
                <a:cs typeface="Arial"/>
              </a:rPr>
              <a:t>NIAAA/NFHS National Athletic Directors Conference</a:t>
            </a:r>
          </a:p>
        </p:txBody>
      </p:sp>
      <p:sp>
        <p:nvSpPr>
          <p:cNvPr id="27" name="engine-rule-2">
            <a:extLst xmlns:a="http://schemas.openxmlformats.org/drawingml/2006/main">
              <a:ext uri="{FF2B5EF4-FFF2-40B4-BE49-F238E27FC236}">
                <a16:creationId xmlns:a16="http://schemas.microsoft.com/office/drawing/2014/main" id="{50D71503-5650-44D7-8099-2AADDB4D1744}"/>
              </a:ext>
            </a:extLst>
          </p:cNvPr>
          <p:cNvSpPr>
            <a:spLocks xmlns:a="http://schemas.openxmlformats.org/drawingml/2006/main" noGrp="1"/>
          </p:cNvSpPr>
          <p:nvPr/>
        </p:nvSpPr>
        <p:spPr>
          <a:xfrm xmlns:a="http://schemas.openxmlformats.org/drawingml/2006/main">
            <a:off x="6391275" y="5210175"/>
            <a:ext cx="4876800" cy="0"/>
          </a:xfrm>
          <a:prstGeom xmlns:a="http://schemas.openxmlformats.org/drawingml/2006/main" prst="line">
            <a:avLst/>
          </a:prstGeom>
          <a:noFill xmlns:a="http://schemas.openxmlformats.org/drawingml/2006/main"/>
          <a:ln xmlns:a="http://schemas.openxmlformats.org/drawingml/2006/main" w="9525">
            <a:solidFill>
              <a:srgbClr val="30363B"/>
            </a:solidFill>
            <a:prstDash val="solid"/>
          </a:ln>
        </p:spPr>
      </p:sp>
      <p:sp>
        <p:nvSpPr>
          <p:cNvPr id="28" name="engine-3-number">
            <a:extLst xmlns:a="http://schemas.openxmlformats.org/drawingml/2006/main">
              <a:ext uri="{FF2B5EF4-FFF2-40B4-BE49-F238E27FC236}">
                <a16:creationId xmlns:a16="http://schemas.microsoft.com/office/drawing/2014/main" id="{37E6447D-3FDA-42B9-A70D-FEA409C98B98}"/>
              </a:ext>
            </a:extLst>
          </p:cNvPr>
          <p:cNvSpPr>
            <a:spLocks xmlns:a="http://schemas.openxmlformats.org/drawingml/2006/main" noGrp="1"/>
          </p:cNvSpPr>
          <p:nvPr/>
        </p:nvSpPr>
        <p:spPr>
          <a:xfrm xmlns:a="http://schemas.openxmlformats.org/drawingml/2006/main">
            <a:off x="6391275" y="5419725"/>
            <a:ext cx="52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C8FF00"/>
                </a:solidFill>
                <a:latin typeface="Arial"/>
                <a:ea typeface="Arial"/>
                <a:cs typeface="Arial"/>
              </a:defRPr>
            </a:pPr>
            <a:r>
              <a:rPr sz="2100" b="1" i="0">
                <a:solidFill>
                  <a:srgbClr val="C8FF00"/>
                </a:solidFill>
                <a:latin typeface="Arial"/>
                <a:ea typeface="Arial"/>
                <a:cs typeface="Arial"/>
              </a:rPr>
              <a:t>03</a:t>
            </a:r>
          </a:p>
        </p:txBody>
      </p:sp>
      <p:sp>
        <p:nvSpPr>
          <p:cNvPr id="29" name="engine-3-headline">
            <a:extLst xmlns:a="http://schemas.openxmlformats.org/drawingml/2006/main">
              <a:ext uri="{FF2B5EF4-FFF2-40B4-BE49-F238E27FC236}">
                <a16:creationId xmlns:a16="http://schemas.microsoft.com/office/drawing/2014/main" id="{CC976E89-1D1C-40BF-931C-DF48F9492214}"/>
              </a:ext>
            </a:extLst>
          </p:cNvPr>
          <p:cNvSpPr>
            <a:spLocks xmlns:a="http://schemas.openxmlformats.org/drawingml/2006/main" noGrp="1"/>
          </p:cNvSpPr>
          <p:nvPr/>
        </p:nvSpPr>
        <p:spPr>
          <a:xfrm xmlns:a="http://schemas.openxmlformats.org/drawingml/2006/main">
            <a:off x="7115175" y="5429250"/>
            <a:ext cx="4152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F5F5F2"/>
                </a:solidFill>
                <a:latin typeface="Arial"/>
                <a:ea typeface="Arial"/>
                <a:cs typeface="Arial"/>
              </a:defRPr>
            </a:pPr>
            <a:r>
              <a:rPr sz="1650" b="1" i="0">
                <a:solidFill>
                  <a:srgbClr val="F5F5F2"/>
                </a:solidFill>
                <a:latin typeface="Arial"/>
                <a:ea typeface="Arial"/>
                <a:cs typeface="Arial"/>
              </a:rPr>
              <a:t>Elite Youth Sporting Events</a:t>
            </a:r>
          </a:p>
        </p:txBody>
      </p:sp>
      <p:sp>
        <p:nvSpPr>
          <p:cNvPr id="30" name="engine-3-body">
            <a:extLst xmlns:a="http://schemas.openxmlformats.org/drawingml/2006/main">
              <a:ext uri="{FF2B5EF4-FFF2-40B4-BE49-F238E27FC236}">
                <a16:creationId xmlns:a16="http://schemas.microsoft.com/office/drawing/2014/main" id="{B52A091E-E992-44BF-B3BB-0BBF05F189F6}"/>
              </a:ext>
            </a:extLst>
          </p:cNvPr>
          <p:cNvSpPr>
            <a:spLocks xmlns:a="http://schemas.openxmlformats.org/drawingml/2006/main" noGrp="1"/>
          </p:cNvSpPr>
          <p:nvPr/>
        </p:nvSpPr>
        <p:spPr>
          <a:xfrm xmlns:a="http://schemas.openxmlformats.org/drawingml/2006/main">
            <a:off x="7115175" y="5781675"/>
            <a:ext cx="41529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710"/>
          </a:bodyPr>
          <a:lstStyle xmlns:a="http://schemas.openxmlformats.org/drawingml/2006/main"/>
          <a:p xmlns:a="http://schemas.openxmlformats.org/drawingml/2006/main">
            <a:pPr algn="l">
              <a:defRPr sz="1125" b="0" i="0">
                <a:solidFill>
                  <a:srgbClr val="9FA4AD"/>
                </a:solidFill>
                <a:latin typeface="Arial"/>
                <a:ea typeface="Arial"/>
                <a:cs typeface="Arial"/>
              </a:defRPr>
            </a:pPr>
            <a:r>
              <a:rPr sz="1125" b="0" i="0">
                <a:solidFill>
                  <a:srgbClr val="9FA4AD"/>
                </a:solidFill>
                <a:latin typeface="Arial"/>
                <a:ea typeface="Arial"/>
                <a:cs typeface="Arial"/>
              </a:rPr>
              <a:t>AAU National Championships  •  Junior Olympic Games  •  Nike EYBL Peach Jam</a:t>
            </a:r>
          </a:p>
          <a:p xmlns:a="http://schemas.openxmlformats.org/drawingml/2006/main">
            <a:pPr algn="l">
              <a:defRPr sz="1125" b="0" i="0">
                <a:solidFill>
                  <a:srgbClr val="9FA4AD"/>
                </a:solidFill>
                <a:latin typeface="Arial"/>
                <a:ea typeface="Arial"/>
                <a:cs typeface="Arial"/>
              </a:defRPr>
            </a:pPr>
            <a:r>
              <a:rPr sz="1125" b="0" i="0">
                <a:solidFill>
                  <a:srgbClr val="9FA4AD"/>
                </a:solidFill>
                <a:latin typeface="Arial"/>
                <a:ea typeface="Arial"/>
                <a:cs typeface="Arial"/>
              </a:rPr>
              <a:t>USA Volleyball Junior Nationals  •  US Youth Soccer National Championships  •  New Balance Nationals</a:t>
            </a:r>
          </a:p>
        </p:txBody>
      </p:sp>
      <p:sp>
        <p:nvSpPr>
          <p:cNvPr id="31" name="market-entry-footer">
            <a:extLst xmlns:a="http://schemas.openxmlformats.org/drawingml/2006/main">
              <a:ext uri="{FF2B5EF4-FFF2-40B4-BE49-F238E27FC236}">
                <a16:creationId xmlns:a16="http://schemas.microsoft.com/office/drawing/2014/main" id="{D0E5580F-5E1A-490B-B39A-B729A8D82E21}"/>
              </a:ext>
            </a:extLst>
          </p:cNvPr>
          <p:cNvSpPr>
            <a:spLocks xmlns:a="http://schemas.openxmlformats.org/drawingml/2006/main" noGrp="1"/>
          </p:cNvSpPr>
          <p:nvPr/>
        </p:nvSpPr>
        <p:spPr>
          <a:xfrm xmlns:a="http://schemas.openxmlformats.org/drawingml/2006/main">
            <a:off x="3038475" y="6553200"/>
            <a:ext cx="861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C8FF00"/>
                </a:solidFill>
                <a:latin typeface="Arial"/>
                <a:ea typeface="Arial"/>
                <a:cs typeface="Arial"/>
              </a:defRPr>
            </a:pPr>
            <a:r>
              <a:rPr sz="975" b="1" i="0">
                <a:solidFill>
                  <a:srgbClr val="C8FF00"/>
                </a:solidFill>
                <a:latin typeface="Arial"/>
                <a:ea typeface="Arial"/>
                <a:cs typeface="Arial"/>
              </a:rPr>
              <a:t>LAND IN COLLEGE  •  PROVE OUTCOMES  •  EXPAND INTO YOUTH  •  SCALE ACROSS THE ECOSYSTEM</a:t>
            </a:r>
          </a:p>
        </p:txBody>
      </p:sp>
    </p:spTree>
    <p:extLst>
      <p:ext uri="{BB962C8B-B14F-4D97-AF65-F5344CB8AC3E}">
        <p14:creationId xmlns:p14="http://schemas.microsoft.com/office/powerpoint/2010/main" val="18237060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2026-07-28T12:53:13.5870000Z</dcterms:created>
  <dcterms:modified xsi:type="dcterms:W3CDTF">2026-07-28T12:53:13.5870000Z</dcterms:modified>
</coreProperties>
</file>