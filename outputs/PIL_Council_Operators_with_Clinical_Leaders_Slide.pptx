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66916e1ea741fd" /><Relationship Type="http://schemas.openxmlformats.org/officeDocument/2006/relationships/extended-properties" Target="/docProps/app.xml" Id="Re663f622988f4b08" /><Relationship Type="http://schemas.openxmlformats.org/officeDocument/2006/relationships/officeDocument" Target="/ppt/presentation.xml" Id="R7d6b61ba44cc4f16" /></Relationships>
</file>

<file path=ppt/presentation.xml><?xml version="1.0" encoding="utf-8"?>
<p:presentation xmlns:p="http://schemas.openxmlformats.org/presentationml/2006/main">
  <p:sldMasterIdLst>
    <p:sldMasterId xmlns:r="http://schemas.openxmlformats.org/officeDocument/2006/relationships" id="2147483648" r:id="Rcc2cdba5918c4357"/>
  </p:sldMasterIdLst>
  <p:notesMasterIdLst>
    <p:notesMasterId xmlns:r="http://schemas.openxmlformats.org/officeDocument/2006/relationships" r:id="R79b1f6a08c7a45e7"/>
  </p:notesMasterIdLst>
  <p:sldIdLst>
    <p:sldId xmlns:r="http://schemas.openxmlformats.org/officeDocument/2006/relationships" id="256" r:id="R24c3b6e8e64c47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0832dcfbad4e2c" /><Relationship Type="http://schemas.openxmlformats.org/officeDocument/2006/relationships/slideMaster" Target="/ppt/slideMasters/slideMaster1.xml" Id="Rcc2cdba5918c4357" /><Relationship Type="http://schemas.openxmlformats.org/officeDocument/2006/relationships/notesMaster" Target="/ppt/notesMasters/notesMaster1.xml" Id="R79b1f6a08c7a45e7" /><Relationship Type="http://schemas.openxmlformats.org/officeDocument/2006/relationships/presProps" Target="/ppt/presProps.xml" Id="R369b71d8ad144e9d" /><Relationship Type="http://schemas.openxmlformats.org/officeDocument/2006/relationships/tableStyles" Target="/ppt/tableStyles.xml" Id="Rfbf8166f28354311" /><Relationship Type="http://schemas.openxmlformats.org/officeDocument/2006/relationships/slide" Target="/ppt/slides/slide1.xml" Id="R24c3b6e8e64c47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eefb913764a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302b1d7e7d4408" /><Relationship Type="http://schemas.openxmlformats.org/officeDocument/2006/relationships/notesMaster" Target="/ppt/notesMasters/notesMaster1.xml" Id="R443bb2c3ba4447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council’s operating reach now includes sports medicine and campus clinical workflow. Dr. Jeremy Burnham brings orthopedic sports medicine leadership, research and athlete perspective. Dr. Malkia Johnson brings UMES campus counseling leadership and East Coast clinical-director coordination through AuntEDNA.</a:t>
            </a:r>
          </a:p>
          <a:p xmlns:a="http://schemas.openxmlformats.org/drawingml/2006/main">
            <a:r>
              <a:t/>
            </a:r>
          </a:p>
          <a:p xmlns:a="http://schemas.openxmlformats.org/drawingml/2006/main">
            <a:r>
              <a:t>Dr. Burnham is not presented as LSU’s current head team physician. Public sources support that he is a former LSU football player, Ochsner Baton Rouge Medical Director of Sports Medicine, a dual board-certified orthopedic surgeon, and a clinical-trials investigator. Dr. Johnson’s UMES title is Director of Counseling Services; the East Coast Clinical Directors Council role comes from council/company-provided materials.</a:t>
            </a:r>
          </a:p>
          <a:p xmlns:a="http://schemas.openxmlformats.org/drawingml/2006/main">
            <a:r>
              <a:t/>
            </a:r>
          </a:p>
          <a:p xmlns:a="http://schemas.openxmlformats.org/drawingml/2006/main">
            <a:r>
              <a:t>[Sources]</a:t>
            </a:r>
          </a:p>
          <a:p xmlns:a="http://schemas.openxmlformats.org/drawingml/2006/main">
            <a:r>
              <a:t>- https://www.ochsner.org/doctors/jeremy-burnham/</a:t>
            </a:r>
          </a:p>
          <a:p xmlns:a="http://schemas.openxmlformats.org/drawingml/2006/main">
            <a:r>
              <a:t>- https://www.ochsner.org/services/sports-medicine-baton-rouge/</a:t>
            </a:r>
          </a:p>
          <a:p xmlns:a="http://schemas.openxmlformats.org/drawingml/2006/main">
            <a:r>
              <a:t>- https://lsusports.net/sports/fb/roster/player/jeremy-burnham/</a:t>
            </a:r>
          </a:p>
          <a:p xmlns:a="http://schemas.openxmlformats.org/drawingml/2006/main">
            <a:r>
              <a:t>- https://www.sportsmed.org/research/sports-medicine-research-grants/playmaker-grant-lab</a:t>
            </a:r>
          </a:p>
          <a:p xmlns:a="http://schemas.openxmlformats.org/drawingml/2006/main">
            <a:r>
              <a:t>- https://wwwcp.umes.edu/student/emse-leadership-team/</a:t>
            </a:r>
          </a:p>
          <a:p xmlns:a="http://schemas.openxmlformats.org/drawingml/2006/main">
            <a:r>
              <a:t>- /Users/tremainegrant/Documents/GitHub/QuickLifts-Web/src/pages/PIL/TheAthleticMindCouncil.tsx</a:t>
            </a:r>
          </a:p>
          <a:p xmlns:a="http://schemas.openxmlformats.org/drawingml/2006/main">
            <a:r>
              <a:t>- https://www.hyperchargehealth.com/tram-holloway</a:t>
            </a:r>
          </a:p>
          <a:p xmlns:a="http://schemas.openxmlformats.org/drawingml/2006/main">
            <a:r>
              <a:t>- User-provided slide screenshot for Jill Geer, Amber Camp, Talia Mark and Tram Holloway portraits and existing biography copy.</a:t>
            </a:r>
          </a:p>
          <a:p xmlns:a="http://schemas.openxmlformats.org/drawingml/2006/main">
            <a:r>
              <a:t>- https://www.sportsmed.org/uploads/main/images/general/06-Headshots/_square/Burnham-Jeremy.jpg</a:t>
            </a:r>
          </a:p>
          <a:p xmlns:a="http://schemas.openxmlformats.org/drawingml/2006/main">
            <a:r>
              <a:t>- /Users/tremainegrant/Documents/GitHub/QuickLifts-Web/public/malkia-advisor.png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9e1eb362d34b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39f3fdeff34429" /><Relationship Type="http://schemas.openxmlformats.org/officeDocument/2006/relationships/slideLayout" Target="/ppt/slideLayouts/slideLayout1.xml" Id="Raaa8b997eabe46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a8b997eabe46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19924cd6754cca" /><Relationship Type="http://schemas.openxmlformats.org/officeDocument/2006/relationships/image" Target="/ppt/media/image.png" Id="R6a2376e260b3468f" /><Relationship Type="http://schemas.openxmlformats.org/officeDocument/2006/relationships/image" Target="/ppt/media/image2.png" Id="R022f35eb9edf431e" /><Relationship Type="http://schemas.openxmlformats.org/officeDocument/2006/relationships/image" Target="/ppt/media/image3.png" Id="R2f29c992e4ae4eda" /><Relationship Type="http://schemas.openxmlformats.org/officeDocument/2006/relationships/image" Target="/ppt/media/image4.png" Id="R53746945b38b4677" /><Relationship Type="http://schemas.openxmlformats.org/officeDocument/2006/relationships/image" Target="/ppt/media/image.jpeg" Id="R43d08b3923334ebc" /><Relationship Type="http://schemas.openxmlformats.org/officeDocument/2006/relationships/image" Target="/ppt/media/image5.png" Id="R23f72bf8ee294b58" /><Relationship Type="http://schemas.openxmlformats.org/officeDocument/2006/relationships/notesSlide" Target="/ppt/notesSlides/notesSlide1.xml" Id="Rf22822a4f1ac4b4a" /></Relationships>
</file>

<file path=ppt/slides/slide1.xml><?xml version="1.0" encoding="utf-8"?>
<p:sld xmlns:p="http://schemas.openxmlformats.org/presentationml/2006/main">
  <p:cSld>
    <p:bg>
      <p:bgPr>
        <a:solidFill xmlns:a="http://schemas.openxmlformats.org/drawingml/2006/main">
          <a:srgbClr val="080A0C"/>
        </a:solidFill>
      </p:bgPr>
    </p:bg>
    <p:spTree>
      <p:nvGrpSpPr>
        <p:cNvPr id="1" name=""/>
        <p:cNvGrpSpPr/>
        <p:nvPr/>
      </p:nvGrpSpPr>
      <p:grpSpPr>
        <a:xfrm xmlns:a="http://schemas.openxmlformats.org/drawingml/2006/main"/>
      </p:grpSpPr>
      <p:sp>
        <p:nvSpPr>
          <p:cNvPr id="48" name="section-pill">
            <a:extLst xmlns:a="http://schemas.openxmlformats.org/drawingml/2006/main">
              <a:ext uri="{FF2B5EF4-FFF2-40B4-BE49-F238E27FC236}">
                <a16:creationId xmlns:a16="http://schemas.microsoft.com/office/drawing/2014/main" id="{4C6EFF7A-A438-4F96-B50E-6938B93A135A}"/>
              </a:ext>
            </a:extLst>
          </p:cNvPr>
          <p:cNvSpPr>
            <a:spLocks xmlns:a="http://schemas.openxmlformats.org/drawingml/2006/main" noGrp="1"/>
          </p:cNvSpPr>
          <p:nvPr/>
        </p:nvSpPr>
        <p:spPr>
          <a:xfrm xmlns:a="http://schemas.openxmlformats.org/drawingml/2006/main">
            <a:off x="533400" y="323850"/>
            <a:ext cx="2333625" cy="371475"/>
          </a:xfrm>
          <a:prstGeom xmlns:a="http://schemas.openxmlformats.org/drawingml/2006/main" prst="roundRect">
            <a:avLst>
              <a:gd name="adj" fmla="val 50000"/>
            </a:avLst>
          </a:prstGeom>
          <a:solidFill xmlns:a="http://schemas.openxmlformats.org/drawingml/2006/main">
            <a:srgbClr val="121619">
              <a:alpha val="96000"/>
            </a:srgbClr>
          </a:solidFill>
          <a:ln xmlns:a="http://schemas.openxmlformats.org/drawingml/2006/main" w="9525">
            <a:solidFill>
              <a:srgbClr val="343A40"/>
            </a:solidFill>
            <a:prstDash val="solid"/>
          </a:ln>
        </p:spPr>
      </p:sp>
      <p:sp>
        <p:nvSpPr>
          <p:cNvPr id="2" name="section-dot">
            <a:extLst xmlns:a="http://schemas.openxmlformats.org/drawingml/2006/main">
              <a:ext uri="{FF2B5EF4-FFF2-40B4-BE49-F238E27FC236}">
                <a16:creationId xmlns:a16="http://schemas.microsoft.com/office/drawing/2014/main" id="{23DD1A6D-7F86-49C3-89D2-EA78864FD221}"/>
              </a:ext>
            </a:extLst>
          </p:cNvPr>
          <p:cNvSpPr>
            <a:spLocks xmlns:a="http://schemas.openxmlformats.org/drawingml/2006/main" noGrp="1"/>
          </p:cNvSpPr>
          <p:nvPr/>
        </p:nvSpPr>
        <p:spPr>
          <a:xfrm xmlns:a="http://schemas.openxmlformats.org/drawingml/2006/main">
            <a:off x="704850" y="466725"/>
            <a:ext cx="76200" cy="76200"/>
          </a:xfrm>
          <a:prstGeom xmlns:a="http://schemas.openxmlformats.org/drawingml/2006/main" prst="ellipse">
            <a:avLst/>
          </a:prstGeom>
          <a:solidFill xmlns:a="http://schemas.openxmlformats.org/drawingml/2006/main">
            <a:srgbClr val="FF9C38"/>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72B3CABF-90CC-49E6-9381-01D34C275321}"/>
              </a:ext>
            </a:extLst>
          </p:cNvPr>
          <p:cNvSpPr>
            <a:spLocks xmlns:a="http://schemas.openxmlformats.org/drawingml/2006/main" noGrp="1"/>
          </p:cNvSpPr>
          <p:nvPr/>
        </p:nvSpPr>
        <p:spPr>
          <a:xfrm xmlns:a="http://schemas.openxmlformats.org/drawingml/2006/main">
            <a:off x="933450" y="4095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4F4F1"/>
                </a:solidFill>
                <a:latin typeface="Arial"/>
                <a:ea typeface="Arial"/>
                <a:cs typeface="Arial"/>
              </a:defRPr>
            </a:pPr>
            <a:r>
              <a:rPr sz="975" b="1" i="0">
                <a:solidFill>
                  <a:srgbClr val="F4F4F1"/>
                </a:solidFill>
                <a:latin typeface="Arial"/>
                <a:ea typeface="Arial"/>
                <a:cs typeface="Arial"/>
              </a:rPr>
              <a:t>COUNCIL OPERATORS</a:t>
            </a:r>
          </a:p>
        </p:txBody>
      </p:sp>
      <p:sp>
        <p:nvSpPr>
          <p:cNvPr id="4" name="headline">
            <a:extLst xmlns:a="http://schemas.openxmlformats.org/drawingml/2006/main">
              <a:ext uri="{FF2B5EF4-FFF2-40B4-BE49-F238E27FC236}">
                <a16:creationId xmlns:a16="http://schemas.microsoft.com/office/drawing/2014/main" id="{C3E41A2B-AA59-4507-B951-79E8B2A1203A}"/>
              </a:ext>
            </a:extLst>
          </p:cNvPr>
          <p:cNvSpPr>
            <a:spLocks xmlns:a="http://schemas.openxmlformats.org/drawingml/2006/main" noGrp="1"/>
          </p:cNvSpPr>
          <p:nvPr/>
        </p:nvSpPr>
        <p:spPr>
          <a:xfrm xmlns:a="http://schemas.openxmlformats.org/drawingml/2006/main">
            <a:off x="533400" y="9525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F4F4F1"/>
                </a:solidFill>
                <a:latin typeface="Arial"/>
                <a:ea typeface="Arial"/>
                <a:cs typeface="Arial"/>
              </a:defRPr>
            </a:pPr>
            <a:r>
              <a:rPr sz="2700" b="1" i="0">
                <a:solidFill>
                  <a:srgbClr val="F4F4F1"/>
                </a:solidFill>
                <a:latin typeface="Arial"/>
                <a:ea typeface="Arial"/>
                <a:cs typeface="Arial"/>
              </a:rPr>
              <a:t>The council brings reach, implementation, and clinical depth.</a:t>
            </a:r>
          </a:p>
        </p:txBody>
      </p:sp>
      <p:sp>
        <p:nvSpPr>
          <p:cNvPr id="5" name="subtitle">
            <a:extLst xmlns:a="http://schemas.openxmlformats.org/drawingml/2006/main">
              <a:ext uri="{FF2B5EF4-FFF2-40B4-BE49-F238E27FC236}">
                <a16:creationId xmlns:a16="http://schemas.microsoft.com/office/drawing/2014/main" id="{A0977287-F0AB-4CB1-9E3A-EC9C130582B1}"/>
              </a:ext>
            </a:extLst>
          </p:cNvPr>
          <p:cNvSpPr>
            <a:spLocks xmlns:a="http://schemas.openxmlformats.org/drawingml/2006/main" noGrp="1"/>
          </p:cNvSpPr>
          <p:nvPr/>
        </p:nvSpPr>
        <p:spPr>
          <a:xfrm xmlns:a="http://schemas.openxmlformats.org/drawingml/2006/main">
            <a:off x="533400" y="15716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ADB2BC"/>
                </a:solidFill>
                <a:latin typeface="Arial"/>
                <a:ea typeface="Arial"/>
                <a:cs typeface="Arial"/>
              </a:defRPr>
            </a:pPr>
            <a:r>
              <a:rPr sz="1350" b="0" i="0">
                <a:solidFill>
                  <a:srgbClr val="ADB2BC"/>
                </a:solidFill>
                <a:latin typeface="Arial"/>
                <a:ea typeface="Arial"/>
                <a:cs typeface="Arial"/>
              </a:rPr>
              <a:t>Operators connect communications, youth sport, technology, sports medicine, campus care, and HBCU networks to accelerate adoption.</a:t>
            </a:r>
          </a:p>
        </p:txBody>
      </p:sp>
      <p:sp>
        <p:nvSpPr>
          <p:cNvPr id="6" name="operator-1-card">
            <a:extLst xmlns:a="http://schemas.openxmlformats.org/drawingml/2006/main">
              <a:ext uri="{FF2B5EF4-FFF2-40B4-BE49-F238E27FC236}">
                <a16:creationId xmlns:a16="http://schemas.microsoft.com/office/drawing/2014/main" id="{32909DFD-5901-4F2C-9D31-9F659832CC6B}"/>
              </a:ext>
            </a:extLst>
          </p:cNvPr>
          <p:cNvSpPr>
            <a:spLocks xmlns:a="http://schemas.openxmlformats.org/drawingml/2006/main" noGrp="1"/>
          </p:cNvSpPr>
          <p:nvPr/>
        </p:nvSpPr>
        <p:spPr>
          <a:xfrm xmlns:a="http://schemas.openxmlformats.org/drawingml/2006/main">
            <a:off x="533400" y="21431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a2376e260b3468f"/>
          <a:srcRect xmlns:a="http://schemas.openxmlformats.org/drawingml/2006/main" l="0" t="0" r="0" b="0"/>
          <a:stretch xmlns:a="http://schemas.openxmlformats.org/drawingml/2006/main">
            <a:fillRect l="0" t="0" r="0" b="0"/>
          </a:stretch>
        </p:blipFill>
        <p:spPr>
          <a:xfrm xmlns:a="http://schemas.openxmlformats.org/drawingml/2006/main">
            <a:off x="723900" y="2381250"/>
            <a:ext cx="704850" cy="704850"/>
          </a:xfrm>
          <a:prstGeom xmlns:a="http://schemas.openxmlformats.org/drawingml/2006/main" prst="ellipse">
            <a:avLst/>
          </a:prstGeom>
        </p:spPr>
      </p:pic>
      <p:sp>
        <p:nvSpPr>
          <p:cNvPr id="8" name="operator-1-name">
            <a:extLst xmlns:a="http://schemas.openxmlformats.org/drawingml/2006/main">
              <a:ext uri="{FF2B5EF4-FFF2-40B4-BE49-F238E27FC236}">
                <a16:creationId xmlns:a16="http://schemas.microsoft.com/office/drawing/2014/main" id="{E8763D9F-C327-4F1D-808E-8E2D6B5079D1}"/>
              </a:ext>
            </a:extLst>
          </p:cNvPr>
          <p:cNvSpPr>
            <a:spLocks xmlns:a="http://schemas.openxmlformats.org/drawingml/2006/main" noGrp="1"/>
          </p:cNvSpPr>
          <p:nvPr/>
        </p:nvSpPr>
        <p:spPr>
          <a:xfrm xmlns:a="http://schemas.openxmlformats.org/drawingml/2006/main">
            <a:off x="1600200" y="23336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Jill Geer</a:t>
            </a:r>
          </a:p>
        </p:txBody>
      </p:sp>
      <p:sp>
        <p:nvSpPr>
          <p:cNvPr id="9" name="operator-1-lane">
            <a:extLst xmlns:a="http://schemas.openxmlformats.org/drawingml/2006/main">
              <a:ext uri="{FF2B5EF4-FFF2-40B4-BE49-F238E27FC236}">
                <a16:creationId xmlns:a16="http://schemas.microsoft.com/office/drawing/2014/main" id="{BA1B0A93-991C-47DA-BA2F-9F230017F2A7}"/>
              </a:ext>
            </a:extLst>
          </p:cNvPr>
          <p:cNvSpPr>
            <a:spLocks xmlns:a="http://schemas.openxmlformats.org/drawingml/2006/main" noGrp="1"/>
          </p:cNvSpPr>
          <p:nvPr/>
        </p:nvSpPr>
        <p:spPr>
          <a:xfrm xmlns:a="http://schemas.openxmlformats.org/drawingml/2006/main">
            <a:off x="1600200" y="26384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58D9EC"/>
                </a:solidFill>
                <a:latin typeface="Arial"/>
                <a:ea typeface="Arial"/>
                <a:cs typeface="Arial"/>
              </a:defRPr>
            </a:pPr>
            <a:r>
              <a:rPr sz="788" b="1" i="0">
                <a:solidFill>
                  <a:srgbClr val="58D9EC"/>
                </a:solidFill>
                <a:latin typeface="Arial"/>
                <a:ea typeface="Arial"/>
                <a:cs typeface="Arial"/>
              </a:rPr>
              <a:t>COMMUNICATIONS + OLYMPIC MOVEMENT</a:t>
            </a:r>
          </a:p>
        </p:txBody>
      </p:sp>
      <p:sp>
        <p:nvSpPr>
          <p:cNvPr id="10" name="operator-1-bio">
            <a:extLst xmlns:a="http://schemas.openxmlformats.org/drawingml/2006/main">
              <a:ext uri="{FF2B5EF4-FFF2-40B4-BE49-F238E27FC236}">
                <a16:creationId xmlns:a16="http://schemas.microsoft.com/office/drawing/2014/main" id="{78AF87C4-22B1-44F1-AEDA-1C3A88590900}"/>
              </a:ext>
            </a:extLst>
          </p:cNvPr>
          <p:cNvSpPr>
            <a:spLocks xmlns:a="http://schemas.openxmlformats.org/drawingml/2006/main" noGrp="1"/>
          </p:cNvSpPr>
          <p:nvPr/>
        </p:nvSpPr>
        <p:spPr>
          <a:xfrm xmlns:a="http://schemas.openxmlformats.org/drawingml/2006/main">
            <a:off x="1600200" y="29051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USA Gymnastics Chief Communications &amp; Marketing Officer; nearly 20 years across the Olympic movement.</a:t>
            </a:r>
          </a:p>
        </p:txBody>
      </p:sp>
      <p:sp>
        <p:nvSpPr>
          <p:cNvPr id="11" name="operator-1-accent">
            <a:extLst xmlns:a="http://schemas.openxmlformats.org/drawingml/2006/main">
              <a:ext uri="{FF2B5EF4-FFF2-40B4-BE49-F238E27FC236}">
                <a16:creationId xmlns:a16="http://schemas.microsoft.com/office/drawing/2014/main" id="{4FC25811-E71F-4600-90E2-A195E6A99C53}"/>
              </a:ext>
            </a:extLst>
          </p:cNvPr>
          <p:cNvSpPr>
            <a:spLocks xmlns:a="http://schemas.openxmlformats.org/drawingml/2006/main" noGrp="1"/>
          </p:cNvSpPr>
          <p:nvPr/>
        </p:nvSpPr>
        <p:spPr>
          <a:xfrm xmlns:a="http://schemas.openxmlformats.org/drawingml/2006/main">
            <a:off x="704850" y="3552825"/>
            <a:ext cx="3162300" cy="38100"/>
          </a:xfrm>
          <a:prstGeom xmlns:a="http://schemas.openxmlformats.org/drawingml/2006/main" prst="roundRect">
            <a:avLst>
              <a:gd name="adj" fmla="val 50000"/>
            </a:avLst>
          </a:prstGeom>
          <a:solidFill xmlns:a="http://schemas.openxmlformats.org/drawingml/2006/main">
            <a:srgbClr val="58D9EC"/>
          </a:solidFill>
          <a:ln xmlns:a="http://schemas.openxmlformats.org/drawingml/2006/main" w="0">
            <a:solidFill>
              <a:srgbClr val="58D9EC"/>
            </a:solidFill>
            <a:prstDash val="solid"/>
          </a:ln>
        </p:spPr>
      </p:sp>
      <p:sp>
        <p:nvSpPr>
          <p:cNvPr id="12" name="operator-2-card">
            <a:extLst xmlns:a="http://schemas.openxmlformats.org/drawingml/2006/main">
              <a:ext uri="{FF2B5EF4-FFF2-40B4-BE49-F238E27FC236}">
                <a16:creationId xmlns:a16="http://schemas.microsoft.com/office/drawing/2014/main" id="{405662F9-0CD5-474E-864B-712D930843B0}"/>
              </a:ext>
            </a:extLst>
          </p:cNvPr>
          <p:cNvSpPr>
            <a:spLocks xmlns:a="http://schemas.openxmlformats.org/drawingml/2006/main" noGrp="1"/>
          </p:cNvSpPr>
          <p:nvPr/>
        </p:nvSpPr>
        <p:spPr>
          <a:xfrm xmlns:a="http://schemas.openxmlformats.org/drawingml/2006/main">
            <a:off x="4305300" y="21431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022f35eb9edf431e"/>
          <a:srcRect xmlns:a="http://schemas.openxmlformats.org/drawingml/2006/main" l="0" t="0" r="0" b="0"/>
          <a:stretch xmlns:a="http://schemas.openxmlformats.org/drawingml/2006/main">
            <a:fillRect l="0" t="0" r="0" b="0"/>
          </a:stretch>
        </p:blipFill>
        <p:spPr>
          <a:xfrm xmlns:a="http://schemas.openxmlformats.org/drawingml/2006/main">
            <a:off x="4495800" y="2381250"/>
            <a:ext cx="704850" cy="704850"/>
          </a:xfrm>
          <a:prstGeom xmlns:a="http://schemas.openxmlformats.org/drawingml/2006/main" prst="ellipse">
            <a:avLst/>
          </a:prstGeom>
        </p:spPr>
      </p:pic>
      <p:sp>
        <p:nvSpPr>
          <p:cNvPr id="14" name="operator-2-name">
            <a:extLst xmlns:a="http://schemas.openxmlformats.org/drawingml/2006/main">
              <a:ext uri="{FF2B5EF4-FFF2-40B4-BE49-F238E27FC236}">
                <a16:creationId xmlns:a16="http://schemas.microsoft.com/office/drawing/2014/main" id="{95F9FFD0-D468-4B9C-BB83-86E701D780A9}"/>
              </a:ext>
            </a:extLst>
          </p:cNvPr>
          <p:cNvSpPr>
            <a:spLocks xmlns:a="http://schemas.openxmlformats.org/drawingml/2006/main" noGrp="1"/>
          </p:cNvSpPr>
          <p:nvPr/>
        </p:nvSpPr>
        <p:spPr>
          <a:xfrm xmlns:a="http://schemas.openxmlformats.org/drawingml/2006/main">
            <a:off x="5372100" y="23336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Amber Camp</a:t>
            </a:r>
          </a:p>
        </p:txBody>
      </p:sp>
      <p:sp>
        <p:nvSpPr>
          <p:cNvPr id="15" name="operator-2-lane">
            <a:extLst xmlns:a="http://schemas.openxmlformats.org/drawingml/2006/main">
              <a:ext uri="{FF2B5EF4-FFF2-40B4-BE49-F238E27FC236}">
                <a16:creationId xmlns:a16="http://schemas.microsoft.com/office/drawing/2014/main" id="{AAB81216-72AF-4AA9-8485-7DDD7B646620}"/>
              </a:ext>
            </a:extLst>
          </p:cNvPr>
          <p:cNvSpPr>
            <a:spLocks xmlns:a="http://schemas.openxmlformats.org/drawingml/2006/main" noGrp="1"/>
          </p:cNvSpPr>
          <p:nvPr/>
        </p:nvSpPr>
        <p:spPr>
          <a:xfrm xmlns:a="http://schemas.openxmlformats.org/drawingml/2006/main">
            <a:off x="5372100" y="26384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C8FF00"/>
                </a:solidFill>
                <a:latin typeface="Arial"/>
                <a:ea typeface="Arial"/>
                <a:cs typeface="Arial"/>
              </a:defRPr>
            </a:pPr>
            <a:r>
              <a:rPr sz="788" b="1" i="0">
                <a:solidFill>
                  <a:srgbClr val="C8FF00"/>
                </a:solidFill>
                <a:latin typeface="Arial"/>
                <a:ea typeface="Arial"/>
                <a:cs typeface="Arial"/>
              </a:rPr>
              <a:t>YOUTH SPORT + FUNDRAISING</a:t>
            </a:r>
          </a:p>
        </p:txBody>
      </p:sp>
      <p:sp>
        <p:nvSpPr>
          <p:cNvPr id="16" name="operator-2-bio">
            <a:extLst xmlns:a="http://schemas.openxmlformats.org/drawingml/2006/main">
              <a:ext uri="{FF2B5EF4-FFF2-40B4-BE49-F238E27FC236}">
                <a16:creationId xmlns:a16="http://schemas.microsoft.com/office/drawing/2014/main" id="{862E7ADE-78A0-46EA-BC5C-A97A67EB4AE3}"/>
              </a:ext>
            </a:extLst>
          </p:cNvPr>
          <p:cNvSpPr>
            <a:spLocks xmlns:a="http://schemas.openxmlformats.org/drawingml/2006/main" noGrp="1"/>
          </p:cNvSpPr>
          <p:nvPr/>
        </p:nvSpPr>
        <p:spPr>
          <a:xfrm xmlns:a="http://schemas.openxmlformats.org/drawingml/2006/main">
            <a:off x="5372100" y="29051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Youth basketball coach with school and sports fundraising experience at Snap! Raise.</a:t>
            </a:r>
          </a:p>
        </p:txBody>
      </p:sp>
      <p:sp>
        <p:nvSpPr>
          <p:cNvPr id="17" name="operator-2-accent">
            <a:extLst xmlns:a="http://schemas.openxmlformats.org/drawingml/2006/main">
              <a:ext uri="{FF2B5EF4-FFF2-40B4-BE49-F238E27FC236}">
                <a16:creationId xmlns:a16="http://schemas.microsoft.com/office/drawing/2014/main" id="{1BB9498F-DA37-421C-968E-C4A37F6FF9AB}"/>
              </a:ext>
            </a:extLst>
          </p:cNvPr>
          <p:cNvSpPr>
            <a:spLocks xmlns:a="http://schemas.openxmlformats.org/drawingml/2006/main" noGrp="1"/>
          </p:cNvSpPr>
          <p:nvPr/>
        </p:nvSpPr>
        <p:spPr>
          <a:xfrm xmlns:a="http://schemas.openxmlformats.org/drawingml/2006/main">
            <a:off x="4476750" y="3552825"/>
            <a:ext cx="3162300" cy="38100"/>
          </a:xfrm>
          <a:prstGeom xmlns:a="http://schemas.openxmlformats.org/drawingml/2006/main" prst="roundRect">
            <a:avLst>
              <a:gd name="adj" fmla="val 50000"/>
            </a:avLst>
          </a:prstGeom>
          <a:solidFill xmlns:a="http://schemas.openxmlformats.org/drawingml/2006/main">
            <a:srgbClr val="C8FF00"/>
          </a:solidFill>
          <a:ln xmlns:a="http://schemas.openxmlformats.org/drawingml/2006/main" w="0">
            <a:solidFill>
              <a:srgbClr val="C8FF00"/>
            </a:solidFill>
            <a:prstDash val="solid"/>
          </a:ln>
        </p:spPr>
      </p:sp>
      <p:sp>
        <p:nvSpPr>
          <p:cNvPr id="18" name="operator-3-card">
            <a:extLst xmlns:a="http://schemas.openxmlformats.org/drawingml/2006/main">
              <a:ext uri="{FF2B5EF4-FFF2-40B4-BE49-F238E27FC236}">
                <a16:creationId xmlns:a16="http://schemas.microsoft.com/office/drawing/2014/main" id="{D640CE34-3102-4A39-9A8B-2DD42AA7E253}"/>
              </a:ext>
            </a:extLst>
          </p:cNvPr>
          <p:cNvSpPr>
            <a:spLocks xmlns:a="http://schemas.openxmlformats.org/drawingml/2006/main" noGrp="1"/>
          </p:cNvSpPr>
          <p:nvPr/>
        </p:nvSpPr>
        <p:spPr>
          <a:xfrm xmlns:a="http://schemas.openxmlformats.org/drawingml/2006/main">
            <a:off x="8077200" y="21431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2f29c992e4ae4eda"/>
          <a:srcRect xmlns:a="http://schemas.openxmlformats.org/drawingml/2006/main" l="0" t="0" r="0" b="0"/>
          <a:stretch xmlns:a="http://schemas.openxmlformats.org/drawingml/2006/main">
            <a:fillRect l="0" t="0" r="0" b="0"/>
          </a:stretch>
        </p:blipFill>
        <p:spPr>
          <a:xfrm xmlns:a="http://schemas.openxmlformats.org/drawingml/2006/main">
            <a:off x="8267700" y="2381250"/>
            <a:ext cx="704850" cy="704850"/>
          </a:xfrm>
          <a:prstGeom xmlns:a="http://schemas.openxmlformats.org/drawingml/2006/main" prst="ellipse">
            <a:avLst/>
          </a:prstGeom>
        </p:spPr>
      </p:pic>
      <p:sp>
        <p:nvSpPr>
          <p:cNvPr id="20" name="operator-3-name">
            <a:extLst xmlns:a="http://schemas.openxmlformats.org/drawingml/2006/main">
              <a:ext uri="{FF2B5EF4-FFF2-40B4-BE49-F238E27FC236}">
                <a16:creationId xmlns:a16="http://schemas.microsoft.com/office/drawing/2014/main" id="{8E124597-FC73-42AB-A33D-5FEBF29CDE30}"/>
              </a:ext>
            </a:extLst>
          </p:cNvPr>
          <p:cNvSpPr>
            <a:spLocks xmlns:a="http://schemas.openxmlformats.org/drawingml/2006/main" noGrp="1"/>
          </p:cNvSpPr>
          <p:nvPr/>
        </p:nvSpPr>
        <p:spPr>
          <a:xfrm xmlns:a="http://schemas.openxmlformats.org/drawingml/2006/main">
            <a:off x="9144000" y="23336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Talia Mark</a:t>
            </a:r>
          </a:p>
        </p:txBody>
      </p:sp>
      <p:sp>
        <p:nvSpPr>
          <p:cNvPr id="21" name="operator-3-lane">
            <a:extLst xmlns:a="http://schemas.openxmlformats.org/drawingml/2006/main">
              <a:ext uri="{FF2B5EF4-FFF2-40B4-BE49-F238E27FC236}">
                <a16:creationId xmlns:a16="http://schemas.microsoft.com/office/drawing/2014/main" id="{C6E2339C-20B6-4F5F-956C-57716399D931}"/>
              </a:ext>
            </a:extLst>
          </p:cNvPr>
          <p:cNvSpPr>
            <a:spLocks xmlns:a="http://schemas.openxmlformats.org/drawingml/2006/main" noGrp="1"/>
          </p:cNvSpPr>
          <p:nvPr/>
        </p:nvSpPr>
        <p:spPr>
          <a:xfrm xmlns:a="http://schemas.openxmlformats.org/drawingml/2006/main">
            <a:off x="9144000" y="26384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9B72FF"/>
                </a:solidFill>
                <a:latin typeface="Arial"/>
                <a:ea typeface="Arial"/>
                <a:cs typeface="Arial"/>
              </a:defRPr>
            </a:pPr>
            <a:r>
              <a:rPr sz="788" b="1" i="0">
                <a:solidFill>
                  <a:srgbClr val="9B72FF"/>
                </a:solidFill>
                <a:latin typeface="Arial"/>
                <a:ea typeface="Arial"/>
                <a:cs typeface="Arial"/>
              </a:rPr>
              <a:t>SPORT MARKETING + GOVERNING BODIES</a:t>
            </a:r>
          </a:p>
        </p:txBody>
      </p:sp>
      <p:sp>
        <p:nvSpPr>
          <p:cNvPr id="22" name="operator-3-bio">
            <a:extLst xmlns:a="http://schemas.openxmlformats.org/drawingml/2006/main">
              <a:ext uri="{FF2B5EF4-FFF2-40B4-BE49-F238E27FC236}">
                <a16:creationId xmlns:a16="http://schemas.microsoft.com/office/drawing/2014/main" id="{D24731A8-92EC-4FEF-A456-18A29DD4E61E}"/>
              </a:ext>
            </a:extLst>
          </p:cNvPr>
          <p:cNvSpPr>
            <a:spLocks xmlns:a="http://schemas.openxmlformats.org/drawingml/2006/main" noGrp="1"/>
          </p:cNvSpPr>
          <p:nvPr/>
        </p:nvSpPr>
        <p:spPr>
          <a:xfrm xmlns:a="http://schemas.openxmlformats.org/drawingml/2006/main">
            <a:off x="9144000" y="29051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772"/>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Former USA Swimming multicultural marketing director and NASCAR diversity affairs manager.</a:t>
            </a:r>
          </a:p>
        </p:txBody>
      </p:sp>
      <p:sp>
        <p:nvSpPr>
          <p:cNvPr id="23" name="operator-3-accent">
            <a:extLst xmlns:a="http://schemas.openxmlformats.org/drawingml/2006/main">
              <a:ext uri="{FF2B5EF4-FFF2-40B4-BE49-F238E27FC236}">
                <a16:creationId xmlns:a16="http://schemas.microsoft.com/office/drawing/2014/main" id="{2F9AB738-DA5F-45C9-92AE-2D77986EB514}"/>
              </a:ext>
            </a:extLst>
          </p:cNvPr>
          <p:cNvSpPr>
            <a:spLocks xmlns:a="http://schemas.openxmlformats.org/drawingml/2006/main" noGrp="1"/>
          </p:cNvSpPr>
          <p:nvPr/>
        </p:nvSpPr>
        <p:spPr>
          <a:xfrm xmlns:a="http://schemas.openxmlformats.org/drawingml/2006/main">
            <a:off x="8248650" y="3552825"/>
            <a:ext cx="3162300" cy="38100"/>
          </a:xfrm>
          <a:prstGeom xmlns:a="http://schemas.openxmlformats.org/drawingml/2006/main" prst="roundRect">
            <a:avLst>
              <a:gd name="adj" fmla="val 50000"/>
            </a:avLst>
          </a:prstGeom>
          <a:solidFill xmlns:a="http://schemas.openxmlformats.org/drawingml/2006/main">
            <a:srgbClr val="9B72FF"/>
          </a:solidFill>
          <a:ln xmlns:a="http://schemas.openxmlformats.org/drawingml/2006/main" w="0">
            <a:solidFill>
              <a:srgbClr val="9B72FF"/>
            </a:solidFill>
            <a:prstDash val="solid"/>
          </a:ln>
        </p:spPr>
      </p:sp>
      <p:sp>
        <p:nvSpPr>
          <p:cNvPr id="24" name="operator-4-card">
            <a:extLst xmlns:a="http://schemas.openxmlformats.org/drawingml/2006/main">
              <a:ext uri="{FF2B5EF4-FFF2-40B4-BE49-F238E27FC236}">
                <a16:creationId xmlns:a16="http://schemas.microsoft.com/office/drawing/2014/main" id="{1B2AFCC3-5A79-4780-9676-1ABF28374D38}"/>
              </a:ext>
            </a:extLst>
          </p:cNvPr>
          <p:cNvSpPr>
            <a:spLocks xmlns:a="http://schemas.openxmlformats.org/drawingml/2006/main" noGrp="1"/>
          </p:cNvSpPr>
          <p:nvPr/>
        </p:nvSpPr>
        <p:spPr>
          <a:xfrm xmlns:a="http://schemas.openxmlformats.org/drawingml/2006/main">
            <a:off x="533400" y="38576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53746945b38b4677"/>
          <a:srcRect xmlns:a="http://schemas.openxmlformats.org/drawingml/2006/main" l="0" t="0" r="0" b="0"/>
          <a:stretch xmlns:a="http://schemas.openxmlformats.org/drawingml/2006/main">
            <a:fillRect l="0" t="0" r="0" b="0"/>
          </a:stretch>
        </p:blipFill>
        <p:spPr>
          <a:xfrm xmlns:a="http://schemas.openxmlformats.org/drawingml/2006/main">
            <a:off x="723900" y="4095750"/>
            <a:ext cx="704850" cy="704850"/>
          </a:xfrm>
          <a:prstGeom xmlns:a="http://schemas.openxmlformats.org/drawingml/2006/main" prst="ellipse">
            <a:avLst/>
          </a:prstGeom>
        </p:spPr>
      </p:pic>
      <p:sp>
        <p:nvSpPr>
          <p:cNvPr id="26" name="operator-4-name">
            <a:extLst xmlns:a="http://schemas.openxmlformats.org/drawingml/2006/main">
              <a:ext uri="{FF2B5EF4-FFF2-40B4-BE49-F238E27FC236}">
                <a16:creationId xmlns:a16="http://schemas.microsoft.com/office/drawing/2014/main" id="{EE823737-8A10-4A89-A932-1A91A3245B4F}"/>
              </a:ext>
            </a:extLst>
          </p:cNvPr>
          <p:cNvSpPr>
            <a:spLocks xmlns:a="http://schemas.openxmlformats.org/drawingml/2006/main" noGrp="1"/>
          </p:cNvSpPr>
          <p:nvPr/>
        </p:nvSpPr>
        <p:spPr>
          <a:xfrm xmlns:a="http://schemas.openxmlformats.org/drawingml/2006/main">
            <a:off x="1600200" y="4048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Tram Holloway</a:t>
            </a:r>
          </a:p>
        </p:txBody>
      </p:sp>
      <p:sp>
        <p:nvSpPr>
          <p:cNvPr id="27" name="operator-4-lane">
            <a:extLst xmlns:a="http://schemas.openxmlformats.org/drawingml/2006/main">
              <a:ext uri="{FF2B5EF4-FFF2-40B4-BE49-F238E27FC236}">
                <a16:creationId xmlns:a16="http://schemas.microsoft.com/office/drawing/2014/main" id="{C8F2CC08-FBC1-4C90-A471-FCFD2238A4D1}"/>
              </a:ext>
            </a:extLst>
          </p:cNvPr>
          <p:cNvSpPr>
            <a:spLocks xmlns:a="http://schemas.openxmlformats.org/drawingml/2006/main" noGrp="1"/>
          </p:cNvSpPr>
          <p:nvPr/>
        </p:nvSpPr>
        <p:spPr>
          <a:xfrm xmlns:a="http://schemas.openxmlformats.org/drawingml/2006/main">
            <a:off x="1600200" y="43529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FF9C38"/>
                </a:solidFill>
                <a:latin typeface="Arial"/>
                <a:ea typeface="Arial"/>
                <a:cs typeface="Arial"/>
              </a:defRPr>
            </a:pPr>
            <a:r>
              <a:rPr sz="788" b="1" i="0">
                <a:solidFill>
                  <a:srgbClr val="FF9C38"/>
                </a:solidFill>
                <a:latin typeface="Arial"/>
                <a:ea typeface="Arial"/>
                <a:cs typeface="Arial"/>
              </a:rPr>
              <a:t>PERFORMANCE TECHNOLOGY + CLINICS</a:t>
            </a:r>
          </a:p>
        </p:txBody>
      </p:sp>
      <p:sp>
        <p:nvSpPr>
          <p:cNvPr id="28" name="operator-4-bio">
            <a:extLst xmlns:a="http://schemas.openxmlformats.org/drawingml/2006/main">
              <a:ext uri="{FF2B5EF4-FFF2-40B4-BE49-F238E27FC236}">
                <a16:creationId xmlns:a16="http://schemas.microsoft.com/office/drawing/2014/main" id="{7747501E-37B6-49FB-BD36-574410044982}"/>
              </a:ext>
            </a:extLst>
          </p:cNvPr>
          <p:cNvSpPr>
            <a:spLocks xmlns:a="http://schemas.openxmlformats.org/drawingml/2006/main" noGrp="1"/>
          </p:cNvSpPr>
          <p:nvPr/>
        </p:nvSpPr>
        <p:spPr>
          <a:xfrm xmlns:a="http://schemas.openxmlformats.org/drawingml/2006/main">
            <a:off x="1600200" y="46196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HyperCharge Health CTO with nearly 30 years in human performance, wellness technology, and clinic implementation.</a:t>
            </a:r>
          </a:p>
        </p:txBody>
      </p:sp>
      <p:sp>
        <p:nvSpPr>
          <p:cNvPr id="29" name="operator-4-accent">
            <a:extLst xmlns:a="http://schemas.openxmlformats.org/drawingml/2006/main">
              <a:ext uri="{FF2B5EF4-FFF2-40B4-BE49-F238E27FC236}">
                <a16:creationId xmlns:a16="http://schemas.microsoft.com/office/drawing/2014/main" id="{CF7222A1-DAC9-416C-AFD7-E573ACFF0AB3}"/>
              </a:ext>
            </a:extLst>
          </p:cNvPr>
          <p:cNvSpPr>
            <a:spLocks xmlns:a="http://schemas.openxmlformats.org/drawingml/2006/main" noGrp="1"/>
          </p:cNvSpPr>
          <p:nvPr/>
        </p:nvSpPr>
        <p:spPr>
          <a:xfrm xmlns:a="http://schemas.openxmlformats.org/drawingml/2006/main">
            <a:off x="704850" y="5267325"/>
            <a:ext cx="3162300" cy="38100"/>
          </a:xfrm>
          <a:prstGeom xmlns:a="http://schemas.openxmlformats.org/drawingml/2006/main" prst="roundRect">
            <a:avLst>
              <a:gd name="adj" fmla="val 50000"/>
            </a:avLst>
          </a:prstGeom>
          <a:solidFill xmlns:a="http://schemas.openxmlformats.org/drawingml/2006/main">
            <a:srgbClr val="FF9C38"/>
          </a:solidFill>
          <a:ln xmlns:a="http://schemas.openxmlformats.org/drawingml/2006/main" w="0">
            <a:solidFill>
              <a:srgbClr val="FF9C38"/>
            </a:solidFill>
            <a:prstDash val="solid"/>
          </a:ln>
        </p:spPr>
      </p:sp>
      <p:sp>
        <p:nvSpPr>
          <p:cNvPr id="30" name="operator-5-card">
            <a:extLst xmlns:a="http://schemas.openxmlformats.org/drawingml/2006/main">
              <a:ext uri="{FF2B5EF4-FFF2-40B4-BE49-F238E27FC236}">
                <a16:creationId xmlns:a16="http://schemas.microsoft.com/office/drawing/2014/main" id="{8C56E293-1D90-4846-A460-914984C9A31F}"/>
              </a:ext>
            </a:extLst>
          </p:cNvPr>
          <p:cNvSpPr>
            <a:spLocks xmlns:a="http://schemas.openxmlformats.org/drawingml/2006/main" noGrp="1"/>
          </p:cNvSpPr>
          <p:nvPr/>
        </p:nvSpPr>
        <p:spPr>
          <a:xfrm xmlns:a="http://schemas.openxmlformats.org/drawingml/2006/main">
            <a:off x="4305300" y="38576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3d08b3923334ebc"/>
          <a:srcRect xmlns:a="http://schemas.openxmlformats.org/drawingml/2006/main" l="0" t="0" r="0" b="0"/>
          <a:stretch xmlns:a="http://schemas.openxmlformats.org/drawingml/2006/main">
            <a:fillRect l="0" t="0" r="0" b="0"/>
          </a:stretch>
        </p:blipFill>
        <p:spPr>
          <a:xfrm xmlns:a="http://schemas.openxmlformats.org/drawingml/2006/main">
            <a:off x="4495800" y="4095750"/>
            <a:ext cx="704850" cy="704850"/>
          </a:xfrm>
          <a:prstGeom xmlns:a="http://schemas.openxmlformats.org/drawingml/2006/main" prst="ellipse">
            <a:avLst/>
          </a:prstGeom>
        </p:spPr>
      </p:pic>
      <p:sp>
        <p:nvSpPr>
          <p:cNvPr id="32" name="operator-5-name">
            <a:extLst xmlns:a="http://schemas.openxmlformats.org/drawingml/2006/main">
              <a:ext uri="{FF2B5EF4-FFF2-40B4-BE49-F238E27FC236}">
                <a16:creationId xmlns:a16="http://schemas.microsoft.com/office/drawing/2014/main" id="{54152189-0514-4346-A331-F0763B63E284}"/>
              </a:ext>
            </a:extLst>
          </p:cNvPr>
          <p:cNvSpPr>
            <a:spLocks xmlns:a="http://schemas.openxmlformats.org/drawingml/2006/main" noGrp="1"/>
          </p:cNvSpPr>
          <p:nvPr/>
        </p:nvSpPr>
        <p:spPr>
          <a:xfrm xmlns:a="http://schemas.openxmlformats.org/drawingml/2006/main">
            <a:off x="5372100" y="4048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Dr. Jeremy Burnham</a:t>
            </a:r>
          </a:p>
        </p:txBody>
      </p:sp>
      <p:sp>
        <p:nvSpPr>
          <p:cNvPr id="33" name="operator-5-lane">
            <a:extLst xmlns:a="http://schemas.openxmlformats.org/drawingml/2006/main">
              <a:ext uri="{FF2B5EF4-FFF2-40B4-BE49-F238E27FC236}">
                <a16:creationId xmlns:a16="http://schemas.microsoft.com/office/drawing/2014/main" id="{24B7B8A6-A0E3-4C7A-85EA-674BBE8FE5B0}"/>
              </a:ext>
            </a:extLst>
          </p:cNvPr>
          <p:cNvSpPr>
            <a:spLocks xmlns:a="http://schemas.openxmlformats.org/drawingml/2006/main" noGrp="1"/>
          </p:cNvSpPr>
          <p:nvPr/>
        </p:nvSpPr>
        <p:spPr>
          <a:xfrm xmlns:a="http://schemas.openxmlformats.org/drawingml/2006/main">
            <a:off x="5372100" y="43529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4D8FFF"/>
                </a:solidFill>
                <a:latin typeface="Arial"/>
                <a:ea typeface="Arial"/>
                <a:cs typeface="Arial"/>
              </a:defRPr>
            </a:pPr>
            <a:r>
              <a:rPr sz="788" b="1" i="0">
                <a:solidFill>
                  <a:srgbClr val="4D8FFF"/>
                </a:solidFill>
                <a:latin typeface="Arial"/>
                <a:ea typeface="Arial"/>
                <a:cs typeface="Arial"/>
              </a:rPr>
              <a:t>SPORTS MEDICINE + RESEARCH</a:t>
            </a:r>
          </a:p>
        </p:txBody>
      </p:sp>
      <p:sp>
        <p:nvSpPr>
          <p:cNvPr id="34" name="operator-5-bio">
            <a:extLst xmlns:a="http://schemas.openxmlformats.org/drawingml/2006/main">
              <a:ext uri="{FF2B5EF4-FFF2-40B4-BE49-F238E27FC236}">
                <a16:creationId xmlns:a16="http://schemas.microsoft.com/office/drawing/2014/main" id="{4F233799-7348-4DC9-B92F-B223CEE40698}"/>
              </a:ext>
            </a:extLst>
          </p:cNvPr>
          <p:cNvSpPr>
            <a:spLocks xmlns:a="http://schemas.openxmlformats.org/drawingml/2006/main" noGrp="1"/>
          </p:cNvSpPr>
          <p:nvPr/>
        </p:nvSpPr>
        <p:spPr>
          <a:xfrm xmlns:a="http://schemas.openxmlformats.org/drawingml/2006/main">
            <a:off x="5372100" y="46196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Ochsner Baton Rouge Medical Director of Sports Medicine; dual board-certified surgeon, former LSU football player, and clinical-trials investigator.</a:t>
            </a:r>
          </a:p>
        </p:txBody>
      </p:sp>
      <p:sp>
        <p:nvSpPr>
          <p:cNvPr id="35" name="operator-5-accent">
            <a:extLst xmlns:a="http://schemas.openxmlformats.org/drawingml/2006/main">
              <a:ext uri="{FF2B5EF4-FFF2-40B4-BE49-F238E27FC236}">
                <a16:creationId xmlns:a16="http://schemas.microsoft.com/office/drawing/2014/main" id="{9AD380E2-510C-46E6-A74E-B18740E3CA30}"/>
              </a:ext>
            </a:extLst>
          </p:cNvPr>
          <p:cNvSpPr>
            <a:spLocks xmlns:a="http://schemas.openxmlformats.org/drawingml/2006/main" noGrp="1"/>
          </p:cNvSpPr>
          <p:nvPr/>
        </p:nvSpPr>
        <p:spPr>
          <a:xfrm xmlns:a="http://schemas.openxmlformats.org/drawingml/2006/main">
            <a:off x="4476750" y="5267325"/>
            <a:ext cx="3162300" cy="38100"/>
          </a:xfrm>
          <a:prstGeom xmlns:a="http://schemas.openxmlformats.org/drawingml/2006/main" prst="roundRect">
            <a:avLst>
              <a:gd name="adj" fmla="val 50000"/>
            </a:avLst>
          </a:prstGeom>
          <a:solidFill xmlns:a="http://schemas.openxmlformats.org/drawingml/2006/main">
            <a:srgbClr val="4D8FFF"/>
          </a:solidFill>
          <a:ln xmlns:a="http://schemas.openxmlformats.org/drawingml/2006/main" w="0">
            <a:solidFill>
              <a:srgbClr val="4D8FFF"/>
            </a:solidFill>
            <a:prstDash val="solid"/>
          </a:ln>
        </p:spPr>
      </p:sp>
      <p:sp>
        <p:nvSpPr>
          <p:cNvPr id="36" name="operator-6-card">
            <a:extLst xmlns:a="http://schemas.openxmlformats.org/drawingml/2006/main">
              <a:ext uri="{FF2B5EF4-FFF2-40B4-BE49-F238E27FC236}">
                <a16:creationId xmlns:a16="http://schemas.microsoft.com/office/drawing/2014/main" id="{6B78F4FA-770D-46B4-90E5-FC1976593DDC}"/>
              </a:ext>
            </a:extLst>
          </p:cNvPr>
          <p:cNvSpPr>
            <a:spLocks xmlns:a="http://schemas.openxmlformats.org/drawingml/2006/main" noGrp="1"/>
          </p:cNvSpPr>
          <p:nvPr/>
        </p:nvSpPr>
        <p:spPr>
          <a:xfrm xmlns:a="http://schemas.openxmlformats.org/drawingml/2006/main">
            <a:off x="8077200" y="3857625"/>
            <a:ext cx="3505200" cy="1504950"/>
          </a:xfrm>
          <a:prstGeom xmlns:a="http://schemas.openxmlformats.org/drawingml/2006/main" prst="roundRect">
            <a:avLst>
              <a:gd name="adj" fmla="val 7595"/>
            </a:avLst>
          </a:prstGeom>
          <a:solidFill xmlns:a="http://schemas.openxmlformats.org/drawingml/2006/main">
            <a:srgbClr val="111519">
              <a:alpha val="98000"/>
            </a:srgbClr>
          </a:solidFill>
          <a:ln xmlns:a="http://schemas.openxmlformats.org/drawingml/2006/main" w="9525">
            <a:solidFill>
              <a:srgbClr val="343A40"/>
            </a:solidFill>
            <a:prstDash val="solid"/>
          </a:ln>
        </p:spPr>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23f72bf8ee294b58"/>
          <a:srcRect xmlns:a="http://schemas.openxmlformats.org/drawingml/2006/main" l="3722" t="0" r="3722" b="0"/>
          <a:stretch xmlns:a="http://schemas.openxmlformats.org/drawingml/2006/main">
            <a:fillRect l="0" t="0" r="0" b="0"/>
          </a:stretch>
        </p:blipFill>
        <p:spPr>
          <a:xfrm xmlns:a="http://schemas.openxmlformats.org/drawingml/2006/main">
            <a:off x="8267700" y="4095750"/>
            <a:ext cx="704850" cy="704850"/>
          </a:xfrm>
          <a:prstGeom xmlns:a="http://schemas.openxmlformats.org/drawingml/2006/main" prst="ellipse">
            <a:avLst/>
          </a:prstGeom>
        </p:spPr>
      </p:pic>
      <p:sp>
        <p:nvSpPr>
          <p:cNvPr id="38" name="operator-6-name">
            <a:extLst xmlns:a="http://schemas.openxmlformats.org/drawingml/2006/main">
              <a:ext uri="{FF2B5EF4-FFF2-40B4-BE49-F238E27FC236}">
                <a16:creationId xmlns:a16="http://schemas.microsoft.com/office/drawing/2014/main" id="{979D5C81-098F-49E1-AB40-C64EC73BB16A}"/>
              </a:ext>
            </a:extLst>
          </p:cNvPr>
          <p:cNvSpPr>
            <a:spLocks xmlns:a="http://schemas.openxmlformats.org/drawingml/2006/main" noGrp="1"/>
          </p:cNvSpPr>
          <p:nvPr/>
        </p:nvSpPr>
        <p:spPr>
          <a:xfrm xmlns:a="http://schemas.openxmlformats.org/drawingml/2006/main">
            <a:off x="9144000" y="4048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4F4F1"/>
                </a:solidFill>
                <a:latin typeface="Arial"/>
                <a:ea typeface="Arial"/>
                <a:cs typeface="Arial"/>
              </a:defRPr>
            </a:pPr>
            <a:r>
              <a:rPr sz="1425" b="1" i="0">
                <a:solidFill>
                  <a:srgbClr val="F4F4F1"/>
                </a:solidFill>
                <a:latin typeface="Arial"/>
                <a:ea typeface="Arial"/>
                <a:cs typeface="Arial"/>
              </a:rPr>
              <a:t>Dr. Malkia Johnson</a:t>
            </a:r>
          </a:p>
        </p:txBody>
      </p:sp>
      <p:sp>
        <p:nvSpPr>
          <p:cNvPr id="39" name="operator-6-lane">
            <a:extLst xmlns:a="http://schemas.openxmlformats.org/drawingml/2006/main">
              <a:ext uri="{FF2B5EF4-FFF2-40B4-BE49-F238E27FC236}">
                <a16:creationId xmlns:a16="http://schemas.microsoft.com/office/drawing/2014/main" id="{EF14C9A9-F997-46B8-A018-F89D6630309D}"/>
              </a:ext>
            </a:extLst>
          </p:cNvPr>
          <p:cNvSpPr>
            <a:spLocks xmlns:a="http://schemas.openxmlformats.org/drawingml/2006/main" noGrp="1"/>
          </p:cNvSpPr>
          <p:nvPr/>
        </p:nvSpPr>
        <p:spPr>
          <a:xfrm xmlns:a="http://schemas.openxmlformats.org/drawingml/2006/main">
            <a:off x="9144000" y="4352925"/>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929"/>
          </a:bodyPr>
          <a:lstStyle xmlns:a="http://schemas.openxmlformats.org/drawingml/2006/main"/>
          <a:p xmlns:a="http://schemas.openxmlformats.org/drawingml/2006/main">
            <a:pPr algn="l">
              <a:defRPr sz="788" b="1" i="0">
                <a:solidFill>
                  <a:srgbClr val="F65AAF"/>
                </a:solidFill>
                <a:latin typeface="Arial"/>
                <a:ea typeface="Arial"/>
                <a:cs typeface="Arial"/>
              </a:defRPr>
            </a:pPr>
            <a:r>
              <a:rPr sz="788" b="1" i="0">
                <a:solidFill>
                  <a:srgbClr val="F65AAF"/>
                </a:solidFill>
                <a:latin typeface="Arial"/>
                <a:ea typeface="Arial"/>
                <a:cs typeface="Arial"/>
              </a:rPr>
              <a:t>CAMPUS MENTAL HEALTH + CLINICAL WORKFLOW</a:t>
            </a:r>
          </a:p>
        </p:txBody>
      </p:sp>
      <p:sp>
        <p:nvSpPr>
          <p:cNvPr id="40" name="operator-6-bio">
            <a:extLst xmlns:a="http://schemas.openxmlformats.org/drawingml/2006/main">
              <a:ext uri="{FF2B5EF4-FFF2-40B4-BE49-F238E27FC236}">
                <a16:creationId xmlns:a16="http://schemas.microsoft.com/office/drawing/2014/main" id="{E2CB81C6-1907-4A80-BAF8-D3438E0A8400}"/>
              </a:ext>
            </a:extLst>
          </p:cNvPr>
          <p:cNvSpPr>
            <a:spLocks xmlns:a="http://schemas.openxmlformats.org/drawingml/2006/main" noGrp="1"/>
          </p:cNvSpPr>
          <p:nvPr/>
        </p:nvSpPr>
        <p:spPr>
          <a:xfrm xmlns:a="http://schemas.openxmlformats.org/drawingml/2006/main">
            <a:off x="9144000" y="4619625"/>
            <a:ext cx="224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884"/>
          </a:bodyPr>
          <a:lstStyle xmlns:a="http://schemas.openxmlformats.org/drawingml/2006/main"/>
          <a:p xmlns:a="http://schemas.openxmlformats.org/drawingml/2006/main">
            <a:pPr algn="l">
              <a:defRPr sz="1200" b="0" i="0">
                <a:solidFill>
                  <a:srgbClr val="ADB2BC"/>
                </a:solidFill>
                <a:latin typeface="Arial"/>
                <a:ea typeface="Arial"/>
                <a:cs typeface="Arial"/>
              </a:defRPr>
            </a:pPr>
            <a:r>
              <a:rPr sz="1200" b="0" i="0">
                <a:solidFill>
                  <a:srgbClr val="ADB2BC"/>
                </a:solidFill>
                <a:latin typeface="Arial"/>
                <a:ea typeface="Arial"/>
                <a:cs typeface="Arial"/>
              </a:rPr>
              <a:t>UMES Counseling Services Director and East Coast lead for AuntEDNA’s Clinical Directors Council.</a:t>
            </a:r>
          </a:p>
        </p:txBody>
      </p:sp>
      <p:sp>
        <p:nvSpPr>
          <p:cNvPr id="41" name="operator-6-accent">
            <a:extLst xmlns:a="http://schemas.openxmlformats.org/drawingml/2006/main">
              <a:ext uri="{FF2B5EF4-FFF2-40B4-BE49-F238E27FC236}">
                <a16:creationId xmlns:a16="http://schemas.microsoft.com/office/drawing/2014/main" id="{E81041DF-C76A-4D80-8A96-BCB2382808BE}"/>
              </a:ext>
            </a:extLst>
          </p:cNvPr>
          <p:cNvSpPr>
            <a:spLocks xmlns:a="http://schemas.openxmlformats.org/drawingml/2006/main" noGrp="1"/>
          </p:cNvSpPr>
          <p:nvPr/>
        </p:nvSpPr>
        <p:spPr>
          <a:xfrm xmlns:a="http://schemas.openxmlformats.org/drawingml/2006/main">
            <a:off x="8248650" y="5267325"/>
            <a:ext cx="3162300" cy="38100"/>
          </a:xfrm>
          <a:prstGeom xmlns:a="http://schemas.openxmlformats.org/drawingml/2006/main" prst="roundRect">
            <a:avLst>
              <a:gd name="adj" fmla="val 50000"/>
            </a:avLst>
          </a:prstGeom>
          <a:solidFill xmlns:a="http://schemas.openxmlformats.org/drawingml/2006/main">
            <a:srgbClr val="F65AAF"/>
          </a:solidFill>
          <a:ln xmlns:a="http://schemas.openxmlformats.org/drawingml/2006/main" w="0">
            <a:solidFill>
              <a:srgbClr val="F65AAF"/>
            </a:solidFill>
            <a:prstDash val="solid"/>
          </a:ln>
        </p:spPr>
      </p:sp>
      <p:sp>
        <p:nvSpPr>
          <p:cNvPr id="42" name="adoption-band">
            <a:extLst xmlns:a="http://schemas.openxmlformats.org/drawingml/2006/main">
              <a:ext uri="{FF2B5EF4-FFF2-40B4-BE49-F238E27FC236}">
                <a16:creationId xmlns:a16="http://schemas.microsoft.com/office/drawing/2014/main" id="{5C3CD7D5-0CDE-4A6E-8012-E75248EB2545}"/>
              </a:ext>
            </a:extLst>
          </p:cNvPr>
          <p:cNvSpPr>
            <a:spLocks xmlns:a="http://schemas.openxmlformats.org/drawingml/2006/main" noGrp="1"/>
          </p:cNvSpPr>
          <p:nvPr/>
        </p:nvSpPr>
        <p:spPr>
          <a:xfrm xmlns:a="http://schemas.openxmlformats.org/drawingml/2006/main">
            <a:off x="533400" y="5695950"/>
            <a:ext cx="11049000" cy="361950"/>
          </a:xfrm>
          <a:prstGeom xmlns:a="http://schemas.openxmlformats.org/drawingml/2006/main" prst="roundRect">
            <a:avLst>
              <a:gd name="adj" fmla="val 50000"/>
            </a:avLst>
          </a:prstGeom>
          <a:solidFill xmlns:a="http://schemas.openxmlformats.org/drawingml/2006/main">
            <a:srgbClr val="171B20">
              <a:alpha val="98000"/>
            </a:srgbClr>
          </a:solidFill>
          <a:ln xmlns:a="http://schemas.openxmlformats.org/drawingml/2006/main" w="9525">
            <a:solidFill>
              <a:srgbClr val="343A40"/>
            </a:solidFill>
            <a:prstDash val="solid"/>
          </a:ln>
        </p:spPr>
      </p:sp>
      <p:sp>
        <p:nvSpPr>
          <p:cNvPr id="43" name="adoption-copy">
            <a:extLst xmlns:a="http://schemas.openxmlformats.org/drawingml/2006/main">
              <a:ext uri="{FF2B5EF4-FFF2-40B4-BE49-F238E27FC236}">
                <a16:creationId xmlns:a16="http://schemas.microsoft.com/office/drawing/2014/main" id="{406C46BA-7070-423A-BDA0-9045623464B4}"/>
              </a:ext>
            </a:extLst>
          </p:cNvPr>
          <p:cNvSpPr>
            <a:spLocks xmlns:a="http://schemas.openxmlformats.org/drawingml/2006/main" noGrp="1"/>
          </p:cNvSpPr>
          <p:nvPr/>
        </p:nvSpPr>
        <p:spPr>
          <a:xfrm xmlns:a="http://schemas.openxmlformats.org/drawingml/2006/main">
            <a:off x="838200" y="5791200"/>
            <a:ext cx="1043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40" b="1" i="0">
                <a:solidFill>
                  <a:srgbClr val="F4F4F1"/>
                </a:solidFill>
                <a:latin typeface="Arial"/>
                <a:ea typeface="Arial"/>
                <a:cs typeface="Arial"/>
              </a:defRPr>
            </a:pPr>
            <a:r>
              <a:rPr sz="840" b="1" i="0">
                <a:solidFill>
                  <a:srgbClr val="F4F4F1"/>
                </a:solidFill>
                <a:latin typeface="Arial"/>
                <a:ea typeface="Arial"/>
                <a:cs typeface="Arial"/>
              </a:rPr>
              <a:t>ADOPTION REQUIRES MORE THAN PRODUCT: STORY  •  TRUST  •  CLINICAL WORKFLOW  •  INSTITUTIONAL ACCESS</a:t>
            </a:r>
          </a:p>
        </p:txBody>
      </p:sp>
      <p:sp>
        <p:nvSpPr>
          <p:cNvPr id="44" name="footer-rule">
            <a:extLst xmlns:a="http://schemas.openxmlformats.org/drawingml/2006/main">
              <a:ext uri="{FF2B5EF4-FFF2-40B4-BE49-F238E27FC236}">
                <a16:creationId xmlns:a16="http://schemas.microsoft.com/office/drawing/2014/main" id="{363777F5-84D8-472D-A14C-060F156CE49D}"/>
              </a:ext>
            </a:extLst>
          </p:cNvPr>
          <p:cNvSpPr>
            <a:spLocks xmlns:a="http://schemas.openxmlformats.org/drawingml/2006/main" noGrp="1"/>
          </p:cNvSpPr>
          <p:nvPr/>
        </p:nvSpPr>
        <p:spPr>
          <a:xfrm xmlns:a="http://schemas.openxmlformats.org/drawingml/2006/main">
            <a:off x="533400" y="6438900"/>
            <a:ext cx="1104900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45" name="footer-left">
            <a:extLst xmlns:a="http://schemas.openxmlformats.org/drawingml/2006/main">
              <a:ext uri="{FF2B5EF4-FFF2-40B4-BE49-F238E27FC236}">
                <a16:creationId xmlns:a16="http://schemas.microsoft.com/office/drawing/2014/main" id="{E17CB1C2-AE5B-4A2D-931D-574B102542B0}"/>
              </a:ext>
            </a:extLst>
          </p:cNvPr>
          <p:cNvSpPr>
            <a:spLocks xmlns:a="http://schemas.openxmlformats.org/drawingml/2006/main" noGrp="1"/>
          </p:cNvSpPr>
          <p:nvPr/>
        </p:nvSpPr>
        <p:spPr>
          <a:xfrm xmlns:a="http://schemas.openxmlformats.org/drawingml/2006/main">
            <a:off x="533400" y="6553200"/>
            <a:ext cx="4095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38" b="1" i="0">
                <a:solidFill>
                  <a:srgbClr val="ADB2BC"/>
                </a:solidFill>
                <a:latin typeface="Arial"/>
                <a:ea typeface="Arial"/>
                <a:cs typeface="Arial"/>
              </a:defRPr>
            </a:pPr>
            <a:r>
              <a:rPr sz="638" b="1" i="0">
                <a:solidFill>
                  <a:srgbClr val="ADB2BC"/>
                </a:solidFill>
                <a:latin typeface="Arial"/>
                <a:ea typeface="Arial"/>
                <a:cs typeface="Arial"/>
              </a:rPr>
              <a:t>PULSE INTELLIGENCE LABS  /  Q2 2026 ADVISORY BOARD REVIEW</a:t>
            </a:r>
          </a:p>
        </p:txBody>
      </p:sp>
      <p:sp>
        <p:nvSpPr>
          <p:cNvPr id="46" name="footer-sources">
            <a:extLst xmlns:a="http://schemas.openxmlformats.org/drawingml/2006/main">
              <a:ext uri="{FF2B5EF4-FFF2-40B4-BE49-F238E27FC236}">
                <a16:creationId xmlns:a16="http://schemas.microsoft.com/office/drawing/2014/main" id="{0832D35C-F8C3-413D-B28B-E34EBAF31766}"/>
              </a:ext>
            </a:extLst>
          </p:cNvPr>
          <p:cNvSpPr>
            <a:spLocks xmlns:a="http://schemas.openxmlformats.org/drawingml/2006/main" noGrp="1"/>
          </p:cNvSpPr>
          <p:nvPr/>
        </p:nvSpPr>
        <p:spPr>
          <a:xfrm xmlns:a="http://schemas.openxmlformats.org/drawingml/2006/main">
            <a:off x="7429500" y="655320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585" b="0" i="0">
                <a:solidFill>
                  <a:srgbClr val="ADB2BC"/>
                </a:solidFill>
                <a:latin typeface="Arial"/>
                <a:ea typeface="Arial"/>
                <a:cs typeface="Arial"/>
              </a:defRPr>
            </a:pPr>
            <a:r>
              <a:rPr sz="585" b="0" i="0">
                <a:solidFill>
                  <a:srgbClr val="ADB2BC"/>
                </a:solidFill>
                <a:latin typeface="Arial"/>
                <a:ea typeface="Arial"/>
                <a:cs typeface="Arial"/>
              </a:rPr>
              <a:t>Sources: Ochsner Health; UMES; HyperCharge Health; USA Gymnastics; council-provided backgrounds</a:t>
            </a:r>
          </a:p>
        </p:txBody>
      </p:sp>
      <p:sp>
        <p:nvSpPr>
          <p:cNvPr id="47" name="slide-number">
            <a:extLst xmlns:a="http://schemas.openxmlformats.org/drawingml/2006/main">
              <a:ext uri="{FF2B5EF4-FFF2-40B4-BE49-F238E27FC236}">
                <a16:creationId xmlns:a16="http://schemas.microsoft.com/office/drawing/2014/main" id="{0727C959-8387-4944-B7B7-30E832221A6D}"/>
              </a:ext>
            </a:extLst>
          </p:cNvPr>
          <p:cNvSpPr>
            <a:spLocks xmlns:a="http://schemas.openxmlformats.org/drawingml/2006/main" noGrp="1"/>
          </p:cNvSpPr>
          <p:nvPr/>
        </p:nvSpPr>
        <p:spPr>
          <a:xfrm xmlns:a="http://schemas.openxmlformats.org/drawingml/2006/main">
            <a:off x="11382375" y="65436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38" b="1" i="0">
                <a:solidFill>
                  <a:srgbClr val="C8FF00"/>
                </a:solidFill>
                <a:latin typeface="Arial"/>
                <a:ea typeface="Arial"/>
                <a:cs typeface="Arial"/>
              </a:defRPr>
            </a:pPr>
            <a:r>
              <a:rPr sz="638" b="1" i="0">
                <a:solidFill>
                  <a:srgbClr val="C8FF00"/>
                </a:solidFill>
                <a:latin typeface="Arial"/>
                <a:ea typeface="Arial"/>
                <a:cs typeface="Arial"/>
              </a:rPr>
              <a:t>12</a:t>
            </a:r>
          </a:p>
        </p:txBody>
      </p:sp>
    </p:spTree>
    <p:extLst>
      <p:ext uri="{BB962C8B-B14F-4D97-AF65-F5344CB8AC3E}">
        <p14:creationId xmlns:p14="http://schemas.microsoft.com/office/powerpoint/2010/main" val="1068602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2026-07-28T14:09:02.8530000Z</dcterms:created>
  <dcterms:modified xsi:type="dcterms:W3CDTF">2026-07-28T14:09:02.8530000Z</dcterms:modified>
</coreProperties>
</file>