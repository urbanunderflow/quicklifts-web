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9c03ab134b4a55" /><Relationship Type="http://schemas.openxmlformats.org/officeDocument/2006/relationships/extended-properties" Target="/docProps/app.xml" Id="Rd6c64c0676f846cd" /><Relationship Type="http://schemas.openxmlformats.org/officeDocument/2006/relationships/officeDocument" Target="/ppt/presentation.xml" Id="R4732730ec4f142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f6c014cb0b4398"/>
  </p:sldMasterIdLst>
  <p:notesMasterIdLst>
    <p:notesMasterId xmlns:r="http://schemas.openxmlformats.org/officeDocument/2006/relationships" r:id="R1473c3a127a34156"/>
  </p:notesMasterIdLst>
  <p:sldIdLst>
    <p:sldId xmlns:r="http://schemas.openxmlformats.org/officeDocument/2006/relationships" id="256" r:id="R8410cfd51f0c40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312ef458614f20" /><Relationship Type="http://schemas.openxmlformats.org/officeDocument/2006/relationships/slideMaster" Target="/ppt/slideMasters/slideMaster1.xml" Id="Rbbf6c014cb0b4398" /><Relationship Type="http://schemas.openxmlformats.org/officeDocument/2006/relationships/notesMaster" Target="/ppt/notesMasters/notesMaster1.xml" Id="R1473c3a127a34156" /><Relationship Type="http://schemas.openxmlformats.org/officeDocument/2006/relationships/presProps" Target="/ppt/presProps.xml" Id="Rab09243adf8b4cb4" /><Relationship Type="http://schemas.openxmlformats.org/officeDocument/2006/relationships/tableStyles" Target="/ppt/tableStyles.xml" Id="R7b2148a16bab4fd9" /><Relationship Type="http://schemas.openxmlformats.org/officeDocument/2006/relationships/slide" Target="/ppt/slides/slide1.xml" Id="R8410cfd51f0c40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01417e945640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846c29ffc64f7f" /><Relationship Type="http://schemas.openxmlformats.org/officeDocument/2006/relationships/notesMaster" Target="/ppt/notesMasters/notesMaster1.xml" Id="R319f010dec834a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Pulse raise terms and use-of-funds allocations totaling $1.4M.</a:t>
            </a:r>
          </a:p>
          <a:p xmlns:a="http://schemas.openxmlformats.org/drawingml/2006/main">
            <a:r>
              <a:t>- User-approved operating assumptions from the revenue roadmap: 14 athletic departments, 250 athletes per department, $300 per athlete annually, $1.05M ARR, and a $5M qualified pipeline target.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2a9f3bd55849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8245cf8b8549f7" /><Relationship Type="http://schemas.openxmlformats.org/officeDocument/2006/relationships/slideLayout" Target="/ppt/slideLayouts/slideLayout1.xml" Id="Rb7efe5cb3deb46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efe5cb3deb46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82eabe3f2847f0" /><Relationship Type="http://schemas.openxmlformats.org/officeDocument/2006/relationships/image" Target="/ppt/media/image.png" Id="R143635d2257c46ce" /><Relationship Type="http://schemas.openxmlformats.org/officeDocument/2006/relationships/notesSlide" Target="/ppt/notesSlides/notesSlide1.xml" Id="Rdc1cd064ab1846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A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ask-eyebrow">
            <a:extLst xmlns:a="http://schemas.openxmlformats.org/drawingml/2006/main">
              <a:ext uri="{FF2B5EF4-FFF2-40B4-BE49-F238E27FC236}">
                <a16:creationId xmlns:a16="http://schemas.microsoft.com/office/drawing/2014/main" id="{3CA95367-ADF2-41FE-A716-99C25200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809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1519"/>
          </a:solidFill>
          <a:ln xmlns:a="http://schemas.openxmlformats.org/drawingml/2006/main" w="9525">
            <a:solidFill>
              <a:srgbClr val="2B2F35"/>
            </a:solidFill>
            <a:prstDash val="solid"/>
          </a:ln>
        </p:spPr>
        <p:txBody>
          <a:bodyPr xmlns:a="http://schemas.openxmlformats.org/drawingml/2006/main" lIns="95250" tIns="0" rIns="952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8FF00"/>
                </a:solidFill>
                <a:latin typeface="Arial"/>
                <a:ea typeface="Arial"/>
                <a:cs typeface="Arial"/>
              </a:rPr>
              <a:t>●</a:t>
            </a:r>
            <a:r>
              <a:rPr sz="1050" b="1">
                <a:solidFill>
                  <a:srgbClr val="F5F6F7"/>
                </a:solidFill>
                <a:latin typeface="Arial"/>
                <a:ea typeface="Arial"/>
                <a:cs typeface="Arial"/>
              </a:rPr>
              <a:t>  THE ASK</a:t>
            </a:r>
          </a:p>
        </p:txBody>
      </p:sp>
      <p:sp>
        <p:nvSpPr>
          <p:cNvPr id="2" name="raise-meta">
            <a:extLst xmlns:a="http://schemas.openxmlformats.org/drawingml/2006/main">
              <a:ext uri="{FF2B5EF4-FFF2-40B4-BE49-F238E27FC236}">
                <a16:creationId xmlns:a16="http://schemas.microsoft.com/office/drawing/2014/main" id="{C982AE18-9CF8-4864-9E3F-79396C75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95300"/>
            <a:ext cx="2686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A9FA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9FAA"/>
                </a:solidFill>
                <a:latin typeface="Arial"/>
                <a:ea typeface="Arial"/>
                <a:cs typeface="Arial"/>
              </a:rPr>
              <a:t>PRE-SEED  •  $10M PRE-MONEY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3DA8871-3D88-45FC-AD28-A56A1AC7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rmAutofit fontScale="99792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5F6F7"/>
                </a:solidFill>
                <a:latin typeface="Arial"/>
                <a:ea typeface="Arial"/>
                <a:cs typeface="Arial"/>
              </a:rPr>
              <a:t>Raising </a:t>
            </a:r>
            <a:r>
              <a:rPr sz="3225" b="1">
                <a:solidFill>
                  <a:srgbClr val="C8FF00"/>
                </a:solidFill>
                <a:latin typeface="Arial"/>
                <a:ea typeface="Arial"/>
                <a:cs typeface="Arial"/>
              </a:rPr>
              <a:t>$1.4M</a:t>
            </a:r>
            <a:r>
              <a:rPr sz="3225" b="1">
                <a:solidFill>
                  <a:srgbClr val="F5F6F7"/>
                </a:solidFill>
                <a:latin typeface="Arial"/>
                <a:ea typeface="Arial"/>
                <a:cs typeface="Arial"/>
              </a:rPr>
              <a:t> to validate the model and reach </a:t>
            </a:r>
            <a:r>
              <a:rPr sz="3225" b="1">
                <a:solidFill>
                  <a:srgbClr val="C8FF00"/>
                </a:solidFill>
                <a:latin typeface="Arial"/>
                <a:ea typeface="Arial"/>
                <a:cs typeface="Arial"/>
              </a:rPr>
              <a:t>$1M ARR.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42F7133-6BF8-4D52-9D7E-9048EC34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9A9FA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9A9FAA"/>
                </a:solidFill>
                <a:latin typeface="Arial"/>
                <a:ea typeface="Arial"/>
                <a:cs typeface="Arial"/>
              </a:rPr>
              <a:t>This round funds the product, evidence and GTM engine required to establish a repeatable college-athletics beachhead.</a:t>
            </a:r>
          </a:p>
        </p:txBody>
      </p:sp>
      <p:sp>
        <p:nvSpPr>
          <p:cNvPr id="5" name="funds-heading">
            <a:extLst xmlns:a="http://schemas.openxmlformats.org/drawingml/2006/main">
              <a:ext uri="{FF2B5EF4-FFF2-40B4-BE49-F238E27FC236}">
                <a16:creationId xmlns:a16="http://schemas.microsoft.com/office/drawing/2014/main" id="{105C195C-FF48-44F1-88F7-8628DBE9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502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FF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FF00"/>
                </a:solidFill>
                <a:latin typeface="Arial"/>
                <a:ea typeface="Arial"/>
                <a:cs typeface="Arial"/>
              </a:rPr>
              <a:t>USE OF FUNDS</a:t>
            </a:r>
          </a:p>
        </p:txBody>
      </p:sp>
      <p:sp>
        <p:nvSpPr>
          <p:cNvPr id="6" name="milestones-heading">
            <a:extLst xmlns:a="http://schemas.openxmlformats.org/drawingml/2006/main">
              <a:ext uri="{FF2B5EF4-FFF2-40B4-BE49-F238E27FC236}">
                <a16:creationId xmlns:a16="http://schemas.microsoft.com/office/drawing/2014/main" id="{18BA3921-DB34-40F0-A662-8FE29E52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66950"/>
            <a:ext cx="502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FF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FF00"/>
                </a:solidFill>
                <a:latin typeface="Arial"/>
                <a:ea typeface="Arial"/>
                <a:cs typeface="Arial"/>
              </a:rPr>
              <a:t>MILESTONES THIS ROUND UNLOCKS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3635d2257c46ce"/>
          <a:stretch xmlns:a="http://schemas.openxmlformats.org/drawingml/2006/main"/>
        </p:blipFill>
        <p:spPr>
          <a:xfrm xmlns:a="http://schemas.openxmlformats.org/drawingml/2006/main">
            <a:off x="514350" y="2628900"/>
            <a:ext cx="2952750" cy="2952750"/>
          </a:xfrm>
          <a:prstGeom xmlns:a="http://schemas.openxmlformats.org/drawingml/2006/main" prst="rect">
            <a:avLst/>
          </a:prstGeom>
        </p:spPr>
      </p:pic>
      <p:sp>
        <p:nvSpPr>
          <p:cNvPr id="8" name="funds-total">
            <a:extLst xmlns:a="http://schemas.openxmlformats.org/drawingml/2006/main">
              <a:ext uri="{FF2B5EF4-FFF2-40B4-BE49-F238E27FC236}">
                <a16:creationId xmlns:a16="http://schemas.microsoft.com/office/drawing/2014/main" id="{BF2BC913-9BFF-46AD-B01D-1683A543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8165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6F7"/>
                </a:solidFill>
                <a:latin typeface="Arial"/>
                <a:ea typeface="Arial"/>
                <a:cs typeface="Arial"/>
              </a:rPr>
              <a:t>$1.4M TOTAL</a:t>
            </a:r>
          </a:p>
        </p:txBody>
      </p:sp>
      <p:sp>
        <p:nvSpPr>
          <p:cNvPr id="9" name="engineering-dot">
            <a:extLst xmlns:a="http://schemas.openxmlformats.org/drawingml/2006/main">
              <a:ext uri="{FF2B5EF4-FFF2-40B4-BE49-F238E27FC236}">
                <a16:creationId xmlns:a16="http://schemas.microsoft.com/office/drawing/2014/main" id="{D84CAC47-4692-45A0-BF7A-8A6D1768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90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8CFF"/>
          </a:solidFill>
          <a:ln xmlns:a="http://schemas.openxmlformats.org/drawingml/2006/main" w="0">
            <a:solidFill>
              <a:srgbClr val="4E8CFF"/>
            </a:solidFill>
            <a:prstDash val="solid"/>
          </a:ln>
        </p:spPr>
      </p:sp>
      <p:sp>
        <p:nvSpPr>
          <p:cNvPr id="10" name="engineering-label">
            <a:extLst xmlns:a="http://schemas.openxmlformats.org/drawingml/2006/main">
              <a:ext uri="{FF2B5EF4-FFF2-40B4-BE49-F238E27FC236}">
                <a16:creationId xmlns:a16="http://schemas.microsoft.com/office/drawing/2014/main" id="{AB1631BD-41F8-4D67-B2E2-84726EA0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752725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98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998">
                <a:solidFill>
                  <a:srgbClr val="F5F6F7"/>
                </a:solidFill>
                <a:latin typeface="Arial"/>
                <a:ea typeface="Arial"/>
                <a:cs typeface="Arial"/>
              </a:rPr>
              <a:t>Engineering</a:t>
            </a:r>
          </a:p>
        </p:txBody>
      </p:sp>
      <p:sp>
        <p:nvSpPr>
          <p:cNvPr id="11" name="engineering-value">
            <a:extLst xmlns:a="http://schemas.openxmlformats.org/drawingml/2006/main">
              <a:ext uri="{FF2B5EF4-FFF2-40B4-BE49-F238E27FC236}">
                <a16:creationId xmlns:a16="http://schemas.microsoft.com/office/drawing/2014/main" id="{1A28C035-A2F9-4B61-BE56-7E9DE22C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752725"/>
            <a:ext cx="752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98" b="1">
                <a:solidFill>
                  <a:srgbClr val="4E8CFF"/>
                </a:solidFill>
                <a:latin typeface="Arial"/>
                <a:ea typeface="Arial"/>
                <a:cs typeface="Arial"/>
              </a:defRPr>
            </a:pPr>
            <a:r>
              <a:rPr sz="998" b="1">
                <a:solidFill>
                  <a:srgbClr val="4E8CFF"/>
                </a:solidFill>
                <a:latin typeface="Arial"/>
                <a:ea typeface="Arial"/>
                <a:cs typeface="Arial"/>
              </a:rPr>
              <a:t>$450K · 32%</a:t>
            </a:r>
          </a:p>
        </p:txBody>
      </p:sp>
      <p:sp>
        <p:nvSpPr>
          <p:cNvPr id="12" name="gtm-dot">
            <a:extLst xmlns:a="http://schemas.openxmlformats.org/drawingml/2006/main">
              <a:ext uri="{FF2B5EF4-FFF2-40B4-BE49-F238E27FC236}">
                <a16:creationId xmlns:a16="http://schemas.microsoft.com/office/drawing/2014/main" id="{6AFBF91C-E6FD-49FA-B3EA-0B8C384E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48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22E"/>
          </a:solidFill>
          <a:ln xmlns:a="http://schemas.openxmlformats.org/drawingml/2006/main" w="0">
            <a:solidFill>
              <a:srgbClr val="FFA22E"/>
            </a:solidFill>
            <a:prstDash val="solid"/>
          </a:ln>
        </p:spPr>
      </p:sp>
      <p:sp>
        <p:nvSpPr>
          <p:cNvPr id="13" name="gtm-label">
            <a:extLst xmlns:a="http://schemas.openxmlformats.org/drawingml/2006/main">
              <a:ext uri="{FF2B5EF4-FFF2-40B4-BE49-F238E27FC236}">
                <a16:creationId xmlns:a16="http://schemas.microsoft.com/office/drawing/2014/main" id="{96B919A9-DBB3-4164-B21D-547E5483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209925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98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998">
                <a:solidFill>
                  <a:srgbClr val="F5F6F7"/>
                </a:solidFill>
                <a:latin typeface="Arial"/>
                <a:ea typeface="Arial"/>
                <a:cs typeface="Arial"/>
              </a:rPr>
              <a:t>GTM + marketing</a:t>
            </a:r>
          </a:p>
        </p:txBody>
      </p:sp>
      <p:sp>
        <p:nvSpPr>
          <p:cNvPr id="14" name="gtm-value">
            <a:extLst xmlns:a="http://schemas.openxmlformats.org/drawingml/2006/main">
              <a:ext uri="{FF2B5EF4-FFF2-40B4-BE49-F238E27FC236}">
                <a16:creationId xmlns:a16="http://schemas.microsoft.com/office/drawing/2014/main" id="{C04BEC75-DBFC-45E3-B125-115E34E5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209925"/>
            <a:ext cx="752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98" b="1">
                <a:solidFill>
                  <a:srgbClr val="FFA22E"/>
                </a:solidFill>
                <a:latin typeface="Arial"/>
                <a:ea typeface="Arial"/>
                <a:cs typeface="Arial"/>
              </a:defRPr>
            </a:pPr>
            <a:r>
              <a:rPr sz="998" b="1">
                <a:solidFill>
                  <a:srgbClr val="FFA22E"/>
                </a:solidFill>
                <a:latin typeface="Arial"/>
                <a:ea typeface="Arial"/>
                <a:cs typeface="Arial"/>
              </a:rPr>
              <a:t>$300K · 21%</a:t>
            </a:r>
          </a:p>
        </p:txBody>
      </p:sp>
      <p:sp>
        <p:nvSpPr>
          <p:cNvPr id="15" name="runway-dot">
            <a:extLst xmlns:a="http://schemas.openxmlformats.org/drawingml/2006/main">
              <a:ext uri="{FF2B5EF4-FFF2-40B4-BE49-F238E27FC236}">
                <a16:creationId xmlns:a16="http://schemas.microsoft.com/office/drawing/2014/main" id="{6076AE64-C21A-4D87-8A4F-BC7119BD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05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929A"/>
          </a:solidFill>
          <a:ln xmlns:a="http://schemas.openxmlformats.org/drawingml/2006/main" w="0">
            <a:solidFill>
              <a:srgbClr val="8D929A"/>
            </a:solidFill>
            <a:prstDash val="solid"/>
          </a:ln>
        </p:spPr>
      </p:sp>
      <p:sp>
        <p:nvSpPr>
          <p:cNvPr id="16" name="runway-label">
            <a:extLst xmlns:a="http://schemas.openxmlformats.org/drawingml/2006/main">
              <a:ext uri="{FF2B5EF4-FFF2-40B4-BE49-F238E27FC236}">
                <a16:creationId xmlns:a16="http://schemas.microsoft.com/office/drawing/2014/main" id="{9D62020A-5C5A-4BF4-9F49-7286CDC8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667125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98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998">
                <a:solidFill>
                  <a:srgbClr val="F5F6F7"/>
                </a:solidFill>
                <a:latin typeface="Arial"/>
                <a:ea typeface="Arial"/>
                <a:cs typeface="Arial"/>
              </a:rPr>
              <a:t>Operating runway</a:t>
            </a:r>
          </a:p>
        </p:txBody>
      </p:sp>
      <p:sp>
        <p:nvSpPr>
          <p:cNvPr id="17" name="runway-value">
            <a:extLst xmlns:a="http://schemas.openxmlformats.org/drawingml/2006/main">
              <a:ext uri="{FF2B5EF4-FFF2-40B4-BE49-F238E27FC236}">
                <a16:creationId xmlns:a16="http://schemas.microsoft.com/office/drawing/2014/main" id="{BCA7E2A3-F64C-4302-86F1-66EB8591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667125"/>
            <a:ext cx="752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98" b="1">
                <a:solidFill>
                  <a:srgbClr val="8D929A"/>
                </a:solidFill>
                <a:latin typeface="Arial"/>
                <a:ea typeface="Arial"/>
                <a:cs typeface="Arial"/>
              </a:defRPr>
            </a:pPr>
            <a:r>
              <a:rPr sz="998" b="1">
                <a:solidFill>
                  <a:srgbClr val="8D929A"/>
                </a:solidFill>
                <a:latin typeface="Arial"/>
                <a:ea typeface="Arial"/>
                <a:cs typeface="Arial"/>
              </a:rPr>
              <a:t>$250K · 18%</a:t>
            </a:r>
          </a:p>
        </p:txBody>
      </p:sp>
      <p:sp>
        <p:nvSpPr>
          <p:cNvPr id="18" name="partnerships-dot">
            <a:extLst xmlns:a="http://schemas.openxmlformats.org/drawingml/2006/main">
              <a:ext uri="{FF2B5EF4-FFF2-40B4-BE49-F238E27FC236}">
                <a16:creationId xmlns:a16="http://schemas.microsoft.com/office/drawing/2014/main" id="{7C2DE8ED-E6FE-4D6D-828E-31A19322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62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78FF"/>
          </a:solidFill>
          <a:ln xmlns:a="http://schemas.openxmlformats.org/drawingml/2006/main" w="0">
            <a:solidFill>
              <a:srgbClr val="9A78FF"/>
            </a:solidFill>
            <a:prstDash val="solid"/>
          </a:ln>
        </p:spPr>
      </p:sp>
      <p:sp>
        <p:nvSpPr>
          <p:cNvPr id="19" name="partnerships-label">
            <a:extLst xmlns:a="http://schemas.openxmlformats.org/drawingml/2006/main">
              <a:ext uri="{FF2B5EF4-FFF2-40B4-BE49-F238E27FC236}">
                <a16:creationId xmlns:a16="http://schemas.microsoft.com/office/drawing/2014/main" id="{5866CDA1-F31A-494F-875B-24F775F3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124325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98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998">
                <a:solidFill>
                  <a:srgbClr val="F5F6F7"/>
                </a:solidFill>
                <a:latin typeface="Arial"/>
                <a:ea typeface="Arial"/>
                <a:cs typeface="Arial"/>
              </a:rPr>
              <a:t>Partnerships</a:t>
            </a:r>
          </a:p>
        </p:txBody>
      </p:sp>
      <p:sp>
        <p:nvSpPr>
          <p:cNvPr id="20" name="partnerships-value">
            <a:extLst xmlns:a="http://schemas.openxmlformats.org/drawingml/2006/main">
              <a:ext uri="{FF2B5EF4-FFF2-40B4-BE49-F238E27FC236}">
                <a16:creationId xmlns:a16="http://schemas.microsoft.com/office/drawing/2014/main" id="{67967C76-F23C-40CE-984F-B257BE53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124325"/>
            <a:ext cx="752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98" b="1">
                <a:solidFill>
                  <a:srgbClr val="9A78FF"/>
                </a:solidFill>
                <a:latin typeface="Arial"/>
                <a:ea typeface="Arial"/>
                <a:cs typeface="Arial"/>
              </a:defRPr>
            </a:pPr>
            <a:r>
              <a:rPr sz="998" b="1">
                <a:solidFill>
                  <a:srgbClr val="9A78FF"/>
                </a:solidFill>
                <a:latin typeface="Arial"/>
                <a:ea typeface="Arial"/>
                <a:cs typeface="Arial"/>
              </a:rPr>
              <a:t>$150K · 11%</a:t>
            </a:r>
          </a:p>
        </p:txBody>
      </p:sp>
      <p:sp>
        <p:nvSpPr>
          <p:cNvPr id="21" name="science-dot">
            <a:extLst xmlns:a="http://schemas.openxmlformats.org/drawingml/2006/main">
              <a:ext uri="{FF2B5EF4-FFF2-40B4-BE49-F238E27FC236}">
                <a16:creationId xmlns:a16="http://schemas.microsoft.com/office/drawing/2014/main" id="{88F32C05-04DE-4AF9-A79C-614B5A21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619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AA5"/>
          </a:solidFill>
          <a:ln xmlns:a="http://schemas.openxmlformats.org/drawingml/2006/main" w="0">
            <a:solidFill>
              <a:srgbClr val="F45AA5"/>
            </a:solidFill>
            <a:prstDash val="solid"/>
          </a:ln>
        </p:spPr>
      </p:sp>
      <p:sp>
        <p:nvSpPr>
          <p:cNvPr id="22" name="science-label">
            <a:extLst xmlns:a="http://schemas.openxmlformats.org/drawingml/2006/main">
              <a:ext uri="{FF2B5EF4-FFF2-40B4-BE49-F238E27FC236}">
                <a16:creationId xmlns:a16="http://schemas.microsoft.com/office/drawing/2014/main" id="{2D0DA395-5739-4C79-BE41-7122FB70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581525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98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998">
                <a:solidFill>
                  <a:srgbClr val="F5F6F7"/>
                </a:solidFill>
                <a:latin typeface="Arial"/>
                <a:ea typeface="Arial"/>
                <a:cs typeface="Arial"/>
              </a:rPr>
              <a:t>Performance science</a:t>
            </a:r>
          </a:p>
        </p:txBody>
      </p:sp>
      <p:sp>
        <p:nvSpPr>
          <p:cNvPr id="23" name="science-value">
            <a:extLst xmlns:a="http://schemas.openxmlformats.org/drawingml/2006/main">
              <a:ext uri="{FF2B5EF4-FFF2-40B4-BE49-F238E27FC236}">
                <a16:creationId xmlns:a16="http://schemas.microsoft.com/office/drawing/2014/main" id="{1474B5AA-79A2-41AC-BD3C-DE8DBD47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581525"/>
            <a:ext cx="752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98" b="1">
                <a:solidFill>
                  <a:srgbClr val="F45AA5"/>
                </a:solidFill>
                <a:latin typeface="Arial"/>
                <a:ea typeface="Arial"/>
                <a:cs typeface="Arial"/>
              </a:defRPr>
            </a:pPr>
            <a:r>
              <a:rPr sz="998" b="1">
                <a:solidFill>
                  <a:srgbClr val="F45AA5"/>
                </a:solidFill>
                <a:latin typeface="Arial"/>
                <a:ea typeface="Arial"/>
                <a:cs typeface="Arial"/>
              </a:rPr>
              <a:t>$150K · 11%</a:t>
            </a:r>
          </a:p>
        </p:txBody>
      </p:sp>
      <p:sp>
        <p:nvSpPr>
          <p:cNvPr id="24" name="rd-dot">
            <a:extLst xmlns:a="http://schemas.openxmlformats.org/drawingml/2006/main">
              <a:ext uri="{FF2B5EF4-FFF2-40B4-BE49-F238E27FC236}">
                <a16:creationId xmlns:a16="http://schemas.microsoft.com/office/drawing/2014/main" id="{E4B22C16-A667-41BB-B26E-4D099D3A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076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FF00"/>
          </a:solidFill>
          <a:ln xmlns:a="http://schemas.openxmlformats.org/drawingml/2006/main" w="0">
            <a:solidFill>
              <a:srgbClr val="C8FF00"/>
            </a:solidFill>
            <a:prstDash val="solid"/>
          </a:ln>
        </p:spPr>
      </p:sp>
      <p:sp>
        <p:nvSpPr>
          <p:cNvPr id="25" name="rd-label">
            <a:extLst xmlns:a="http://schemas.openxmlformats.org/drawingml/2006/main">
              <a:ext uri="{FF2B5EF4-FFF2-40B4-BE49-F238E27FC236}">
                <a16:creationId xmlns:a16="http://schemas.microsoft.com/office/drawing/2014/main" id="{249CAE43-9A6A-4656-BB81-D5770A8F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038725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98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998">
                <a:solidFill>
                  <a:srgbClr val="F5F6F7"/>
                </a:solidFill>
                <a:latin typeface="Arial"/>
                <a:ea typeface="Arial"/>
                <a:cs typeface="Arial"/>
              </a:rPr>
              <a:t>Product R&amp;D</a:t>
            </a:r>
          </a:p>
        </p:txBody>
      </p:sp>
      <p:sp>
        <p:nvSpPr>
          <p:cNvPr id="26" name="rd-value">
            <a:extLst xmlns:a="http://schemas.openxmlformats.org/drawingml/2006/main">
              <a:ext uri="{FF2B5EF4-FFF2-40B4-BE49-F238E27FC236}">
                <a16:creationId xmlns:a16="http://schemas.microsoft.com/office/drawing/2014/main" id="{33B14817-913D-4541-B38F-94DC1881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038725"/>
            <a:ext cx="752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98" b="1">
                <a:solidFill>
                  <a:srgbClr val="C8FF00"/>
                </a:solidFill>
                <a:latin typeface="Arial"/>
                <a:ea typeface="Arial"/>
                <a:cs typeface="Arial"/>
              </a:defRPr>
            </a:pPr>
            <a:r>
              <a:rPr sz="998" b="1">
                <a:solidFill>
                  <a:srgbClr val="C8FF00"/>
                </a:solidFill>
                <a:latin typeface="Arial"/>
                <a:ea typeface="Arial"/>
                <a:cs typeface="Arial"/>
              </a:rPr>
              <a:t>$100K · 7%</a:t>
            </a:r>
          </a:p>
        </p:txBody>
      </p:sp>
      <p:sp>
        <p:nvSpPr>
          <p:cNvPr id="27" name="content-divider">
            <a:extLst xmlns:a="http://schemas.openxmlformats.org/drawingml/2006/main">
              <a:ext uri="{FF2B5EF4-FFF2-40B4-BE49-F238E27FC236}">
                <a16:creationId xmlns:a16="http://schemas.microsoft.com/office/drawing/2014/main" id="{98574461-E707-4DFC-AB73-DC9393CC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66950"/>
            <a:ext cx="9525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milestone-01-number">
            <a:extLst xmlns:a="http://schemas.openxmlformats.org/drawingml/2006/main">
              <a:ext uri="{FF2B5EF4-FFF2-40B4-BE49-F238E27FC236}">
                <a16:creationId xmlns:a16="http://schemas.microsoft.com/office/drawing/2014/main" id="{D0E702FF-078F-415C-A147-8C622930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14625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E8C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E8C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9" name="milestone-01-title">
            <a:extLst xmlns:a="http://schemas.openxmlformats.org/drawingml/2006/main">
              <a:ext uri="{FF2B5EF4-FFF2-40B4-BE49-F238E27FC236}">
                <a16:creationId xmlns:a16="http://schemas.microsoft.com/office/drawing/2014/main" id="{ADBD1B5E-B47B-42DF-85FA-963531AB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705100"/>
            <a:ext cx="4343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6F7"/>
                </a:solidFill>
                <a:latin typeface="Arial"/>
                <a:ea typeface="Arial"/>
                <a:cs typeface="Arial"/>
              </a:rPr>
              <a:t>Validate the product</a:t>
            </a:r>
          </a:p>
        </p:txBody>
      </p:sp>
      <p:sp>
        <p:nvSpPr>
          <p:cNvPr id="30" name="milestone-01-body">
            <a:extLst xmlns:a="http://schemas.openxmlformats.org/drawingml/2006/main">
              <a:ext uri="{FF2B5EF4-FFF2-40B4-BE49-F238E27FC236}">
                <a16:creationId xmlns:a16="http://schemas.microsoft.com/office/drawing/2014/main" id="{237DD6E9-EA61-4264-959B-343C9913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9085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9A9FAA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9A9FAA"/>
                </a:solidFill>
                <a:latin typeface="Arial"/>
                <a:ea typeface="Arial"/>
                <a:cs typeface="Arial"/>
              </a:rPr>
              <a:t>Deploy an institution-ready platform across three paid pilots with repeatable onboarding, reporting and implementation.</a:t>
            </a:r>
          </a:p>
        </p:txBody>
      </p:sp>
      <p:sp>
        <p:nvSpPr>
          <p:cNvPr id="31" name="milestone-divider-one">
            <a:extLst xmlns:a="http://schemas.openxmlformats.org/drawingml/2006/main">
              <a:ext uri="{FF2B5EF4-FFF2-40B4-BE49-F238E27FC236}">
                <a16:creationId xmlns:a16="http://schemas.microsoft.com/office/drawing/2014/main" id="{C390399A-9E37-4D2E-83F1-51ED425E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38525"/>
            <a:ext cx="502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milestone-02-number">
            <a:extLst xmlns:a="http://schemas.openxmlformats.org/drawingml/2006/main">
              <a:ext uri="{FF2B5EF4-FFF2-40B4-BE49-F238E27FC236}">
                <a16:creationId xmlns:a16="http://schemas.microsoft.com/office/drawing/2014/main" id="{3FBE96A4-EA43-4539-9A88-9EA737EB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195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9A78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9A78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3" name="milestone-02-title">
            <a:extLst xmlns:a="http://schemas.openxmlformats.org/drawingml/2006/main">
              <a:ext uri="{FF2B5EF4-FFF2-40B4-BE49-F238E27FC236}">
                <a16:creationId xmlns:a16="http://schemas.microsoft.com/office/drawing/2014/main" id="{31665F9C-6FFA-4F92-98C5-8BE0BF75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609975"/>
            <a:ext cx="4343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6F7"/>
                </a:solidFill>
                <a:latin typeface="Arial"/>
                <a:ea typeface="Arial"/>
                <a:cs typeface="Arial"/>
              </a:rPr>
              <a:t>Prove measurable outcomes</a:t>
            </a:r>
          </a:p>
        </p:txBody>
      </p:sp>
      <p:sp>
        <p:nvSpPr>
          <p:cNvPr id="34" name="milestone-02-body">
            <a:extLst xmlns:a="http://schemas.openxmlformats.org/drawingml/2006/main">
              <a:ext uri="{FF2B5EF4-FFF2-40B4-BE49-F238E27FC236}">
                <a16:creationId xmlns:a16="http://schemas.microsoft.com/office/drawing/2014/main" id="{11875679-EC8B-4948-A4B6-2C2A8F72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89572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9A9FAA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9A9FAA"/>
                </a:solidFill>
                <a:latin typeface="Arial"/>
                <a:ea typeface="Arial"/>
                <a:cs typeface="Arial"/>
              </a:rPr>
              <a:t>Establish institutional case studies and credible athlete-engagement benchmarks.</a:t>
            </a:r>
          </a:p>
        </p:txBody>
      </p:sp>
      <p:sp>
        <p:nvSpPr>
          <p:cNvPr id="35" name="milestone-divider-two">
            <a:extLst xmlns:a="http://schemas.openxmlformats.org/drawingml/2006/main">
              <a:ext uri="{FF2B5EF4-FFF2-40B4-BE49-F238E27FC236}">
                <a16:creationId xmlns:a16="http://schemas.microsoft.com/office/drawing/2014/main" id="{F914EAB3-7FEF-4997-8E26-D75DA26D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43400"/>
            <a:ext cx="502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milestone-03-number">
            <a:extLst xmlns:a="http://schemas.openxmlformats.org/drawingml/2006/main">
              <a:ext uri="{FF2B5EF4-FFF2-40B4-BE49-F238E27FC236}">
                <a16:creationId xmlns:a16="http://schemas.microsoft.com/office/drawing/2014/main" id="{BB0FF154-FEDF-42D6-98FC-DA64D20B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24375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8FF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8FF0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7" name="milestone-03-title">
            <a:extLst xmlns:a="http://schemas.openxmlformats.org/drawingml/2006/main">
              <a:ext uri="{FF2B5EF4-FFF2-40B4-BE49-F238E27FC236}">
                <a16:creationId xmlns:a16="http://schemas.microsoft.com/office/drawing/2014/main" id="{91F0B0D1-2209-4AC2-8200-3A679E45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514850"/>
            <a:ext cx="4343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6F7"/>
                </a:solidFill>
                <a:latin typeface="Arial"/>
                <a:ea typeface="Arial"/>
                <a:cs typeface="Arial"/>
              </a:rPr>
              <a:t>Reach $1.05M ARR</a:t>
            </a:r>
          </a:p>
        </p:txBody>
      </p:sp>
      <p:sp>
        <p:nvSpPr>
          <p:cNvPr id="38" name="milestone-03-body">
            <a:extLst xmlns:a="http://schemas.openxmlformats.org/drawingml/2006/main">
              <a:ext uri="{FF2B5EF4-FFF2-40B4-BE49-F238E27FC236}">
                <a16:creationId xmlns:a16="http://schemas.microsoft.com/office/drawing/2014/main" id="{3048259B-0D2B-4701-9376-70C55941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80060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9A9FAA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9A9FAA"/>
                </a:solidFill>
                <a:latin typeface="Arial"/>
                <a:ea typeface="Arial"/>
                <a:cs typeface="Arial"/>
              </a:rPr>
              <a:t>Convert 14 athletic departments and approximately 3,500 athletes into paid contracts.</a:t>
            </a:r>
          </a:p>
        </p:txBody>
      </p:sp>
      <p:sp>
        <p:nvSpPr>
          <p:cNvPr id="39" name="milestone-divider-three">
            <a:extLst xmlns:a="http://schemas.openxmlformats.org/drawingml/2006/main">
              <a:ext uri="{FF2B5EF4-FFF2-40B4-BE49-F238E27FC236}">
                <a16:creationId xmlns:a16="http://schemas.microsoft.com/office/drawing/2014/main" id="{8F94A8E9-76D7-4BF9-A335-C2FDAEAB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48275"/>
            <a:ext cx="502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milestone-04-number">
            <a:extLst xmlns:a="http://schemas.openxmlformats.org/drawingml/2006/main">
              <a:ext uri="{FF2B5EF4-FFF2-40B4-BE49-F238E27FC236}">
                <a16:creationId xmlns:a16="http://schemas.microsoft.com/office/drawing/2014/main" id="{A63549E3-A1A8-41F4-BE1D-DA02C8D3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4292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A2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A22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1" name="milestone-04-title">
            <a:extLst xmlns:a="http://schemas.openxmlformats.org/drawingml/2006/main">
              <a:ext uri="{FF2B5EF4-FFF2-40B4-BE49-F238E27FC236}">
                <a16:creationId xmlns:a16="http://schemas.microsoft.com/office/drawing/2014/main" id="{4CC635E9-2DC5-4F42-BDBD-21983291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419725"/>
            <a:ext cx="4343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6F7"/>
                </a:solidFill>
                <a:latin typeface="Arial"/>
                <a:ea typeface="Arial"/>
                <a:cs typeface="Arial"/>
              </a:rPr>
              <a:t>Build a $5M qualified pipeline</a:t>
            </a:r>
          </a:p>
        </p:txBody>
      </p:sp>
      <p:sp>
        <p:nvSpPr>
          <p:cNvPr id="42" name="milestone-04-body">
            <a:extLst xmlns:a="http://schemas.openxmlformats.org/drawingml/2006/main">
              <a:ext uri="{FF2B5EF4-FFF2-40B4-BE49-F238E27FC236}">
                <a16:creationId xmlns:a16="http://schemas.microsoft.com/office/drawing/2014/main" id="{A006590D-D8A3-44CF-9F4E-9AAC1F94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70547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9A9FAA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9A9FAA"/>
                </a:solidFill>
                <a:latin typeface="Arial"/>
                <a:ea typeface="Arial"/>
                <a:cs typeface="Arial"/>
              </a:rPr>
              <a:t>Create repeatable acquisition through the Council, industry conferences and elite youth events.</a:t>
            </a:r>
          </a:p>
        </p:txBody>
      </p:sp>
      <p:sp>
        <p:nvSpPr>
          <p:cNvPr id="43" name="next-round-band">
            <a:extLst xmlns:a="http://schemas.openxmlformats.org/drawingml/2006/main">
              <a:ext uri="{FF2B5EF4-FFF2-40B4-BE49-F238E27FC236}">
                <a16:creationId xmlns:a16="http://schemas.microsoft.com/office/drawing/2014/main" id="{C08E492F-CB25-44A1-9502-3D529C71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9728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71D12"/>
          </a:solidFill>
          <a:ln xmlns:a="http://schemas.openxmlformats.org/drawingml/2006/main" w="9525">
            <a:solidFill>
              <a:srgbClr val="536A00"/>
            </a:solidFill>
            <a:prstDash val="solid"/>
          </a:ln>
        </p:spPr>
      </p:sp>
      <p:sp>
        <p:nvSpPr>
          <p:cNvPr id="44" name="next-round-trigger">
            <a:extLst xmlns:a="http://schemas.openxmlformats.org/drawingml/2006/main">
              <a:ext uri="{FF2B5EF4-FFF2-40B4-BE49-F238E27FC236}">
                <a16:creationId xmlns:a16="http://schemas.microsoft.com/office/drawing/2014/main" id="{0361797A-9FCB-4EC3-86C4-8CFEA39C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00775"/>
            <a:ext cx="10515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C8FF00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C8FF00"/>
                </a:solidFill>
                <a:latin typeface="Arial"/>
                <a:ea typeface="Arial"/>
                <a:cs typeface="Arial"/>
              </a:rPr>
              <a:t>NEXT-ROUND TRIGGER  •  $1M+ ARR  •  VALIDATED OUTCOMES  •  REPEATABLE GTM  •  $5M QUALIFIED PIPELINE</a:t>
            </a:r>
          </a:p>
        </p:txBody>
      </p:sp>
      <p:sp>
        <p:nvSpPr>
          <p:cNvPr id="45" name="next-round-message">
            <a:extLst xmlns:a="http://schemas.openxmlformats.org/drawingml/2006/main">
              <a:ext uri="{FF2B5EF4-FFF2-40B4-BE49-F238E27FC236}">
                <a16:creationId xmlns:a16="http://schemas.microsoft.com/office/drawing/2014/main" id="{08FAD143-300F-440E-924B-39D629C8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91275"/>
            <a:ext cx="10515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 i="1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938" b="1" i="1">
                <a:solidFill>
                  <a:srgbClr val="F5F6F7"/>
                </a:solidFill>
                <a:latin typeface="Arial"/>
                <a:ea typeface="Arial"/>
                <a:cs typeface="Arial"/>
              </a:rPr>
              <a:t>The next round funds scale—not validation.</a:t>
            </a:r>
          </a:p>
        </p:txBody>
      </p:sp>
    </p:spTree>
    <p:extLst>
      <p:ext uri="{BB962C8B-B14F-4D97-AF65-F5344CB8AC3E}">
        <p14:creationId xmlns:p14="http://schemas.microsoft.com/office/powerpoint/2010/main" val="15335328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2026-07-28T01:31:51.7560000Z</dcterms:created>
  <dcterms:modified xsi:type="dcterms:W3CDTF">2026-07-28T01:31:51.7560000Z</dcterms:modified>
</coreProperties>
</file>