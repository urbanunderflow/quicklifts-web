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c389597f414950" /><Relationship Type="http://schemas.openxmlformats.org/officeDocument/2006/relationships/extended-properties" Target="/docProps/app.xml" Id="Rafc6f61670a44c23" /><Relationship Type="http://schemas.openxmlformats.org/officeDocument/2006/relationships/officeDocument" Target="/ppt/presentation.xml" Id="R79283d0ec2a2463e" /></Relationships>
</file>

<file path=ppt/presentation.xml><?xml version="1.0" encoding="utf-8"?>
<p:presentation xmlns:p="http://schemas.openxmlformats.org/presentationml/2006/main">
  <p:sldMasterIdLst>
    <p:sldMasterId xmlns:r="http://schemas.openxmlformats.org/officeDocument/2006/relationships" id="2147483648" r:id="R200c38406f22480b"/>
  </p:sldMasterIdLst>
  <p:notesMasterIdLst>
    <p:notesMasterId xmlns:r="http://schemas.openxmlformats.org/officeDocument/2006/relationships" r:id="R93b2d38332254948"/>
  </p:notesMasterIdLst>
  <p:sldIdLst>
    <p:sldId xmlns:r="http://schemas.openxmlformats.org/officeDocument/2006/relationships" id="256" r:id="R5197c96c396942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10a208042c4b08" /><Relationship Type="http://schemas.openxmlformats.org/officeDocument/2006/relationships/slideMaster" Target="/ppt/slideMasters/slideMaster1.xml" Id="R200c38406f22480b" /><Relationship Type="http://schemas.openxmlformats.org/officeDocument/2006/relationships/notesMaster" Target="/ppt/notesMasters/notesMaster1.xml" Id="R93b2d38332254948" /><Relationship Type="http://schemas.openxmlformats.org/officeDocument/2006/relationships/presProps" Target="/ppt/presProps.xml" Id="R45b28a4957414b4a" /><Relationship Type="http://schemas.openxmlformats.org/officeDocument/2006/relationships/tableStyles" Target="/ppt/tableStyles.xml" Id="R4ba9514f3f844b7a" /><Relationship Type="http://schemas.openxmlformats.org/officeDocument/2006/relationships/slide" Target="/ppt/slides/slide1.xml" Id="R5197c96c396942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5723301c7048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57af73230949c6" /><Relationship Type="http://schemas.openxmlformats.org/officeDocument/2006/relationships/notesMaster" Target="/ppt/notesMasters/notesMaster1.xml" Id="R3d637889058643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urgency is institutional, not hypothetical: the NCAA’s mental-health best practices are legislatively required across member schools. Division I schools—and Division II/III institutions sponsoring a Division I sport—must annually attest to compliance with consensus-based health, safety and performance guidance. The next listed deadline is Nov. 6, 2026. The responsible signers are the school president or chancellor, athletic director, and campus athletics health care administrator.</a:t>
            </a:r>
          </a:p>
          <a:p xmlns:a="http://schemas.openxmlformats.org/drawingml/2006/main">
            <a:r>
              <a:t/>
            </a:r>
          </a:p>
          <a:p xmlns:a="http://schemas.openxmlformats.org/drawingml/2006/main">
            <a:r>
              <a:t>[Sources]</a:t>
            </a:r>
          </a:p>
          <a:p xmlns:a="http://schemas.openxmlformats.org/drawingml/2006/main">
            <a:r>
              <a:t>- https://www.ncaa.org/governance/legislation-policy/membership-attestation-requirements/</a:t>
            </a:r>
          </a:p>
          <a:p xmlns:a="http://schemas.openxmlformats.org/drawingml/2006/main">
            <a:r>
              <a:t>- https://www.ncaa.org/what-we-do/health-safety-and-performance/mental-health/best-practices/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195f9d6a8c4e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258995ec5b4f8e" /><Relationship Type="http://schemas.openxmlformats.org/officeDocument/2006/relationships/slideLayout" Target="/ppt/slideLayouts/slideLayout1.xml" Id="R95bb7397b5554f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bb7397b5554f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2bc8dc66cf472a" /><Relationship Type="http://schemas.openxmlformats.org/officeDocument/2006/relationships/notesSlide" Target="/ppt/notesSlides/notesSlide1.xml" Id="R7f28ca5d0d9d4cc9" /></Relationships>
</file>

<file path=ppt/slides/slide1.xml><?xml version="1.0" encoding="utf-8"?>
<p:sld xmlns:p="http://schemas.openxmlformats.org/presentationml/2006/main">
  <p:cSld>
    <p:bg>
      <p:bgPr>
        <a:solidFill xmlns:a="http://schemas.openxmlformats.org/drawingml/2006/main">
          <a:srgbClr val="070A0B"/>
        </a:solidFill>
      </p:bgPr>
    </p:bg>
    <p:spTree>
      <p:nvGrpSpPr>
        <p:cNvPr id="1" name=""/>
        <p:cNvGrpSpPr/>
        <p:nvPr/>
      </p:nvGrpSpPr>
      <p:grpSpPr>
        <a:xfrm xmlns:a="http://schemas.openxmlformats.org/drawingml/2006/main"/>
      </p:grpSpPr>
      <p:sp>
        <p:nvSpPr>
          <p:cNvPr id="42" name="right-depth-panel">
            <a:extLst xmlns:a="http://schemas.openxmlformats.org/drawingml/2006/main">
              <a:ext uri="{FF2B5EF4-FFF2-40B4-BE49-F238E27FC236}">
                <a16:creationId xmlns:a16="http://schemas.microsoft.com/office/drawing/2014/main" id="{D9FA7703-784E-498E-989A-44C7BBA7CF8B}"/>
              </a:ext>
            </a:extLst>
          </p:cNvPr>
          <p:cNvSpPr>
            <a:spLocks xmlns:a="http://schemas.openxmlformats.org/drawingml/2006/main" noGrp="1"/>
          </p:cNvSpPr>
          <p:nvPr/>
        </p:nvSpPr>
        <p:spPr>
          <a:xfrm xmlns:a="http://schemas.openxmlformats.org/drawingml/2006/main">
            <a:off x="7410450" y="0"/>
            <a:ext cx="4781550" cy="6858000"/>
          </a:xfrm>
          <a:prstGeom xmlns:a="http://schemas.openxmlformats.org/drawingml/2006/main" prst="rect">
            <a:avLst/>
          </a:prstGeom>
          <a:gradFill xmlns:a="http://schemas.openxmlformats.org/drawingml/2006/main">
            <a:gsLst>
              <a:gs pos="0">
                <a:srgbClr val="070A0B"/>
              </a:gs>
              <a:gs pos="100000">
                <a:srgbClr val="11171A"/>
              </a:gs>
            </a:gsLst>
            <a:lin ang="0"/>
          </a:gradFill>
          <a:ln xmlns:a="http://schemas.openxmlformats.org/drawingml/2006/main" w="0">
            <a:noFill/>
            <a:prstDash val="solid"/>
          </a:ln>
        </p:spPr>
      </p:sp>
      <p:sp>
        <p:nvSpPr>
          <p:cNvPr id="2" name="eyebrow-pill">
            <a:extLst xmlns:a="http://schemas.openxmlformats.org/drawingml/2006/main">
              <a:ext uri="{FF2B5EF4-FFF2-40B4-BE49-F238E27FC236}">
                <a16:creationId xmlns:a16="http://schemas.microsoft.com/office/drawing/2014/main" id="{6C951B6F-4BC2-4C6B-A313-67525CBBF4BD}"/>
              </a:ext>
            </a:extLst>
          </p:cNvPr>
          <p:cNvSpPr>
            <a:spLocks xmlns:a="http://schemas.openxmlformats.org/drawingml/2006/main" noGrp="1"/>
          </p:cNvSpPr>
          <p:nvPr/>
        </p:nvSpPr>
        <p:spPr>
          <a:xfrm xmlns:a="http://schemas.openxmlformats.org/drawingml/2006/main">
            <a:off x="666750" y="361950"/>
            <a:ext cx="2914650" cy="400050"/>
          </a:xfrm>
          <a:prstGeom xmlns:a="http://schemas.openxmlformats.org/drawingml/2006/main" prst="roundRect">
            <a:avLst>
              <a:gd name="adj" fmla="val 50000"/>
            </a:avLst>
          </a:prstGeom>
          <a:solidFill xmlns:a="http://schemas.openxmlformats.org/drawingml/2006/main">
            <a:srgbClr val="101416"/>
          </a:solidFill>
          <a:ln xmlns:a="http://schemas.openxmlformats.org/drawingml/2006/main" w="9525">
            <a:solidFill>
              <a:srgbClr val="30363B"/>
            </a:solidFill>
            <a:prstDash val="solid"/>
          </a:ln>
        </p:spPr>
      </p:sp>
      <p:sp>
        <p:nvSpPr>
          <p:cNvPr id="3" name="eyebrow-dot">
            <a:extLst xmlns:a="http://schemas.openxmlformats.org/drawingml/2006/main">
              <a:ext uri="{FF2B5EF4-FFF2-40B4-BE49-F238E27FC236}">
                <a16:creationId xmlns:a16="http://schemas.microsoft.com/office/drawing/2014/main" id="{B342623D-7F17-4E59-AE4E-14E39DC0ED3A}"/>
              </a:ext>
            </a:extLst>
          </p:cNvPr>
          <p:cNvSpPr>
            <a:spLocks xmlns:a="http://schemas.openxmlformats.org/drawingml/2006/main" noGrp="1"/>
          </p:cNvSpPr>
          <p:nvPr/>
        </p:nvSpPr>
        <p:spPr>
          <a:xfrm xmlns:a="http://schemas.openxmlformats.org/drawingml/2006/main">
            <a:off x="866775" y="514350"/>
            <a:ext cx="85725" cy="85725"/>
          </a:xfrm>
          <a:prstGeom xmlns:a="http://schemas.openxmlformats.org/drawingml/2006/main" prst="roundRect">
            <a:avLst>
              <a:gd name="adj" fmla="val 50000"/>
            </a:avLst>
          </a:prstGeom>
          <a:solidFill xmlns:a="http://schemas.openxmlformats.org/drawingml/2006/main">
            <a:srgbClr val="C8FF00"/>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7B484511-73CA-4727-88C6-7D464F047618}"/>
              </a:ext>
            </a:extLst>
          </p:cNvPr>
          <p:cNvSpPr>
            <a:spLocks xmlns:a="http://schemas.openxmlformats.org/drawingml/2006/main" noGrp="1"/>
          </p:cNvSpPr>
          <p:nvPr/>
        </p:nvSpPr>
        <p:spPr>
          <a:xfrm xmlns:a="http://schemas.openxmlformats.org/drawingml/2006/main">
            <a:off x="1066800" y="457200"/>
            <a:ext cx="2266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F5F5F2"/>
                </a:solidFill>
                <a:latin typeface="Arial"/>
                <a:ea typeface="Arial"/>
                <a:cs typeface="Arial"/>
              </a:defRPr>
            </a:pPr>
            <a:r>
              <a:rPr sz="1125" b="1">
                <a:solidFill>
                  <a:srgbClr val="F5F5F2"/>
                </a:solidFill>
                <a:latin typeface="Arial"/>
                <a:ea typeface="Arial"/>
                <a:cs typeface="Arial"/>
              </a:rPr>
              <a:t>WHY SCHOOLS MUST ACT</a:t>
            </a:r>
          </a:p>
        </p:txBody>
      </p:sp>
      <p:sp>
        <p:nvSpPr>
          <p:cNvPr id="5" name="bylaw">
            <a:extLst xmlns:a="http://schemas.openxmlformats.org/drawingml/2006/main">
              <a:ext uri="{FF2B5EF4-FFF2-40B4-BE49-F238E27FC236}">
                <a16:creationId xmlns:a16="http://schemas.microsoft.com/office/drawing/2014/main" id="{8D4054A5-2F78-44FE-A341-BCD0E5605903}"/>
              </a:ext>
            </a:extLst>
          </p:cNvPr>
          <p:cNvSpPr>
            <a:spLocks xmlns:a="http://schemas.openxmlformats.org/drawingml/2006/main" noGrp="1"/>
          </p:cNvSpPr>
          <p:nvPr/>
        </p:nvSpPr>
        <p:spPr>
          <a:xfrm xmlns:a="http://schemas.openxmlformats.org/drawingml/2006/main">
            <a:off x="9601200" y="485775"/>
            <a:ext cx="1924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707680"/>
                </a:solidFill>
                <a:latin typeface="Arial"/>
                <a:ea typeface="Arial"/>
                <a:cs typeface="Arial"/>
              </a:defRPr>
            </a:pPr>
            <a:r>
              <a:rPr sz="900" b="1">
                <a:solidFill>
                  <a:srgbClr val="707680"/>
                </a:solidFill>
                <a:latin typeface="Arial"/>
                <a:ea typeface="Arial"/>
                <a:cs typeface="Arial"/>
              </a:rPr>
              <a:t>NCAA BYLAW 20.2.4.25</a:t>
            </a:r>
          </a:p>
        </p:txBody>
      </p:sp>
      <p:sp>
        <p:nvSpPr>
          <p:cNvPr id="6" name="headline-primary">
            <a:extLst xmlns:a="http://schemas.openxmlformats.org/drawingml/2006/main">
              <a:ext uri="{FF2B5EF4-FFF2-40B4-BE49-F238E27FC236}">
                <a16:creationId xmlns:a16="http://schemas.microsoft.com/office/drawing/2014/main" id="{2AE3B68D-2E07-44A6-923E-94DCD2EA53A8}"/>
              </a:ext>
            </a:extLst>
          </p:cNvPr>
          <p:cNvSpPr>
            <a:spLocks xmlns:a="http://schemas.openxmlformats.org/drawingml/2006/main" noGrp="1"/>
          </p:cNvSpPr>
          <p:nvPr/>
        </p:nvSpPr>
        <p:spPr>
          <a:xfrm xmlns:a="http://schemas.openxmlformats.org/drawingml/2006/main">
            <a:off x="666750" y="962025"/>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l">
              <a:defRPr sz="4500" b="1">
                <a:solidFill>
                  <a:srgbClr val="F5F5F2"/>
                </a:solidFill>
                <a:latin typeface="Arial"/>
                <a:ea typeface="Arial"/>
                <a:cs typeface="Arial"/>
              </a:defRPr>
            </a:pPr>
            <a:r>
              <a:rPr sz="4500" b="1">
                <a:solidFill>
                  <a:srgbClr val="F5F5F2"/>
                </a:solidFill>
                <a:latin typeface="Arial"/>
                <a:ea typeface="Arial"/>
                <a:cs typeface="Arial"/>
              </a:rPr>
              <a:t>THE MANDATE IS ACTIVE.</a:t>
            </a:r>
          </a:p>
        </p:txBody>
      </p:sp>
      <p:sp>
        <p:nvSpPr>
          <p:cNvPr id="7" name="headline-secondary">
            <a:extLst xmlns:a="http://schemas.openxmlformats.org/drawingml/2006/main">
              <a:ext uri="{FF2B5EF4-FFF2-40B4-BE49-F238E27FC236}">
                <a16:creationId xmlns:a16="http://schemas.microsoft.com/office/drawing/2014/main" id="{CAF0A9AE-3C24-41CE-B533-A580BBC9A1CB}"/>
              </a:ext>
            </a:extLst>
          </p:cNvPr>
          <p:cNvSpPr>
            <a:spLocks xmlns:a="http://schemas.openxmlformats.org/drawingml/2006/main" noGrp="1"/>
          </p:cNvSpPr>
          <p:nvPr/>
        </p:nvSpPr>
        <p:spPr>
          <a:xfrm xmlns:a="http://schemas.openxmlformats.org/drawingml/2006/main">
            <a:off x="666750" y="1581150"/>
            <a:ext cx="1085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75" b="1">
                <a:solidFill>
                  <a:srgbClr val="C8FF00"/>
                </a:solidFill>
                <a:latin typeface="Arial"/>
                <a:ea typeface="Arial"/>
                <a:cs typeface="Arial"/>
              </a:defRPr>
            </a:pPr>
            <a:r>
              <a:rPr sz="3075" b="1">
                <a:solidFill>
                  <a:srgbClr val="C8FF00"/>
                </a:solidFill>
                <a:latin typeface="Arial"/>
                <a:ea typeface="Arial"/>
                <a:cs typeface="Arial"/>
              </a:rPr>
              <a:t>COMPLIANCE MUST BE CONFIRMED—EVERY YEAR.</a:t>
            </a:r>
          </a:p>
        </p:txBody>
      </p:sp>
      <p:sp>
        <p:nvSpPr>
          <p:cNvPr id="8" name="scope-explanation">
            <a:extLst xmlns:a="http://schemas.openxmlformats.org/drawingml/2006/main">
              <a:ext uri="{FF2B5EF4-FFF2-40B4-BE49-F238E27FC236}">
                <a16:creationId xmlns:a16="http://schemas.microsoft.com/office/drawing/2014/main" id="{C0D73B21-F29D-44D3-A80B-473F78F83C4F}"/>
              </a:ext>
            </a:extLst>
          </p:cNvPr>
          <p:cNvSpPr>
            <a:spLocks xmlns:a="http://schemas.openxmlformats.org/drawingml/2006/main" noGrp="1"/>
          </p:cNvSpPr>
          <p:nvPr/>
        </p:nvSpPr>
        <p:spPr>
          <a:xfrm xmlns:a="http://schemas.openxmlformats.org/drawingml/2006/main">
            <a:off x="666750" y="21240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4"/>
          </a:bodyPr>
          <a:lstStyle xmlns:a="http://schemas.openxmlformats.org/drawingml/2006/main"/>
          <a:p xmlns:a="http://schemas.openxmlformats.org/drawingml/2006/main">
            <a:pPr algn="l">
              <a:defRPr sz="1425" b="0">
                <a:solidFill>
                  <a:srgbClr val="A7AAB2"/>
                </a:solidFill>
                <a:latin typeface="Arial"/>
                <a:ea typeface="Arial"/>
                <a:cs typeface="Arial"/>
              </a:defRPr>
            </a:pPr>
            <a:r>
              <a:rPr sz="1425" b="0">
                <a:solidFill>
                  <a:srgbClr val="A7AAB2"/>
                </a:solidFill>
                <a:latin typeface="Arial"/>
                <a:ea typeface="Arial"/>
                <a:cs typeface="Arial"/>
              </a:rPr>
              <a:t>Division I schools—and any school sponsoring a Division I sport—must formally confirm that NCAA-aligned health, safety and mental-health support is in place.</a:t>
            </a:r>
          </a:p>
        </p:txBody>
      </p:sp>
      <p:sp>
        <p:nvSpPr>
          <p:cNvPr id="9" name="main-divider">
            <a:extLst xmlns:a="http://schemas.openxmlformats.org/drawingml/2006/main">
              <a:ext uri="{FF2B5EF4-FFF2-40B4-BE49-F238E27FC236}">
                <a16:creationId xmlns:a16="http://schemas.microsoft.com/office/drawing/2014/main" id="{1D736979-E2E4-4D16-8EAA-D13277E219F7}"/>
              </a:ext>
            </a:extLst>
          </p:cNvPr>
          <p:cNvSpPr>
            <a:spLocks xmlns:a="http://schemas.openxmlformats.org/drawingml/2006/main" noGrp="1"/>
          </p:cNvSpPr>
          <p:nvPr/>
        </p:nvSpPr>
        <p:spPr>
          <a:xfrm xmlns:a="http://schemas.openxmlformats.org/drawingml/2006/main">
            <a:off x="666750" y="2714625"/>
            <a:ext cx="10858500" cy="9525"/>
          </a:xfrm>
          <a:prstGeom xmlns:a="http://schemas.openxmlformats.org/drawingml/2006/main" prst="rect">
            <a:avLst/>
          </a:prstGeom>
          <a:solidFill xmlns:a="http://schemas.openxmlformats.org/drawingml/2006/main">
            <a:srgbClr val="30363B"/>
          </a:solidFill>
          <a:ln xmlns:a="http://schemas.openxmlformats.org/drawingml/2006/main" w="0">
            <a:noFill/>
            <a:prstDash val="solid"/>
          </a:ln>
        </p:spPr>
      </p:sp>
      <p:sp>
        <p:nvSpPr>
          <p:cNvPr id="10" name="deadline-accent">
            <a:extLst xmlns:a="http://schemas.openxmlformats.org/drawingml/2006/main">
              <a:ext uri="{FF2B5EF4-FFF2-40B4-BE49-F238E27FC236}">
                <a16:creationId xmlns:a16="http://schemas.microsoft.com/office/drawing/2014/main" id="{D538E07C-A85B-4C01-85CA-0AA66A62A7C6}"/>
              </a:ext>
            </a:extLst>
          </p:cNvPr>
          <p:cNvSpPr>
            <a:spLocks xmlns:a="http://schemas.openxmlformats.org/drawingml/2006/main" noGrp="1"/>
          </p:cNvSpPr>
          <p:nvPr/>
        </p:nvSpPr>
        <p:spPr>
          <a:xfrm xmlns:a="http://schemas.openxmlformats.org/drawingml/2006/main">
            <a:off x="666750" y="3000375"/>
            <a:ext cx="66675" cy="2724150"/>
          </a:xfrm>
          <a:prstGeom xmlns:a="http://schemas.openxmlformats.org/drawingml/2006/main" prst="roundRect">
            <a:avLst>
              <a:gd name="adj" fmla="val 28571"/>
            </a:avLst>
          </a:prstGeom>
          <a:solidFill xmlns:a="http://schemas.openxmlformats.org/drawingml/2006/main">
            <a:srgbClr val="C8FF00"/>
          </a:solidFill>
          <a:ln xmlns:a="http://schemas.openxmlformats.org/drawingml/2006/main" w="0">
            <a:noFill/>
            <a:prstDash val="solid"/>
          </a:ln>
        </p:spPr>
      </p:sp>
      <p:sp>
        <p:nvSpPr>
          <p:cNvPr id="11" name="deadline-label">
            <a:extLst xmlns:a="http://schemas.openxmlformats.org/drawingml/2006/main">
              <a:ext uri="{FF2B5EF4-FFF2-40B4-BE49-F238E27FC236}">
                <a16:creationId xmlns:a16="http://schemas.microsoft.com/office/drawing/2014/main" id="{F8A3D0A6-06E0-4766-97B4-5EB1B2BCC09B}"/>
              </a:ext>
            </a:extLst>
          </p:cNvPr>
          <p:cNvSpPr>
            <a:spLocks xmlns:a="http://schemas.openxmlformats.org/drawingml/2006/main" noGrp="1"/>
          </p:cNvSpPr>
          <p:nvPr/>
        </p:nvSpPr>
        <p:spPr>
          <a:xfrm xmlns:a="http://schemas.openxmlformats.org/drawingml/2006/main">
            <a:off x="942975" y="300037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AAB2"/>
                </a:solidFill>
                <a:latin typeface="Arial"/>
                <a:ea typeface="Arial"/>
                <a:cs typeface="Arial"/>
              </a:defRPr>
            </a:pPr>
            <a:r>
              <a:rPr sz="1125" b="1">
                <a:solidFill>
                  <a:srgbClr val="A7AAB2"/>
                </a:solidFill>
                <a:latin typeface="Arial"/>
                <a:ea typeface="Arial"/>
                <a:cs typeface="Arial"/>
              </a:rPr>
              <a:t>NEXT ANNUAL NCAA DEADLINE</a:t>
            </a:r>
          </a:p>
        </p:txBody>
      </p:sp>
      <p:sp>
        <p:nvSpPr>
          <p:cNvPr id="12" name="deadline-month-day">
            <a:extLst xmlns:a="http://schemas.openxmlformats.org/drawingml/2006/main">
              <a:ext uri="{FF2B5EF4-FFF2-40B4-BE49-F238E27FC236}">
                <a16:creationId xmlns:a16="http://schemas.microsoft.com/office/drawing/2014/main" id="{B7CCDA49-23F9-4567-8C15-F54D40345469}"/>
              </a:ext>
            </a:extLst>
          </p:cNvPr>
          <p:cNvSpPr>
            <a:spLocks xmlns:a="http://schemas.openxmlformats.org/drawingml/2006/main" noGrp="1"/>
          </p:cNvSpPr>
          <p:nvPr/>
        </p:nvSpPr>
        <p:spPr>
          <a:xfrm xmlns:a="http://schemas.openxmlformats.org/drawingml/2006/main">
            <a:off x="866775" y="3286125"/>
            <a:ext cx="342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109"/>
          </a:bodyPr>
          <a:lstStyle xmlns:a="http://schemas.openxmlformats.org/drawingml/2006/main"/>
          <a:p xmlns:a="http://schemas.openxmlformats.org/drawingml/2006/main">
            <a:pPr algn="l">
              <a:defRPr sz="6900" b="1">
                <a:solidFill>
                  <a:srgbClr val="C8FF00"/>
                </a:solidFill>
                <a:latin typeface="Arial"/>
                <a:ea typeface="Arial"/>
                <a:cs typeface="Arial"/>
              </a:defRPr>
            </a:pPr>
            <a:r>
              <a:rPr sz="6900" b="1">
                <a:solidFill>
                  <a:srgbClr val="C8FF00"/>
                </a:solidFill>
                <a:latin typeface="Arial"/>
                <a:ea typeface="Arial"/>
                <a:cs typeface="Arial"/>
              </a:rPr>
              <a:t>NOV. 6</a:t>
            </a:r>
          </a:p>
        </p:txBody>
      </p:sp>
      <p:sp>
        <p:nvSpPr>
          <p:cNvPr id="13" name="deadline-year">
            <a:extLst xmlns:a="http://schemas.openxmlformats.org/drawingml/2006/main">
              <a:ext uri="{FF2B5EF4-FFF2-40B4-BE49-F238E27FC236}">
                <a16:creationId xmlns:a16="http://schemas.microsoft.com/office/drawing/2014/main" id="{27FD1490-053D-4C90-90EC-50E985510F30}"/>
              </a:ext>
            </a:extLst>
          </p:cNvPr>
          <p:cNvSpPr>
            <a:spLocks xmlns:a="http://schemas.openxmlformats.org/drawingml/2006/main" noGrp="1"/>
          </p:cNvSpPr>
          <p:nvPr/>
        </p:nvSpPr>
        <p:spPr>
          <a:xfrm xmlns:a="http://schemas.openxmlformats.org/drawingml/2006/main">
            <a:off x="933450" y="42291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5F5F2"/>
                </a:solidFill>
                <a:latin typeface="Arial"/>
                <a:ea typeface="Arial"/>
                <a:cs typeface="Arial"/>
              </a:defRPr>
            </a:pPr>
            <a:r>
              <a:rPr sz="4350" b="1">
                <a:solidFill>
                  <a:srgbClr val="F5F5F2"/>
                </a:solidFill>
                <a:latin typeface="Arial"/>
                <a:ea typeface="Arial"/>
                <a:cs typeface="Arial"/>
              </a:rPr>
              <a:t>2026</a:t>
            </a:r>
          </a:p>
        </p:txBody>
      </p:sp>
      <p:sp>
        <p:nvSpPr>
          <p:cNvPr id="14" name="deadline-note">
            <a:extLst xmlns:a="http://schemas.openxmlformats.org/drawingml/2006/main">
              <a:ext uri="{FF2B5EF4-FFF2-40B4-BE49-F238E27FC236}">
                <a16:creationId xmlns:a16="http://schemas.microsoft.com/office/drawing/2014/main" id="{ECA54019-EC1F-4718-BAD2-D119D625FD17}"/>
              </a:ext>
            </a:extLst>
          </p:cNvPr>
          <p:cNvSpPr>
            <a:spLocks xmlns:a="http://schemas.openxmlformats.org/drawingml/2006/main" noGrp="1"/>
          </p:cNvSpPr>
          <p:nvPr/>
        </p:nvSpPr>
        <p:spPr>
          <a:xfrm xmlns:a="http://schemas.openxmlformats.org/drawingml/2006/main">
            <a:off x="942975" y="5010150"/>
            <a:ext cx="32004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14"/>
          </a:bodyPr>
          <a:lstStyle xmlns:a="http://schemas.openxmlformats.org/drawingml/2006/main"/>
          <a:p xmlns:a="http://schemas.openxmlformats.org/drawingml/2006/main">
            <a:pPr algn="l">
              <a:defRPr sz="1275" b="0">
                <a:solidFill>
                  <a:srgbClr val="A7AAB2"/>
                </a:solidFill>
                <a:latin typeface="Arial"/>
                <a:ea typeface="Arial"/>
                <a:cs typeface="Arial"/>
              </a:defRPr>
            </a:pPr>
            <a:r>
              <a:rPr sz="1275" b="0">
                <a:solidFill>
                  <a:srgbClr val="A7AAB2"/>
                </a:solidFill>
                <a:latin typeface="Arial"/>
                <a:ea typeface="Arial"/>
                <a:cs typeface="Arial"/>
              </a:rPr>
              <a:t>Schools are not simply encouraged to act. Their leadership must formally confirm compliance with the NCAA’s health, safety and mental-health guidance.</a:t>
            </a:r>
          </a:p>
        </p:txBody>
      </p:sp>
      <p:sp>
        <p:nvSpPr>
          <p:cNvPr id="15" name="requirements-heading">
            <a:extLst xmlns:a="http://schemas.openxmlformats.org/drawingml/2006/main">
              <a:ext uri="{FF2B5EF4-FFF2-40B4-BE49-F238E27FC236}">
                <a16:creationId xmlns:a16="http://schemas.microsoft.com/office/drawing/2014/main" id="{232EEF8B-AB70-4C4E-B42E-B03495D02F49}"/>
              </a:ext>
            </a:extLst>
          </p:cNvPr>
          <p:cNvSpPr>
            <a:spLocks xmlns:a="http://schemas.openxmlformats.org/drawingml/2006/main" noGrp="1"/>
          </p:cNvSpPr>
          <p:nvPr/>
        </p:nvSpPr>
        <p:spPr>
          <a:xfrm xmlns:a="http://schemas.openxmlformats.org/drawingml/2006/main">
            <a:off x="4695825" y="3000375"/>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5F5F2"/>
                </a:solidFill>
                <a:latin typeface="Arial"/>
                <a:ea typeface="Arial"/>
                <a:cs typeface="Arial"/>
              </a:defRPr>
            </a:pPr>
            <a:r>
              <a:rPr sz="1275" b="1">
                <a:solidFill>
                  <a:srgbClr val="F5F5F2"/>
                </a:solidFill>
                <a:latin typeface="Arial"/>
                <a:ea typeface="Arial"/>
                <a:cs typeface="Arial"/>
              </a:rPr>
              <a:t>WHAT SCHOOLS MUST HAVE IN PLACE</a:t>
            </a:r>
          </a:p>
        </p:txBody>
      </p:sp>
      <p:sp>
        <p:nvSpPr>
          <p:cNvPr id="16" name="practice-accent-1">
            <a:extLst xmlns:a="http://schemas.openxmlformats.org/drawingml/2006/main">
              <a:ext uri="{FF2B5EF4-FFF2-40B4-BE49-F238E27FC236}">
                <a16:creationId xmlns:a16="http://schemas.microsoft.com/office/drawing/2014/main" id="{EC0DFC74-4DCD-4E09-B0B9-46FB47B13447}"/>
              </a:ext>
            </a:extLst>
          </p:cNvPr>
          <p:cNvSpPr>
            <a:spLocks xmlns:a="http://schemas.openxmlformats.org/drawingml/2006/main" noGrp="1"/>
          </p:cNvSpPr>
          <p:nvPr/>
        </p:nvSpPr>
        <p:spPr>
          <a:xfrm xmlns:a="http://schemas.openxmlformats.org/drawingml/2006/main">
            <a:off x="4695825" y="3429000"/>
            <a:ext cx="57150" cy="447675"/>
          </a:xfrm>
          <a:prstGeom xmlns:a="http://schemas.openxmlformats.org/drawingml/2006/main" prst="roundRect">
            <a:avLst>
              <a:gd name="adj" fmla="val 33333"/>
            </a:avLst>
          </a:prstGeom>
          <a:solidFill xmlns:a="http://schemas.openxmlformats.org/drawingml/2006/main">
            <a:srgbClr val="4D8FFF"/>
          </a:solidFill>
          <a:ln xmlns:a="http://schemas.openxmlformats.org/drawingml/2006/main" w="0">
            <a:noFill/>
            <a:prstDash val="solid"/>
          </a:ln>
        </p:spPr>
      </p:sp>
      <p:sp>
        <p:nvSpPr>
          <p:cNvPr id="17" name="practice-number-1">
            <a:extLst xmlns:a="http://schemas.openxmlformats.org/drawingml/2006/main">
              <a:ext uri="{FF2B5EF4-FFF2-40B4-BE49-F238E27FC236}">
                <a16:creationId xmlns:a16="http://schemas.microsoft.com/office/drawing/2014/main" id="{084B2413-E717-4A87-BC41-0F3116F7D72A}"/>
              </a:ext>
            </a:extLst>
          </p:cNvPr>
          <p:cNvSpPr>
            <a:spLocks xmlns:a="http://schemas.openxmlformats.org/drawingml/2006/main" noGrp="1"/>
          </p:cNvSpPr>
          <p:nvPr/>
        </p:nvSpPr>
        <p:spPr>
          <a:xfrm xmlns:a="http://schemas.openxmlformats.org/drawingml/2006/main">
            <a:off x="4886325" y="3390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4D8FFF"/>
                </a:solidFill>
                <a:latin typeface="Arial"/>
                <a:ea typeface="Arial"/>
                <a:cs typeface="Arial"/>
              </a:defRPr>
            </a:pPr>
            <a:r>
              <a:rPr sz="1200" b="1">
                <a:solidFill>
                  <a:srgbClr val="4D8FFF"/>
                </a:solidFill>
                <a:latin typeface="Arial"/>
                <a:ea typeface="Arial"/>
                <a:cs typeface="Arial"/>
              </a:rPr>
              <a:t>01</a:t>
            </a:r>
          </a:p>
        </p:txBody>
      </p:sp>
      <p:sp>
        <p:nvSpPr>
          <p:cNvPr id="18" name="practice-label-1">
            <a:extLst xmlns:a="http://schemas.openxmlformats.org/drawingml/2006/main">
              <a:ext uri="{FF2B5EF4-FFF2-40B4-BE49-F238E27FC236}">
                <a16:creationId xmlns:a16="http://schemas.microsoft.com/office/drawing/2014/main" id="{03EA6BDC-EED5-4F84-8B48-856479E02114}"/>
              </a:ext>
            </a:extLst>
          </p:cNvPr>
          <p:cNvSpPr>
            <a:spLocks xmlns:a="http://schemas.openxmlformats.org/drawingml/2006/main" noGrp="1"/>
          </p:cNvSpPr>
          <p:nvPr/>
        </p:nvSpPr>
        <p:spPr>
          <a:xfrm xmlns:a="http://schemas.openxmlformats.org/drawingml/2006/main">
            <a:off x="4886325" y="3609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5F5F2"/>
                </a:solidFill>
                <a:latin typeface="Arial"/>
                <a:ea typeface="Arial"/>
                <a:cs typeface="Arial"/>
              </a:defRPr>
            </a:pPr>
            <a:r>
              <a:rPr sz="1425" b="1">
                <a:solidFill>
                  <a:srgbClr val="F5F5F2"/>
                </a:solidFill>
                <a:latin typeface="Arial"/>
                <a:ea typeface="Arial"/>
                <a:cs typeface="Arial"/>
              </a:rPr>
              <a:t>HEALTHY ENVIRONMENTS</a:t>
            </a:r>
          </a:p>
        </p:txBody>
      </p:sp>
      <p:sp>
        <p:nvSpPr>
          <p:cNvPr id="19" name="practice-accent-2">
            <a:extLst xmlns:a="http://schemas.openxmlformats.org/drawingml/2006/main">
              <a:ext uri="{FF2B5EF4-FFF2-40B4-BE49-F238E27FC236}">
                <a16:creationId xmlns:a16="http://schemas.microsoft.com/office/drawing/2014/main" id="{69AC68E7-CF40-4B48-B8BD-5D35BAD7A79C}"/>
              </a:ext>
            </a:extLst>
          </p:cNvPr>
          <p:cNvSpPr>
            <a:spLocks xmlns:a="http://schemas.openxmlformats.org/drawingml/2006/main" noGrp="1"/>
          </p:cNvSpPr>
          <p:nvPr/>
        </p:nvSpPr>
        <p:spPr>
          <a:xfrm xmlns:a="http://schemas.openxmlformats.org/drawingml/2006/main">
            <a:off x="8058150" y="3429000"/>
            <a:ext cx="57150" cy="447675"/>
          </a:xfrm>
          <a:prstGeom xmlns:a="http://schemas.openxmlformats.org/drawingml/2006/main" prst="roundRect">
            <a:avLst>
              <a:gd name="adj" fmla="val 33333"/>
            </a:avLst>
          </a:prstGeom>
          <a:solidFill xmlns:a="http://schemas.openxmlformats.org/drawingml/2006/main">
            <a:srgbClr val="9B72FF"/>
          </a:solidFill>
          <a:ln xmlns:a="http://schemas.openxmlformats.org/drawingml/2006/main" w="0">
            <a:noFill/>
            <a:prstDash val="solid"/>
          </a:ln>
        </p:spPr>
      </p:sp>
      <p:sp>
        <p:nvSpPr>
          <p:cNvPr id="20" name="practice-number-2">
            <a:extLst xmlns:a="http://schemas.openxmlformats.org/drawingml/2006/main">
              <a:ext uri="{FF2B5EF4-FFF2-40B4-BE49-F238E27FC236}">
                <a16:creationId xmlns:a16="http://schemas.microsoft.com/office/drawing/2014/main" id="{CC8D0CE0-6667-49E3-94B1-7C65198C0CF8}"/>
              </a:ext>
            </a:extLst>
          </p:cNvPr>
          <p:cNvSpPr>
            <a:spLocks xmlns:a="http://schemas.openxmlformats.org/drawingml/2006/main" noGrp="1"/>
          </p:cNvSpPr>
          <p:nvPr/>
        </p:nvSpPr>
        <p:spPr>
          <a:xfrm xmlns:a="http://schemas.openxmlformats.org/drawingml/2006/main">
            <a:off x="8248650" y="3390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B72FF"/>
                </a:solidFill>
                <a:latin typeface="Arial"/>
                <a:ea typeface="Arial"/>
                <a:cs typeface="Arial"/>
              </a:defRPr>
            </a:pPr>
            <a:r>
              <a:rPr sz="1200" b="1">
                <a:solidFill>
                  <a:srgbClr val="9B72FF"/>
                </a:solidFill>
                <a:latin typeface="Arial"/>
                <a:ea typeface="Arial"/>
                <a:cs typeface="Arial"/>
              </a:rPr>
              <a:t>02</a:t>
            </a:r>
          </a:p>
        </p:txBody>
      </p:sp>
      <p:sp>
        <p:nvSpPr>
          <p:cNvPr id="21" name="practice-label-2">
            <a:extLst xmlns:a="http://schemas.openxmlformats.org/drawingml/2006/main">
              <a:ext uri="{FF2B5EF4-FFF2-40B4-BE49-F238E27FC236}">
                <a16:creationId xmlns:a16="http://schemas.microsoft.com/office/drawing/2014/main" id="{BBBFD498-46DC-45B1-9B19-216072DB2998}"/>
              </a:ext>
            </a:extLst>
          </p:cNvPr>
          <p:cNvSpPr>
            <a:spLocks xmlns:a="http://schemas.openxmlformats.org/drawingml/2006/main" noGrp="1"/>
          </p:cNvSpPr>
          <p:nvPr/>
        </p:nvSpPr>
        <p:spPr>
          <a:xfrm xmlns:a="http://schemas.openxmlformats.org/drawingml/2006/main">
            <a:off x="8248650" y="3609975"/>
            <a:ext cx="3019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5F5F2"/>
                </a:solidFill>
                <a:latin typeface="Arial"/>
                <a:ea typeface="Arial"/>
                <a:cs typeface="Arial"/>
              </a:defRPr>
            </a:pPr>
            <a:r>
              <a:rPr sz="1425" b="1">
                <a:solidFill>
                  <a:srgbClr val="F5F5F2"/>
                </a:solidFill>
                <a:latin typeface="Arial"/>
                <a:ea typeface="Arial"/>
                <a:cs typeface="Arial"/>
              </a:rPr>
              <a:t>MENTAL-HEALTH SCREENING</a:t>
            </a:r>
          </a:p>
        </p:txBody>
      </p:sp>
      <p:sp>
        <p:nvSpPr>
          <p:cNvPr id="22" name="practice-accent-3">
            <a:extLst xmlns:a="http://schemas.openxmlformats.org/drawingml/2006/main">
              <a:ext uri="{FF2B5EF4-FFF2-40B4-BE49-F238E27FC236}">
                <a16:creationId xmlns:a16="http://schemas.microsoft.com/office/drawing/2014/main" id="{47BCBD19-07A6-44B8-BC54-87712AA2D57B}"/>
              </a:ext>
            </a:extLst>
          </p:cNvPr>
          <p:cNvSpPr>
            <a:spLocks xmlns:a="http://schemas.openxmlformats.org/drawingml/2006/main" noGrp="1"/>
          </p:cNvSpPr>
          <p:nvPr/>
        </p:nvSpPr>
        <p:spPr>
          <a:xfrm xmlns:a="http://schemas.openxmlformats.org/drawingml/2006/main">
            <a:off x="4695825" y="4095750"/>
            <a:ext cx="57150" cy="447675"/>
          </a:xfrm>
          <a:prstGeom xmlns:a="http://schemas.openxmlformats.org/drawingml/2006/main" prst="roundRect">
            <a:avLst>
              <a:gd name="adj" fmla="val 33333"/>
            </a:avLst>
          </a:prstGeom>
          <a:solidFill xmlns:a="http://schemas.openxmlformats.org/drawingml/2006/main">
            <a:srgbClr val="F35D9D"/>
          </a:solidFill>
          <a:ln xmlns:a="http://schemas.openxmlformats.org/drawingml/2006/main" w="0">
            <a:noFill/>
            <a:prstDash val="solid"/>
          </a:ln>
        </p:spPr>
      </p:sp>
      <p:sp>
        <p:nvSpPr>
          <p:cNvPr id="23" name="practice-number-3">
            <a:extLst xmlns:a="http://schemas.openxmlformats.org/drawingml/2006/main">
              <a:ext uri="{FF2B5EF4-FFF2-40B4-BE49-F238E27FC236}">
                <a16:creationId xmlns:a16="http://schemas.microsoft.com/office/drawing/2014/main" id="{7F34B652-1C40-421E-848C-84FBFC8D0214}"/>
              </a:ext>
            </a:extLst>
          </p:cNvPr>
          <p:cNvSpPr>
            <a:spLocks xmlns:a="http://schemas.openxmlformats.org/drawingml/2006/main" noGrp="1"/>
          </p:cNvSpPr>
          <p:nvPr/>
        </p:nvSpPr>
        <p:spPr>
          <a:xfrm xmlns:a="http://schemas.openxmlformats.org/drawingml/2006/main">
            <a:off x="4886325" y="4057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35D9D"/>
                </a:solidFill>
                <a:latin typeface="Arial"/>
                <a:ea typeface="Arial"/>
                <a:cs typeface="Arial"/>
              </a:defRPr>
            </a:pPr>
            <a:r>
              <a:rPr sz="1200" b="1">
                <a:solidFill>
                  <a:srgbClr val="F35D9D"/>
                </a:solidFill>
                <a:latin typeface="Arial"/>
                <a:ea typeface="Arial"/>
                <a:cs typeface="Arial"/>
              </a:rPr>
              <a:t>03</a:t>
            </a:r>
          </a:p>
        </p:txBody>
      </p:sp>
      <p:sp>
        <p:nvSpPr>
          <p:cNvPr id="24" name="practice-label-3">
            <a:extLst xmlns:a="http://schemas.openxmlformats.org/drawingml/2006/main">
              <a:ext uri="{FF2B5EF4-FFF2-40B4-BE49-F238E27FC236}">
                <a16:creationId xmlns:a16="http://schemas.microsoft.com/office/drawing/2014/main" id="{F8699CB5-D598-4FC9-B3CF-38B7CB1B3E63}"/>
              </a:ext>
            </a:extLst>
          </p:cNvPr>
          <p:cNvSpPr>
            <a:spLocks xmlns:a="http://schemas.openxmlformats.org/drawingml/2006/main" noGrp="1"/>
          </p:cNvSpPr>
          <p:nvPr/>
        </p:nvSpPr>
        <p:spPr>
          <a:xfrm xmlns:a="http://schemas.openxmlformats.org/drawingml/2006/main">
            <a:off x="4886325" y="4276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5F5F2"/>
                </a:solidFill>
                <a:latin typeface="Arial"/>
                <a:ea typeface="Arial"/>
                <a:cs typeface="Arial"/>
              </a:defRPr>
            </a:pPr>
            <a:r>
              <a:rPr sz="1425" b="1">
                <a:solidFill>
                  <a:srgbClr val="F5F5F2"/>
                </a:solidFill>
                <a:latin typeface="Arial"/>
                <a:ea typeface="Arial"/>
                <a:cs typeface="Arial"/>
              </a:rPr>
              <a:t>WRITTEN RESPONSE PLANS</a:t>
            </a:r>
          </a:p>
        </p:txBody>
      </p:sp>
      <p:sp>
        <p:nvSpPr>
          <p:cNvPr id="25" name="practice-accent-4">
            <a:extLst xmlns:a="http://schemas.openxmlformats.org/drawingml/2006/main">
              <a:ext uri="{FF2B5EF4-FFF2-40B4-BE49-F238E27FC236}">
                <a16:creationId xmlns:a16="http://schemas.microsoft.com/office/drawing/2014/main" id="{646193E8-24E9-47CF-A4E1-E986F5EC52D3}"/>
              </a:ext>
            </a:extLst>
          </p:cNvPr>
          <p:cNvSpPr>
            <a:spLocks xmlns:a="http://schemas.openxmlformats.org/drawingml/2006/main" noGrp="1"/>
          </p:cNvSpPr>
          <p:nvPr/>
        </p:nvSpPr>
        <p:spPr>
          <a:xfrm xmlns:a="http://schemas.openxmlformats.org/drawingml/2006/main">
            <a:off x="8058150" y="4095750"/>
            <a:ext cx="57150" cy="447675"/>
          </a:xfrm>
          <a:prstGeom xmlns:a="http://schemas.openxmlformats.org/drawingml/2006/main" prst="roundRect">
            <a:avLst>
              <a:gd name="adj" fmla="val 33333"/>
            </a:avLst>
          </a:prstGeom>
          <a:solidFill xmlns:a="http://schemas.openxmlformats.org/drawingml/2006/main">
            <a:srgbClr val="FF9C38"/>
          </a:solidFill>
          <a:ln xmlns:a="http://schemas.openxmlformats.org/drawingml/2006/main" w="0">
            <a:noFill/>
            <a:prstDash val="solid"/>
          </a:ln>
        </p:spPr>
      </p:sp>
      <p:sp>
        <p:nvSpPr>
          <p:cNvPr id="26" name="practice-number-4">
            <a:extLst xmlns:a="http://schemas.openxmlformats.org/drawingml/2006/main">
              <a:ext uri="{FF2B5EF4-FFF2-40B4-BE49-F238E27FC236}">
                <a16:creationId xmlns:a16="http://schemas.microsoft.com/office/drawing/2014/main" id="{E446E05E-EC0D-4D26-A805-A919F1F842F8}"/>
              </a:ext>
            </a:extLst>
          </p:cNvPr>
          <p:cNvSpPr>
            <a:spLocks xmlns:a="http://schemas.openxmlformats.org/drawingml/2006/main" noGrp="1"/>
          </p:cNvSpPr>
          <p:nvPr/>
        </p:nvSpPr>
        <p:spPr>
          <a:xfrm xmlns:a="http://schemas.openxmlformats.org/drawingml/2006/main">
            <a:off x="8248650" y="40576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9C38"/>
                </a:solidFill>
                <a:latin typeface="Arial"/>
                <a:ea typeface="Arial"/>
                <a:cs typeface="Arial"/>
              </a:defRPr>
            </a:pPr>
            <a:r>
              <a:rPr sz="1200" b="1">
                <a:solidFill>
                  <a:srgbClr val="FF9C38"/>
                </a:solidFill>
                <a:latin typeface="Arial"/>
                <a:ea typeface="Arial"/>
                <a:cs typeface="Arial"/>
              </a:rPr>
              <a:t>04</a:t>
            </a:r>
          </a:p>
        </p:txBody>
      </p:sp>
      <p:sp>
        <p:nvSpPr>
          <p:cNvPr id="27" name="practice-label-4">
            <a:extLst xmlns:a="http://schemas.openxmlformats.org/drawingml/2006/main">
              <a:ext uri="{FF2B5EF4-FFF2-40B4-BE49-F238E27FC236}">
                <a16:creationId xmlns:a16="http://schemas.microsoft.com/office/drawing/2014/main" id="{E7987E03-DD25-452B-B36E-9D358CCA408B}"/>
              </a:ext>
            </a:extLst>
          </p:cNvPr>
          <p:cNvSpPr>
            <a:spLocks xmlns:a="http://schemas.openxmlformats.org/drawingml/2006/main" noGrp="1"/>
          </p:cNvSpPr>
          <p:nvPr/>
        </p:nvSpPr>
        <p:spPr>
          <a:xfrm xmlns:a="http://schemas.openxmlformats.org/drawingml/2006/main">
            <a:off x="8248650" y="4276725"/>
            <a:ext cx="3019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508"/>
          </a:bodyPr>
          <a:lstStyle xmlns:a="http://schemas.openxmlformats.org/drawingml/2006/main"/>
          <a:p xmlns:a="http://schemas.openxmlformats.org/drawingml/2006/main">
            <a:pPr algn="l">
              <a:defRPr sz="1425" b="1">
                <a:solidFill>
                  <a:srgbClr val="F5F5F2"/>
                </a:solidFill>
                <a:latin typeface="Arial"/>
                <a:ea typeface="Arial"/>
                <a:cs typeface="Arial"/>
              </a:defRPr>
            </a:pPr>
            <a:r>
              <a:rPr sz="1425" b="1">
                <a:solidFill>
                  <a:srgbClr val="F5F5F2"/>
                </a:solidFill>
                <a:latin typeface="Arial"/>
                <a:ea typeface="Arial"/>
                <a:cs typeface="Arial"/>
              </a:rPr>
              <a:t>ACCESS TO LICENSED PROVIDERS</a:t>
            </a:r>
          </a:p>
        </p:txBody>
      </p:sp>
      <p:sp>
        <p:nvSpPr>
          <p:cNvPr id="28" name="right-divider">
            <a:extLst xmlns:a="http://schemas.openxmlformats.org/drawingml/2006/main">
              <a:ext uri="{FF2B5EF4-FFF2-40B4-BE49-F238E27FC236}">
                <a16:creationId xmlns:a16="http://schemas.microsoft.com/office/drawing/2014/main" id="{2AFF4D81-934D-4CCE-9AF6-93EF44B61D05}"/>
              </a:ext>
            </a:extLst>
          </p:cNvPr>
          <p:cNvSpPr>
            <a:spLocks xmlns:a="http://schemas.openxmlformats.org/drawingml/2006/main" noGrp="1"/>
          </p:cNvSpPr>
          <p:nvPr/>
        </p:nvSpPr>
        <p:spPr>
          <a:xfrm xmlns:a="http://schemas.openxmlformats.org/drawingml/2006/main">
            <a:off x="4695825" y="4724400"/>
            <a:ext cx="6572250" cy="9525"/>
          </a:xfrm>
          <a:prstGeom xmlns:a="http://schemas.openxmlformats.org/drawingml/2006/main" prst="rect">
            <a:avLst/>
          </a:prstGeom>
          <a:solidFill xmlns:a="http://schemas.openxmlformats.org/drawingml/2006/main">
            <a:srgbClr val="30363B"/>
          </a:solidFill>
          <a:ln xmlns:a="http://schemas.openxmlformats.org/drawingml/2006/main" w="0">
            <a:noFill/>
            <a:prstDash val="solid"/>
          </a:ln>
        </p:spPr>
      </p:sp>
      <p:sp>
        <p:nvSpPr>
          <p:cNvPr id="29" name="accountability-heading">
            <a:extLst xmlns:a="http://schemas.openxmlformats.org/drawingml/2006/main">
              <a:ext uri="{FF2B5EF4-FFF2-40B4-BE49-F238E27FC236}">
                <a16:creationId xmlns:a16="http://schemas.microsoft.com/office/drawing/2014/main" id="{87F26EAC-DE7E-4253-A30F-861264D7054B}"/>
              </a:ext>
            </a:extLst>
          </p:cNvPr>
          <p:cNvSpPr>
            <a:spLocks xmlns:a="http://schemas.openxmlformats.org/drawingml/2006/main" noGrp="1"/>
          </p:cNvSpPr>
          <p:nvPr/>
        </p:nvSpPr>
        <p:spPr>
          <a:xfrm xmlns:a="http://schemas.openxmlformats.org/drawingml/2006/main">
            <a:off x="4695825" y="4886325"/>
            <a:ext cx="657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5F5F2"/>
                </a:solidFill>
                <a:latin typeface="Arial"/>
                <a:ea typeface="Arial"/>
                <a:cs typeface="Arial"/>
              </a:defRPr>
            </a:pPr>
            <a:r>
              <a:rPr sz="1275" b="1">
                <a:solidFill>
                  <a:srgbClr val="F5F5F2"/>
                </a:solidFill>
                <a:latin typeface="Arial"/>
                <a:ea typeface="Arial"/>
                <a:cs typeface="Arial"/>
              </a:rPr>
              <a:t>THE SCHOOL LEADERS WHO MUST CONFIRM IT</a:t>
            </a:r>
          </a:p>
        </p:txBody>
      </p:sp>
      <p:sp>
        <p:nvSpPr>
          <p:cNvPr id="30" name="accountability-explanation">
            <a:extLst xmlns:a="http://schemas.openxmlformats.org/drawingml/2006/main">
              <a:ext uri="{FF2B5EF4-FFF2-40B4-BE49-F238E27FC236}">
                <a16:creationId xmlns:a16="http://schemas.microsoft.com/office/drawing/2014/main" id="{8A1632E4-EE29-45DB-9BD8-EB36EC55BD9D}"/>
              </a:ext>
            </a:extLst>
          </p:cNvPr>
          <p:cNvSpPr>
            <a:spLocks xmlns:a="http://schemas.openxmlformats.org/drawingml/2006/main" noGrp="1"/>
          </p:cNvSpPr>
          <p:nvPr/>
        </p:nvSpPr>
        <p:spPr>
          <a:xfrm xmlns:a="http://schemas.openxmlformats.org/drawingml/2006/main">
            <a:off x="4695825" y="5153025"/>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A7AAB2"/>
                </a:solidFill>
                <a:latin typeface="Arial"/>
                <a:ea typeface="Arial"/>
                <a:cs typeface="Arial"/>
              </a:defRPr>
            </a:pPr>
            <a:r>
              <a:rPr sz="1125" b="0">
                <a:solidFill>
                  <a:srgbClr val="A7AAB2"/>
                </a:solidFill>
                <a:latin typeface="Arial"/>
                <a:ea typeface="Arial"/>
                <a:cs typeface="Arial"/>
              </a:rPr>
              <a:t>The NCAA form must be signed by:</a:t>
            </a:r>
          </a:p>
        </p:txBody>
      </p:sp>
      <p:sp>
        <p:nvSpPr>
          <p:cNvPr id="31" name="leader-1-surface">
            <a:extLst xmlns:a="http://schemas.openxmlformats.org/drawingml/2006/main">
              <a:ext uri="{FF2B5EF4-FFF2-40B4-BE49-F238E27FC236}">
                <a16:creationId xmlns:a16="http://schemas.microsoft.com/office/drawing/2014/main" id="{56960C96-23ED-4F6A-BABB-C54CB991256A}"/>
              </a:ext>
            </a:extLst>
          </p:cNvPr>
          <p:cNvSpPr>
            <a:spLocks xmlns:a="http://schemas.openxmlformats.org/drawingml/2006/main" noGrp="1"/>
          </p:cNvSpPr>
          <p:nvPr/>
        </p:nvSpPr>
        <p:spPr>
          <a:xfrm xmlns:a="http://schemas.openxmlformats.org/drawingml/2006/main">
            <a:off x="4695825" y="5429250"/>
            <a:ext cx="2057400" cy="495300"/>
          </a:xfrm>
          <a:prstGeom xmlns:a="http://schemas.openxmlformats.org/drawingml/2006/main" prst="roundRect">
            <a:avLst>
              <a:gd name="adj" fmla="val 15385"/>
            </a:avLst>
          </a:prstGeom>
          <a:solidFill xmlns:a="http://schemas.openxmlformats.org/drawingml/2006/main">
            <a:srgbClr val="14191C"/>
          </a:solidFill>
          <a:ln xmlns:a="http://schemas.openxmlformats.org/drawingml/2006/main" w="9525">
            <a:solidFill>
              <a:srgbClr val="30363B"/>
            </a:solidFill>
            <a:prstDash val="solid"/>
          </a:ln>
        </p:spPr>
      </p:sp>
      <p:sp>
        <p:nvSpPr>
          <p:cNvPr id="32" name="leader-1-number">
            <a:extLst xmlns:a="http://schemas.openxmlformats.org/drawingml/2006/main">
              <a:ext uri="{FF2B5EF4-FFF2-40B4-BE49-F238E27FC236}">
                <a16:creationId xmlns:a16="http://schemas.microsoft.com/office/drawing/2014/main" id="{77476737-51CF-4473-A834-6926C53E70FF}"/>
              </a:ext>
            </a:extLst>
          </p:cNvPr>
          <p:cNvSpPr>
            <a:spLocks xmlns:a="http://schemas.openxmlformats.org/drawingml/2006/main" noGrp="1"/>
          </p:cNvSpPr>
          <p:nvPr/>
        </p:nvSpPr>
        <p:spPr>
          <a:xfrm xmlns:a="http://schemas.openxmlformats.org/drawingml/2006/main">
            <a:off x="4848225" y="55149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C8FF00"/>
                </a:solidFill>
                <a:latin typeface="Arial"/>
                <a:ea typeface="Arial"/>
                <a:cs typeface="Arial"/>
              </a:defRPr>
            </a:pPr>
            <a:r>
              <a:rPr sz="1125" b="1">
                <a:solidFill>
                  <a:srgbClr val="C8FF00"/>
                </a:solidFill>
                <a:latin typeface="Arial"/>
                <a:ea typeface="Arial"/>
                <a:cs typeface="Arial"/>
              </a:rPr>
              <a:t>01</a:t>
            </a:r>
          </a:p>
        </p:txBody>
      </p:sp>
      <p:sp>
        <p:nvSpPr>
          <p:cNvPr id="33" name="leader-1-role">
            <a:extLst xmlns:a="http://schemas.openxmlformats.org/drawingml/2006/main">
              <a:ext uri="{FF2B5EF4-FFF2-40B4-BE49-F238E27FC236}">
                <a16:creationId xmlns:a16="http://schemas.microsoft.com/office/drawing/2014/main" id="{CF55978D-CA9E-448C-A67E-F99087ADCC11}"/>
              </a:ext>
            </a:extLst>
          </p:cNvPr>
          <p:cNvSpPr>
            <a:spLocks xmlns:a="http://schemas.openxmlformats.org/drawingml/2006/main" noGrp="1"/>
          </p:cNvSpPr>
          <p:nvPr/>
        </p:nvSpPr>
        <p:spPr>
          <a:xfrm xmlns:a="http://schemas.openxmlformats.org/drawingml/2006/main">
            <a:off x="5133975" y="55054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42"/>
          </a:bodyPr>
          <a:lstStyle xmlns:a="http://schemas.openxmlformats.org/drawingml/2006/main"/>
          <a:p xmlns:a="http://schemas.openxmlformats.org/drawingml/2006/main">
            <a:pPr algn="l">
              <a:defRPr sz="1200" b="1">
                <a:solidFill>
                  <a:srgbClr val="F5F5F2"/>
                </a:solidFill>
                <a:latin typeface="Arial"/>
                <a:ea typeface="Arial"/>
                <a:cs typeface="Arial"/>
              </a:defRPr>
            </a:pPr>
            <a:r>
              <a:rPr sz="1200" b="1">
                <a:solidFill>
                  <a:srgbClr val="F5F5F2"/>
                </a:solidFill>
                <a:latin typeface="Arial"/>
                <a:ea typeface="Arial"/>
                <a:cs typeface="Arial"/>
              </a:rPr>
              <a:t>SCHOOL PRESIDENT</a:t>
            </a:r>
          </a:p>
          <a:p xmlns:a="http://schemas.openxmlformats.org/drawingml/2006/main">
            <a:pPr algn="l">
              <a:defRPr sz="1200" b="1">
                <a:solidFill>
                  <a:srgbClr val="F5F5F2"/>
                </a:solidFill>
                <a:latin typeface="Arial"/>
                <a:ea typeface="Arial"/>
                <a:cs typeface="Arial"/>
              </a:defRPr>
            </a:pPr>
            <a:r>
              <a:rPr sz="1200" b="1">
                <a:solidFill>
                  <a:srgbClr val="F5F5F2"/>
                </a:solidFill>
                <a:latin typeface="Arial"/>
                <a:ea typeface="Arial"/>
                <a:cs typeface="Arial"/>
              </a:rPr>
              <a:t>OR CHANCELLOR</a:t>
            </a:r>
          </a:p>
        </p:txBody>
      </p:sp>
      <p:sp>
        <p:nvSpPr>
          <p:cNvPr id="34" name="leader-2-surface">
            <a:extLst xmlns:a="http://schemas.openxmlformats.org/drawingml/2006/main">
              <a:ext uri="{FF2B5EF4-FFF2-40B4-BE49-F238E27FC236}">
                <a16:creationId xmlns:a16="http://schemas.microsoft.com/office/drawing/2014/main" id="{AE087570-450A-4953-B869-9F46A117B6A7}"/>
              </a:ext>
            </a:extLst>
          </p:cNvPr>
          <p:cNvSpPr>
            <a:spLocks xmlns:a="http://schemas.openxmlformats.org/drawingml/2006/main" noGrp="1"/>
          </p:cNvSpPr>
          <p:nvPr/>
        </p:nvSpPr>
        <p:spPr>
          <a:xfrm xmlns:a="http://schemas.openxmlformats.org/drawingml/2006/main">
            <a:off x="6867525" y="5429250"/>
            <a:ext cx="2057400" cy="495300"/>
          </a:xfrm>
          <a:prstGeom xmlns:a="http://schemas.openxmlformats.org/drawingml/2006/main" prst="roundRect">
            <a:avLst>
              <a:gd name="adj" fmla="val 15385"/>
            </a:avLst>
          </a:prstGeom>
          <a:solidFill xmlns:a="http://schemas.openxmlformats.org/drawingml/2006/main">
            <a:srgbClr val="14191C"/>
          </a:solidFill>
          <a:ln xmlns:a="http://schemas.openxmlformats.org/drawingml/2006/main" w="9525">
            <a:solidFill>
              <a:srgbClr val="30363B"/>
            </a:solidFill>
            <a:prstDash val="solid"/>
          </a:ln>
        </p:spPr>
      </p:sp>
      <p:sp>
        <p:nvSpPr>
          <p:cNvPr id="35" name="leader-2-number">
            <a:extLst xmlns:a="http://schemas.openxmlformats.org/drawingml/2006/main">
              <a:ext uri="{FF2B5EF4-FFF2-40B4-BE49-F238E27FC236}">
                <a16:creationId xmlns:a16="http://schemas.microsoft.com/office/drawing/2014/main" id="{1144FA58-C2B7-4BA0-8C78-A218E4F35D21}"/>
              </a:ext>
            </a:extLst>
          </p:cNvPr>
          <p:cNvSpPr>
            <a:spLocks xmlns:a="http://schemas.openxmlformats.org/drawingml/2006/main" noGrp="1"/>
          </p:cNvSpPr>
          <p:nvPr/>
        </p:nvSpPr>
        <p:spPr>
          <a:xfrm xmlns:a="http://schemas.openxmlformats.org/drawingml/2006/main">
            <a:off x="7019925" y="55149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C8FF00"/>
                </a:solidFill>
                <a:latin typeface="Arial"/>
                <a:ea typeface="Arial"/>
                <a:cs typeface="Arial"/>
              </a:defRPr>
            </a:pPr>
            <a:r>
              <a:rPr sz="1125" b="1">
                <a:solidFill>
                  <a:srgbClr val="C8FF00"/>
                </a:solidFill>
                <a:latin typeface="Arial"/>
                <a:ea typeface="Arial"/>
                <a:cs typeface="Arial"/>
              </a:rPr>
              <a:t>02</a:t>
            </a:r>
          </a:p>
        </p:txBody>
      </p:sp>
      <p:sp>
        <p:nvSpPr>
          <p:cNvPr id="36" name="leader-2-role">
            <a:extLst xmlns:a="http://schemas.openxmlformats.org/drawingml/2006/main">
              <a:ext uri="{FF2B5EF4-FFF2-40B4-BE49-F238E27FC236}">
                <a16:creationId xmlns:a16="http://schemas.microsoft.com/office/drawing/2014/main" id="{BCE0E4D2-0758-4DC3-BC2A-BB81B35A23BA}"/>
              </a:ext>
            </a:extLst>
          </p:cNvPr>
          <p:cNvSpPr>
            <a:spLocks xmlns:a="http://schemas.openxmlformats.org/drawingml/2006/main" noGrp="1"/>
          </p:cNvSpPr>
          <p:nvPr/>
        </p:nvSpPr>
        <p:spPr>
          <a:xfrm xmlns:a="http://schemas.openxmlformats.org/drawingml/2006/main">
            <a:off x="7305675" y="55054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42"/>
          </a:bodyPr>
          <a:lstStyle xmlns:a="http://schemas.openxmlformats.org/drawingml/2006/main"/>
          <a:p xmlns:a="http://schemas.openxmlformats.org/drawingml/2006/main">
            <a:pPr algn="l">
              <a:defRPr sz="1200" b="1">
                <a:solidFill>
                  <a:srgbClr val="F5F5F2"/>
                </a:solidFill>
                <a:latin typeface="Arial"/>
                <a:ea typeface="Arial"/>
                <a:cs typeface="Arial"/>
              </a:defRPr>
            </a:pPr>
            <a:r>
              <a:rPr sz="1200" b="1">
                <a:solidFill>
                  <a:srgbClr val="F5F5F2"/>
                </a:solidFill>
                <a:latin typeface="Arial"/>
                <a:ea typeface="Arial"/>
                <a:cs typeface="Arial"/>
              </a:rPr>
              <a:t>ATHLETIC</a:t>
            </a:r>
          </a:p>
          <a:p xmlns:a="http://schemas.openxmlformats.org/drawingml/2006/main">
            <a:pPr algn="l">
              <a:defRPr sz="1200" b="1">
                <a:solidFill>
                  <a:srgbClr val="F5F5F2"/>
                </a:solidFill>
                <a:latin typeface="Arial"/>
                <a:ea typeface="Arial"/>
                <a:cs typeface="Arial"/>
              </a:defRPr>
            </a:pPr>
            <a:r>
              <a:rPr sz="1200" b="1">
                <a:solidFill>
                  <a:srgbClr val="F5F5F2"/>
                </a:solidFill>
                <a:latin typeface="Arial"/>
                <a:ea typeface="Arial"/>
                <a:cs typeface="Arial"/>
              </a:rPr>
              <a:t>DIRECTOR</a:t>
            </a:r>
          </a:p>
        </p:txBody>
      </p:sp>
      <p:sp>
        <p:nvSpPr>
          <p:cNvPr id="37" name="leader-3-surface">
            <a:extLst xmlns:a="http://schemas.openxmlformats.org/drawingml/2006/main">
              <a:ext uri="{FF2B5EF4-FFF2-40B4-BE49-F238E27FC236}">
                <a16:creationId xmlns:a16="http://schemas.microsoft.com/office/drawing/2014/main" id="{66FD88DC-1D28-4D9D-9C63-87BDB4E9536F}"/>
              </a:ext>
            </a:extLst>
          </p:cNvPr>
          <p:cNvSpPr>
            <a:spLocks xmlns:a="http://schemas.openxmlformats.org/drawingml/2006/main" noGrp="1"/>
          </p:cNvSpPr>
          <p:nvPr/>
        </p:nvSpPr>
        <p:spPr>
          <a:xfrm xmlns:a="http://schemas.openxmlformats.org/drawingml/2006/main">
            <a:off x="9039225" y="5429250"/>
            <a:ext cx="2228850" cy="495300"/>
          </a:xfrm>
          <a:prstGeom xmlns:a="http://schemas.openxmlformats.org/drawingml/2006/main" prst="roundRect">
            <a:avLst>
              <a:gd name="adj" fmla="val 15385"/>
            </a:avLst>
          </a:prstGeom>
          <a:solidFill xmlns:a="http://schemas.openxmlformats.org/drawingml/2006/main">
            <a:srgbClr val="14191C"/>
          </a:solidFill>
          <a:ln xmlns:a="http://schemas.openxmlformats.org/drawingml/2006/main" w="9525">
            <a:solidFill>
              <a:srgbClr val="30363B"/>
            </a:solidFill>
            <a:prstDash val="solid"/>
          </a:ln>
        </p:spPr>
      </p:sp>
      <p:sp>
        <p:nvSpPr>
          <p:cNvPr id="38" name="leader-3-number">
            <a:extLst xmlns:a="http://schemas.openxmlformats.org/drawingml/2006/main">
              <a:ext uri="{FF2B5EF4-FFF2-40B4-BE49-F238E27FC236}">
                <a16:creationId xmlns:a16="http://schemas.microsoft.com/office/drawing/2014/main" id="{1D245A35-565A-487D-9762-4579DBA92839}"/>
              </a:ext>
            </a:extLst>
          </p:cNvPr>
          <p:cNvSpPr>
            <a:spLocks xmlns:a="http://schemas.openxmlformats.org/drawingml/2006/main" noGrp="1"/>
          </p:cNvSpPr>
          <p:nvPr/>
        </p:nvSpPr>
        <p:spPr>
          <a:xfrm xmlns:a="http://schemas.openxmlformats.org/drawingml/2006/main">
            <a:off x="9191625" y="55149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C8FF00"/>
                </a:solidFill>
                <a:latin typeface="Arial"/>
                <a:ea typeface="Arial"/>
                <a:cs typeface="Arial"/>
              </a:defRPr>
            </a:pPr>
            <a:r>
              <a:rPr sz="1125" b="1">
                <a:solidFill>
                  <a:srgbClr val="C8FF00"/>
                </a:solidFill>
                <a:latin typeface="Arial"/>
                <a:ea typeface="Arial"/>
                <a:cs typeface="Arial"/>
              </a:rPr>
              <a:t>03</a:t>
            </a:r>
          </a:p>
        </p:txBody>
      </p:sp>
      <p:sp>
        <p:nvSpPr>
          <p:cNvPr id="39" name="leader-3-role">
            <a:extLst xmlns:a="http://schemas.openxmlformats.org/drawingml/2006/main">
              <a:ext uri="{FF2B5EF4-FFF2-40B4-BE49-F238E27FC236}">
                <a16:creationId xmlns:a16="http://schemas.microsoft.com/office/drawing/2014/main" id="{4F6ED7AA-54CE-4591-9215-62E48B1DCAC2}"/>
              </a:ext>
            </a:extLst>
          </p:cNvPr>
          <p:cNvSpPr>
            <a:spLocks xmlns:a="http://schemas.openxmlformats.org/drawingml/2006/main" noGrp="1"/>
          </p:cNvSpPr>
          <p:nvPr/>
        </p:nvSpPr>
        <p:spPr>
          <a:xfrm xmlns:a="http://schemas.openxmlformats.org/drawingml/2006/main">
            <a:off x="9477375" y="5505450"/>
            <a:ext cx="167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42"/>
          </a:bodyPr>
          <a:lstStyle xmlns:a="http://schemas.openxmlformats.org/drawingml/2006/main"/>
          <a:p xmlns:a="http://schemas.openxmlformats.org/drawingml/2006/main">
            <a:pPr algn="l">
              <a:defRPr sz="1200" b="1">
                <a:solidFill>
                  <a:srgbClr val="F5F5F2"/>
                </a:solidFill>
                <a:latin typeface="Arial"/>
                <a:ea typeface="Arial"/>
                <a:cs typeface="Arial"/>
              </a:defRPr>
            </a:pPr>
            <a:r>
              <a:rPr sz="1200" b="1">
                <a:solidFill>
                  <a:srgbClr val="F5F5F2"/>
                </a:solidFill>
                <a:latin typeface="Arial"/>
                <a:ea typeface="Arial"/>
                <a:cs typeface="Arial"/>
              </a:rPr>
              <a:t>ATHLETICS HEALTH</a:t>
            </a:r>
          </a:p>
          <a:p xmlns:a="http://schemas.openxmlformats.org/drawingml/2006/main">
            <a:pPr algn="l">
              <a:defRPr sz="1200" b="1">
                <a:solidFill>
                  <a:srgbClr val="F5F5F2"/>
                </a:solidFill>
                <a:latin typeface="Arial"/>
                <a:ea typeface="Arial"/>
                <a:cs typeface="Arial"/>
              </a:defRPr>
            </a:pPr>
            <a:r>
              <a:rPr sz="1200" b="1">
                <a:solidFill>
                  <a:srgbClr val="F5F5F2"/>
                </a:solidFill>
                <a:latin typeface="Arial"/>
                <a:ea typeface="Arial"/>
                <a:cs typeface="Arial"/>
              </a:rPr>
              <a:t>CARE ADMINISTRATOR</a:t>
            </a:r>
          </a:p>
        </p:txBody>
      </p:sp>
      <p:sp>
        <p:nvSpPr>
          <p:cNvPr id="40" name="pulsecheck-band">
            <a:extLst xmlns:a="http://schemas.openxmlformats.org/drawingml/2006/main">
              <a:ext uri="{FF2B5EF4-FFF2-40B4-BE49-F238E27FC236}">
                <a16:creationId xmlns:a16="http://schemas.microsoft.com/office/drawing/2014/main" id="{E351295D-1618-4465-B1E8-152117D976E4}"/>
              </a:ext>
            </a:extLst>
          </p:cNvPr>
          <p:cNvSpPr>
            <a:spLocks xmlns:a="http://schemas.openxmlformats.org/drawingml/2006/main" noGrp="1"/>
          </p:cNvSpPr>
          <p:nvPr/>
        </p:nvSpPr>
        <p:spPr>
          <a:xfrm xmlns:a="http://schemas.openxmlformats.org/drawingml/2006/main">
            <a:off x="666750" y="6153150"/>
            <a:ext cx="10858500" cy="457200"/>
          </a:xfrm>
          <a:prstGeom xmlns:a="http://schemas.openxmlformats.org/drawingml/2006/main" prst="roundRect">
            <a:avLst>
              <a:gd name="adj" fmla="val 16667"/>
            </a:avLst>
          </a:prstGeom>
          <a:solidFill xmlns:a="http://schemas.openxmlformats.org/drawingml/2006/main">
            <a:srgbClr val="151C0F"/>
          </a:solidFill>
          <a:ln xmlns:a="http://schemas.openxmlformats.org/drawingml/2006/main" w="9525">
            <a:solidFill>
              <a:srgbClr val="435600"/>
            </a:solidFill>
            <a:prstDash val="solid"/>
          </a:ln>
        </p:spPr>
      </p:sp>
      <p:sp>
        <p:nvSpPr>
          <p:cNvPr id="41" name="pulsecheck-value">
            <a:extLst xmlns:a="http://schemas.openxmlformats.org/drawingml/2006/main">
              <a:ext uri="{FF2B5EF4-FFF2-40B4-BE49-F238E27FC236}">
                <a16:creationId xmlns:a16="http://schemas.microsoft.com/office/drawing/2014/main" id="{F2AB40B8-35C5-4FDD-B9B8-5B7AC75F68C4}"/>
              </a:ext>
            </a:extLst>
          </p:cNvPr>
          <p:cNvSpPr>
            <a:spLocks xmlns:a="http://schemas.openxmlformats.org/drawingml/2006/main" noGrp="1"/>
          </p:cNvSpPr>
          <p:nvPr/>
        </p:nvSpPr>
        <p:spPr>
          <a:xfrm xmlns:a="http://schemas.openxmlformats.org/drawingml/2006/main">
            <a:off x="876300" y="6257925"/>
            <a:ext cx="1043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C8FF00"/>
                </a:solidFill>
                <a:latin typeface="Arial"/>
                <a:ea typeface="Arial"/>
                <a:cs typeface="Arial"/>
              </a:defRPr>
            </a:pPr>
            <a:r>
              <a:rPr sz="1200" b="1">
                <a:solidFill>
                  <a:srgbClr val="C8FF00"/>
                </a:solidFill>
                <a:latin typeface="Arial"/>
                <a:ea typeface="Arial"/>
                <a:cs typeface="Arial"/>
              </a:rPr>
              <a:t>PULSECHECK HELPS ATHLETIC DEPARTMENTS IMPLEMENT, MEASURE AND DOCUMENT THE SYSTEM BEHIND COMPLIANCE.</a:t>
            </a:r>
          </a:p>
        </p:txBody>
      </p:sp>
    </p:spTree>
    <p:extLst>
      <p:ext uri="{BB962C8B-B14F-4D97-AF65-F5344CB8AC3E}">
        <p14:creationId xmlns:p14="http://schemas.microsoft.com/office/powerpoint/2010/main" val="7504587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2026-07-28T02:30:07.5200000Z</dcterms:created>
  <dcterms:modified xsi:type="dcterms:W3CDTF">2026-07-28T02:30:07.5200000Z</dcterms:modified>
</coreProperties>
</file>