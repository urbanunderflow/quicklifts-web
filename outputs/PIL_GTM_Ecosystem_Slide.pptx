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f1fd6720374484" /><Relationship Type="http://schemas.openxmlformats.org/officeDocument/2006/relationships/extended-properties" Target="/docProps/app.xml" Id="R87b05d4fb68b41f6" /><Relationship Type="http://schemas.openxmlformats.org/officeDocument/2006/relationships/officeDocument" Target="/ppt/presentation.xml" Id="Rd1bda15b548c49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ca53d46b0a4406"/>
  </p:sldMasterIdLst>
  <p:notesMasterIdLst>
    <p:notesMasterId xmlns:r="http://schemas.openxmlformats.org/officeDocument/2006/relationships" r:id="R7c5578722e874c7b"/>
  </p:notesMasterIdLst>
  <p:sldIdLst>
    <p:sldId xmlns:r="http://schemas.openxmlformats.org/officeDocument/2006/relationships" id="256" r:id="R55ed871d676f4c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3b713e584b48cc" /><Relationship Type="http://schemas.openxmlformats.org/officeDocument/2006/relationships/slideMaster" Target="/ppt/slideMasters/slideMaster1.xml" Id="R56ca53d46b0a4406" /><Relationship Type="http://schemas.openxmlformats.org/officeDocument/2006/relationships/notesMaster" Target="/ppt/notesMasters/notesMaster1.xml" Id="R7c5578722e874c7b" /><Relationship Type="http://schemas.openxmlformats.org/officeDocument/2006/relationships/presProps" Target="/ppt/presProps.xml" Id="R061ad0f154bb4be3" /><Relationship Type="http://schemas.openxmlformats.org/officeDocument/2006/relationships/tableStyles" Target="/ppt/tableStyles.xml" Id="R30eabf306bdb4285" /><Relationship Type="http://schemas.openxmlformats.org/officeDocument/2006/relationships/slide" Target="/ppt/slides/slide1.xml" Id="R55ed871d676f4c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ffce7a479e43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bfa3610db147ad" /><Relationship Type="http://schemas.openxmlformats.org/officeDocument/2006/relationships/notesMaster" Target="/ppt/notesMasters/notesMaster1.xml" Id="R4fdf05dffd1845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Pulse go-to-market strategy and pilot list: Athletic Mind Council + Network; athletic director conferences; Clark Atlanta University; Worcester State University; University of Maryland Eastern Shore.</a:t>
            </a:r>
          </a:p>
          <a:p xmlns:a="http://schemas.openxmlformats.org/drawingml/2006/main">
            <a:r>
              <a:t>- Strategic channel partners are a proposed GTM avenue developed for this slide.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ad34aed8d548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f62839db3b4613" /><Relationship Type="http://schemas.openxmlformats.org/officeDocument/2006/relationships/slideLayout" Target="/ppt/slideLayouts/slideLayout1.xml" Id="R3c2e3685e59247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2e3685e59247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e977873454cf4" /><Relationship Type="http://schemas.openxmlformats.org/officeDocument/2006/relationships/notesSlide" Target="/ppt/notesSlides/notesSlide1.xml" Id="R40a81101b26a48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tm-eyebrow">
            <a:extLst xmlns:a="http://schemas.openxmlformats.org/drawingml/2006/main">
              <a:ext uri="{FF2B5EF4-FFF2-40B4-BE49-F238E27FC236}">
                <a16:creationId xmlns:a16="http://schemas.microsoft.com/office/drawing/2014/main" id="{EF2F774A-D57D-493F-953E-BF14BA0B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190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2B2F35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●</a:t>
            </a:r>
            <a:r>
              <a:rPr sz="105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  GO-TO-MARKET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06CCD5-84AA-48F8-A26B-1CE21B66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Start focused. </a:t>
            </a:r>
            <a:r>
              <a:rPr sz="345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Expand across the ecosystem.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220075C-1F23-48B3-89F3-22D97592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9A9FAA"/>
                </a:solidFill>
                <a:latin typeface="Arial"/>
                <a:ea typeface="Arial"/>
                <a:cs typeface="Arial"/>
              </a:rPr>
              <a:t>Trusted relationships create paid college pilots—the proof points that unlock broader institutional adoption.</a:t>
            </a:r>
          </a:p>
        </p:txBody>
      </p:sp>
      <p:sp>
        <p:nvSpPr>
          <p:cNvPr id="4" name="ecosystem-outer-circle">
            <a:extLst xmlns:a="http://schemas.openxmlformats.org/drawingml/2006/main">
              <a:ext uri="{FF2B5EF4-FFF2-40B4-BE49-F238E27FC236}">
                <a16:creationId xmlns:a16="http://schemas.microsoft.com/office/drawing/2014/main" id="{6A5B9D92-38FA-4A76-AD98-32CD353F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318"/>
          </a:solidFill>
          <a:ln xmlns:a="http://schemas.openxmlformats.org/drawingml/2006/main" w="19050">
            <a:solidFill>
              <a:srgbClr val="4E8CFF"/>
            </a:solidFill>
            <a:prstDash val="solid"/>
          </a:ln>
        </p:spPr>
      </p:sp>
      <p:sp>
        <p:nvSpPr>
          <p:cNvPr id="5" name="amateur-athletics-circle">
            <a:extLst xmlns:a="http://schemas.openxmlformats.org/drawingml/2006/main">
              <a:ext uri="{FF2B5EF4-FFF2-40B4-BE49-F238E27FC236}">
                <a16:creationId xmlns:a16="http://schemas.microsoft.com/office/drawing/2014/main" id="{7DD085F4-D8A0-44AD-96E1-C4EDB90A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1D"/>
          </a:solidFill>
          <a:ln xmlns:a="http://schemas.openxmlformats.org/drawingml/2006/main" w="19050">
            <a:solidFill>
              <a:srgbClr val="9A78FF"/>
            </a:solidFill>
            <a:prstDash val="solid"/>
          </a:ln>
        </p:spPr>
      </p:sp>
      <p:sp>
        <p:nvSpPr>
          <p:cNvPr id="6" name="college-athletics-circle">
            <a:extLst xmlns:a="http://schemas.openxmlformats.org/drawingml/2006/main">
              <a:ext uri="{FF2B5EF4-FFF2-40B4-BE49-F238E27FC236}">
                <a16:creationId xmlns:a16="http://schemas.microsoft.com/office/drawing/2014/main" id="{772940D5-B047-4E50-8493-40A39CA3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051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1B18"/>
          </a:solidFill>
          <a:ln xmlns:a="http://schemas.openxmlformats.org/drawingml/2006/main" w="19050">
            <a:solidFill>
              <a:srgbClr val="C8FF00"/>
            </a:solidFill>
            <a:prstDash val="solid"/>
          </a:ln>
        </p:spPr>
      </p:sp>
      <p:sp>
        <p:nvSpPr>
          <p:cNvPr id="7" name="paid-pilots-circle">
            <a:extLst xmlns:a="http://schemas.openxmlformats.org/drawingml/2006/main">
              <a:ext uri="{FF2B5EF4-FFF2-40B4-BE49-F238E27FC236}">
                <a16:creationId xmlns:a16="http://schemas.microsoft.com/office/drawing/2014/main" id="{D606CBD0-9443-4AF6-A3B4-619B0688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629025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00"/>
          </a:solidFill>
          <a:ln xmlns:a="http://schemas.openxmlformats.org/drawingml/2006/main" w="19050">
            <a:solidFill>
              <a:srgbClr val="C8FF00"/>
            </a:solidFill>
            <a:prstDash val="solid"/>
          </a:ln>
        </p:spPr>
      </p:sp>
      <p:sp>
        <p:nvSpPr>
          <p:cNvPr id="8" name="ecosystem-label">
            <a:extLst xmlns:a="http://schemas.openxmlformats.org/drawingml/2006/main">
              <a:ext uri="{FF2B5EF4-FFF2-40B4-BE49-F238E27FC236}">
                <a16:creationId xmlns:a16="http://schemas.microsoft.com/office/drawing/2014/main" id="{35D377D7-2ADC-4F0C-AD5F-295B3C3B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8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E8CFF"/>
                </a:solidFill>
                <a:latin typeface="Arial"/>
                <a:ea typeface="Arial"/>
                <a:cs typeface="Arial"/>
              </a:rPr>
              <a:t>FULL INSTITUTIONAL ECOSYSTEM</a:t>
            </a:r>
          </a:p>
        </p:txBody>
      </p:sp>
      <p:sp>
        <p:nvSpPr>
          <p:cNvPr id="9" name="ecosystem-detail">
            <a:extLst xmlns:a="http://schemas.openxmlformats.org/drawingml/2006/main">
              <a:ext uri="{FF2B5EF4-FFF2-40B4-BE49-F238E27FC236}">
                <a16:creationId xmlns:a16="http://schemas.microsoft.com/office/drawing/2014/main" id="{C9595E7F-1DF8-4264-BDAE-D4ED4EF8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527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9A9FAA"/>
                </a:solidFill>
                <a:latin typeface="Arial"/>
                <a:ea typeface="Arial"/>
                <a:cs typeface="Arial"/>
              </a:rPr>
              <a:t>SPORTS  •  EDUCATION  •  WORKFORCE</a:t>
            </a:r>
          </a:p>
        </p:txBody>
      </p:sp>
      <p:sp>
        <p:nvSpPr>
          <p:cNvPr id="10" name="amateur-label">
            <a:extLst xmlns:a="http://schemas.openxmlformats.org/drawingml/2006/main">
              <a:ext uri="{FF2B5EF4-FFF2-40B4-BE49-F238E27FC236}">
                <a16:creationId xmlns:a16="http://schemas.microsoft.com/office/drawing/2014/main" id="{F887B189-ECB7-4CE0-9862-74F48E14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194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A7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78FF"/>
                </a:solidFill>
                <a:latin typeface="Arial"/>
                <a:ea typeface="Arial"/>
                <a:cs typeface="Arial"/>
              </a:rPr>
              <a:t>YOUTH + AMATEUR ATHLETICS</a:t>
            </a:r>
          </a:p>
        </p:txBody>
      </p:sp>
      <p:sp>
        <p:nvSpPr>
          <p:cNvPr id="11" name="college-label">
            <a:extLst xmlns:a="http://schemas.openxmlformats.org/drawingml/2006/main">
              <a:ext uri="{FF2B5EF4-FFF2-40B4-BE49-F238E27FC236}">
                <a16:creationId xmlns:a16="http://schemas.microsoft.com/office/drawing/2014/main" id="{C74B27DF-D8AB-4DC9-ACD1-DE42C9E1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766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COLLEGE ATHLETICS</a:t>
            </a:r>
          </a:p>
        </p:txBody>
      </p:sp>
      <p:sp>
        <p:nvSpPr>
          <p:cNvPr id="12" name="pilot-count">
            <a:extLst xmlns:a="http://schemas.openxmlformats.org/drawingml/2006/main">
              <a:ext uri="{FF2B5EF4-FFF2-40B4-BE49-F238E27FC236}">
                <a16:creationId xmlns:a16="http://schemas.microsoft.com/office/drawing/2014/main" id="{426B1850-5370-41A7-9F26-A35D8734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867150"/>
            <a:ext cx="1009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0A0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0A0C"/>
                </a:solidFill>
                <a:latin typeface="Arial"/>
                <a:ea typeface="Arial"/>
                <a:cs typeface="Arial"/>
              </a:rPr>
              <a:t>3 PAID</a:t>
            </a:r>
          </a:p>
        </p:txBody>
      </p:sp>
      <p:sp>
        <p:nvSpPr>
          <p:cNvPr id="13" name="pilot-label">
            <a:extLst xmlns:a="http://schemas.openxmlformats.org/drawingml/2006/main">
              <a:ext uri="{FF2B5EF4-FFF2-40B4-BE49-F238E27FC236}">
                <a16:creationId xmlns:a16="http://schemas.microsoft.com/office/drawing/2014/main" id="{B576E2A3-B4AE-435A-9B79-DB2D95AC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105275"/>
            <a:ext cx="1009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82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0A0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0A0C"/>
                </a:solidFill>
                <a:latin typeface="Arial"/>
                <a:ea typeface="Arial"/>
                <a:cs typeface="Arial"/>
              </a:rPr>
              <a:t>PILOTS</a:t>
            </a:r>
          </a:p>
        </p:txBody>
      </p:sp>
      <p:sp>
        <p:nvSpPr>
          <p:cNvPr id="14" name="pilot-school-clark-atlanta">
            <a:extLst xmlns:a="http://schemas.openxmlformats.org/drawingml/2006/main">
              <a:ext uri="{FF2B5EF4-FFF2-40B4-BE49-F238E27FC236}">
                <a16:creationId xmlns:a16="http://schemas.microsoft.com/office/drawing/2014/main" id="{DAAA5C41-5019-4857-8B35-34980DEE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67275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CLARK ATLANTA</a:t>
            </a:r>
          </a:p>
        </p:txBody>
      </p:sp>
      <p:sp>
        <p:nvSpPr>
          <p:cNvPr id="15" name="pilot-school-worcester-state">
            <a:extLst xmlns:a="http://schemas.openxmlformats.org/drawingml/2006/main">
              <a:ext uri="{FF2B5EF4-FFF2-40B4-BE49-F238E27FC236}">
                <a16:creationId xmlns:a16="http://schemas.microsoft.com/office/drawing/2014/main" id="{4B35828D-792B-45C8-B8D9-18DDDA12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4825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WORCESTER STATE</a:t>
            </a:r>
          </a:p>
        </p:txBody>
      </p:sp>
      <p:sp>
        <p:nvSpPr>
          <p:cNvPr id="16" name="pilot-school-umes">
            <a:extLst xmlns:a="http://schemas.openxmlformats.org/drawingml/2006/main">
              <a:ext uri="{FF2B5EF4-FFF2-40B4-BE49-F238E27FC236}">
                <a16:creationId xmlns:a16="http://schemas.microsoft.com/office/drawing/2014/main" id="{219825F6-843F-4220-ACB0-E56FAF13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29225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UMES</a:t>
            </a:r>
          </a:p>
        </p:txBody>
      </p:sp>
      <p:sp>
        <p:nvSpPr>
          <p:cNvPr id="17" name="expansion-caption">
            <a:extLst xmlns:a="http://schemas.openxmlformats.org/drawingml/2006/main">
              <a:ext uri="{FF2B5EF4-FFF2-40B4-BE49-F238E27FC236}">
                <a16:creationId xmlns:a16="http://schemas.microsoft.com/office/drawing/2014/main" id="{CE2EA5B5-93B0-404B-8897-056A9E75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5787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BEACHHEAD  →  OUTWARD EXPANSION</a:t>
            </a:r>
          </a:p>
        </p:txBody>
      </p:sp>
      <p:sp>
        <p:nvSpPr>
          <p:cNvPr id="18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46F7F089-E627-4FFC-AD88-553F01DC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7170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hannels-heading">
            <a:extLst xmlns:a="http://schemas.openxmlformats.org/drawingml/2006/main">
              <a:ext uri="{FF2B5EF4-FFF2-40B4-BE49-F238E27FC236}">
                <a16:creationId xmlns:a16="http://schemas.microsoft.com/office/drawing/2014/main" id="{BE9C0F7A-80BA-41C7-B8EA-E8C64F77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Three acquisition engines</a:t>
            </a:r>
          </a:p>
        </p:txBody>
      </p:sp>
      <p:sp>
        <p:nvSpPr>
          <p:cNvPr id="20" name="channels-subheading">
            <a:extLst xmlns:a="http://schemas.openxmlformats.org/drawingml/2006/main">
              <a:ext uri="{FF2B5EF4-FFF2-40B4-BE49-F238E27FC236}">
                <a16:creationId xmlns:a16="http://schemas.microsoft.com/office/drawing/2014/main" id="{2E85740B-5568-442F-AABB-2A4E4EFC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9A9FAA"/>
                </a:solidFill>
                <a:latin typeface="Arial"/>
                <a:ea typeface="Arial"/>
                <a:cs typeface="Arial"/>
              </a:rPr>
              <a:t>How trusted access becomes a paid pilot.</a:t>
            </a:r>
          </a:p>
        </p:txBody>
      </p:sp>
      <p:sp>
        <p:nvSpPr>
          <p:cNvPr id="21" name="channel-01-number">
            <a:extLst xmlns:a="http://schemas.openxmlformats.org/drawingml/2006/main">
              <a:ext uri="{FF2B5EF4-FFF2-40B4-BE49-F238E27FC236}">
                <a16:creationId xmlns:a16="http://schemas.microsoft.com/office/drawing/2014/main" id="{C415988B-8516-4A51-9CA6-D8476D31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670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2" name="channel-01-title">
            <a:extLst xmlns:a="http://schemas.openxmlformats.org/drawingml/2006/main">
              <a:ext uri="{FF2B5EF4-FFF2-40B4-BE49-F238E27FC236}">
                <a16:creationId xmlns:a16="http://schemas.microsoft.com/office/drawing/2014/main" id="{F06471B5-84BE-4E09-98FC-C03ED56F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76575"/>
            <a:ext cx="443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Athletic Mind Council + Network</a:t>
            </a:r>
          </a:p>
        </p:txBody>
      </p:sp>
      <p:sp>
        <p:nvSpPr>
          <p:cNvPr id="23" name="channel-01-body">
            <a:extLst xmlns:a="http://schemas.openxmlformats.org/drawingml/2006/main">
              <a:ext uri="{FF2B5EF4-FFF2-40B4-BE49-F238E27FC236}">
                <a16:creationId xmlns:a16="http://schemas.microsoft.com/office/drawing/2014/main" id="{CD109D9A-A927-44B7-9FAA-B1FA200F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90900"/>
            <a:ext cx="432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9A9FAA"/>
                </a:solidFill>
                <a:latin typeface="Arial"/>
                <a:ea typeface="Arial"/>
                <a:cs typeface="Arial"/>
              </a:rPr>
              <a:t>Council credibility and warm introductions open doors to athletic leaders and institutional decision-makers.</a:t>
            </a:r>
          </a:p>
        </p:txBody>
      </p:sp>
      <p:sp>
        <p:nvSpPr>
          <p:cNvPr id="24" name="channel-divider-one">
            <a:extLst xmlns:a="http://schemas.openxmlformats.org/drawingml/2006/main">
              <a:ext uri="{FF2B5EF4-FFF2-40B4-BE49-F238E27FC236}">
                <a16:creationId xmlns:a16="http://schemas.microsoft.com/office/drawing/2014/main" id="{C7A9E7A9-2570-4EC8-94A5-9EC178F6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719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hannel-02-number">
            <a:extLst xmlns:a="http://schemas.openxmlformats.org/drawingml/2006/main">
              <a:ext uri="{FF2B5EF4-FFF2-40B4-BE49-F238E27FC236}">
                <a16:creationId xmlns:a16="http://schemas.microsoft.com/office/drawing/2014/main" id="{F6FF0136-B5F6-4993-8C04-980B4C19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719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E8C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E8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channel-02-title">
            <a:extLst xmlns:a="http://schemas.openxmlformats.org/drawingml/2006/main">
              <a:ext uri="{FF2B5EF4-FFF2-40B4-BE49-F238E27FC236}">
                <a16:creationId xmlns:a16="http://schemas.microsoft.com/office/drawing/2014/main" id="{D8A70EC2-40BD-4FF0-A81F-664CBD18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81475"/>
            <a:ext cx="443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Athletic Director Conferences</a:t>
            </a:r>
          </a:p>
        </p:txBody>
      </p:sp>
      <p:sp>
        <p:nvSpPr>
          <p:cNvPr id="27" name="channel-02-body">
            <a:extLst xmlns:a="http://schemas.openxmlformats.org/drawingml/2006/main">
              <a:ext uri="{FF2B5EF4-FFF2-40B4-BE49-F238E27FC236}">
                <a16:creationId xmlns:a16="http://schemas.microsoft.com/office/drawing/2014/main" id="{7DC9C48D-4C23-4A22-AA6E-ED94FB60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95800"/>
            <a:ext cx="432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9A9FAA"/>
                </a:solidFill>
                <a:latin typeface="Arial"/>
                <a:ea typeface="Arial"/>
                <a:cs typeface="Arial"/>
              </a:rPr>
              <a:t>National and regional events create concentrated access to qualified institutional buyers.</a:t>
            </a:r>
          </a:p>
        </p:txBody>
      </p:sp>
      <p:sp>
        <p:nvSpPr>
          <p:cNvPr id="28" name="channel-divider-two">
            <a:extLst xmlns:a="http://schemas.openxmlformats.org/drawingml/2006/main">
              <a:ext uri="{FF2B5EF4-FFF2-40B4-BE49-F238E27FC236}">
                <a16:creationId xmlns:a16="http://schemas.microsoft.com/office/drawing/2014/main" id="{2D5826ED-2C13-4893-8D25-D82505E2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768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hannel-03-number">
            <a:extLst xmlns:a="http://schemas.openxmlformats.org/drawingml/2006/main">
              <a:ext uri="{FF2B5EF4-FFF2-40B4-BE49-F238E27FC236}">
                <a16:creationId xmlns:a16="http://schemas.microsoft.com/office/drawing/2014/main" id="{595DF76E-4C36-42C0-A3F2-E57AFE0C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76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A78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A78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channel-03-title">
            <a:extLst xmlns:a="http://schemas.openxmlformats.org/drawingml/2006/main">
              <a:ext uri="{FF2B5EF4-FFF2-40B4-BE49-F238E27FC236}">
                <a16:creationId xmlns:a16="http://schemas.microsoft.com/office/drawing/2014/main" id="{38A95F43-F0E9-4B7A-9375-BA9A97D3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86375"/>
            <a:ext cx="443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Strategic Channel Partners</a:t>
            </a:r>
          </a:p>
        </p:txBody>
      </p:sp>
      <p:sp>
        <p:nvSpPr>
          <p:cNvPr id="31" name="channel-03-body">
            <a:extLst xmlns:a="http://schemas.openxmlformats.org/drawingml/2006/main">
              <a:ext uri="{FF2B5EF4-FFF2-40B4-BE49-F238E27FC236}">
                <a16:creationId xmlns:a16="http://schemas.microsoft.com/office/drawing/2014/main" id="{81F0F206-2DDB-4CA3-A5A3-B61E8318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00700"/>
            <a:ext cx="432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9A9FAA"/>
                </a:solidFill>
                <a:latin typeface="Arial"/>
                <a:ea typeface="Arial"/>
                <a:cs typeface="Arial"/>
              </a:rPr>
              <a:t>Sports medicine systems, performance clinics, and athlete-service organizations bring Pulse into multiple schools.</a:t>
            </a:r>
          </a:p>
        </p:txBody>
      </p:sp>
      <p:sp>
        <p:nvSpPr>
          <p:cNvPr id="32" name="slide-footer">
            <a:extLst xmlns:a="http://schemas.openxmlformats.org/drawingml/2006/main">
              <a:ext uri="{FF2B5EF4-FFF2-40B4-BE49-F238E27FC236}">
                <a16:creationId xmlns:a16="http://schemas.microsoft.com/office/drawing/2014/main" id="{FABC56CB-08E1-4B0E-9C8A-0E1BAA60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LAND IN COLLEGE  •  PROVE OUTCOMES  •  EXPAND INTO YOUTH  •  SCALE ACROSS THE ECOSYSTEM</a:t>
            </a:r>
          </a:p>
        </p:txBody>
      </p:sp>
    </p:spTree>
    <p:extLst>
      <p:ext uri="{BB962C8B-B14F-4D97-AF65-F5344CB8AC3E}">
        <p14:creationId xmlns:p14="http://schemas.microsoft.com/office/powerpoint/2010/main" val="1733140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2026-07-28T00:18:01.0230000Z</dcterms:created>
  <dcterms:modified xsi:type="dcterms:W3CDTF">2026-07-28T00:18:01.0240000Z</dcterms:modified>
</coreProperties>
</file>