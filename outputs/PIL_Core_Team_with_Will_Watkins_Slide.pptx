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4fb1203af14183" /><Relationship Type="http://schemas.openxmlformats.org/officeDocument/2006/relationships/extended-properties" Target="/docProps/app.xml" Id="R601a6047f8294c5b" /><Relationship Type="http://schemas.openxmlformats.org/officeDocument/2006/relationships/officeDocument" Target="/ppt/presentation.xml" Id="R72191113c90f4759" /></Relationships>
</file>

<file path=ppt/presentation.xml><?xml version="1.0" encoding="utf-8"?>
<p:presentation xmlns:p="http://schemas.openxmlformats.org/presentationml/2006/main">
  <p:sldMasterIdLst>
    <p:sldMasterId xmlns:r="http://schemas.openxmlformats.org/officeDocument/2006/relationships" id="2147483648" r:id="R47f88bf1c514425f"/>
  </p:sldMasterIdLst>
  <p:notesMasterIdLst>
    <p:notesMasterId xmlns:r="http://schemas.openxmlformats.org/officeDocument/2006/relationships" r:id="Rcb0022a82036469c"/>
  </p:notesMasterIdLst>
  <p:sldIdLst>
    <p:sldId xmlns:r="http://schemas.openxmlformats.org/officeDocument/2006/relationships" id="256" r:id="R6e8374cdb76641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4c449b1347411b" /><Relationship Type="http://schemas.openxmlformats.org/officeDocument/2006/relationships/slideMaster" Target="/ppt/slideMasters/slideMaster1.xml" Id="R47f88bf1c514425f" /><Relationship Type="http://schemas.openxmlformats.org/officeDocument/2006/relationships/notesMaster" Target="/ppt/notesMasters/notesMaster1.xml" Id="Rcb0022a82036469c" /><Relationship Type="http://schemas.openxmlformats.org/officeDocument/2006/relationships/presProps" Target="/ppt/presProps.xml" Id="R680dd8f9fc464ddd" /><Relationship Type="http://schemas.openxmlformats.org/officeDocument/2006/relationships/tableStyles" Target="/ppt/tableStyles.xml" Id="Rd6bc11ad088740d8" /><Relationship Type="http://schemas.openxmlformats.org/officeDocument/2006/relationships/slide" Target="/ppt/slides/slide1.xml" Id="R6e8374cdb76641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c30c67ee3e44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03053ea9b3424c" /><Relationship Type="http://schemas.openxmlformats.org/officeDocument/2006/relationships/notesMaster" Target="/ppt/notesMasters/notesMaster1.xml" Id="Rf85812dc5e4f4a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Will Watkins joins Pulse as Head of Sales. Public sources identify Watkins as Global Director of Sales at Salesforce. The baseball background and Boston Red Sox organization experience are based on company-provided biographical information.</a:t>
            </a:r>
          </a:p>
          <a:p xmlns:a="http://schemas.openxmlformats.org/drawingml/2006/main">
            <a:r>
              <a:t/>
            </a:r>
          </a:p>
          <a:p xmlns:a="http://schemas.openxmlformats.org/drawingml/2006/main">
            <a:r>
              <a:t>[Sources]</a:t>
            </a:r>
          </a:p>
          <a:p xmlns:a="http://schemas.openxmlformats.org/drawingml/2006/main">
            <a:r>
              <a:t>- User-provided portrait: /Users/tremainegrant/Downloads/1668718172755.jpeg</a:t>
            </a:r>
          </a:p>
          <a:p xmlns:a="http://schemas.openxmlformats.org/drawingml/2006/main">
            <a:r>
              <a:t>- User-provided biographical information for Will Watkins.</a:t>
            </a:r>
          </a:p>
          <a:p xmlns:a="http://schemas.openxmlformats.org/drawingml/2006/main">
            <a:r>
              <a:t>- https://www.linkedin.com/in/will-watkins-78238127</a:t>
            </a:r>
          </a:p>
          <a:p xmlns:a="http://schemas.openxmlformats.org/drawingml/2006/main">
            <a:r>
              <a:t>- https://myemail.constantcontact.com/CAU-Alumni-Newsletter-Issue-7-April-2025.html?aid=2YpslLU8Fck&amp;soid=1139227680712</a:t>
            </a:r>
          </a:p>
          <a:p xmlns:a="http://schemas.openxmlformats.org/drawingml/2006/main">
            <a:r>
              <a:t>- /Users/tremainegrant/Documents/GitHub/QuickLifts-Web/public/investor/july-2026/hero-basketball-huddle.png</a:t>
            </a:r>
          </a:p>
          <a:p xmlns:a="http://schemas.openxmlformats.org/drawingml/2006/main">
            <a:r>
              <a:t>- /Users/tremainegrant/Documents/GitHub/QuickLifts-Web/public/tre.jpg</a:t>
            </a:r>
          </a:p>
          <a:p xmlns:a="http://schemas.openxmlformats.org/drawingml/2006/main">
            <a:r>
              <a:t>- /Users/tremainegrant/Documents/GitHub/QuickLifts-Web/public/bobbyAdvisor.jpg</a:t>
            </a:r>
          </a:p>
          <a:p xmlns:a="http://schemas.openxmlformats.org/drawingml/2006/main">
            <a:r>
              <a:t>- /Users/tremainegrant/Documents/GitHub/QuickLifts-Web/public/lola.jpg</a:t>
            </a:r>
          </a:p>
          <a:p xmlns:a="http://schemas.openxmlformats.org/drawingml/2006/main">
            <a:r>
              <a:t>- /Users/tremainegrant/Documents/GitHub/QuickLifts-Web/public/zak.jpg</a:t>
            </a:r>
          </a:p>
          <a:p xmlns:a="http://schemas.openxmlformats.org/drawingml/2006/main">
            <a:r>
              <a:t>- /Users/tremainegrant/Documents/GitHub/QuickLifts-Web/public/Val.jpg</a:t>
            </a:r>
          </a:p>
          <a:p xmlns:a="http://schemas.openxmlformats.org/drawingml/2006/main">
            <a:r>
              <a:t>- /Users/tremainegrant/Documents/GitHub/QuickLifts-Web/public/ErikEdwards.png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0890fc6fc74d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600c768da24a87" /><Relationship Type="http://schemas.openxmlformats.org/officeDocument/2006/relationships/slideLayout" Target="/ppt/slideLayouts/slideLayout1.xml" Id="Rcccba30dde8342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cba30dde8342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b28f29ef9347b6" /><Relationship Type="http://schemas.openxmlformats.org/officeDocument/2006/relationships/image" Target="/ppt/media/image.png" Id="R5d868f2b9e3f404c" /><Relationship Type="http://schemas.openxmlformats.org/officeDocument/2006/relationships/image" Target="/ppt/media/image.jpeg" Id="R8e78cb80d40c4bb0" /><Relationship Type="http://schemas.openxmlformats.org/officeDocument/2006/relationships/image" Target="/ppt/media/image2.jpeg" Id="Rc42a4743956b4655" /><Relationship Type="http://schemas.openxmlformats.org/officeDocument/2006/relationships/image" Target="/ppt/media/image3.jpeg" Id="R092ad02e3dfe4962" /><Relationship Type="http://schemas.openxmlformats.org/officeDocument/2006/relationships/image" Target="/ppt/media/image4.jpeg" Id="R393b53ea006e41ae" /><Relationship Type="http://schemas.openxmlformats.org/officeDocument/2006/relationships/image" Target="/ppt/media/image5.jpeg" Id="Ra99208e8895e46bf" /><Relationship Type="http://schemas.openxmlformats.org/officeDocument/2006/relationships/image" Target="/ppt/media/image6.jpeg" Id="R4a1da1ee97134c4e" /><Relationship Type="http://schemas.openxmlformats.org/officeDocument/2006/relationships/image" Target="/ppt/media/image2.png" Id="Rb17841256c414e8e" /><Relationship Type="http://schemas.openxmlformats.org/officeDocument/2006/relationships/notesSlide" Target="/ppt/notesSlides/notesSlide1.xml" Id="R5a8dbd2a97234b7a" /></Relationships>
</file>

<file path=ppt/slides/slide1.xml><?xml version="1.0" encoding="utf-8"?>
<p:sld xmlns:p="http://schemas.openxmlformats.org/presentationml/2006/main">
  <p:cSld>
    <p:bg>
      <p:bgPr>
        <a:solidFill xmlns:a="http://schemas.openxmlformats.org/drawingml/2006/main">
          <a:srgbClr val="050708"/>
        </a:soli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5d868f2b9e3f40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darkener">
            <a:extLst xmlns:a="http://schemas.openxmlformats.org/drawingml/2006/main">
              <a:ext uri="{FF2B5EF4-FFF2-40B4-BE49-F238E27FC236}">
                <a16:creationId xmlns:a16="http://schemas.microsoft.com/office/drawing/2014/main" id="{41A04FBC-7560-474C-87A5-BBF21DEAD1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407">
              <a:alpha val="74000"/>
            </a:srgbClr>
          </a:solidFill>
          <a:ln xmlns:a="http://schemas.openxmlformats.org/drawingml/2006/main" w="0">
            <a:noFill/>
            <a:prstDash val="solid"/>
          </a:ln>
        </p:spPr>
      </p:sp>
      <p:sp>
        <p:nvSpPr>
          <p:cNvPr id="3" name="bottom-depth">
            <a:extLst xmlns:a="http://schemas.openxmlformats.org/drawingml/2006/main">
              <a:ext uri="{FF2B5EF4-FFF2-40B4-BE49-F238E27FC236}">
                <a16:creationId xmlns:a16="http://schemas.microsoft.com/office/drawing/2014/main" id="{C138C2C8-55CB-4518-8A17-02F2116A22FF}"/>
              </a:ext>
            </a:extLst>
          </p:cNvPr>
          <p:cNvSpPr>
            <a:spLocks xmlns:a="http://schemas.openxmlformats.org/drawingml/2006/main" noGrp="1"/>
          </p:cNvSpPr>
          <p:nvPr/>
        </p:nvSpPr>
        <p:spPr>
          <a:xfrm xmlns:a="http://schemas.openxmlformats.org/drawingml/2006/main">
            <a:off x="0" y="2266950"/>
            <a:ext cx="12192000" cy="4591050"/>
          </a:xfrm>
          <a:prstGeom xmlns:a="http://schemas.openxmlformats.org/drawingml/2006/main" prst="rect">
            <a:avLst/>
          </a:prstGeom>
          <a:gradFill xmlns:a="http://schemas.openxmlformats.org/drawingml/2006/main">
            <a:gsLst>
              <a:gs pos="0">
                <a:srgbClr val="050708"/>
              </a:gs>
              <a:gs pos="100000">
                <a:srgbClr val="050708"/>
              </a:gs>
            </a:gsLst>
            <a:lin ang="5400000"/>
          </a:gradFill>
          <a:ln xmlns:a="http://schemas.openxmlformats.org/drawingml/2006/main" w="0">
            <a:noFill/>
            <a:prstDash val="solid"/>
          </a:ln>
        </p:spPr>
      </p:sp>
      <p:sp>
        <p:nvSpPr>
          <p:cNvPr id="4" name="section-pill">
            <a:extLst xmlns:a="http://schemas.openxmlformats.org/drawingml/2006/main">
              <a:ext uri="{FF2B5EF4-FFF2-40B4-BE49-F238E27FC236}">
                <a16:creationId xmlns:a16="http://schemas.microsoft.com/office/drawing/2014/main" id="{5D75F3C0-C919-4C8D-97E9-CAECBB4A5E9F}"/>
              </a:ext>
            </a:extLst>
          </p:cNvPr>
          <p:cNvSpPr>
            <a:spLocks xmlns:a="http://schemas.openxmlformats.org/drawingml/2006/main" noGrp="1"/>
          </p:cNvSpPr>
          <p:nvPr/>
        </p:nvSpPr>
        <p:spPr>
          <a:xfrm xmlns:a="http://schemas.openxmlformats.org/drawingml/2006/main">
            <a:off x="590550" y="361950"/>
            <a:ext cx="2000250" cy="381000"/>
          </a:xfrm>
          <a:prstGeom xmlns:a="http://schemas.openxmlformats.org/drawingml/2006/main" prst="roundRect">
            <a:avLst>
              <a:gd name="adj" fmla="val 50000"/>
            </a:avLst>
          </a:prstGeom>
          <a:solidFill xmlns:a="http://schemas.openxmlformats.org/drawingml/2006/main">
            <a:srgbClr val="121619">
              <a:alpha val="96000"/>
            </a:srgbClr>
          </a:solidFill>
          <a:ln xmlns:a="http://schemas.openxmlformats.org/drawingml/2006/main" w="9525">
            <a:solidFill>
              <a:srgbClr val="343A40"/>
            </a:solidFill>
            <a:prstDash val="solid"/>
          </a:ln>
        </p:spPr>
      </p:sp>
      <p:sp>
        <p:nvSpPr>
          <p:cNvPr id="5" name="section-dot">
            <a:extLst xmlns:a="http://schemas.openxmlformats.org/drawingml/2006/main">
              <a:ext uri="{FF2B5EF4-FFF2-40B4-BE49-F238E27FC236}">
                <a16:creationId xmlns:a16="http://schemas.microsoft.com/office/drawing/2014/main" id="{71E5022F-281E-4DE7-AF39-C2424B9374C4}"/>
              </a:ext>
            </a:extLst>
          </p:cNvPr>
          <p:cNvSpPr>
            <a:spLocks xmlns:a="http://schemas.openxmlformats.org/drawingml/2006/main" noGrp="1"/>
          </p:cNvSpPr>
          <p:nvPr/>
        </p:nvSpPr>
        <p:spPr>
          <a:xfrm xmlns:a="http://schemas.openxmlformats.org/drawingml/2006/main">
            <a:off x="762000" y="504825"/>
            <a:ext cx="76200" cy="76200"/>
          </a:xfrm>
          <a:prstGeom xmlns:a="http://schemas.openxmlformats.org/drawingml/2006/main" prst="ellipse">
            <a:avLst/>
          </a:prstGeom>
          <a:solidFill xmlns:a="http://schemas.openxmlformats.org/drawingml/2006/main">
            <a:srgbClr val="C8FF00"/>
          </a:solidFill>
          <a:ln xmlns:a="http://schemas.openxmlformats.org/drawingml/2006/main" w="0">
            <a:noFill/>
            <a:prstDash val="solid"/>
          </a:ln>
        </p:spPr>
      </p:sp>
      <p:sp>
        <p:nvSpPr>
          <p:cNvPr id="6" name="section-label">
            <a:extLst xmlns:a="http://schemas.openxmlformats.org/drawingml/2006/main">
              <a:ext uri="{FF2B5EF4-FFF2-40B4-BE49-F238E27FC236}">
                <a16:creationId xmlns:a16="http://schemas.microsoft.com/office/drawing/2014/main" id="{A60FD905-1B3C-45CB-86E3-79238FE5C536}"/>
              </a:ext>
            </a:extLst>
          </p:cNvPr>
          <p:cNvSpPr>
            <a:spLocks xmlns:a="http://schemas.openxmlformats.org/drawingml/2006/main" noGrp="1"/>
          </p:cNvSpPr>
          <p:nvPr/>
        </p:nvSpPr>
        <p:spPr>
          <a:xfrm xmlns:a="http://schemas.openxmlformats.org/drawingml/2006/main">
            <a:off x="971550" y="447675"/>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F5F5F2"/>
                </a:solidFill>
                <a:latin typeface="Arial"/>
                <a:ea typeface="Arial"/>
                <a:cs typeface="Arial"/>
              </a:defRPr>
            </a:pPr>
            <a:r>
              <a:rPr sz="1125" b="1" i="0">
                <a:solidFill>
                  <a:srgbClr val="F5F5F2"/>
                </a:solidFill>
                <a:latin typeface="Arial"/>
                <a:ea typeface="Arial"/>
                <a:cs typeface="Arial"/>
              </a:rPr>
              <a:t>CORE TEAM</a:t>
            </a:r>
          </a:p>
        </p:txBody>
      </p:sp>
      <p:sp>
        <p:nvSpPr>
          <p:cNvPr id="7" name="headline-white">
            <a:extLst xmlns:a="http://schemas.openxmlformats.org/drawingml/2006/main">
              <a:ext uri="{FF2B5EF4-FFF2-40B4-BE49-F238E27FC236}">
                <a16:creationId xmlns:a16="http://schemas.microsoft.com/office/drawing/2014/main" id="{4A240898-00A2-4DCB-B263-DEBB04DAF964}"/>
              </a:ext>
            </a:extLst>
          </p:cNvPr>
          <p:cNvSpPr>
            <a:spLocks xmlns:a="http://schemas.openxmlformats.org/drawingml/2006/main" noGrp="1"/>
          </p:cNvSpPr>
          <p:nvPr/>
        </p:nvSpPr>
        <p:spPr>
          <a:xfrm xmlns:a="http://schemas.openxmlformats.org/drawingml/2006/main">
            <a:off x="590550" y="10287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99"/>
          </a:bodyPr>
          <a:lstStyle xmlns:a="http://schemas.openxmlformats.org/drawingml/2006/main"/>
          <a:p xmlns:a="http://schemas.openxmlformats.org/drawingml/2006/main">
            <a:pPr algn="l">
              <a:defRPr sz="2775" b="1" i="0">
                <a:solidFill>
                  <a:srgbClr val="F5F5F2"/>
                </a:solidFill>
                <a:latin typeface="Arial"/>
                <a:ea typeface="Arial"/>
                <a:cs typeface="Arial"/>
              </a:defRPr>
            </a:pPr>
            <a:r>
              <a:rPr sz="2775" b="1" i="0">
                <a:solidFill>
                  <a:srgbClr val="F5F5F2"/>
                </a:solidFill>
                <a:latin typeface="Arial"/>
                <a:ea typeface="Arial"/>
                <a:cs typeface="Arial"/>
              </a:rPr>
              <a:t>Operators who know</a:t>
            </a:r>
          </a:p>
        </p:txBody>
      </p:sp>
      <p:sp>
        <p:nvSpPr>
          <p:cNvPr id="8" name="headline-lime-one">
            <a:extLst xmlns:a="http://schemas.openxmlformats.org/drawingml/2006/main">
              <a:ext uri="{FF2B5EF4-FFF2-40B4-BE49-F238E27FC236}">
                <a16:creationId xmlns:a16="http://schemas.microsoft.com/office/drawing/2014/main" id="{3CCE32AF-0FB3-4C79-82CC-F79023366D19}"/>
              </a:ext>
            </a:extLst>
          </p:cNvPr>
          <p:cNvSpPr>
            <a:spLocks xmlns:a="http://schemas.openxmlformats.org/drawingml/2006/main" noGrp="1"/>
          </p:cNvSpPr>
          <p:nvPr/>
        </p:nvSpPr>
        <p:spPr>
          <a:xfrm xmlns:a="http://schemas.openxmlformats.org/drawingml/2006/main">
            <a:off x="4257675" y="102870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99"/>
          </a:bodyPr>
          <a:lstStyle xmlns:a="http://schemas.openxmlformats.org/drawingml/2006/main"/>
          <a:p xmlns:a="http://schemas.openxmlformats.org/drawingml/2006/main">
            <a:pPr algn="l">
              <a:defRPr sz="2775" b="1" i="0">
                <a:solidFill>
                  <a:srgbClr val="C8FF00"/>
                </a:solidFill>
                <a:latin typeface="Arial"/>
                <a:ea typeface="Arial"/>
                <a:cs typeface="Arial"/>
              </a:defRPr>
            </a:pPr>
            <a:r>
              <a:rPr sz="2775" b="1" i="0">
                <a:solidFill>
                  <a:srgbClr val="C8FF00"/>
                </a:solidFill>
                <a:latin typeface="Arial"/>
                <a:ea typeface="Arial"/>
                <a:cs typeface="Arial"/>
              </a:rPr>
              <a:t>software, athletes,</a:t>
            </a:r>
          </a:p>
        </p:txBody>
      </p:sp>
      <p:sp>
        <p:nvSpPr>
          <p:cNvPr id="9" name="headline-lime-two">
            <a:extLst xmlns:a="http://schemas.openxmlformats.org/drawingml/2006/main">
              <a:ext uri="{FF2B5EF4-FFF2-40B4-BE49-F238E27FC236}">
                <a16:creationId xmlns:a16="http://schemas.microsoft.com/office/drawing/2014/main" id="{8CB1F086-175D-4B3B-8FCD-B2A83336A8E9}"/>
              </a:ext>
            </a:extLst>
          </p:cNvPr>
          <p:cNvSpPr>
            <a:spLocks xmlns:a="http://schemas.openxmlformats.org/drawingml/2006/main" noGrp="1"/>
          </p:cNvSpPr>
          <p:nvPr/>
        </p:nvSpPr>
        <p:spPr>
          <a:xfrm xmlns:a="http://schemas.openxmlformats.org/drawingml/2006/main">
            <a:off x="590550" y="1457325"/>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i="0">
                <a:solidFill>
                  <a:srgbClr val="C8FF00"/>
                </a:solidFill>
                <a:latin typeface="Arial"/>
                <a:ea typeface="Arial"/>
                <a:cs typeface="Arial"/>
              </a:defRPr>
            </a:pPr>
            <a:r>
              <a:rPr sz="2775" b="1" i="0">
                <a:solidFill>
                  <a:srgbClr val="C8FF00"/>
                </a:solidFill>
                <a:latin typeface="Arial"/>
                <a:ea typeface="Arial"/>
                <a:cs typeface="Arial"/>
              </a:rPr>
              <a:t>clinical trust, and enterprise sales.</a:t>
            </a:r>
          </a:p>
        </p:txBody>
      </p:sp>
      <p:sp>
        <p:nvSpPr>
          <p:cNvPr id="10" name="member-1-card">
            <a:extLst xmlns:a="http://schemas.openxmlformats.org/drawingml/2006/main">
              <a:ext uri="{FF2B5EF4-FFF2-40B4-BE49-F238E27FC236}">
                <a16:creationId xmlns:a16="http://schemas.microsoft.com/office/drawing/2014/main" id="{F5DE499B-FF50-40E7-A5DE-13A0390D770F}"/>
              </a:ext>
            </a:extLst>
          </p:cNvPr>
          <p:cNvSpPr>
            <a:spLocks xmlns:a="http://schemas.openxmlformats.org/drawingml/2006/main" noGrp="1"/>
          </p:cNvSpPr>
          <p:nvPr/>
        </p:nvSpPr>
        <p:spPr>
          <a:xfrm xmlns:a="http://schemas.openxmlformats.org/drawingml/2006/main">
            <a:off x="590550" y="2266950"/>
            <a:ext cx="2609850" cy="2705100"/>
          </a:xfrm>
          <a:prstGeom xmlns:a="http://schemas.openxmlformats.org/drawingml/2006/main" prst="roundRect">
            <a:avLst>
              <a:gd name="adj" fmla="val 4380"/>
            </a:avLst>
          </a:prstGeom>
          <a:solidFill xmlns:a="http://schemas.openxmlformats.org/drawingml/2006/main">
            <a:srgbClr val="121619">
              <a:alpha val="96000"/>
            </a:srgbClr>
          </a:solidFill>
          <a:ln xmlns:a="http://schemas.openxmlformats.org/drawingml/2006/main" w="9525">
            <a:solidFill>
              <a:srgbClr val="343A40"/>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8e78cb80d40c4bb0"/>
          <a:srcRect xmlns:a="http://schemas.openxmlformats.org/drawingml/2006/main" l="0" t="0" r="0" b="0"/>
          <a:stretch xmlns:a="http://schemas.openxmlformats.org/drawingml/2006/main">
            <a:fillRect l="0" t="0" r="0" b="0"/>
          </a:stretch>
        </p:blipFill>
        <p:spPr>
          <a:xfrm xmlns:a="http://schemas.openxmlformats.org/drawingml/2006/main">
            <a:off x="1543050" y="2438400"/>
            <a:ext cx="704850" cy="704850"/>
          </a:xfrm>
          <a:prstGeom xmlns:a="http://schemas.openxmlformats.org/drawingml/2006/main" prst="ellipse">
            <a:avLst/>
          </a:prstGeom>
        </p:spPr>
      </p:pic>
      <p:sp>
        <p:nvSpPr>
          <p:cNvPr id="12" name="member-1-name">
            <a:extLst xmlns:a="http://schemas.openxmlformats.org/drawingml/2006/main">
              <a:ext uri="{FF2B5EF4-FFF2-40B4-BE49-F238E27FC236}">
                <a16:creationId xmlns:a16="http://schemas.microsoft.com/office/drawing/2014/main" id="{875D1EAB-2BDE-4AE1-8EB1-1E94E662564E}"/>
              </a:ext>
            </a:extLst>
          </p:cNvPr>
          <p:cNvSpPr>
            <a:spLocks xmlns:a="http://schemas.openxmlformats.org/drawingml/2006/main" noGrp="1"/>
          </p:cNvSpPr>
          <p:nvPr/>
        </p:nvSpPr>
        <p:spPr>
          <a:xfrm xmlns:a="http://schemas.openxmlformats.org/drawingml/2006/main">
            <a:off x="781050" y="3257550"/>
            <a:ext cx="222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5F5F2"/>
                </a:solidFill>
                <a:latin typeface="Arial"/>
                <a:ea typeface="Arial"/>
                <a:cs typeface="Arial"/>
              </a:defRPr>
            </a:pPr>
            <a:r>
              <a:rPr sz="1650" b="1" i="0">
                <a:solidFill>
                  <a:srgbClr val="F5F5F2"/>
                </a:solidFill>
                <a:latin typeface="Arial"/>
                <a:ea typeface="Arial"/>
                <a:cs typeface="Arial"/>
              </a:rPr>
              <a:t>Tremaine Grant</a:t>
            </a:r>
          </a:p>
        </p:txBody>
      </p:sp>
      <p:sp>
        <p:nvSpPr>
          <p:cNvPr id="13" name="member-1-role">
            <a:extLst xmlns:a="http://schemas.openxmlformats.org/drawingml/2006/main">
              <a:ext uri="{FF2B5EF4-FFF2-40B4-BE49-F238E27FC236}">
                <a16:creationId xmlns:a16="http://schemas.microsoft.com/office/drawing/2014/main" id="{6D85CE07-9EFA-4F77-BAB2-BDA7D826788A}"/>
              </a:ext>
            </a:extLst>
          </p:cNvPr>
          <p:cNvSpPr>
            <a:spLocks xmlns:a="http://schemas.openxmlformats.org/drawingml/2006/main" noGrp="1"/>
          </p:cNvSpPr>
          <p:nvPr/>
        </p:nvSpPr>
        <p:spPr>
          <a:xfrm xmlns:a="http://schemas.openxmlformats.org/drawingml/2006/main">
            <a:off x="781050" y="3590925"/>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C8FF00"/>
                </a:solidFill>
                <a:latin typeface="Arial"/>
                <a:ea typeface="Arial"/>
                <a:cs typeface="Arial"/>
              </a:defRPr>
            </a:pPr>
            <a:r>
              <a:rPr sz="975" b="1" i="0">
                <a:solidFill>
                  <a:srgbClr val="C8FF00"/>
                </a:solidFill>
                <a:latin typeface="Arial"/>
                <a:ea typeface="Arial"/>
                <a:cs typeface="Arial"/>
              </a:rPr>
              <a:t>FOUNDER &amp; CEO</a:t>
            </a:r>
          </a:p>
        </p:txBody>
      </p:sp>
      <p:sp>
        <p:nvSpPr>
          <p:cNvPr id="14" name="member-1-rule">
            <a:extLst xmlns:a="http://schemas.openxmlformats.org/drawingml/2006/main">
              <a:ext uri="{FF2B5EF4-FFF2-40B4-BE49-F238E27FC236}">
                <a16:creationId xmlns:a16="http://schemas.microsoft.com/office/drawing/2014/main" id="{09E8099E-D766-4DFB-AB4B-97A51FAA16D5}"/>
              </a:ext>
            </a:extLst>
          </p:cNvPr>
          <p:cNvSpPr>
            <a:spLocks xmlns:a="http://schemas.openxmlformats.org/drawingml/2006/main" noGrp="1"/>
          </p:cNvSpPr>
          <p:nvPr/>
        </p:nvSpPr>
        <p:spPr>
          <a:xfrm xmlns:a="http://schemas.openxmlformats.org/drawingml/2006/main">
            <a:off x="857250" y="3905250"/>
            <a:ext cx="2076450" cy="0"/>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15" name="member-1-bio">
            <a:extLst xmlns:a="http://schemas.openxmlformats.org/drawingml/2006/main">
              <a:ext uri="{FF2B5EF4-FFF2-40B4-BE49-F238E27FC236}">
                <a16:creationId xmlns:a16="http://schemas.microsoft.com/office/drawing/2014/main" id="{71CCA459-582B-4FB9-8F8D-79D67138F1EA}"/>
              </a:ext>
            </a:extLst>
          </p:cNvPr>
          <p:cNvSpPr>
            <a:spLocks xmlns:a="http://schemas.openxmlformats.org/drawingml/2006/main" noGrp="1"/>
          </p:cNvSpPr>
          <p:nvPr/>
        </p:nvSpPr>
        <p:spPr>
          <a:xfrm xmlns:a="http://schemas.openxmlformats.org/drawingml/2006/main">
            <a:off x="819150" y="4038600"/>
            <a:ext cx="21526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ADB1BA"/>
                </a:solidFill>
                <a:latin typeface="Arial"/>
                <a:ea typeface="Arial"/>
                <a:cs typeface="Arial"/>
              </a:defRPr>
            </a:pPr>
            <a:r>
              <a:rPr sz="1088" b="0" i="0">
                <a:solidFill>
                  <a:srgbClr val="ADB1BA"/>
                </a:solidFill>
                <a:latin typeface="Arial"/>
                <a:ea typeface="Arial"/>
                <a:cs typeface="Arial"/>
              </a:rPr>
              <a:t>Full-stack engineer and AI builder with a decade in clinical research. Former D1 athlete at FSU.</a:t>
            </a:r>
          </a:p>
        </p:txBody>
      </p:sp>
      <p:sp>
        <p:nvSpPr>
          <p:cNvPr id="16" name="member-2-card">
            <a:extLst xmlns:a="http://schemas.openxmlformats.org/drawingml/2006/main">
              <a:ext uri="{FF2B5EF4-FFF2-40B4-BE49-F238E27FC236}">
                <a16:creationId xmlns:a16="http://schemas.microsoft.com/office/drawing/2014/main" id="{31CEF5BA-4F8E-4F37-86AC-0796E5A9057E}"/>
              </a:ext>
            </a:extLst>
          </p:cNvPr>
          <p:cNvSpPr>
            <a:spLocks xmlns:a="http://schemas.openxmlformats.org/drawingml/2006/main" noGrp="1"/>
          </p:cNvSpPr>
          <p:nvPr/>
        </p:nvSpPr>
        <p:spPr>
          <a:xfrm xmlns:a="http://schemas.openxmlformats.org/drawingml/2006/main">
            <a:off x="3390900" y="2266950"/>
            <a:ext cx="2609850" cy="2705100"/>
          </a:xfrm>
          <a:prstGeom xmlns:a="http://schemas.openxmlformats.org/drawingml/2006/main" prst="roundRect">
            <a:avLst>
              <a:gd name="adj" fmla="val 4380"/>
            </a:avLst>
          </a:prstGeom>
          <a:solidFill xmlns:a="http://schemas.openxmlformats.org/drawingml/2006/main">
            <a:srgbClr val="121619">
              <a:alpha val="96000"/>
            </a:srgbClr>
          </a:solidFill>
          <a:ln xmlns:a="http://schemas.openxmlformats.org/drawingml/2006/main" w="9525">
            <a:solidFill>
              <a:srgbClr val="343A40"/>
            </a:solidFill>
            <a:prstDash val="solid"/>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c42a4743956b4655"/>
          <a:srcRect xmlns:a="http://schemas.openxmlformats.org/drawingml/2006/main" l="0" t="7902" r="0" b="7902"/>
          <a:stretch xmlns:a="http://schemas.openxmlformats.org/drawingml/2006/main">
            <a:fillRect l="0" t="0" r="0" b="0"/>
          </a:stretch>
        </p:blipFill>
        <p:spPr>
          <a:xfrm xmlns:a="http://schemas.openxmlformats.org/drawingml/2006/main">
            <a:off x="4343400" y="2438400"/>
            <a:ext cx="704850" cy="704850"/>
          </a:xfrm>
          <a:prstGeom xmlns:a="http://schemas.openxmlformats.org/drawingml/2006/main" prst="ellipse">
            <a:avLst/>
          </a:prstGeom>
        </p:spPr>
      </p:pic>
      <p:sp>
        <p:nvSpPr>
          <p:cNvPr id="18" name="member-2-name">
            <a:extLst xmlns:a="http://schemas.openxmlformats.org/drawingml/2006/main">
              <a:ext uri="{FF2B5EF4-FFF2-40B4-BE49-F238E27FC236}">
                <a16:creationId xmlns:a16="http://schemas.microsoft.com/office/drawing/2014/main" id="{9A7F1581-53F5-4610-A89F-972D75F6C57C}"/>
              </a:ext>
            </a:extLst>
          </p:cNvPr>
          <p:cNvSpPr>
            <a:spLocks xmlns:a="http://schemas.openxmlformats.org/drawingml/2006/main" noGrp="1"/>
          </p:cNvSpPr>
          <p:nvPr/>
        </p:nvSpPr>
        <p:spPr>
          <a:xfrm xmlns:a="http://schemas.openxmlformats.org/drawingml/2006/main">
            <a:off x="3581400" y="3257550"/>
            <a:ext cx="222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5F5F2"/>
                </a:solidFill>
                <a:latin typeface="Arial"/>
                <a:ea typeface="Arial"/>
                <a:cs typeface="Arial"/>
              </a:defRPr>
            </a:pPr>
            <a:r>
              <a:rPr sz="1650" b="1" i="0">
                <a:solidFill>
                  <a:srgbClr val="F5F5F2"/>
                </a:solidFill>
                <a:latin typeface="Arial"/>
                <a:ea typeface="Arial"/>
                <a:cs typeface="Arial"/>
              </a:rPr>
              <a:t>Bobby Nweke</a:t>
            </a:r>
          </a:p>
        </p:txBody>
      </p:sp>
      <p:sp>
        <p:nvSpPr>
          <p:cNvPr id="19" name="member-2-role">
            <a:extLst xmlns:a="http://schemas.openxmlformats.org/drawingml/2006/main">
              <a:ext uri="{FF2B5EF4-FFF2-40B4-BE49-F238E27FC236}">
                <a16:creationId xmlns:a16="http://schemas.microsoft.com/office/drawing/2014/main" id="{1363D3D5-D675-4682-A0D6-57D7C78682E4}"/>
              </a:ext>
            </a:extLst>
          </p:cNvPr>
          <p:cNvSpPr>
            <a:spLocks xmlns:a="http://schemas.openxmlformats.org/drawingml/2006/main" noGrp="1"/>
          </p:cNvSpPr>
          <p:nvPr/>
        </p:nvSpPr>
        <p:spPr>
          <a:xfrm xmlns:a="http://schemas.openxmlformats.org/drawingml/2006/main">
            <a:off x="3581400" y="3590925"/>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4D8FFF"/>
                </a:solidFill>
                <a:latin typeface="Arial"/>
                <a:ea typeface="Arial"/>
                <a:cs typeface="Arial"/>
              </a:defRPr>
            </a:pPr>
            <a:r>
              <a:rPr sz="975" b="1" i="0">
                <a:solidFill>
                  <a:srgbClr val="4D8FFF"/>
                </a:solidFill>
                <a:latin typeface="Arial"/>
                <a:ea typeface="Arial"/>
                <a:cs typeface="Arial"/>
              </a:rPr>
              <a:t>CHIEF OF STAFF</a:t>
            </a:r>
          </a:p>
        </p:txBody>
      </p:sp>
      <p:sp>
        <p:nvSpPr>
          <p:cNvPr id="20" name="member-2-rule">
            <a:extLst xmlns:a="http://schemas.openxmlformats.org/drawingml/2006/main">
              <a:ext uri="{FF2B5EF4-FFF2-40B4-BE49-F238E27FC236}">
                <a16:creationId xmlns:a16="http://schemas.microsoft.com/office/drawing/2014/main" id="{64E5FC7B-B204-4944-9B24-2B331CCE27F1}"/>
              </a:ext>
            </a:extLst>
          </p:cNvPr>
          <p:cNvSpPr>
            <a:spLocks xmlns:a="http://schemas.openxmlformats.org/drawingml/2006/main" noGrp="1"/>
          </p:cNvSpPr>
          <p:nvPr/>
        </p:nvSpPr>
        <p:spPr>
          <a:xfrm xmlns:a="http://schemas.openxmlformats.org/drawingml/2006/main">
            <a:off x="3657600" y="3905250"/>
            <a:ext cx="2076450" cy="0"/>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21" name="member-2-bio">
            <a:extLst xmlns:a="http://schemas.openxmlformats.org/drawingml/2006/main">
              <a:ext uri="{FF2B5EF4-FFF2-40B4-BE49-F238E27FC236}">
                <a16:creationId xmlns:a16="http://schemas.microsoft.com/office/drawing/2014/main" id="{C5CD9026-2C8D-4F49-B044-C886EFA2CC55}"/>
              </a:ext>
            </a:extLst>
          </p:cNvPr>
          <p:cNvSpPr>
            <a:spLocks xmlns:a="http://schemas.openxmlformats.org/drawingml/2006/main" noGrp="1"/>
          </p:cNvSpPr>
          <p:nvPr/>
        </p:nvSpPr>
        <p:spPr>
          <a:xfrm xmlns:a="http://schemas.openxmlformats.org/drawingml/2006/main">
            <a:off x="3619500" y="4038600"/>
            <a:ext cx="21526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ADB1BA"/>
                </a:solidFill>
                <a:latin typeface="Arial"/>
                <a:ea typeface="Arial"/>
                <a:cs typeface="Arial"/>
              </a:defRPr>
            </a:pPr>
            <a:r>
              <a:rPr sz="1088" b="0" i="0">
                <a:solidFill>
                  <a:srgbClr val="ADB1BA"/>
                </a:solidFill>
                <a:latin typeface="Arial"/>
                <a:ea typeface="Arial"/>
                <a:cs typeface="Arial"/>
              </a:rPr>
              <a:t>10 years in human performance across training, athletics, and education.</a:t>
            </a:r>
          </a:p>
        </p:txBody>
      </p:sp>
      <p:sp>
        <p:nvSpPr>
          <p:cNvPr id="22" name="member-3-card">
            <a:extLst xmlns:a="http://schemas.openxmlformats.org/drawingml/2006/main">
              <a:ext uri="{FF2B5EF4-FFF2-40B4-BE49-F238E27FC236}">
                <a16:creationId xmlns:a16="http://schemas.microsoft.com/office/drawing/2014/main" id="{1BE3DBE3-E9D3-4A38-A5BC-20C027F6D5A8}"/>
              </a:ext>
            </a:extLst>
          </p:cNvPr>
          <p:cNvSpPr>
            <a:spLocks xmlns:a="http://schemas.openxmlformats.org/drawingml/2006/main" noGrp="1"/>
          </p:cNvSpPr>
          <p:nvPr/>
        </p:nvSpPr>
        <p:spPr>
          <a:xfrm xmlns:a="http://schemas.openxmlformats.org/drawingml/2006/main">
            <a:off x="6191250" y="2266950"/>
            <a:ext cx="2609850" cy="2705100"/>
          </a:xfrm>
          <a:prstGeom xmlns:a="http://schemas.openxmlformats.org/drawingml/2006/main" prst="roundRect">
            <a:avLst>
              <a:gd name="adj" fmla="val 4380"/>
            </a:avLst>
          </a:prstGeom>
          <a:solidFill xmlns:a="http://schemas.openxmlformats.org/drawingml/2006/main">
            <a:srgbClr val="121619">
              <a:alpha val="96000"/>
            </a:srgbClr>
          </a:solidFill>
          <a:ln xmlns:a="http://schemas.openxmlformats.org/drawingml/2006/main" w="9525">
            <a:solidFill>
              <a:srgbClr val="343A40"/>
            </a:solidFill>
            <a:prstDash val="solid"/>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092ad02e3dfe4962"/>
          <a:srcRect xmlns:a="http://schemas.openxmlformats.org/drawingml/2006/main" l="0" t="3878" r="0" b="3878"/>
          <a:stretch xmlns:a="http://schemas.openxmlformats.org/drawingml/2006/main">
            <a:fillRect l="0" t="0" r="0" b="0"/>
          </a:stretch>
        </p:blipFill>
        <p:spPr>
          <a:xfrm xmlns:a="http://schemas.openxmlformats.org/drawingml/2006/main">
            <a:off x="7143750" y="2438400"/>
            <a:ext cx="704850" cy="704850"/>
          </a:xfrm>
          <a:prstGeom xmlns:a="http://schemas.openxmlformats.org/drawingml/2006/main" prst="ellipse">
            <a:avLst/>
          </a:prstGeom>
        </p:spPr>
      </p:pic>
      <p:sp>
        <p:nvSpPr>
          <p:cNvPr id="24" name="member-3-name">
            <a:extLst xmlns:a="http://schemas.openxmlformats.org/drawingml/2006/main">
              <a:ext uri="{FF2B5EF4-FFF2-40B4-BE49-F238E27FC236}">
                <a16:creationId xmlns:a16="http://schemas.microsoft.com/office/drawing/2014/main" id="{4B0D24E6-A90F-4E73-9CEA-5DB69D9823A4}"/>
              </a:ext>
            </a:extLst>
          </p:cNvPr>
          <p:cNvSpPr>
            <a:spLocks xmlns:a="http://schemas.openxmlformats.org/drawingml/2006/main" noGrp="1"/>
          </p:cNvSpPr>
          <p:nvPr/>
        </p:nvSpPr>
        <p:spPr>
          <a:xfrm xmlns:a="http://schemas.openxmlformats.org/drawingml/2006/main">
            <a:off x="6381750" y="3257550"/>
            <a:ext cx="222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5F5F2"/>
                </a:solidFill>
                <a:latin typeface="Arial"/>
                <a:ea typeface="Arial"/>
                <a:cs typeface="Arial"/>
              </a:defRPr>
            </a:pPr>
            <a:r>
              <a:rPr sz="1650" b="1" i="0">
                <a:solidFill>
                  <a:srgbClr val="F5F5F2"/>
                </a:solidFill>
                <a:latin typeface="Arial"/>
                <a:ea typeface="Arial"/>
                <a:cs typeface="Arial"/>
              </a:rPr>
              <a:t>Lola Oluwaladun</a:t>
            </a:r>
          </a:p>
        </p:txBody>
      </p:sp>
      <p:sp>
        <p:nvSpPr>
          <p:cNvPr id="25" name="member-3-role">
            <a:extLst xmlns:a="http://schemas.openxmlformats.org/drawingml/2006/main">
              <a:ext uri="{FF2B5EF4-FFF2-40B4-BE49-F238E27FC236}">
                <a16:creationId xmlns:a16="http://schemas.microsoft.com/office/drawing/2014/main" id="{EBAC1DE3-8DC2-4B73-9626-9B662D958974}"/>
              </a:ext>
            </a:extLst>
          </p:cNvPr>
          <p:cNvSpPr>
            <a:spLocks xmlns:a="http://schemas.openxmlformats.org/drawingml/2006/main" noGrp="1"/>
          </p:cNvSpPr>
          <p:nvPr/>
        </p:nvSpPr>
        <p:spPr>
          <a:xfrm xmlns:a="http://schemas.openxmlformats.org/drawingml/2006/main">
            <a:off x="6381750" y="3590925"/>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9B72FF"/>
                </a:solidFill>
                <a:latin typeface="Arial"/>
                <a:ea typeface="Arial"/>
                <a:cs typeface="Arial"/>
              </a:defRPr>
            </a:pPr>
            <a:r>
              <a:rPr sz="975" b="1" i="0">
                <a:solidFill>
                  <a:srgbClr val="9B72FF"/>
                </a:solidFill>
                <a:latin typeface="Arial"/>
                <a:ea typeface="Arial"/>
                <a:cs typeface="Arial"/>
              </a:rPr>
              <a:t>HEAD OF DESIGN</a:t>
            </a:r>
          </a:p>
        </p:txBody>
      </p:sp>
      <p:sp>
        <p:nvSpPr>
          <p:cNvPr id="26" name="member-3-rule">
            <a:extLst xmlns:a="http://schemas.openxmlformats.org/drawingml/2006/main">
              <a:ext uri="{FF2B5EF4-FFF2-40B4-BE49-F238E27FC236}">
                <a16:creationId xmlns:a16="http://schemas.microsoft.com/office/drawing/2014/main" id="{862039F1-E411-46C1-830E-4605BAADC0A2}"/>
              </a:ext>
            </a:extLst>
          </p:cNvPr>
          <p:cNvSpPr>
            <a:spLocks xmlns:a="http://schemas.openxmlformats.org/drawingml/2006/main" noGrp="1"/>
          </p:cNvSpPr>
          <p:nvPr/>
        </p:nvSpPr>
        <p:spPr>
          <a:xfrm xmlns:a="http://schemas.openxmlformats.org/drawingml/2006/main">
            <a:off x="6457950" y="3905250"/>
            <a:ext cx="2076450" cy="0"/>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27" name="member-3-bio">
            <a:extLst xmlns:a="http://schemas.openxmlformats.org/drawingml/2006/main">
              <a:ext uri="{FF2B5EF4-FFF2-40B4-BE49-F238E27FC236}">
                <a16:creationId xmlns:a16="http://schemas.microsoft.com/office/drawing/2014/main" id="{991C913F-EBAE-4E4B-8947-A59F5D727843}"/>
              </a:ext>
            </a:extLst>
          </p:cNvPr>
          <p:cNvSpPr>
            <a:spLocks xmlns:a="http://schemas.openxmlformats.org/drawingml/2006/main" noGrp="1"/>
          </p:cNvSpPr>
          <p:nvPr/>
        </p:nvSpPr>
        <p:spPr>
          <a:xfrm xmlns:a="http://schemas.openxmlformats.org/drawingml/2006/main">
            <a:off x="6419850" y="4038600"/>
            <a:ext cx="21526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ADB1BA"/>
                </a:solidFill>
                <a:latin typeface="Arial"/>
                <a:ea typeface="Arial"/>
                <a:cs typeface="Arial"/>
              </a:defRPr>
            </a:pPr>
            <a:r>
              <a:rPr sz="1088" b="0" i="0">
                <a:solidFill>
                  <a:srgbClr val="ADB1BA"/>
                </a:solidFill>
                <a:latin typeface="Arial"/>
                <a:ea typeface="Arial"/>
                <a:cs typeface="Arial"/>
              </a:rPr>
              <a:t>Owns product experience and athlete-facing UX across Pulse.</a:t>
            </a:r>
          </a:p>
        </p:txBody>
      </p:sp>
      <p:sp>
        <p:nvSpPr>
          <p:cNvPr id="28" name="member-4-card">
            <a:extLst xmlns:a="http://schemas.openxmlformats.org/drawingml/2006/main">
              <a:ext uri="{FF2B5EF4-FFF2-40B4-BE49-F238E27FC236}">
                <a16:creationId xmlns:a16="http://schemas.microsoft.com/office/drawing/2014/main" id="{957451A9-2513-4B1A-AEF3-E9A3FEA04A2A}"/>
              </a:ext>
            </a:extLst>
          </p:cNvPr>
          <p:cNvSpPr>
            <a:spLocks xmlns:a="http://schemas.openxmlformats.org/drawingml/2006/main" noGrp="1"/>
          </p:cNvSpPr>
          <p:nvPr/>
        </p:nvSpPr>
        <p:spPr>
          <a:xfrm xmlns:a="http://schemas.openxmlformats.org/drawingml/2006/main">
            <a:off x="8991600" y="2266950"/>
            <a:ext cx="2609850" cy="2705100"/>
          </a:xfrm>
          <a:prstGeom xmlns:a="http://schemas.openxmlformats.org/drawingml/2006/main" prst="roundRect">
            <a:avLst>
              <a:gd name="adj" fmla="val 4380"/>
            </a:avLst>
          </a:prstGeom>
          <a:solidFill xmlns:a="http://schemas.openxmlformats.org/drawingml/2006/main">
            <a:srgbClr val="121619">
              <a:alpha val="96000"/>
            </a:srgbClr>
          </a:solidFill>
          <a:ln xmlns:a="http://schemas.openxmlformats.org/drawingml/2006/main" w="9525">
            <a:solidFill>
              <a:srgbClr val="343A40"/>
            </a:solidFill>
            <a:prstDash val="solid"/>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393b53ea006e41ae"/>
          <a:srcRect xmlns:a="http://schemas.openxmlformats.org/drawingml/2006/main" l="0" t="0" r="0" b="0"/>
          <a:stretch xmlns:a="http://schemas.openxmlformats.org/drawingml/2006/main">
            <a:fillRect l="0" t="0" r="0" b="0"/>
          </a:stretch>
        </p:blipFill>
        <p:spPr>
          <a:xfrm xmlns:a="http://schemas.openxmlformats.org/drawingml/2006/main">
            <a:off x="9944100" y="2438400"/>
            <a:ext cx="704850" cy="704850"/>
          </a:xfrm>
          <a:prstGeom xmlns:a="http://schemas.openxmlformats.org/drawingml/2006/main" prst="ellipse">
            <a:avLst/>
          </a:prstGeom>
        </p:spPr>
      </p:pic>
      <p:sp>
        <p:nvSpPr>
          <p:cNvPr id="30" name="member-4-name">
            <a:extLst xmlns:a="http://schemas.openxmlformats.org/drawingml/2006/main">
              <a:ext uri="{FF2B5EF4-FFF2-40B4-BE49-F238E27FC236}">
                <a16:creationId xmlns:a16="http://schemas.microsoft.com/office/drawing/2014/main" id="{6F15383E-DF5B-4405-91AB-D938D4A8EA0E}"/>
              </a:ext>
            </a:extLst>
          </p:cNvPr>
          <p:cNvSpPr>
            <a:spLocks xmlns:a="http://schemas.openxmlformats.org/drawingml/2006/main" noGrp="1"/>
          </p:cNvSpPr>
          <p:nvPr/>
        </p:nvSpPr>
        <p:spPr>
          <a:xfrm xmlns:a="http://schemas.openxmlformats.org/drawingml/2006/main">
            <a:off x="9182100" y="3257550"/>
            <a:ext cx="222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5F5F2"/>
                </a:solidFill>
                <a:latin typeface="Arial"/>
                <a:ea typeface="Arial"/>
                <a:cs typeface="Arial"/>
              </a:defRPr>
            </a:pPr>
            <a:r>
              <a:rPr sz="1650" b="1" i="0">
                <a:solidFill>
                  <a:srgbClr val="F5F5F2"/>
                </a:solidFill>
                <a:latin typeface="Arial"/>
                <a:ea typeface="Arial"/>
                <a:cs typeface="Arial"/>
              </a:rPr>
              <a:t>Will Watkins</a:t>
            </a:r>
          </a:p>
        </p:txBody>
      </p:sp>
      <p:sp>
        <p:nvSpPr>
          <p:cNvPr id="31" name="member-4-role">
            <a:extLst xmlns:a="http://schemas.openxmlformats.org/drawingml/2006/main">
              <a:ext uri="{FF2B5EF4-FFF2-40B4-BE49-F238E27FC236}">
                <a16:creationId xmlns:a16="http://schemas.microsoft.com/office/drawing/2014/main" id="{1A574205-619A-4983-8DE9-8865E5BF27D8}"/>
              </a:ext>
            </a:extLst>
          </p:cNvPr>
          <p:cNvSpPr>
            <a:spLocks xmlns:a="http://schemas.openxmlformats.org/drawingml/2006/main" noGrp="1"/>
          </p:cNvSpPr>
          <p:nvPr/>
        </p:nvSpPr>
        <p:spPr>
          <a:xfrm xmlns:a="http://schemas.openxmlformats.org/drawingml/2006/main">
            <a:off x="9182100" y="3590925"/>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FF9C38"/>
                </a:solidFill>
                <a:latin typeface="Arial"/>
                <a:ea typeface="Arial"/>
                <a:cs typeface="Arial"/>
              </a:defRPr>
            </a:pPr>
            <a:r>
              <a:rPr sz="975" b="1" i="0">
                <a:solidFill>
                  <a:srgbClr val="FF9C38"/>
                </a:solidFill>
                <a:latin typeface="Arial"/>
                <a:ea typeface="Arial"/>
                <a:cs typeface="Arial"/>
              </a:rPr>
              <a:t>HEAD OF SALES</a:t>
            </a:r>
          </a:p>
        </p:txBody>
      </p:sp>
      <p:sp>
        <p:nvSpPr>
          <p:cNvPr id="32" name="member-4-rule">
            <a:extLst xmlns:a="http://schemas.openxmlformats.org/drawingml/2006/main">
              <a:ext uri="{FF2B5EF4-FFF2-40B4-BE49-F238E27FC236}">
                <a16:creationId xmlns:a16="http://schemas.microsoft.com/office/drawing/2014/main" id="{22D51192-B59C-4827-8890-AC6B944619CF}"/>
              </a:ext>
            </a:extLst>
          </p:cNvPr>
          <p:cNvSpPr>
            <a:spLocks xmlns:a="http://schemas.openxmlformats.org/drawingml/2006/main" noGrp="1"/>
          </p:cNvSpPr>
          <p:nvPr/>
        </p:nvSpPr>
        <p:spPr>
          <a:xfrm xmlns:a="http://schemas.openxmlformats.org/drawingml/2006/main">
            <a:off x="9258300" y="3905250"/>
            <a:ext cx="2076450" cy="0"/>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33" name="member-4-bio">
            <a:extLst xmlns:a="http://schemas.openxmlformats.org/drawingml/2006/main">
              <a:ext uri="{FF2B5EF4-FFF2-40B4-BE49-F238E27FC236}">
                <a16:creationId xmlns:a16="http://schemas.microsoft.com/office/drawing/2014/main" id="{71C0C3F9-194E-4A09-B365-97427B7E105A}"/>
              </a:ext>
            </a:extLst>
          </p:cNvPr>
          <p:cNvSpPr>
            <a:spLocks xmlns:a="http://schemas.openxmlformats.org/drawingml/2006/main" noGrp="1"/>
          </p:cNvSpPr>
          <p:nvPr/>
        </p:nvSpPr>
        <p:spPr>
          <a:xfrm xmlns:a="http://schemas.openxmlformats.org/drawingml/2006/main">
            <a:off x="9220200" y="4038600"/>
            <a:ext cx="21526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ADB1BA"/>
                </a:solidFill>
                <a:latin typeface="Arial"/>
                <a:ea typeface="Arial"/>
                <a:cs typeface="Arial"/>
              </a:defRPr>
            </a:pPr>
            <a:r>
              <a:rPr sz="1088" b="0" i="0">
                <a:solidFill>
                  <a:srgbClr val="ADB1BA"/>
                </a:solidFill>
                <a:latin typeface="Arial"/>
                <a:ea typeface="Arial"/>
                <a:cs typeface="Arial"/>
              </a:rPr>
              <a:t>Salesforce Global Director of Sales. Former professional player in the Boston Red Sox organization.</a:t>
            </a:r>
          </a:p>
        </p:txBody>
      </p:sp>
      <p:sp>
        <p:nvSpPr>
          <p:cNvPr id="34" name="advisor-strip">
            <a:extLst xmlns:a="http://schemas.openxmlformats.org/drawingml/2006/main">
              <a:ext uri="{FF2B5EF4-FFF2-40B4-BE49-F238E27FC236}">
                <a16:creationId xmlns:a16="http://schemas.microsoft.com/office/drawing/2014/main" id="{C8DE06FF-EA03-47C0-9D3D-099DFBDFA78D}"/>
              </a:ext>
            </a:extLst>
          </p:cNvPr>
          <p:cNvSpPr>
            <a:spLocks xmlns:a="http://schemas.openxmlformats.org/drawingml/2006/main" noGrp="1"/>
          </p:cNvSpPr>
          <p:nvPr/>
        </p:nvSpPr>
        <p:spPr>
          <a:xfrm xmlns:a="http://schemas.openxmlformats.org/drawingml/2006/main">
            <a:off x="590550" y="5181600"/>
            <a:ext cx="11010900" cy="1266825"/>
          </a:xfrm>
          <a:prstGeom xmlns:a="http://schemas.openxmlformats.org/drawingml/2006/main" prst="roundRect">
            <a:avLst>
              <a:gd name="adj" fmla="val 9023"/>
            </a:avLst>
          </a:prstGeom>
          <a:solidFill xmlns:a="http://schemas.openxmlformats.org/drawingml/2006/main">
            <a:srgbClr val="121619">
              <a:alpha val="96000"/>
            </a:srgbClr>
          </a:solidFill>
          <a:ln xmlns:a="http://schemas.openxmlformats.org/drawingml/2006/main" w="9525">
            <a:solidFill>
              <a:srgbClr val="343A40"/>
            </a:solidFill>
            <a:prstDash val="solid"/>
          </a:ln>
        </p:spPr>
      </p:sp>
      <p:sp>
        <p:nvSpPr>
          <p:cNvPr id="35" name="advisor-heading">
            <a:extLst xmlns:a="http://schemas.openxmlformats.org/drawingml/2006/main">
              <a:ext uri="{FF2B5EF4-FFF2-40B4-BE49-F238E27FC236}">
                <a16:creationId xmlns:a16="http://schemas.microsoft.com/office/drawing/2014/main" id="{D42570FF-5C3C-4108-A1C7-CC7951590FBC}"/>
              </a:ext>
            </a:extLst>
          </p:cNvPr>
          <p:cNvSpPr>
            <a:spLocks xmlns:a="http://schemas.openxmlformats.org/drawingml/2006/main" noGrp="1"/>
          </p:cNvSpPr>
          <p:nvPr/>
        </p:nvSpPr>
        <p:spPr>
          <a:xfrm xmlns:a="http://schemas.openxmlformats.org/drawingml/2006/main">
            <a:off x="5048250" y="5314950"/>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C8FF00"/>
                </a:solidFill>
                <a:latin typeface="Arial"/>
                <a:ea typeface="Arial"/>
                <a:cs typeface="Arial"/>
              </a:defRPr>
            </a:pPr>
            <a:r>
              <a:rPr sz="1050" b="1" i="0">
                <a:solidFill>
                  <a:srgbClr val="C8FF00"/>
                </a:solidFill>
                <a:latin typeface="Arial"/>
                <a:ea typeface="Arial"/>
                <a:cs typeface="Arial"/>
              </a:rPr>
              <a:t>ADVISORS</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a99208e8895e46bf"/>
          <a:srcRect xmlns:a="http://schemas.openxmlformats.org/drawingml/2006/main" l="0" t="6583" r="0" b="6583"/>
          <a:stretch xmlns:a="http://schemas.openxmlformats.org/drawingml/2006/main">
            <a:fillRect l="0" t="0" r="0" b="0"/>
          </a:stretch>
        </p:blipFill>
        <p:spPr>
          <a:xfrm xmlns:a="http://schemas.openxmlformats.org/drawingml/2006/main">
            <a:off x="2486025" y="5534025"/>
            <a:ext cx="457200" cy="457200"/>
          </a:xfrm>
          <a:prstGeom xmlns:a="http://schemas.openxmlformats.org/drawingml/2006/main" prst="ellipse">
            <a:avLst/>
          </a:prstGeom>
        </p:spPr>
      </p:pic>
      <p:sp>
        <p:nvSpPr>
          <p:cNvPr id="37" name="advisor-1-name">
            <a:extLst xmlns:a="http://schemas.openxmlformats.org/drawingml/2006/main">
              <a:ext uri="{FF2B5EF4-FFF2-40B4-BE49-F238E27FC236}">
                <a16:creationId xmlns:a16="http://schemas.microsoft.com/office/drawing/2014/main" id="{6C74B74F-8322-45BA-906D-F9E1381BADB6}"/>
              </a:ext>
            </a:extLst>
          </p:cNvPr>
          <p:cNvSpPr>
            <a:spLocks xmlns:a="http://schemas.openxmlformats.org/drawingml/2006/main" noGrp="1"/>
          </p:cNvSpPr>
          <p:nvPr/>
        </p:nvSpPr>
        <p:spPr>
          <a:xfrm xmlns:a="http://schemas.openxmlformats.org/drawingml/2006/main">
            <a:off x="1571625" y="60579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F5F5F2"/>
                </a:solidFill>
                <a:latin typeface="Arial"/>
                <a:ea typeface="Arial"/>
                <a:cs typeface="Arial"/>
              </a:defRPr>
            </a:pPr>
            <a:r>
              <a:rPr sz="975" b="1" i="0">
                <a:solidFill>
                  <a:srgbClr val="F5F5F2"/>
                </a:solidFill>
                <a:latin typeface="Arial"/>
                <a:ea typeface="Arial"/>
                <a:cs typeface="Arial"/>
              </a:rPr>
              <a:t>Marques Zak</a:t>
            </a:r>
          </a:p>
        </p:txBody>
      </p:sp>
      <p:sp>
        <p:nvSpPr>
          <p:cNvPr id="38" name="advisor-1-role">
            <a:extLst xmlns:a="http://schemas.openxmlformats.org/drawingml/2006/main">
              <a:ext uri="{FF2B5EF4-FFF2-40B4-BE49-F238E27FC236}">
                <a16:creationId xmlns:a16="http://schemas.microsoft.com/office/drawing/2014/main" id="{24D5BEE5-482A-4360-BC74-1BF8BECAC0C8}"/>
              </a:ext>
            </a:extLst>
          </p:cNvPr>
          <p:cNvSpPr>
            <a:spLocks xmlns:a="http://schemas.openxmlformats.org/drawingml/2006/main" noGrp="1"/>
          </p:cNvSpPr>
          <p:nvPr/>
        </p:nvSpPr>
        <p:spPr>
          <a:xfrm xmlns:a="http://schemas.openxmlformats.org/drawingml/2006/main">
            <a:off x="1476375" y="62388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ADB1BA"/>
                </a:solidFill>
                <a:latin typeface="Arial"/>
                <a:ea typeface="Arial"/>
                <a:cs typeface="Arial"/>
              </a:defRPr>
            </a:pPr>
            <a:r>
              <a:rPr sz="863" b="0" i="0">
                <a:solidFill>
                  <a:srgbClr val="ADB1BA"/>
                </a:solidFill>
                <a:latin typeface="Arial"/>
                <a:ea typeface="Arial"/>
                <a:cs typeface="Arial"/>
              </a:rPr>
              <a:t>CMO, ACC</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4a1da1ee97134c4e"/>
          <a:srcRect xmlns:a="http://schemas.openxmlformats.org/drawingml/2006/main" l="0" t="0" r="0" b="0"/>
          <a:stretch xmlns:a="http://schemas.openxmlformats.org/drawingml/2006/main">
            <a:fillRect l="0" t="0" r="0" b="0"/>
          </a:stretch>
        </p:blipFill>
        <p:spPr>
          <a:xfrm xmlns:a="http://schemas.openxmlformats.org/drawingml/2006/main">
            <a:off x="5867400" y="5534025"/>
            <a:ext cx="457200" cy="457200"/>
          </a:xfrm>
          <a:prstGeom xmlns:a="http://schemas.openxmlformats.org/drawingml/2006/main" prst="ellipse">
            <a:avLst/>
          </a:prstGeom>
        </p:spPr>
      </p:pic>
      <p:sp>
        <p:nvSpPr>
          <p:cNvPr id="40" name="advisor-2-name">
            <a:extLst xmlns:a="http://schemas.openxmlformats.org/drawingml/2006/main">
              <a:ext uri="{FF2B5EF4-FFF2-40B4-BE49-F238E27FC236}">
                <a16:creationId xmlns:a16="http://schemas.microsoft.com/office/drawing/2014/main" id="{136E2BF4-9335-44C2-94C7-590AA6D4A110}"/>
              </a:ext>
            </a:extLst>
          </p:cNvPr>
          <p:cNvSpPr>
            <a:spLocks xmlns:a="http://schemas.openxmlformats.org/drawingml/2006/main" noGrp="1"/>
          </p:cNvSpPr>
          <p:nvPr/>
        </p:nvSpPr>
        <p:spPr>
          <a:xfrm xmlns:a="http://schemas.openxmlformats.org/drawingml/2006/main">
            <a:off x="4953000" y="60579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F5F5F2"/>
                </a:solidFill>
                <a:latin typeface="Arial"/>
                <a:ea typeface="Arial"/>
                <a:cs typeface="Arial"/>
              </a:defRPr>
            </a:pPr>
            <a:r>
              <a:rPr sz="975" b="1" i="0">
                <a:solidFill>
                  <a:srgbClr val="F5F5F2"/>
                </a:solidFill>
                <a:latin typeface="Arial"/>
                <a:ea typeface="Arial"/>
                <a:cs typeface="Arial"/>
              </a:rPr>
              <a:t>Valerie Alexander</a:t>
            </a:r>
          </a:p>
        </p:txBody>
      </p:sp>
      <p:sp>
        <p:nvSpPr>
          <p:cNvPr id="41" name="advisor-2-role">
            <a:extLst xmlns:a="http://schemas.openxmlformats.org/drawingml/2006/main">
              <a:ext uri="{FF2B5EF4-FFF2-40B4-BE49-F238E27FC236}">
                <a16:creationId xmlns:a16="http://schemas.microsoft.com/office/drawing/2014/main" id="{8641BB9D-1CB4-4B66-947F-37337E1634CB}"/>
              </a:ext>
            </a:extLst>
          </p:cNvPr>
          <p:cNvSpPr>
            <a:spLocks xmlns:a="http://schemas.openxmlformats.org/drawingml/2006/main" noGrp="1"/>
          </p:cNvSpPr>
          <p:nvPr/>
        </p:nvSpPr>
        <p:spPr>
          <a:xfrm xmlns:a="http://schemas.openxmlformats.org/drawingml/2006/main">
            <a:off x="4857750" y="62388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ADB1BA"/>
                </a:solidFill>
                <a:latin typeface="Arial"/>
                <a:ea typeface="Arial"/>
                <a:cs typeface="Arial"/>
              </a:defRPr>
            </a:pPr>
            <a:r>
              <a:rPr sz="863" b="0" i="0">
                <a:solidFill>
                  <a:srgbClr val="ADB1BA"/>
                </a:solidFill>
                <a:latin typeface="Arial"/>
                <a:ea typeface="Arial"/>
                <a:cs typeface="Arial"/>
              </a:rPr>
              <a:t>Entrepreneur in Residence • Former IPO Attorney</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b17841256c414e8e"/>
          <a:srcRect xmlns:a="http://schemas.openxmlformats.org/drawingml/2006/main" l="0" t="6122" r="0" b="6122"/>
          <a:stretch xmlns:a="http://schemas.openxmlformats.org/drawingml/2006/main">
            <a:fillRect l="0" t="0" r="0" b="0"/>
          </a:stretch>
        </p:blipFill>
        <p:spPr>
          <a:xfrm xmlns:a="http://schemas.openxmlformats.org/drawingml/2006/main">
            <a:off x="9248775" y="5534025"/>
            <a:ext cx="457200" cy="457200"/>
          </a:xfrm>
          <a:prstGeom xmlns:a="http://schemas.openxmlformats.org/drawingml/2006/main" prst="ellipse">
            <a:avLst/>
          </a:prstGeom>
        </p:spPr>
      </p:pic>
      <p:sp>
        <p:nvSpPr>
          <p:cNvPr id="43" name="advisor-3-name">
            <a:extLst xmlns:a="http://schemas.openxmlformats.org/drawingml/2006/main">
              <a:ext uri="{FF2B5EF4-FFF2-40B4-BE49-F238E27FC236}">
                <a16:creationId xmlns:a16="http://schemas.microsoft.com/office/drawing/2014/main" id="{618B24E1-A430-4E02-8B4F-A146F37E8A27}"/>
              </a:ext>
            </a:extLst>
          </p:cNvPr>
          <p:cNvSpPr>
            <a:spLocks xmlns:a="http://schemas.openxmlformats.org/drawingml/2006/main" noGrp="1"/>
          </p:cNvSpPr>
          <p:nvPr/>
        </p:nvSpPr>
        <p:spPr>
          <a:xfrm xmlns:a="http://schemas.openxmlformats.org/drawingml/2006/main">
            <a:off x="8334375" y="605790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F5F5F2"/>
                </a:solidFill>
                <a:latin typeface="Arial"/>
                <a:ea typeface="Arial"/>
                <a:cs typeface="Arial"/>
              </a:defRPr>
            </a:pPr>
            <a:r>
              <a:rPr sz="975" b="1" i="0">
                <a:solidFill>
                  <a:srgbClr val="F5F5F2"/>
                </a:solidFill>
                <a:latin typeface="Arial"/>
                <a:ea typeface="Arial"/>
                <a:cs typeface="Arial"/>
              </a:rPr>
              <a:t>Erik Edwards</a:t>
            </a:r>
          </a:p>
        </p:txBody>
      </p:sp>
      <p:sp>
        <p:nvSpPr>
          <p:cNvPr id="44" name="advisor-3-role">
            <a:extLst xmlns:a="http://schemas.openxmlformats.org/drawingml/2006/main">
              <a:ext uri="{FF2B5EF4-FFF2-40B4-BE49-F238E27FC236}">
                <a16:creationId xmlns:a16="http://schemas.microsoft.com/office/drawing/2014/main" id="{48FFF5FF-40EF-44E6-A6FD-AB3FC88BD189}"/>
              </a:ext>
            </a:extLst>
          </p:cNvPr>
          <p:cNvSpPr>
            <a:spLocks xmlns:a="http://schemas.openxmlformats.org/drawingml/2006/main" noGrp="1"/>
          </p:cNvSpPr>
          <p:nvPr/>
        </p:nvSpPr>
        <p:spPr>
          <a:xfrm xmlns:a="http://schemas.openxmlformats.org/drawingml/2006/main">
            <a:off x="8239125" y="62388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ADB1BA"/>
                </a:solidFill>
                <a:latin typeface="Arial"/>
                <a:ea typeface="Arial"/>
                <a:cs typeface="Arial"/>
              </a:defRPr>
            </a:pPr>
            <a:r>
              <a:rPr sz="863" b="0" i="0">
                <a:solidFill>
                  <a:srgbClr val="ADB1BA"/>
                </a:solidFill>
                <a:latin typeface="Arial"/>
                <a:ea typeface="Arial"/>
                <a:cs typeface="Arial"/>
              </a:rPr>
              <a:t>Partner, Cooley</a:t>
            </a:r>
          </a:p>
        </p:txBody>
      </p:sp>
    </p:spTree>
    <p:extLst>
      <p:ext uri="{BB962C8B-B14F-4D97-AF65-F5344CB8AC3E}">
        <p14:creationId xmlns:p14="http://schemas.microsoft.com/office/powerpoint/2010/main" val="596789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2026-07-28T13:12:06.1400000Z</dcterms:created>
  <dcterms:modified xsi:type="dcterms:W3CDTF">2026-07-28T13:12:06.1400000Z</dcterms:modified>
</coreProperties>
</file>