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9bca4b100f84e43" /><Relationship Type="http://schemas.openxmlformats.org/officeDocument/2006/relationships/extended-properties" Target="/docProps/app.xml" Id="R527a0a9c344045dd" /><Relationship Type="http://schemas.openxmlformats.org/officeDocument/2006/relationships/officeDocument" Target="/ppt/presentation.xml" Id="R7575751619d8480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e22c196462a4f3f"/>
  </p:sldMasterIdLst>
  <p:notesMasterIdLst>
    <p:notesMasterId xmlns:r="http://schemas.openxmlformats.org/officeDocument/2006/relationships" r:id="Rddbe0f243e22455b"/>
  </p:notesMasterIdLst>
  <p:sldIdLst>
    <p:sldId xmlns:r="http://schemas.openxmlformats.org/officeDocument/2006/relationships" id="256" r:id="R7c08ed6064a54344"/>
    <p:sldId xmlns:r="http://schemas.openxmlformats.org/officeDocument/2006/relationships" id="257" r:id="R9075da43ee6c4f59"/>
    <p:sldId xmlns:r="http://schemas.openxmlformats.org/officeDocument/2006/relationships" id="258" r:id="R182dff6c5d9f4521"/>
    <p:sldId xmlns:r="http://schemas.openxmlformats.org/officeDocument/2006/relationships" id="259" r:id="R3da5a4e255ab4055"/>
    <p:sldId xmlns:r="http://schemas.openxmlformats.org/officeDocument/2006/relationships" id="260" r:id="Rc29db61e7d3147f5"/>
    <p:sldId xmlns:r="http://schemas.openxmlformats.org/officeDocument/2006/relationships" id="261" r:id="R1cb8b91815334e3b"/>
    <p:sldId xmlns:r="http://schemas.openxmlformats.org/officeDocument/2006/relationships" id="262" r:id="R44537c84332c4d93"/>
    <p:sldId xmlns:r="http://schemas.openxmlformats.org/officeDocument/2006/relationships" id="263" r:id="R887f10a31223424a"/>
    <p:sldId xmlns:r="http://schemas.openxmlformats.org/officeDocument/2006/relationships" id="264" r:id="R0b60f5cc5d0047d3"/>
    <p:sldId xmlns:r="http://schemas.openxmlformats.org/officeDocument/2006/relationships" id="265" r:id="Ra81ff940f8ba4a47"/>
    <p:sldId xmlns:r="http://schemas.openxmlformats.org/officeDocument/2006/relationships" id="266" r:id="R18f6e6ead0fe4970"/>
    <p:sldId xmlns:r="http://schemas.openxmlformats.org/officeDocument/2006/relationships" id="267" r:id="R1b6f8330e3dc4e91"/>
    <p:sldId xmlns:r="http://schemas.openxmlformats.org/officeDocument/2006/relationships" id="268" r:id="R306e78947e6f4cc1"/>
    <p:sldId xmlns:r="http://schemas.openxmlformats.org/officeDocument/2006/relationships" id="269" r:id="R876045f6466b4bfe"/>
    <p:sldId xmlns:r="http://schemas.openxmlformats.org/officeDocument/2006/relationships" id="270" r:id="Ra30b6b6005314501"/>
    <p:sldId xmlns:r="http://schemas.openxmlformats.org/officeDocument/2006/relationships" id="271" r:id="R2d400b6601e842bf"/>
    <p:sldId xmlns:r="http://schemas.openxmlformats.org/officeDocument/2006/relationships" id="272" r:id="Reede61a66f8445ab"/>
    <p:sldId xmlns:r="http://schemas.openxmlformats.org/officeDocument/2006/relationships" id="273" r:id="R1e9b3e86c68540e7"/>
    <p:sldId xmlns:r="http://schemas.openxmlformats.org/officeDocument/2006/relationships" id="274" r:id="R630fc13f1b044392"/>
    <p:sldId xmlns:r="http://schemas.openxmlformats.org/officeDocument/2006/relationships" id="275" r:id="R10d07b6b62464b55"/>
  </p:sldIdLst>
  <p:sldSz cx="121793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 b="def" i="def"/>
      <a:tcStyle>
        <a:tcBdr/>
        <a:fill>
          <a:solidFill>
            <a:srgbClr val="E8EBF5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 b="def" i="def"/>
      <a:tcStyle>
        <a:tcBdr/>
        <a:fill>
          <a:solidFill>
            <a:srgbClr val="F0F0F0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 b="def" i="def"/>
      <a:tcStyle>
        <a:tcBdr/>
        <a:fill>
          <a:solidFill>
            <a:srgbClr val="EBF1E8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8e757dbd4374ad9" /><Relationship Type="http://schemas.openxmlformats.org/officeDocument/2006/relationships/slideMaster" Target="/ppt/slideMasters/slideMaster1.xml" Id="Rde22c196462a4f3f" /><Relationship Type="http://schemas.openxmlformats.org/officeDocument/2006/relationships/notesMaster" Target="/ppt/notesMasters/notesMaster1.xml" Id="Rddbe0f243e22455b" /><Relationship Type="http://schemas.openxmlformats.org/officeDocument/2006/relationships/presProps" Target="/ppt/presProps.xml" Id="R083e644d87f349a0" /><Relationship Type="http://schemas.openxmlformats.org/officeDocument/2006/relationships/tableStyles" Target="/ppt/tableStyles.xml" Id="Rad478e386451425d" /><Relationship Type="http://schemas.openxmlformats.org/officeDocument/2006/relationships/slide" Target="/ppt/slides/slide1.xml" Id="R7c08ed6064a54344" /><Relationship Type="http://schemas.openxmlformats.org/officeDocument/2006/relationships/slide" Target="/ppt/slides/slide2.xml" Id="R9075da43ee6c4f59" /><Relationship Type="http://schemas.openxmlformats.org/officeDocument/2006/relationships/slide" Target="/ppt/slides/slide3.xml" Id="R182dff6c5d9f4521" /><Relationship Type="http://schemas.openxmlformats.org/officeDocument/2006/relationships/slide" Target="/ppt/slides/slide4.xml" Id="R3da5a4e255ab4055" /><Relationship Type="http://schemas.openxmlformats.org/officeDocument/2006/relationships/slide" Target="/ppt/slides/slide5.xml" Id="Rc29db61e7d3147f5" /><Relationship Type="http://schemas.openxmlformats.org/officeDocument/2006/relationships/slide" Target="/ppt/slides/slide6.xml" Id="R1cb8b91815334e3b" /><Relationship Type="http://schemas.openxmlformats.org/officeDocument/2006/relationships/slide" Target="/ppt/slides/slide7.xml" Id="R44537c84332c4d93" /><Relationship Type="http://schemas.openxmlformats.org/officeDocument/2006/relationships/slide" Target="/ppt/slides/slide8.xml" Id="R887f10a31223424a" /><Relationship Type="http://schemas.openxmlformats.org/officeDocument/2006/relationships/slide" Target="/ppt/slides/slide9.xml" Id="R0b60f5cc5d0047d3" /><Relationship Type="http://schemas.openxmlformats.org/officeDocument/2006/relationships/slide" Target="/ppt/slides/slide10.xml" Id="Ra81ff940f8ba4a47" /><Relationship Type="http://schemas.openxmlformats.org/officeDocument/2006/relationships/slide" Target="/ppt/slides/slide11.xml" Id="R18f6e6ead0fe4970" /><Relationship Type="http://schemas.openxmlformats.org/officeDocument/2006/relationships/slide" Target="/ppt/slides/slide12.xml" Id="R1b6f8330e3dc4e91" /><Relationship Type="http://schemas.openxmlformats.org/officeDocument/2006/relationships/slide" Target="/ppt/slides/slide13.xml" Id="R306e78947e6f4cc1" /><Relationship Type="http://schemas.openxmlformats.org/officeDocument/2006/relationships/slide" Target="/ppt/slides/slide14.xml" Id="R876045f6466b4bfe" /><Relationship Type="http://schemas.openxmlformats.org/officeDocument/2006/relationships/slide" Target="/ppt/slides/slide15.xml" Id="Ra30b6b6005314501" /><Relationship Type="http://schemas.openxmlformats.org/officeDocument/2006/relationships/slide" Target="/ppt/slides/slide16.xml" Id="R2d400b6601e842bf" /><Relationship Type="http://schemas.openxmlformats.org/officeDocument/2006/relationships/slide" Target="/ppt/slides/slide17.xml" Id="Reede61a66f8445ab" /><Relationship Type="http://schemas.openxmlformats.org/officeDocument/2006/relationships/slide" Target="/ppt/slides/slide18.xml" Id="R1e9b3e86c68540e7" /><Relationship Type="http://schemas.openxmlformats.org/officeDocument/2006/relationships/slide" Target="/ppt/slides/slide19.xml" Id="R630fc13f1b044392" /><Relationship Type="http://schemas.openxmlformats.org/officeDocument/2006/relationships/slide" Target="/ppt/slides/slide20.xml" Id="R10d07b6b62464b5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95fdb699811458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4999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752825ab6a44771" /><Relationship Type="http://schemas.openxmlformats.org/officeDocument/2006/relationships/notesMaster" Target="/ppt/notesMasters/notesMaster1.xml" Id="Reae6d9c867884e4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bb31ad50f164ddf" /><Relationship Type="http://schemas.openxmlformats.org/officeDocument/2006/relationships/notesMaster" Target="/ppt/notesMasters/notesMaster1.xml" Id="Re454384f245b4b6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7d0e7fc116c4822" /><Relationship Type="http://schemas.openxmlformats.org/officeDocument/2006/relationships/notesMaster" Target="/ppt/notesMasters/notesMaster1.xml" Id="Rd546c8b730a24b4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52d63ad9bb14b3b" /><Relationship Type="http://schemas.openxmlformats.org/officeDocument/2006/relationships/notesMaster" Target="/ppt/notesMasters/notesMaster1.xml" Id="R70df4ad6889c488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85179f8eaf74c36" /><Relationship Type="http://schemas.openxmlformats.org/officeDocument/2006/relationships/notesMaster" Target="/ppt/notesMasters/notesMaster1.xml" Id="Rf037b9cbeee9400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ca1a4df0bd04a7d" /><Relationship Type="http://schemas.openxmlformats.org/officeDocument/2006/relationships/notesMaster" Target="/ppt/notesMasters/notesMaster1.xml" Id="Rf6a908d07012416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5037346194c4ec2" /><Relationship Type="http://schemas.openxmlformats.org/officeDocument/2006/relationships/notesMaster" Target="/ppt/notesMasters/notesMaster1.xml" Id="R5d562b5010f0437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51788bf897c4216" /><Relationship Type="http://schemas.openxmlformats.org/officeDocument/2006/relationships/notesMaster" Target="/ppt/notesMasters/notesMaster1.xml" Id="R57f248cc9bce41f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42faab7c108467a" /><Relationship Type="http://schemas.openxmlformats.org/officeDocument/2006/relationships/notesMaster" Target="/ppt/notesMasters/notesMaster1.xml" Id="R1b842fd8fb144c3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bf720bfc04740fc" /><Relationship Type="http://schemas.openxmlformats.org/officeDocument/2006/relationships/notesMaster" Target="/ppt/notesMasters/notesMaster1.xml" Id="R75d8fa27fd47430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d6240a409264600" /><Relationship Type="http://schemas.openxmlformats.org/officeDocument/2006/relationships/notesMaster" Target="/ppt/notesMasters/notesMaster1.xml" Id="R2534c02109fe446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c096253563d4f27" /><Relationship Type="http://schemas.openxmlformats.org/officeDocument/2006/relationships/notesMaster" Target="/ppt/notesMasters/notesMaster1.xml" Id="Rcd365ab5b6bf4589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9dd3ba8c4b3942aa" /><Relationship Type="http://schemas.openxmlformats.org/officeDocument/2006/relationships/notesMaster" Target="/ppt/notesMasters/notesMaster1.xml" Id="Rbd29ae3e6d314e60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9fd45cda043c4e85" /><Relationship Type="http://schemas.openxmlformats.org/officeDocument/2006/relationships/notesMaster" Target="/ppt/notesMasters/notesMaster1.xml" Id="R72792efb18e44857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055c92c04b1d46c9" /><Relationship Type="http://schemas.openxmlformats.org/officeDocument/2006/relationships/notesMaster" Target="/ppt/notesMasters/notesMaster1.xml" Id="Rec1da63e146b44c3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10335d28b8ad463f" /><Relationship Type="http://schemas.openxmlformats.org/officeDocument/2006/relationships/notesMaster" Target="/ppt/notesMasters/notesMaster1.xml" Id="Rfedc052f42fd49f6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fb1c6524df014989" /><Relationship Type="http://schemas.openxmlformats.org/officeDocument/2006/relationships/notesMaster" Target="/ppt/notesMasters/notesMaster1.xml" Id="R0de1e7926b164a1f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4039169f81b14c63" /><Relationship Type="http://schemas.openxmlformats.org/officeDocument/2006/relationships/notesMaster" Target="/ppt/notesMasters/notesMaster1.xml" Id="R6b408572d8244a75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614b778b2d69453d" /><Relationship Type="http://schemas.openxmlformats.org/officeDocument/2006/relationships/notesMaster" Target="/ppt/notesMasters/notesMaster1.xml" Id="Rb0acc9ae36f4442b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55d8eec9e4964cf3" /><Relationship Type="http://schemas.openxmlformats.org/officeDocument/2006/relationships/notesMaster" Target="/ppt/notesMasters/notesMaster1.xml" Id="Re961f683b94748c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Coach roster screenshot captured from the PulseCheck demo dashboard on July 21, 2026. Mock walkthrough data only.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1acc42c86b6428d" /></Relationships>
</file>

<file path=ppt/slideLayouts/slideLayout1.xml><?xml version="1.0" encoding="utf-8"?>
<p:sldLayout xmlns:p="http://schemas.openxmlformats.org/presentationml/2006/main" showMasterSp="1" showMasterPhAnim="1">
  <p:cSld name="DEFAUL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E7AB194E-5462-4F88-B9C1-1EC0836F1649}"/>
              </a:ext>
            </a:extLst>
          </p:cNvPr>
          <p:cNvSpPr>
            <a:spLocks xmlns:a="http://schemas.openxmlformats.org/drawingml/2006/main" noGrp="1"/>
          </p:cNvSpPr>
          <p:nvPr>
            <p:ph type="sldNum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151056c7a584660" /><Relationship Type="http://schemas.openxmlformats.org/officeDocument/2006/relationships/slideLayout" Target="/ppt/slideLayouts/slideLayout1.xml" Id="R1fa584499b2b4a9e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Text">
            <a:extLst xmlns:a="http://schemas.openxmlformats.org/drawingml/2006/main">
              <a:ext uri="{FF2B5EF4-FFF2-40B4-BE49-F238E27FC236}">
                <a16:creationId xmlns:a16="http://schemas.microsoft.com/office/drawing/2014/main" id="{780B2DE1-0A92-4EDD-840C-C094A5A7E80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824780" y="769937"/>
            <a:ext cx="9743441" cy="1668463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45718" tIns="45718" rIns="45718" bIns="45718" anchor="ctr"/>
          <a:lstStyle xmlns:a="http://schemas.openxmlformats.org/drawingml/2006/main"/>
          <a:p xmlns:a="http://schemas.openxmlformats.org/drawingml/2006/main">
            <a:pPr>
              <a:buNone/>
            </a:pPr>
            <a:r>
              <a:t>Title Text</a:t>
            </a:r>
          </a:p>
        </p:txBody>
      </p:sp>
      <p:sp>
        <p:nvSpPr>
          <p:cNvPr id="3" name="Body Level One…">
            <a:extLst xmlns:a="http://schemas.openxmlformats.org/drawingml/2006/main">
              <a:ext uri="{FF2B5EF4-FFF2-40B4-BE49-F238E27FC236}">
                <a16:creationId xmlns:a16="http://schemas.microsoft.com/office/drawing/2014/main" id="{ACFEFD85-B3A3-45C6-AE7D-678D566F3C2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797994" y="2438400"/>
            <a:ext cx="4770227" cy="44196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45718" tIns="45718" rIns="45718" bIns="45718"/>
          <a:lstStyle xmlns:a="http://schemas.openxmlformats.org/drawingml/2006/main"/>
          <a:p xmlns:a="http://schemas.openxmlformats.org/drawingml/2006/main">
            <a:pPr>
              <a:buNone/>
            </a:pPr>
            <a:r>
              <a:t>Body Level One</a:t>
            </a:r>
          </a:p>
          <a:p xmlns:a="http://schemas.openxmlformats.org/drawingml/2006/main">
            <a:pPr>
              <a:buNone/>
            </a:pPr>
            <a:r>
              <a:t>Body Level Two</a:t>
            </a:r>
          </a:p>
          <a:p xmlns:a="http://schemas.openxmlformats.org/drawingml/2006/main">
            <a:pPr>
              <a:buNone/>
            </a:pPr>
            <a:r>
              <a:t>Body Level Three</a:t>
            </a:r>
          </a:p>
          <a:p xmlns:a="http://schemas.openxmlformats.org/drawingml/2006/main">
            <a:pPr>
              <a:buNone/>
            </a:pPr>
            <a:r>
              <a:t>Body Level Four</a:t>
            </a:r>
          </a:p>
          <a:p xmlns:a="http://schemas.openxmlformats.org/drawingml/2006/main">
            <a:pPr>
              <a:buNone/>
            </a:pPr>
            <a:r>
              <a:t>Body Level Five</a:t>
            </a:r>
          </a:p>
        </p:txBody>
      </p:sp>
      <p:sp>
        <p:nvSpPr>
          <p:cNvPr id="4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1A92B58C-CFA2-43A0-AB0F-8A1781ECD873}"/>
              </a:ext>
            </a:extLst>
          </p:cNvPr>
          <p:cNvSpPr>
            <a:spLocks xmlns:a="http://schemas.openxmlformats.org/drawingml/2006/main" noGrp="1"/>
          </p:cNvSpPr>
          <p:nvPr>
            <p:ph type="sldNum" idx="2"/>
          </p:nvPr>
        </p:nvSpPr>
        <p:spPr>
          <a:xfrm xmlns:a="http://schemas.openxmlformats.org/drawingml/2006/main">
            <a:off x="8469877" y="6232199"/>
            <a:ext cx="258622" cy="248303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none" lIns="45718" tIns="45718" rIns="45718" bIns="45718" anchor="ctr">
            <a:spAutoFit/>
          </a:bodyPr>
          <a:lstStyle xmlns:a="http://schemas.openxmlformats.org/drawingml/2006/main">
            <a:lvl1pPr algn="r">
              <a:buNone/>
              <a:defRPr sz="1200"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pPr>
              <a:buNone/>
            </a:p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fa584499b2b4a9e"/>
  </p:sldLayoutIdLst>
  <p:txStyles>
    <p:titleStyle>
      <a:lvl1pPr xmlns:a="http://schemas.openxmlformats.org/drawingml/2006/main" marL="0" marR="0" indent="0" algn="ct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cap="none" spc="0" baseline="0">
          <a:solidFill>
            <a:srgbClr val="000000"/>
          </a:solidFill>
          <a:latin typeface="Calibri Light"/>
          <a:ea typeface="Calibri Light"/>
          <a:cs typeface="Calibri Light"/>
        </a:defRPr>
      </a:lvl1pPr>
      <a:lvl2pPr xmlns:a="http://schemas.openxmlformats.org/drawingml/2006/main" marL="0" marR="0" indent="0" algn="ct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cap="none" spc="0" baseline="0">
          <a:solidFill>
            <a:srgbClr val="000000"/>
          </a:solidFill>
          <a:latin typeface="Calibri Light"/>
          <a:ea typeface="Calibri Light"/>
          <a:cs typeface="Calibri Light"/>
        </a:defRPr>
      </a:lvl2pPr>
      <a:lvl3pPr xmlns:a="http://schemas.openxmlformats.org/drawingml/2006/main" marL="0" marR="0" indent="0" algn="ct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cap="none" spc="0" baseline="0">
          <a:solidFill>
            <a:srgbClr val="000000"/>
          </a:solidFill>
          <a:latin typeface="Calibri Light"/>
          <a:ea typeface="Calibri Light"/>
          <a:cs typeface="Calibri Light"/>
        </a:defRPr>
      </a:lvl3pPr>
      <a:lvl4pPr xmlns:a="http://schemas.openxmlformats.org/drawingml/2006/main" marL="0" marR="0" indent="0" algn="ct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cap="none" spc="0" baseline="0">
          <a:solidFill>
            <a:srgbClr val="000000"/>
          </a:solidFill>
          <a:latin typeface="Calibri Light"/>
          <a:ea typeface="Calibri Light"/>
          <a:cs typeface="Calibri Light"/>
        </a:defRPr>
      </a:lvl4pPr>
      <a:lvl5pPr xmlns:a="http://schemas.openxmlformats.org/drawingml/2006/main" marL="0" marR="0" indent="0" algn="ct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cap="none" spc="0" baseline="0">
          <a:solidFill>
            <a:srgbClr val="000000"/>
          </a:solidFill>
          <a:latin typeface="Calibri Light"/>
          <a:ea typeface="Calibri Light"/>
          <a:cs typeface="Calibri Light"/>
        </a:defRPr>
      </a:lvl5pPr>
      <a:lvl6pPr xmlns:a="http://schemas.openxmlformats.org/drawingml/2006/main" marL="0" marR="0" indent="0" algn="ct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cap="none" spc="0" baseline="0">
          <a:solidFill>
            <a:srgbClr val="000000"/>
          </a:solidFill>
          <a:latin typeface="Calibri Light"/>
          <a:ea typeface="Calibri Light"/>
          <a:cs typeface="Calibri Light"/>
        </a:defRPr>
      </a:lvl6pPr>
      <a:lvl7pPr xmlns:a="http://schemas.openxmlformats.org/drawingml/2006/main" marL="0" marR="0" indent="0" algn="ct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cap="none" spc="0" baseline="0">
          <a:solidFill>
            <a:srgbClr val="000000"/>
          </a:solidFill>
          <a:latin typeface="Calibri Light"/>
          <a:ea typeface="Calibri Light"/>
          <a:cs typeface="Calibri Light"/>
        </a:defRPr>
      </a:lvl7pPr>
      <a:lvl8pPr xmlns:a="http://schemas.openxmlformats.org/drawingml/2006/main" marL="0" marR="0" indent="0" algn="ct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cap="none" spc="0" baseline="0">
          <a:solidFill>
            <a:srgbClr val="000000"/>
          </a:solidFill>
          <a:latin typeface="Calibri Light"/>
          <a:ea typeface="Calibri Light"/>
          <a:cs typeface="Calibri Light"/>
        </a:defRPr>
      </a:lvl8pPr>
      <a:lvl9pPr xmlns:a="http://schemas.openxmlformats.org/drawingml/2006/main" marL="0" marR="0" indent="0" algn="ct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cap="none" spc="0" baseline="0">
          <a:solidFill>
            <a:srgbClr val="000000"/>
          </a:solidFill>
          <a:latin typeface="Calibri Light"/>
          <a:ea typeface="Calibri Light"/>
          <a:cs typeface="Calibri Light"/>
        </a:defRPr>
      </a:lvl9pPr>
    </p:titleStyle>
    <p:bodyStyle>
      <a:lvl1pPr xmlns:a="http://schemas.openxmlformats.org/drawingml/2006/main" marL="342900" marR="0" indent="-342900" algn="l" defTabSz="91440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defRPr sz="3200" b="0" i="0" u="none" cap="none" spc="0" baseline="0">
          <a:solidFill>
            <a:srgbClr val="000000"/>
          </a:solidFill>
          <a:latin typeface="+mn-lt"/>
          <a:ea typeface="+mn-lt"/>
          <a:cs typeface="+mn-lt"/>
        </a:defRPr>
      </a:lvl1pPr>
      <a:lvl2pPr xmlns:a="http://schemas.openxmlformats.org/drawingml/2006/main" marL="783771" marR="0" indent="-326571" algn="l" defTabSz="91440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defRPr sz="3200" b="0" i="0" u="none" cap="none" spc="0" baseline="0">
          <a:solidFill>
            <a:srgbClr val="000000"/>
          </a:solidFill>
          <a:latin typeface="+mn-lt"/>
          <a:ea typeface="+mn-lt"/>
          <a:cs typeface="+mn-lt"/>
        </a:defRPr>
      </a:lvl2pPr>
      <a:lvl3pPr xmlns:a="http://schemas.openxmlformats.org/drawingml/2006/main" marL="1219200" marR="0" indent="-304800" algn="l" defTabSz="91440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defRPr sz="3200" b="0" i="0" u="none" cap="none" spc="0" baseline="0">
          <a:solidFill>
            <a:srgbClr val="000000"/>
          </a:solidFill>
          <a:latin typeface="+mn-lt"/>
          <a:ea typeface="+mn-lt"/>
          <a:cs typeface="+mn-lt"/>
        </a:defRPr>
      </a:lvl3pPr>
      <a:lvl4pPr xmlns:a="http://schemas.openxmlformats.org/drawingml/2006/main" marL="1737360" marR="0" indent="-365760" algn="l" defTabSz="91440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defRPr sz="3200" b="0" i="0" u="none" cap="none" spc="0" baseline="0">
          <a:solidFill>
            <a:srgbClr val="000000"/>
          </a:solidFill>
          <a:latin typeface="+mn-lt"/>
          <a:ea typeface="+mn-lt"/>
          <a:cs typeface="+mn-lt"/>
        </a:defRPr>
      </a:lvl4pPr>
      <a:lvl5pPr xmlns:a="http://schemas.openxmlformats.org/drawingml/2006/main" marL="2194560" marR="0" indent="-365760" algn="l" defTabSz="91440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defRPr sz="3200" b="0" i="0" u="none" cap="none" spc="0" baseline="0">
          <a:solidFill>
            <a:srgbClr val="000000"/>
          </a:solidFill>
          <a:latin typeface="+mn-lt"/>
          <a:ea typeface="+mn-lt"/>
          <a:cs typeface="+mn-lt"/>
        </a:defRPr>
      </a:lvl5pPr>
      <a:lvl6pPr xmlns:a="http://schemas.openxmlformats.org/drawingml/2006/main" marL="2651760" marR="0" indent="-365760" algn="l" defTabSz="91440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defRPr sz="3200" b="0" i="0" u="none" cap="none" spc="0" baseline="0">
          <a:solidFill>
            <a:srgbClr val="000000"/>
          </a:solidFill>
          <a:latin typeface="+mn-lt"/>
          <a:ea typeface="+mn-lt"/>
          <a:cs typeface="+mn-lt"/>
        </a:defRPr>
      </a:lvl6pPr>
      <a:lvl7pPr xmlns:a="http://schemas.openxmlformats.org/drawingml/2006/main" marL="3108960" marR="0" indent="-365760" algn="l" defTabSz="91440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defRPr sz="3200" b="0" i="0" u="none" cap="none" spc="0" baseline="0">
          <a:solidFill>
            <a:srgbClr val="000000"/>
          </a:solidFill>
          <a:latin typeface="+mn-lt"/>
          <a:ea typeface="+mn-lt"/>
          <a:cs typeface="+mn-lt"/>
        </a:defRPr>
      </a:lvl7pPr>
      <a:lvl8pPr xmlns:a="http://schemas.openxmlformats.org/drawingml/2006/main" marL="3566159" marR="0" indent="-365759" algn="l" defTabSz="91440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defRPr sz="3200" b="0" i="0" u="none" cap="none" spc="0" baseline="0">
          <a:solidFill>
            <a:srgbClr val="000000"/>
          </a:solidFill>
          <a:latin typeface="+mn-lt"/>
          <a:ea typeface="+mn-lt"/>
          <a:cs typeface="+mn-lt"/>
        </a:defRPr>
      </a:lvl8pPr>
      <a:lvl9pPr xmlns:a="http://schemas.openxmlformats.org/drawingml/2006/main" marL="4023359" marR="0" indent="-365759" algn="l" defTabSz="91440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defRPr sz="3200" b="0" i="0" u="none" cap="none" spc="0" baseline="0">
          <a:solidFill>
            <a:srgbClr val="000000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marR="0" indent="0" algn="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cap="none" spc="0" baseline="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0" marR="0" indent="0" algn="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cap="none" spc="0" baseline="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0" marR="0" indent="0" algn="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cap="none" spc="0" baseline="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0" marR="0" indent="0" algn="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cap="none" spc="0" baseline="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0" marR="0" indent="0" algn="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cap="none" spc="0" baseline="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0" marR="0" indent="0" algn="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cap="none" spc="0" baseline="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0" marR="0" indent="0" algn="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cap="none" spc="0" baseline="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0" marR="0" indent="0" algn="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cap="none" spc="0" baseline="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0" marR="0" indent="0" algn="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cap="none" spc="0" baseline="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4999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95ada8eec64f6e" /><Relationship Type="http://schemas.openxmlformats.org/officeDocument/2006/relationships/image" Target="/ppt/media/image.png" Id="Re2a3ec3f9df642c3" /><Relationship Type="http://schemas.openxmlformats.org/officeDocument/2006/relationships/image" Target="/ppt/media/image2.png" Id="Re930f41a80ac45b3" /><Relationship Type="http://schemas.openxmlformats.org/officeDocument/2006/relationships/notesSlide" Target="/ppt/notesSlides/notesSlide1.xml" Id="R8ce9c406ca6a46a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d32c5c989d4014" /><Relationship Type="http://schemas.openxmlformats.org/officeDocument/2006/relationships/notesSlide" Target="/ppt/notesSlides/notesSlide2.xml" Id="Rbe45761da582429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0dc18c6bd04560" /><Relationship Type="http://schemas.openxmlformats.org/officeDocument/2006/relationships/image" Target="/ppt/media/image3.png" Id="R237c28746aa943c4" /><Relationship Type="http://schemas.openxmlformats.org/officeDocument/2006/relationships/image" Target="/ppt/media/image4.png" Id="R3dd4082f363c498f" /><Relationship Type="http://schemas.openxmlformats.org/officeDocument/2006/relationships/image" Target="/ppt/media/image5.png" Id="R6c0671ba2e814614" /><Relationship Type="http://schemas.openxmlformats.org/officeDocument/2006/relationships/image" Target="/ppt/media/image6.png" Id="Ra8a25c3b1a014344" /><Relationship Type="http://schemas.openxmlformats.org/officeDocument/2006/relationships/notesSlide" Target="/ppt/notesSlides/notesSlide3.xml" Id="R75fa213da3f448a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5f7e4475be4bfa" /><Relationship Type="http://schemas.openxmlformats.org/officeDocument/2006/relationships/image" Target="/ppt/media/image7.png" Id="R6388de6e2be44871" /><Relationship Type="http://schemas.openxmlformats.org/officeDocument/2006/relationships/image" Target="/ppt/media/image8.png" Id="R9a033c6cc93a435d" /><Relationship Type="http://schemas.openxmlformats.org/officeDocument/2006/relationships/notesSlide" Target="/ppt/notesSlides/notesSlide4.xml" Id="R3e73c03e1a9b4f5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543cfe74af46df" /><Relationship Type="http://schemas.openxmlformats.org/officeDocument/2006/relationships/image" Target="/ppt/media/image9.png" Id="R45dc46062d974917" /><Relationship Type="http://schemas.openxmlformats.org/officeDocument/2006/relationships/image" Target="/ppt/media/image10.png" Id="R66736b4fe80f4d84" /><Relationship Type="http://schemas.openxmlformats.org/officeDocument/2006/relationships/image" Target="/ppt/media/image11.png" Id="R5b93e2632a724db6" /><Relationship Type="http://schemas.openxmlformats.org/officeDocument/2006/relationships/image" Target="/ppt/media/image12.png" Id="Rbd6d5e4b5f174aad" /><Relationship Type="http://schemas.openxmlformats.org/officeDocument/2006/relationships/notesSlide" Target="/ppt/notesSlides/notesSlide5.xml" Id="R492f6ff21b1c496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4ad9a79037468a" /><Relationship Type="http://schemas.openxmlformats.org/officeDocument/2006/relationships/image" Target="/ppt/media/image.jpeg" Id="Rc25b550c407e401f" /><Relationship Type="http://schemas.openxmlformats.org/officeDocument/2006/relationships/image" Target="/ppt/media/image13.png" Id="Rf23979fc750b4f49" /><Relationship Type="http://schemas.openxmlformats.org/officeDocument/2006/relationships/image" Target="/ppt/media/image14.png" Id="Rafd2df12d5b94d93" /><Relationship Type="http://schemas.openxmlformats.org/officeDocument/2006/relationships/notesSlide" Target="/ppt/notesSlides/notesSlide6.xml" Id="R5316c973ea4747e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541182dbd44c99" /><Relationship Type="http://schemas.openxmlformats.org/officeDocument/2006/relationships/image" Target="/ppt/media/image.jpeg" Id="R959a9436e9474cc6" /><Relationship Type="http://schemas.openxmlformats.org/officeDocument/2006/relationships/notesSlide" Target="/ppt/notesSlides/notesSlide7.xml" Id="R7beb57e9058e4ec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2cb7e2b86f4b0f" /><Relationship Type="http://schemas.openxmlformats.org/officeDocument/2006/relationships/image" Target="/ppt/media/image15.png" Id="R08565ff26ed54d27" /><Relationship Type="http://schemas.openxmlformats.org/officeDocument/2006/relationships/image" Target="/ppt/media/image16.png" Id="Radc7cd1dee7b4ee8" /><Relationship Type="http://schemas.openxmlformats.org/officeDocument/2006/relationships/notesSlide" Target="/ppt/notesSlides/notesSlide8.xml" Id="R87d2800e4bfd48f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afa0dd10774522" /><Relationship Type="http://schemas.openxmlformats.org/officeDocument/2006/relationships/image" Target="/ppt/media/image3.png" Id="R7895dd0071f74e2f" /><Relationship Type="http://schemas.openxmlformats.org/officeDocument/2006/relationships/image" Target="/ppt/media/image17.png" Id="Rca145eeaae764893" /><Relationship Type="http://schemas.openxmlformats.org/officeDocument/2006/relationships/image" Target="/ppt/media/image18.png" Id="R7ce2c0f736ca4716" /><Relationship Type="http://schemas.openxmlformats.org/officeDocument/2006/relationships/image" Target="/ppt/media/image19.png" Id="Rfdfca8b7663b4eb7" /><Relationship Type="http://schemas.openxmlformats.org/officeDocument/2006/relationships/notesSlide" Target="/ppt/notesSlides/notesSlide9.xml" Id="Rcfb70cad055e453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ea27a4cd2e4fe1" /><Relationship Type="http://schemas.openxmlformats.org/officeDocument/2006/relationships/image" Target="/ppt/media/image2.jpeg" Id="R7a0984f6e7cd4ee3" /><Relationship Type="http://schemas.openxmlformats.org/officeDocument/2006/relationships/image" Target="/ppt/media/image5.png" Id="Rde0c717c4ac94d36" /><Relationship Type="http://schemas.openxmlformats.org/officeDocument/2006/relationships/notesSlide" Target="/ppt/notesSlides/notesSlide10.xml" Id="R605d0daf6134438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df548975b14aac" /><Relationship Type="http://schemas.openxmlformats.org/officeDocument/2006/relationships/image" Target="/ppt/media/image20.png" Id="R32769bee2eec47db" /><Relationship Type="http://schemas.openxmlformats.org/officeDocument/2006/relationships/image" Target="/ppt/media/image21.png" Id="R00375cc99e3e490f" /><Relationship Type="http://schemas.openxmlformats.org/officeDocument/2006/relationships/image" Target="/ppt/media/image22.png" Id="R58b33a56dcf14281" /><Relationship Type="http://schemas.openxmlformats.org/officeDocument/2006/relationships/notesSlide" Target="/ppt/notesSlides/notesSlide11.xml" Id="R125a5f7c0f7c448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c2ec4237bb4f54" /><Relationship Type="http://schemas.openxmlformats.org/officeDocument/2006/relationships/image" Target="/ppt/media/image10.png" Id="R70e18d9a63ee4f40" /><Relationship Type="http://schemas.openxmlformats.org/officeDocument/2006/relationships/notesSlide" Target="/ppt/notesSlides/notesSlide12.xml" Id="R70d5cc05289e48c2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5d6722915d48ae" /><Relationship Type="http://schemas.openxmlformats.org/officeDocument/2006/relationships/notesSlide" Target="/ppt/notesSlides/notesSlide13.xml" Id="R45943905156f419c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a06bcec40a4888" /><Relationship Type="http://schemas.openxmlformats.org/officeDocument/2006/relationships/notesSlide" Target="/ppt/notesSlides/notesSlide14.xml" Id="Redd2a7c33d604fb1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e108076d1449a9" /><Relationship Type="http://schemas.openxmlformats.org/officeDocument/2006/relationships/notesSlide" Target="/ppt/notesSlides/notesSlide15.xml" Id="Rca723e0627974e90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d609121cd34cda" /><Relationship Type="http://schemas.openxmlformats.org/officeDocument/2006/relationships/image" Target="/ppt/media/image3.jpeg" Id="R772682e5363044a0" /><Relationship Type="http://schemas.openxmlformats.org/officeDocument/2006/relationships/image" Target="/ppt/media/image4.jpeg" Id="Re0783822927c425e" /><Relationship Type="http://schemas.openxmlformats.org/officeDocument/2006/relationships/image" Target="/ppt/media/image5.jpeg" Id="R6ad54e79303543be" /><Relationship Type="http://schemas.openxmlformats.org/officeDocument/2006/relationships/image" Target="/ppt/media/image23.png" Id="Ra92356e1592c4666" /><Relationship Type="http://schemas.openxmlformats.org/officeDocument/2006/relationships/image" Target="/ppt/media/image24.png" Id="Raff61be94ce84115" /><Relationship Type="http://schemas.openxmlformats.org/officeDocument/2006/relationships/image" Target="/ppt/media/image25.png" Id="Rca7df1236a3f4d79" /><Relationship Type="http://schemas.openxmlformats.org/officeDocument/2006/relationships/image" Target="/ppt/media/image26.png" Id="R151ce94cc5224db3" /><Relationship Type="http://schemas.openxmlformats.org/officeDocument/2006/relationships/image" Target="/ppt/media/image27.png" Id="R8ab6a4265c164ce1" /><Relationship Type="http://schemas.openxmlformats.org/officeDocument/2006/relationships/image" Target="/ppt/media/image28.png" Id="Rd6fbf1d30f8041c4" /><Relationship Type="http://schemas.openxmlformats.org/officeDocument/2006/relationships/notesSlide" Target="/ppt/notesSlides/notesSlide16.xml" Id="R38c55687243e46e2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6527d0fbcc4a02" /><Relationship Type="http://schemas.openxmlformats.org/officeDocument/2006/relationships/image" Target="/ppt/media/image5.png" Id="R207dbd7e953f49cd" /><Relationship Type="http://schemas.openxmlformats.org/officeDocument/2006/relationships/image" Target="/ppt/media/image8.png" Id="Rebdbe782363f404a" /><Relationship Type="http://schemas.openxmlformats.org/officeDocument/2006/relationships/image" Target="/ppt/media/image17.png" Id="Rdd43a725b3e24dfa" /><Relationship Type="http://schemas.openxmlformats.org/officeDocument/2006/relationships/image" Target="/ppt/media/image6.jpeg" Id="Re5eec8ae23f84523" /><Relationship Type="http://schemas.openxmlformats.org/officeDocument/2006/relationships/image" Target="/ppt/media/image7.jpeg" Id="R1d560c81535b47a4" /><Relationship Type="http://schemas.openxmlformats.org/officeDocument/2006/relationships/notesSlide" Target="/ppt/notesSlides/notesSlide17.xml" Id="R11a72a5bfc764e62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7781ad53334969" /><Relationship Type="http://schemas.openxmlformats.org/officeDocument/2006/relationships/image" Target="/ppt/media/image29.png" Id="Rcd08c3944af2451c" /><Relationship Type="http://schemas.openxmlformats.org/officeDocument/2006/relationships/notesSlide" Target="/ppt/notesSlides/notesSlide18.xml" Id="Ref8836499e2d4b69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b7bd6122a64289" /><Relationship Type="http://schemas.openxmlformats.org/officeDocument/2006/relationships/notesSlide" Target="/ppt/notesSlides/notesSlide19.xml" Id="Rf6cba0a9e5e24f0f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7d17755dc141ae" /><Relationship Type="http://schemas.openxmlformats.org/officeDocument/2006/relationships/notesSlide" Target="/ppt/notesSlides/notesSlide20.xml" Id="R97ec1116aac74614" /></Relationships>
</file>

<file path=ppt/slides/slide1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Text 0">
            <a:extLst xmlns:a="http://schemas.openxmlformats.org/drawingml/2006/main">
              <a:ext uri="{FF2B5EF4-FFF2-40B4-BE49-F238E27FC236}">
                <a16:creationId xmlns:a16="http://schemas.microsoft.com/office/drawing/2014/main" id="{F4253183-445B-4C98-8BE5-E0669A606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285187"/>
            <a:ext cx="10515601" cy="764965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5400" b="1" spc="100">
                <a:solidFill>
                  <a:srgbClr val="F4F6F2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PULSE INTELLIGENCE LABS</a:t>
            </a:r>
          </a:p>
        </p:txBody>
      </p:sp>
      <p:sp>
        <p:nvSpPr>
          <p:cNvPr id="21" name="Text 1">
            <a:extLst xmlns:a="http://schemas.openxmlformats.org/drawingml/2006/main">
              <a:ext uri="{FF2B5EF4-FFF2-40B4-BE49-F238E27FC236}">
                <a16:creationId xmlns:a16="http://schemas.microsoft.com/office/drawing/2014/main" id="{91B78D76-AC37-4B19-B4D9-7DCEA0E45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7" y="2460311"/>
            <a:ext cx="10515601" cy="382898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2600" b="1" spc="100">
                <a:solidFill>
                  <a:srgbClr val="C8FF00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THE HUMAN PERFORMANCE COMPANY</a:t>
            </a:r>
          </a:p>
        </p:txBody>
      </p:sp>
      <p:sp>
        <p:nvSpPr>
          <p:cNvPr id="22" name="Text 2">
            <a:extLst xmlns:a="http://schemas.openxmlformats.org/drawingml/2006/main">
              <a:ext uri="{FF2B5EF4-FFF2-40B4-BE49-F238E27FC236}">
                <a16:creationId xmlns:a16="http://schemas.microsoft.com/office/drawing/2014/main" id="{5F7AA550-EB92-4823-822F-2656C6956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7" y="3303253"/>
            <a:ext cx="8778242" cy="617253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ts val="2500"/>
              </a:lnSpc>
              <a:buNone/>
              <a:defRPr sz="1700">
                <a:solidFill>
                  <a:srgbClr val="C3C8CE"/>
                </a:solidFill>
                <a:latin typeface="Arial"/>
                <a:ea typeface="Arial"/>
                <a:cs typeface="Arial"/>
              </a:defRPr>
            </a:pPr>
            <a:r>
              <a:t>We build AI systems that measure and train human performance. </a:t>
            </a:r>
            <a:r>
              <a:rPr b="1">
                <a:solidFill>
                  <a:srgbClr val="A48CF8"/>
                </a:solidFill>
              </a:rPr>
              <a:t>Pulse Check is our flagship platform for college athletics.</a:t>
            </a:r>
          </a:p>
        </p:txBody>
      </p:sp>
      <p:sp>
        <p:nvSpPr>
          <p:cNvPr id="23" name="Shape 3">
            <a:extLst xmlns:a="http://schemas.openxmlformats.org/drawingml/2006/main">
              <a:ext uri="{FF2B5EF4-FFF2-40B4-BE49-F238E27FC236}">
                <a16:creationId xmlns:a16="http://schemas.microsoft.com/office/drawing/2014/main" id="{AED9DBD5-A8CF-4C8C-9F22-3DF6E54DC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434840"/>
            <a:ext cx="3383280" cy="1463042"/>
          </a:xfrm>
          <a:prstGeom xmlns:a="http://schemas.openxmlformats.org/drawingml/2006/main" prst="roundRect">
            <a:avLst>
              <a:gd name="adj" fmla="val 7500"/>
            </a:avLst>
          </a:prstGeom>
          <a:solidFill xmlns:a="http://schemas.openxmlformats.org/drawingml/2006/main">
            <a:srgbClr val="141619"/>
          </a:solidFill>
          <a:ln xmlns:a="http://schemas.openxmlformats.org/drawingml/2006/main" w="12700">
            <a:solidFill>
              <a:srgbClr val="2A2E33"/>
            </a:solidFill>
          </a:ln>
          <a:effectLst xmlns:a="http://schemas.openxmlformats.org/drawingml/2006/main">
            <a:outerShdw blurRad="177800" dist="50800" dir="5400000" sx="100000" sy="100000" kx="0" ky="0" algn="b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 lIns="45718" tIns="45718" rIns="45718" bIns="45718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n-lt"/>
                <a:ea typeface="+mn-lt"/>
                <a:cs typeface="+mn-lt"/>
              </a:defRPr>
            </a:pPr>
          </a:p>
        </p:txBody>
      </p:sp>
      <p:sp>
        <p:nvSpPr>
          <p:cNvPr id="24" name="Text 4">
            <a:extLst xmlns:a="http://schemas.openxmlformats.org/drawingml/2006/main">
              <a:ext uri="{FF2B5EF4-FFF2-40B4-BE49-F238E27FC236}">
                <a16:creationId xmlns:a16="http://schemas.microsoft.com/office/drawing/2014/main" id="{340EDB7F-4F70-4D38-A875-4FEE4F4BA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78" y="4687106"/>
            <a:ext cx="2926083" cy="135547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1000" b="1" spc="200">
                <a:solidFill>
                  <a:srgbClr val="C8FF00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PRE-SEED</a:t>
            </a:r>
          </a:p>
        </p:txBody>
      </p:sp>
      <p:sp>
        <p:nvSpPr>
          <p:cNvPr id="25" name="Text 5">
            <a:extLst xmlns:a="http://schemas.openxmlformats.org/drawingml/2006/main">
              <a:ext uri="{FF2B5EF4-FFF2-40B4-BE49-F238E27FC236}">
                <a16:creationId xmlns:a16="http://schemas.microsoft.com/office/drawing/2014/main" id="{4CF67CDD-1300-42D7-B50B-C4C69FADE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78" y="4981745"/>
            <a:ext cx="2926083" cy="29607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2100" b="1">
                <a:solidFill>
                  <a:srgbClr val="F4F6F2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$1.4M</a:t>
            </a:r>
          </a:p>
        </p:txBody>
      </p:sp>
      <p:sp>
        <p:nvSpPr>
          <p:cNvPr id="26" name="Text 6">
            <a:extLst xmlns:a="http://schemas.openxmlformats.org/drawingml/2006/main">
              <a:ext uri="{FF2B5EF4-FFF2-40B4-BE49-F238E27FC236}">
                <a16:creationId xmlns:a16="http://schemas.microsoft.com/office/drawing/2014/main" id="{E7C5BD60-151B-401B-A1BF-7FAF68485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78" y="5499353"/>
            <a:ext cx="2926083" cy="14783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1100">
                <a:solidFill>
                  <a:srgbClr val="8A9099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$10M pre-money</a:t>
            </a:r>
          </a:p>
        </p:txBody>
      </p:sp>
      <p:sp>
        <p:nvSpPr>
          <p:cNvPr id="27" name="Shape 7">
            <a:extLst xmlns:a="http://schemas.openxmlformats.org/drawingml/2006/main">
              <a:ext uri="{FF2B5EF4-FFF2-40B4-BE49-F238E27FC236}">
                <a16:creationId xmlns:a16="http://schemas.microsoft.com/office/drawing/2014/main" id="{4DC345D6-A618-45D4-9966-5CF5FF353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7408" y="4434840"/>
            <a:ext cx="3383282" cy="1463042"/>
          </a:xfrm>
          <a:prstGeom xmlns:a="http://schemas.openxmlformats.org/drawingml/2006/main" prst="roundRect">
            <a:avLst>
              <a:gd name="adj" fmla="val 7500"/>
            </a:avLst>
          </a:prstGeom>
          <a:solidFill xmlns:a="http://schemas.openxmlformats.org/drawingml/2006/main">
            <a:srgbClr val="141619"/>
          </a:solidFill>
          <a:ln xmlns:a="http://schemas.openxmlformats.org/drawingml/2006/main" w="12700">
            <a:solidFill>
              <a:srgbClr val="2A2E33"/>
            </a:solidFill>
          </a:ln>
          <a:effectLst xmlns:a="http://schemas.openxmlformats.org/drawingml/2006/main">
            <a:outerShdw blurRad="177800" dist="50800" dir="5400000" sx="100000" sy="100000" kx="0" ky="0" algn="b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 lIns="45718" tIns="45718" rIns="45718" bIns="45718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n-lt"/>
                <a:ea typeface="+mn-lt"/>
                <a:cs typeface="+mn-lt"/>
              </a:defRPr>
            </a:pPr>
          </a:p>
        </p:txBody>
      </p:sp>
      <p:sp>
        <p:nvSpPr>
          <p:cNvPr id="28" name="Text 8">
            <a:extLst xmlns:a="http://schemas.openxmlformats.org/drawingml/2006/main">
              <a:ext uri="{FF2B5EF4-FFF2-40B4-BE49-F238E27FC236}">
                <a16:creationId xmlns:a16="http://schemas.microsoft.com/office/drawing/2014/main" id="{E6E06B42-F45B-462B-98DC-374531B8B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1728" y="4687106"/>
            <a:ext cx="2926082" cy="135547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1000" b="1" spc="200">
                <a:solidFill>
                  <a:srgbClr val="5B9DFF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FOUNDER</a:t>
            </a:r>
          </a:p>
        </p:txBody>
      </p:sp>
      <p:sp>
        <p:nvSpPr>
          <p:cNvPr id="29" name="Text 9">
            <a:extLst xmlns:a="http://schemas.openxmlformats.org/drawingml/2006/main">
              <a:ext uri="{FF2B5EF4-FFF2-40B4-BE49-F238E27FC236}">
                <a16:creationId xmlns:a16="http://schemas.microsoft.com/office/drawing/2014/main" id="{58CC1A11-3276-42F0-8D3C-67A551B75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1728" y="4981745"/>
            <a:ext cx="2926082" cy="29607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2100" b="1">
                <a:solidFill>
                  <a:srgbClr val="F4F6F2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Tremaine Grant</a:t>
            </a:r>
          </a:p>
        </p:txBody>
      </p:sp>
      <p:sp>
        <p:nvSpPr>
          <p:cNvPr id="30" name="Text 10">
            <a:extLst xmlns:a="http://schemas.openxmlformats.org/drawingml/2006/main">
              <a:ext uri="{FF2B5EF4-FFF2-40B4-BE49-F238E27FC236}">
                <a16:creationId xmlns:a16="http://schemas.microsoft.com/office/drawing/2014/main" id="{B0C514DA-42DB-443F-B480-3C1E3ADF5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1728" y="5499353"/>
            <a:ext cx="2926082" cy="14783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1100">
                <a:solidFill>
                  <a:srgbClr val="8A9099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Founder &amp; CEO</a:t>
            </a:r>
          </a:p>
        </p:txBody>
      </p:sp>
      <p:sp>
        <p:nvSpPr>
          <p:cNvPr id="31" name="Shape 11">
            <a:extLst xmlns:a="http://schemas.openxmlformats.org/drawingml/2006/main">
              <a:ext uri="{FF2B5EF4-FFF2-40B4-BE49-F238E27FC236}">
                <a16:creationId xmlns:a16="http://schemas.microsoft.com/office/drawing/2014/main" id="{5944B1A6-2648-4006-9619-1E42146CF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856" y="4434840"/>
            <a:ext cx="3383282" cy="1463042"/>
          </a:xfrm>
          <a:prstGeom xmlns:a="http://schemas.openxmlformats.org/drawingml/2006/main" prst="roundRect">
            <a:avLst>
              <a:gd name="adj" fmla="val 7500"/>
            </a:avLst>
          </a:prstGeom>
          <a:solidFill xmlns:a="http://schemas.openxmlformats.org/drawingml/2006/main">
            <a:srgbClr val="141619"/>
          </a:solidFill>
          <a:ln xmlns:a="http://schemas.openxmlformats.org/drawingml/2006/main" w="12700">
            <a:solidFill>
              <a:srgbClr val="2A2E33"/>
            </a:solidFill>
          </a:ln>
          <a:effectLst xmlns:a="http://schemas.openxmlformats.org/drawingml/2006/main">
            <a:outerShdw blurRad="177800" dist="50800" dir="5400000" sx="100000" sy="100000" kx="0" ky="0" algn="b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 lIns="45718" tIns="45718" rIns="45718" bIns="45718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n-lt"/>
                <a:ea typeface="+mn-lt"/>
                <a:cs typeface="+mn-lt"/>
              </a:defRPr>
            </a:pPr>
          </a:p>
        </p:txBody>
      </p:sp>
      <p:sp>
        <p:nvSpPr>
          <p:cNvPr id="32" name="Text 12">
            <a:extLst xmlns:a="http://schemas.openxmlformats.org/drawingml/2006/main">
              <a:ext uri="{FF2B5EF4-FFF2-40B4-BE49-F238E27FC236}">
                <a16:creationId xmlns:a16="http://schemas.microsoft.com/office/drawing/2014/main" id="{E5215783-7EAD-4969-BB22-29EA0CD29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6176" y="4687106"/>
            <a:ext cx="2926082" cy="135547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1000" b="1" spc="200">
                <a:solidFill>
                  <a:srgbClr val="A98BFF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PRODUCT</a:t>
            </a:r>
          </a:p>
        </p:txBody>
      </p:sp>
      <p:sp>
        <p:nvSpPr>
          <p:cNvPr id="33" name="Text 14">
            <a:extLst xmlns:a="http://schemas.openxmlformats.org/drawingml/2006/main">
              <a:ext uri="{FF2B5EF4-FFF2-40B4-BE49-F238E27FC236}">
                <a16:creationId xmlns:a16="http://schemas.microsoft.com/office/drawing/2014/main" id="{F8E580D2-B288-427D-957D-EC18BF453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6176" y="5499353"/>
            <a:ext cx="2926082" cy="14783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1100">
                <a:solidFill>
                  <a:srgbClr val="8A9099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Mental performance OS</a:t>
            </a:r>
          </a:p>
        </p:txBody>
      </p:sp>
      <p:sp>
        <p:nvSpPr>
          <p:cNvPr id="34" name="Text 15">
            <a:extLst xmlns:a="http://schemas.openxmlformats.org/drawingml/2006/main">
              <a:ext uri="{FF2B5EF4-FFF2-40B4-BE49-F238E27FC236}">
                <a16:creationId xmlns:a16="http://schemas.microsoft.com/office/drawing/2014/main" id="{A3D3A0AF-56C5-414F-8798-BA3F09398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6268672"/>
            <a:ext cx="10515601" cy="172815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 algn="ctr">
              <a:buNone/>
              <a:defRPr sz="1200" b="1" spc="300">
                <a:solidFill>
                  <a:srgbClr val="8A9099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DETECT   →   TRAIN   →   ROUTE   →   MEASURE</a:t>
            </a:r>
          </a:p>
        </p:txBody>
      </p:sp>
      <p:pic>
        <p:nvPicPr>
          <p:cNvPr id="52" name="PulseCheckLogo.png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a3ec3f9df642c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266176" y="4897237"/>
            <a:ext cx="2224604" cy="465094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  <p:pic>
        <p:nvPicPr>
          <p:cNvPr id="53" name="pulse-logo-white.svg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30f41a80ac45b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54356" y="409936"/>
            <a:ext cx="1618527" cy="465094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</p:spTree>
    <p:extLst>
      <p:ext uri="{BB962C8B-B14F-4D97-AF65-F5344CB8AC3E}">
        <p14:creationId xmlns:p14="http://schemas.microsoft.com/office/powerpoint/2010/main" val="1748094815"/>
      </p:ext>
    </p:extLst>
  </p:cSld>
</p:sld>
</file>

<file path=ppt/slides/slide2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0A0B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Shape 0">
            <a:extLst xmlns:a="http://schemas.openxmlformats.org/drawingml/2006/main">
              <a:ext uri="{FF2B5EF4-FFF2-40B4-BE49-F238E27FC236}">
                <a16:creationId xmlns:a16="http://schemas.microsoft.com/office/drawing/2014/main" id="{4ABF5BC6-FFEC-4EB6-A856-1103A7532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66927"/>
            <a:ext cx="1828802" cy="384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41619"/>
          </a:solidFill>
          <a:ln xmlns:a="http://schemas.openxmlformats.org/drawingml/2006/main" w="12700">
            <a:solidFill>
              <a:srgbClr val="2A2E33"/>
            </a:solidFill>
          </a:ln>
        </p:spPr>
        <p:txBody>
          <a:bodyPr xmlns:a="http://schemas.openxmlformats.org/drawingml/2006/main" lIns="45718" tIns="45718" rIns="45718" bIns="45718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n-lt"/>
                <a:ea typeface="+mn-lt"/>
                <a:cs typeface="+mn-lt"/>
              </a:defRPr>
            </a:pPr>
          </a:p>
        </p:txBody>
      </p:sp>
      <p:sp>
        <p:nvSpPr>
          <p:cNvPr id="39" name="Shape 1">
            <a:extLst xmlns:a="http://schemas.openxmlformats.org/drawingml/2006/main">
              <a:ext uri="{FF2B5EF4-FFF2-40B4-BE49-F238E27FC236}">
                <a16:creationId xmlns:a16="http://schemas.microsoft.com/office/drawing/2014/main" id="{5FCE4193-3C34-41E2-BE41-6DC6292DD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38" y="722376"/>
            <a:ext cx="73155" cy="731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FF00"/>
          </a:solidFill>
          <a:ln xmlns:a="http://schemas.openxmlformats.org/drawingml/2006/main" w="12700"/>
        </p:spPr>
        <p:txBody>
          <a:bodyPr xmlns:a="http://schemas.openxmlformats.org/drawingml/2006/main" lIns="45718" tIns="45718" rIns="45718" bIns="45718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n-lt"/>
                <a:ea typeface="+mn-lt"/>
                <a:cs typeface="+mn-lt"/>
              </a:defRPr>
            </a:pPr>
          </a:p>
        </p:txBody>
      </p:sp>
      <p:sp>
        <p:nvSpPr>
          <p:cNvPr id="40" name="Text 2">
            <a:extLst xmlns:a="http://schemas.openxmlformats.org/drawingml/2006/main">
              <a:ext uri="{FF2B5EF4-FFF2-40B4-BE49-F238E27FC236}">
                <a16:creationId xmlns:a16="http://schemas.microsoft.com/office/drawing/2014/main" id="{BF588469-AE1C-4A60-BB72-FF588DCF1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" y="691178"/>
            <a:ext cx="1463042" cy="135547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1000" b="1" spc="200">
                <a:solidFill>
                  <a:srgbClr val="F4F6F2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THE PROBLEM</a:t>
            </a:r>
          </a:p>
        </p:txBody>
      </p:sp>
      <p:sp>
        <p:nvSpPr>
          <p:cNvPr id="41" name="Text 3">
            <a:extLst xmlns:a="http://schemas.openxmlformats.org/drawingml/2006/main">
              <a:ext uri="{FF2B5EF4-FFF2-40B4-BE49-F238E27FC236}">
                <a16:creationId xmlns:a16="http://schemas.microsoft.com/office/drawing/2014/main" id="{DF5269F1-6EEA-4C1A-B91B-B60951C25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597172"/>
            <a:ext cx="10515601" cy="554694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ts val="4400"/>
              </a:lnSpc>
              <a:buNone/>
              <a:defRPr sz="4000" b="1">
                <a:solidFill>
                  <a:srgbClr val="F4F6F2"/>
                </a:solidFill>
                <a:latin typeface="Arial"/>
                <a:ea typeface="Arial"/>
                <a:cs typeface="Arial"/>
              </a:defRPr>
            </a:pPr>
            <a:r>
              <a:t>Pressure gets seen </a:t>
            </a:r>
            <a:r>
              <a:rPr>
                <a:solidFill>
                  <a:srgbClr val="FF6FB5"/>
                </a:solidFill>
              </a:rPr>
              <a:t>too late.</a:t>
            </a:r>
          </a:p>
        </p:txBody>
      </p:sp>
      <p:sp>
        <p:nvSpPr>
          <p:cNvPr id="42" name="Text 4">
            <a:extLst xmlns:a="http://schemas.openxmlformats.org/drawingml/2006/main">
              <a:ext uri="{FF2B5EF4-FFF2-40B4-BE49-F238E27FC236}">
                <a16:creationId xmlns:a16="http://schemas.microsoft.com/office/drawing/2014/main" id="{B3A6CD5B-E779-47A8-8D59-A0C6D3725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7" y="2266463"/>
            <a:ext cx="10058401" cy="221953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1600">
                <a:solidFill>
                  <a:srgbClr val="8A9099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Athlete pressure rises before any support system responds.</a:t>
            </a:r>
          </a:p>
        </p:txBody>
      </p:sp>
      <p:sp>
        <p:nvSpPr>
          <p:cNvPr id="43" name="Text 5">
            <a:extLst xmlns:a="http://schemas.openxmlformats.org/drawingml/2006/main">
              <a:ext uri="{FF2B5EF4-FFF2-40B4-BE49-F238E27FC236}">
                <a16:creationId xmlns:a16="http://schemas.microsoft.com/office/drawing/2014/main" id="{990B696E-A20B-4498-B1AD-683522C48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196258"/>
            <a:ext cx="3383281" cy="11970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8400" b="1">
                <a:solidFill>
                  <a:srgbClr val="F4F6F2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4x</a:t>
            </a:r>
          </a:p>
        </p:txBody>
      </p:sp>
      <p:sp>
        <p:nvSpPr>
          <p:cNvPr id="44" name="Text 6">
            <a:extLst xmlns:a="http://schemas.openxmlformats.org/drawingml/2006/main">
              <a:ext uri="{FF2B5EF4-FFF2-40B4-BE49-F238E27FC236}">
                <a16:creationId xmlns:a16="http://schemas.microsoft.com/office/drawing/2014/main" id="{A58E13A9-48A1-4983-AAE8-077316AA8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78" y="4599892"/>
            <a:ext cx="3291843" cy="172815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1200" b="1" spc="150">
                <a:solidFill>
                  <a:srgbClr val="FF6FB5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CRISIS RISK</a:t>
            </a:r>
          </a:p>
        </p:txBody>
      </p:sp>
      <p:sp>
        <p:nvSpPr>
          <p:cNvPr id="45" name="Text 7">
            <a:extLst xmlns:a="http://schemas.openxmlformats.org/drawingml/2006/main">
              <a:ext uri="{FF2B5EF4-FFF2-40B4-BE49-F238E27FC236}">
                <a16:creationId xmlns:a16="http://schemas.microsoft.com/office/drawing/2014/main" id="{F6A7D233-3FC4-47F5-B2EC-3AEAB26A0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194586"/>
            <a:ext cx="3200402" cy="217868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lnSpc>
                <a:spcPts val="1800"/>
              </a:lnSpc>
              <a:buNone/>
              <a:defRPr sz="1300">
                <a:solidFill>
                  <a:srgbClr val="C3C8CE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more likely to face a mental health crisis.</a:t>
            </a:r>
          </a:p>
        </p:txBody>
      </p:sp>
      <p:sp>
        <p:nvSpPr>
          <p:cNvPr id="46" name="Text 8">
            <a:extLst xmlns:a="http://schemas.openxmlformats.org/drawingml/2006/main">
              <a:ext uri="{FF2B5EF4-FFF2-40B4-BE49-F238E27FC236}">
                <a16:creationId xmlns:a16="http://schemas.microsoft.com/office/drawing/2014/main" id="{E4075ECC-6838-4F3E-84A6-8ED0650B2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5423" y="3196258"/>
            <a:ext cx="3383282" cy="11970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8400" b="1">
                <a:solidFill>
                  <a:srgbClr val="F4F6F2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60%</a:t>
            </a:r>
          </a:p>
        </p:txBody>
      </p:sp>
      <p:sp>
        <p:nvSpPr>
          <p:cNvPr id="47" name="Text 9">
            <a:extLst xmlns:a="http://schemas.openxmlformats.org/drawingml/2006/main">
              <a:ext uri="{FF2B5EF4-FFF2-40B4-BE49-F238E27FC236}">
                <a16:creationId xmlns:a16="http://schemas.microsoft.com/office/drawing/2014/main" id="{255ABA03-243F-4AB6-B8A1-B4DCFD2E6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144" y="4599892"/>
            <a:ext cx="3291841" cy="172815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1200" b="1" spc="150">
                <a:solidFill>
                  <a:srgbClr val="5B9DFF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COMPETITION ANXIETY</a:t>
            </a:r>
          </a:p>
        </p:txBody>
      </p:sp>
      <p:sp>
        <p:nvSpPr>
          <p:cNvPr id="48" name="Text 10">
            <a:extLst xmlns:a="http://schemas.openxmlformats.org/drawingml/2006/main">
              <a:ext uri="{FF2B5EF4-FFF2-40B4-BE49-F238E27FC236}">
                <a16:creationId xmlns:a16="http://schemas.microsoft.com/office/drawing/2014/main" id="{E06CC6EB-E44B-49D7-818A-E36B20F71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144" y="5080286"/>
            <a:ext cx="3200401" cy="446468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lnSpc>
                <a:spcPts val="1800"/>
              </a:lnSpc>
              <a:buNone/>
              <a:defRPr sz="1300">
                <a:solidFill>
                  <a:srgbClr val="C3C8CE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of athletes experience anxiety leading up to competition. </a:t>
            </a:r>
          </a:p>
        </p:txBody>
      </p:sp>
      <p:sp>
        <p:nvSpPr>
          <p:cNvPr id="49" name="Text 11">
            <a:extLst xmlns:a="http://schemas.openxmlformats.org/drawingml/2006/main">
              <a:ext uri="{FF2B5EF4-FFF2-40B4-BE49-F238E27FC236}">
                <a16:creationId xmlns:a16="http://schemas.microsoft.com/office/drawing/2014/main" id="{D3D33BBB-5BBD-4DBD-924A-D1C273E99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7888" y="3196258"/>
            <a:ext cx="3383280" cy="11970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8400" b="1">
                <a:solidFill>
                  <a:srgbClr val="F4F6F2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10%</a:t>
            </a:r>
          </a:p>
        </p:txBody>
      </p:sp>
      <p:sp>
        <p:nvSpPr>
          <p:cNvPr id="50" name="Text 12">
            <a:extLst xmlns:a="http://schemas.openxmlformats.org/drawingml/2006/main">
              <a:ext uri="{FF2B5EF4-FFF2-40B4-BE49-F238E27FC236}">
                <a16:creationId xmlns:a16="http://schemas.microsoft.com/office/drawing/2014/main" id="{203B25B5-C618-42C0-9912-3C439C508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606" y="4599892"/>
            <a:ext cx="3291842" cy="172815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1200" b="1" spc="150">
                <a:solidFill>
                  <a:srgbClr val="C8FF00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COACH VISIBILITY</a:t>
            </a:r>
          </a:p>
        </p:txBody>
      </p:sp>
      <p:sp>
        <p:nvSpPr>
          <p:cNvPr id="51" name="Text 13">
            <a:extLst xmlns:a="http://schemas.openxmlformats.org/drawingml/2006/main">
              <a:ext uri="{FF2B5EF4-FFF2-40B4-BE49-F238E27FC236}">
                <a16:creationId xmlns:a16="http://schemas.microsoft.com/office/drawing/2014/main" id="{30FA69DA-F462-4E3A-B118-3C8F99896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606" y="5194586"/>
            <a:ext cx="3200402" cy="217868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lnSpc>
                <a:spcPts val="1800"/>
              </a:lnSpc>
              <a:buNone/>
              <a:defRPr sz="1300">
                <a:solidFill>
                  <a:srgbClr val="C3C8CE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reach out to a coach before crisis hits.</a:t>
            </a:r>
          </a:p>
        </p:txBody>
      </p:sp>
      <p:sp>
        <p:nvSpPr>
          <p:cNvPr id="52" name="Text 14">
            <a:extLst xmlns:a="http://schemas.openxmlformats.org/drawingml/2006/main">
              <a:ext uri="{FF2B5EF4-FFF2-40B4-BE49-F238E27FC236}">
                <a16:creationId xmlns:a16="http://schemas.microsoft.com/office/drawing/2014/main" id="{C79744D3-ED69-4DED-8724-099A9A1D7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6337298"/>
            <a:ext cx="10058401" cy="1270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900" i="1">
                <a:solidFill>
                  <a:srgbClr val="8A9099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Sources: NCAA Student-Athlete Well-Being Study (n=23,000+); Center on Sport Policy &amp; Conduct, 2024.</a:t>
            </a:r>
          </a:p>
        </p:txBody>
      </p:sp>
    </p:spTree>
    <p:extLst>
      <p:ext uri="{BB962C8B-B14F-4D97-AF65-F5344CB8AC3E}">
        <p14:creationId xmlns:p14="http://schemas.microsoft.com/office/powerpoint/2010/main" val="1105441547"/>
      </p:ext>
    </p:extLst>
  </p:cSld>
</p:sld>
</file>

<file path=ppt/slides/slide3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0A0B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4" name="Shape 0">
            <a:extLst xmlns:a="http://schemas.openxmlformats.org/drawingml/2006/main">
              <a:ext uri="{FF2B5EF4-FFF2-40B4-BE49-F238E27FC236}">
                <a16:creationId xmlns:a16="http://schemas.microsoft.com/office/drawing/2014/main" id="{4FD7861A-FC77-4DF3-8096-52E6D9CEB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66927"/>
            <a:ext cx="2560322" cy="384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41619"/>
          </a:solidFill>
          <a:ln xmlns:a="http://schemas.openxmlformats.org/drawingml/2006/main" w="12700">
            <a:solidFill>
              <a:srgbClr val="2A2E33"/>
            </a:solidFill>
          </a:ln>
        </p:spPr>
        <p:txBody>
          <a:bodyPr xmlns:a="http://schemas.openxmlformats.org/drawingml/2006/main" lIns="45718" tIns="45718" rIns="45718" bIns="45718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n-lt"/>
                <a:ea typeface="+mn-lt"/>
                <a:cs typeface="+mn-lt"/>
              </a:defRPr>
            </a:pPr>
          </a:p>
        </p:txBody>
      </p:sp>
      <p:sp>
        <p:nvSpPr>
          <p:cNvPr id="55" name="Shape 1">
            <a:extLst xmlns:a="http://schemas.openxmlformats.org/drawingml/2006/main">
              <a:ext uri="{FF2B5EF4-FFF2-40B4-BE49-F238E27FC236}">
                <a16:creationId xmlns:a16="http://schemas.microsoft.com/office/drawing/2014/main" id="{67F77E5F-FB55-4AF3-BDF3-DDF8DDFE1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38" y="722376"/>
            <a:ext cx="73155" cy="731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FF00"/>
          </a:solidFill>
          <a:ln xmlns:a="http://schemas.openxmlformats.org/drawingml/2006/main" w="12700"/>
        </p:spPr>
        <p:txBody>
          <a:bodyPr xmlns:a="http://schemas.openxmlformats.org/drawingml/2006/main" lIns="45718" tIns="45718" rIns="45718" bIns="45718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n-lt"/>
                <a:ea typeface="+mn-lt"/>
                <a:cs typeface="+mn-lt"/>
              </a:defRPr>
            </a:pPr>
          </a:p>
        </p:txBody>
      </p:sp>
      <p:sp>
        <p:nvSpPr>
          <p:cNvPr id="56" name="Text 2">
            <a:extLst xmlns:a="http://schemas.openxmlformats.org/drawingml/2006/main">
              <a:ext uri="{FF2B5EF4-FFF2-40B4-BE49-F238E27FC236}">
                <a16:creationId xmlns:a16="http://schemas.microsoft.com/office/drawing/2014/main" id="{E445448E-332D-4593-9F30-4CE34B0C9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" y="691178"/>
            <a:ext cx="2194562" cy="135547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1000" b="1" spc="200">
                <a:solidFill>
                  <a:srgbClr val="F4F6F2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WHY SCHOOLS MUST ACT</a:t>
            </a:r>
          </a:p>
        </p:txBody>
      </p:sp>
      <p:sp>
        <p:nvSpPr>
          <p:cNvPr id="57" name="Text 3">
            <a:extLst xmlns:a="http://schemas.openxmlformats.org/drawingml/2006/main">
              <a:ext uri="{FF2B5EF4-FFF2-40B4-BE49-F238E27FC236}">
                <a16:creationId xmlns:a16="http://schemas.microsoft.com/office/drawing/2014/main" id="{F091D4C5-61BC-49A1-8EB7-51DE75731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599865"/>
            <a:ext cx="10515601" cy="54931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ts val="4400"/>
              </a:lnSpc>
              <a:buNone/>
              <a:defRPr sz="3800" b="1">
                <a:solidFill>
                  <a:srgbClr val="F4F6F2"/>
                </a:solidFill>
                <a:latin typeface="Arial"/>
                <a:ea typeface="Arial"/>
                <a:cs typeface="Arial"/>
              </a:defRPr>
            </a:pPr>
            <a:r>
              <a:t>Mental health support is now </a:t>
            </a:r>
            <a:r>
              <a:rPr>
                <a:solidFill>
                  <a:srgbClr val="C8FF00"/>
                </a:solidFill>
              </a:rPr>
              <a:t>required.</a:t>
            </a:r>
          </a:p>
        </p:txBody>
      </p:sp>
      <p:sp>
        <p:nvSpPr>
          <p:cNvPr id="58" name="Text 4">
            <a:extLst xmlns:a="http://schemas.openxmlformats.org/drawingml/2006/main">
              <a:ext uri="{FF2B5EF4-FFF2-40B4-BE49-F238E27FC236}">
                <a16:creationId xmlns:a16="http://schemas.microsoft.com/office/drawing/2014/main" id="{864F1C91-FD8E-45F5-B61A-E84F42742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6" y="2294186"/>
            <a:ext cx="6400803" cy="568842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lnSpc>
                <a:spcPts val="2300"/>
              </a:lnSpc>
              <a:buNone/>
              <a:defRPr sz="1600">
                <a:solidFill>
                  <a:srgbClr val="C3C8CE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The NCAA mandates that every member school provide student-athlete mental health support. Pulse Check is how schools meet it.</a:t>
            </a:r>
          </a:p>
        </p:txBody>
      </p:sp>
      <p:sp>
        <p:nvSpPr>
          <p:cNvPr id="59" name="Shape 5">
            <a:extLst xmlns:a="http://schemas.openxmlformats.org/drawingml/2006/main">
              <a:ext uri="{FF2B5EF4-FFF2-40B4-BE49-F238E27FC236}">
                <a16:creationId xmlns:a16="http://schemas.microsoft.com/office/drawing/2014/main" id="{893EC084-0AA5-4EDC-907C-9A271EDBE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282696"/>
            <a:ext cx="164595" cy="16459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FF00"/>
          </a:solidFill>
          <a:ln xmlns:a="http://schemas.openxmlformats.org/drawingml/2006/main" w="12700"/>
        </p:spPr>
        <p:txBody>
          <a:bodyPr xmlns:a="http://schemas.openxmlformats.org/drawingml/2006/main" lIns="45718" tIns="45718" rIns="45718" bIns="45718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n-lt"/>
                <a:ea typeface="+mn-lt"/>
                <a:cs typeface="+mn-lt"/>
              </a:defRPr>
            </a:pPr>
          </a:p>
        </p:txBody>
      </p:sp>
      <p:sp>
        <p:nvSpPr>
          <p:cNvPr id="60" name="Shape 6">
            <a:extLst xmlns:a="http://schemas.openxmlformats.org/drawingml/2006/main">
              <a:ext uri="{FF2B5EF4-FFF2-40B4-BE49-F238E27FC236}">
                <a16:creationId xmlns:a16="http://schemas.microsoft.com/office/drawing/2014/main" id="{B2476CB2-072C-4817-8863-BEEB29E3F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" y="3447288"/>
            <a:ext cx="18290" cy="60350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2E33"/>
          </a:solidFill>
          <a:ln xmlns:a="http://schemas.openxmlformats.org/drawingml/2006/main" w="12700"/>
        </p:spPr>
        <p:txBody>
          <a:bodyPr xmlns:a="http://schemas.openxmlformats.org/drawingml/2006/main" lIns="45718" tIns="45718" rIns="45718" bIns="45718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n-lt"/>
                <a:ea typeface="+mn-lt"/>
                <a:cs typeface="+mn-lt"/>
              </a:defRPr>
            </a:pPr>
          </a:p>
        </p:txBody>
      </p:sp>
      <p:sp>
        <p:nvSpPr>
          <p:cNvPr id="61" name="Text 7">
            <a:extLst xmlns:a="http://schemas.openxmlformats.org/drawingml/2006/main">
              <a:ext uri="{FF2B5EF4-FFF2-40B4-BE49-F238E27FC236}">
                <a16:creationId xmlns:a16="http://schemas.microsoft.com/office/drawing/2014/main" id="{518EFB7F-722A-4173-88AF-8414343CA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39" y="3240298"/>
            <a:ext cx="1828801" cy="221954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1600" b="1">
                <a:solidFill>
                  <a:srgbClr val="C8FF00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2022</a:t>
            </a:r>
          </a:p>
        </p:txBody>
      </p:sp>
      <p:sp>
        <p:nvSpPr>
          <p:cNvPr id="62" name="Text 8">
            <a:extLst xmlns:a="http://schemas.openxmlformats.org/drawingml/2006/main">
              <a:ext uri="{FF2B5EF4-FFF2-40B4-BE49-F238E27FC236}">
                <a16:creationId xmlns:a16="http://schemas.microsoft.com/office/drawing/2014/main" id="{4E499A29-D299-4D47-9EF5-0740F6E7C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3368071"/>
            <a:ext cx="4206242" cy="423608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lnSpc>
                <a:spcPts val="1700"/>
              </a:lnSpc>
              <a:buNone/>
              <a:defRPr sz="1300">
                <a:solidFill>
                  <a:srgbClr val="C3C8CE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NCAA Constitution requires mental health access for every member school.</a:t>
            </a:r>
          </a:p>
        </p:txBody>
      </p:sp>
      <p:sp>
        <p:nvSpPr>
          <p:cNvPr id="63" name="Shape 9">
            <a:extLst xmlns:a="http://schemas.openxmlformats.org/drawingml/2006/main">
              <a:ext uri="{FF2B5EF4-FFF2-40B4-BE49-F238E27FC236}">
                <a16:creationId xmlns:a16="http://schemas.microsoft.com/office/drawing/2014/main" id="{E1B4A848-B980-4909-8463-343F0DCD9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151376"/>
            <a:ext cx="164595" cy="16459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FF00"/>
          </a:solidFill>
          <a:ln xmlns:a="http://schemas.openxmlformats.org/drawingml/2006/main" w="12700"/>
        </p:spPr>
        <p:txBody>
          <a:bodyPr xmlns:a="http://schemas.openxmlformats.org/drawingml/2006/main" lIns="45718" tIns="45718" rIns="45718" bIns="45718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n-lt"/>
                <a:ea typeface="+mn-lt"/>
                <a:cs typeface="+mn-lt"/>
              </a:defRPr>
            </a:pPr>
          </a:p>
        </p:txBody>
      </p:sp>
      <p:sp>
        <p:nvSpPr>
          <p:cNvPr id="64" name="Shape 10">
            <a:extLst xmlns:a="http://schemas.openxmlformats.org/drawingml/2006/main">
              <a:ext uri="{FF2B5EF4-FFF2-40B4-BE49-F238E27FC236}">
                <a16:creationId xmlns:a16="http://schemas.microsoft.com/office/drawing/2014/main" id="{9485C1D3-F66F-407D-AE36-ED5B52616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" y="4315967"/>
            <a:ext cx="18290" cy="60350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2E33"/>
          </a:solidFill>
          <a:ln xmlns:a="http://schemas.openxmlformats.org/drawingml/2006/main" w="12700"/>
        </p:spPr>
        <p:txBody>
          <a:bodyPr xmlns:a="http://schemas.openxmlformats.org/drawingml/2006/main" lIns="45718" tIns="45718" rIns="45718" bIns="45718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n-lt"/>
                <a:ea typeface="+mn-lt"/>
                <a:cs typeface="+mn-lt"/>
              </a:defRPr>
            </a:pPr>
          </a:p>
        </p:txBody>
      </p:sp>
      <p:sp>
        <p:nvSpPr>
          <p:cNvPr id="65" name="Text 11">
            <a:extLst xmlns:a="http://schemas.openxmlformats.org/drawingml/2006/main">
              <a:ext uri="{FF2B5EF4-FFF2-40B4-BE49-F238E27FC236}">
                <a16:creationId xmlns:a16="http://schemas.microsoft.com/office/drawing/2014/main" id="{FE62D0F9-D62D-4C2D-A9EF-6C44DCA3B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39" y="4108979"/>
            <a:ext cx="1828801" cy="221953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1600" b="1">
                <a:solidFill>
                  <a:srgbClr val="C8FF00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Aug 2024</a:t>
            </a:r>
          </a:p>
        </p:txBody>
      </p:sp>
      <p:sp>
        <p:nvSpPr>
          <p:cNvPr id="66" name="Text 12">
            <a:extLst xmlns:a="http://schemas.openxmlformats.org/drawingml/2006/main">
              <a:ext uri="{FF2B5EF4-FFF2-40B4-BE49-F238E27FC236}">
                <a16:creationId xmlns:a16="http://schemas.microsoft.com/office/drawing/2014/main" id="{BC83B400-C857-4C5B-90B7-7524034E8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4236751"/>
            <a:ext cx="4206242" cy="423608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lnSpc>
                <a:spcPts val="1700"/>
              </a:lnSpc>
              <a:buNone/>
              <a:defRPr sz="1300">
                <a:solidFill>
                  <a:srgbClr val="C3C8CE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Best Practices became legislatively effective across all divisions.</a:t>
            </a:r>
          </a:p>
        </p:txBody>
      </p:sp>
      <p:sp>
        <p:nvSpPr>
          <p:cNvPr id="67" name="Shape 13">
            <a:extLst xmlns:a="http://schemas.openxmlformats.org/drawingml/2006/main">
              <a:ext uri="{FF2B5EF4-FFF2-40B4-BE49-F238E27FC236}">
                <a16:creationId xmlns:a16="http://schemas.microsoft.com/office/drawing/2014/main" id="{007BDEA5-EE66-447B-B26A-D291390AC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020054"/>
            <a:ext cx="164595" cy="16459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FF00"/>
          </a:solidFill>
          <a:ln xmlns:a="http://schemas.openxmlformats.org/drawingml/2006/main" w="12700"/>
        </p:spPr>
        <p:txBody>
          <a:bodyPr xmlns:a="http://schemas.openxmlformats.org/drawingml/2006/main" lIns="45718" tIns="45718" rIns="45718" bIns="45718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n-lt"/>
                <a:ea typeface="+mn-lt"/>
                <a:cs typeface="+mn-lt"/>
              </a:defRPr>
            </a:pPr>
          </a:p>
        </p:txBody>
      </p:sp>
      <p:sp>
        <p:nvSpPr>
          <p:cNvPr id="68" name="Text 14">
            <a:extLst xmlns:a="http://schemas.openxmlformats.org/drawingml/2006/main">
              <a:ext uri="{FF2B5EF4-FFF2-40B4-BE49-F238E27FC236}">
                <a16:creationId xmlns:a16="http://schemas.microsoft.com/office/drawing/2014/main" id="{0ABF6BA4-94C0-4F2A-B8A5-368CFA8EA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39" y="4977658"/>
            <a:ext cx="1828801" cy="221954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1600" b="1">
                <a:solidFill>
                  <a:srgbClr val="C8FF00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Nov 2025</a:t>
            </a:r>
          </a:p>
        </p:txBody>
      </p:sp>
      <p:sp>
        <p:nvSpPr>
          <p:cNvPr id="69" name="Text 15">
            <a:extLst xmlns:a="http://schemas.openxmlformats.org/drawingml/2006/main">
              <a:ext uri="{FF2B5EF4-FFF2-40B4-BE49-F238E27FC236}">
                <a16:creationId xmlns:a16="http://schemas.microsoft.com/office/drawing/2014/main" id="{8E37F8AF-2DBF-4199-BC3B-8355CBECC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5105432"/>
            <a:ext cx="4206242" cy="423608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lnSpc>
                <a:spcPts val="1700"/>
              </a:lnSpc>
              <a:buNone/>
              <a:defRPr sz="1300">
                <a:solidFill>
                  <a:srgbClr val="C3C8CE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First Division I attestation deadline. Compliance is now reported.</a:t>
            </a:r>
          </a:p>
        </p:txBody>
      </p:sp>
      <p:sp>
        <p:nvSpPr>
          <p:cNvPr id="70" name="Shape 16">
            <a:extLst xmlns:a="http://schemas.openxmlformats.org/drawingml/2006/main">
              <a:ext uri="{FF2B5EF4-FFF2-40B4-BE49-F238E27FC236}">
                <a16:creationId xmlns:a16="http://schemas.microsoft.com/office/drawing/2014/main" id="{FCF76129-CD50-43DA-A923-1066D4832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5240" y="2121406"/>
            <a:ext cx="3749042" cy="3977644"/>
          </a:xfrm>
          <a:prstGeom xmlns:a="http://schemas.openxmlformats.org/drawingml/2006/main" prst="roundRect">
            <a:avLst>
              <a:gd name="adj" fmla="val 2927"/>
            </a:avLst>
          </a:prstGeom>
          <a:solidFill xmlns:a="http://schemas.openxmlformats.org/drawingml/2006/main">
            <a:srgbClr val="141619"/>
          </a:solidFill>
          <a:ln xmlns:a="http://schemas.openxmlformats.org/drawingml/2006/main" w="12700">
            <a:solidFill>
              <a:srgbClr val="2A2E33"/>
            </a:solidFill>
          </a:ln>
          <a:effectLst xmlns:a="http://schemas.openxmlformats.org/drawingml/2006/main">
            <a:outerShdw blurRad="177800" dist="50800" dir="5400000" sx="100000" sy="100000" kx="0" ky="0" algn="b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 lIns="45718" tIns="45718" rIns="45718" bIns="45718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n-lt"/>
                <a:ea typeface="+mn-lt"/>
                <a:cs typeface="+mn-lt"/>
              </a:defRPr>
            </a:pPr>
          </a:p>
        </p:txBody>
      </p:sp>
      <p:sp>
        <p:nvSpPr>
          <p:cNvPr id="71" name="Text 17">
            <a:extLst xmlns:a="http://schemas.openxmlformats.org/drawingml/2006/main">
              <a:ext uri="{FF2B5EF4-FFF2-40B4-BE49-F238E27FC236}">
                <a16:creationId xmlns:a16="http://schemas.microsoft.com/office/drawing/2014/main" id="{1CAC770D-BFA6-43BE-8995-293BF9FF5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2440684"/>
            <a:ext cx="3200402" cy="14783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1100" b="1" spc="150">
                <a:solidFill>
                  <a:srgbClr val="C8FF00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THE 4 REQUIRED COMPETENCIES</a:t>
            </a:r>
          </a:p>
        </p:txBody>
      </p:sp>
      <p:sp>
        <p:nvSpPr>
          <p:cNvPr id="72" name="Shape 18">
            <a:extLst xmlns:a="http://schemas.openxmlformats.org/drawingml/2006/main">
              <a:ext uri="{FF2B5EF4-FFF2-40B4-BE49-F238E27FC236}">
                <a16:creationId xmlns:a16="http://schemas.microsoft.com/office/drawing/2014/main" id="{DB6BAAD4-DB11-4BA8-BCA5-BC495C89E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2788920"/>
            <a:ext cx="566931" cy="56693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1E22"/>
          </a:solidFill>
          <a:ln xmlns:a="http://schemas.openxmlformats.org/drawingml/2006/main" w="12700"/>
        </p:spPr>
        <p:txBody>
          <a:bodyPr xmlns:a="http://schemas.openxmlformats.org/drawingml/2006/main" lIns="45718" tIns="45718" rIns="45718" bIns="45718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n-lt"/>
                <a:ea typeface="+mn-lt"/>
                <a:cs typeface="+mn-lt"/>
              </a:defRPr>
            </a:pPr>
          </a:p>
        </p:txBody>
      </p:sp>
      <p:pic>
        <p:nvPicPr>
          <p:cNvPr id="10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7c28746aa943c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108350" y="2941989"/>
            <a:ext cx="260789" cy="260790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  <p:sp>
        <p:nvSpPr>
          <p:cNvPr id="74" name="Text 19">
            <a:extLst xmlns:a="http://schemas.openxmlformats.org/drawingml/2006/main">
              <a:ext uri="{FF2B5EF4-FFF2-40B4-BE49-F238E27FC236}">
                <a16:creationId xmlns:a16="http://schemas.microsoft.com/office/drawing/2014/main" id="{6469C215-571A-4630-AF55-3946B9F01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981407"/>
            <a:ext cx="2606040" cy="20024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lnSpc>
                <a:spcPts val="1600"/>
              </a:lnSpc>
              <a:buNone/>
              <a:defRPr sz="1400">
                <a:solidFill>
                  <a:srgbClr val="C3C8CE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Healthy environment</a:t>
            </a:r>
          </a:p>
        </p:txBody>
      </p:sp>
      <p:sp>
        <p:nvSpPr>
          <p:cNvPr id="75" name="Shape 20">
            <a:extLst xmlns:a="http://schemas.openxmlformats.org/drawingml/2006/main">
              <a:ext uri="{FF2B5EF4-FFF2-40B4-BE49-F238E27FC236}">
                <a16:creationId xmlns:a16="http://schemas.microsoft.com/office/drawing/2014/main" id="{2D0AE638-999E-4CA3-A305-4D2EB4AF5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3538728"/>
            <a:ext cx="566931" cy="56693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1E22"/>
          </a:solidFill>
          <a:ln xmlns:a="http://schemas.openxmlformats.org/drawingml/2006/main" w="12700"/>
        </p:spPr>
        <p:txBody>
          <a:bodyPr xmlns:a="http://schemas.openxmlformats.org/drawingml/2006/main" lIns="45718" tIns="45718" rIns="45718" bIns="45718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n-lt"/>
                <a:ea typeface="+mn-lt"/>
                <a:cs typeface="+mn-lt"/>
              </a:defRPr>
            </a:pPr>
          </a:p>
        </p:txBody>
      </p:sp>
      <p:pic>
        <p:nvPicPr>
          <p:cNvPr id="111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d4082f363c498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108350" y="3691799"/>
            <a:ext cx="260789" cy="260789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  <p:sp>
        <p:nvSpPr>
          <p:cNvPr id="77" name="Text 21">
            <a:extLst xmlns:a="http://schemas.openxmlformats.org/drawingml/2006/main">
              <a:ext uri="{FF2B5EF4-FFF2-40B4-BE49-F238E27FC236}">
                <a16:creationId xmlns:a16="http://schemas.microsoft.com/office/drawing/2014/main" id="{C4794294-9417-44A9-9903-C65817F86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731216"/>
            <a:ext cx="2606040" cy="200239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lnSpc>
                <a:spcPts val="1600"/>
              </a:lnSpc>
              <a:buNone/>
              <a:defRPr sz="1400">
                <a:solidFill>
                  <a:srgbClr val="C3C8CE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Screening for distress</a:t>
            </a:r>
          </a:p>
        </p:txBody>
      </p:sp>
      <p:sp>
        <p:nvSpPr>
          <p:cNvPr id="78" name="Shape 22">
            <a:extLst xmlns:a="http://schemas.openxmlformats.org/drawingml/2006/main">
              <a:ext uri="{FF2B5EF4-FFF2-40B4-BE49-F238E27FC236}">
                <a16:creationId xmlns:a16="http://schemas.microsoft.com/office/drawing/2014/main" id="{243EC480-74B4-4C9C-93B7-502E8C02B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4288535"/>
            <a:ext cx="566931" cy="56693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1E22"/>
          </a:solidFill>
          <a:ln xmlns:a="http://schemas.openxmlformats.org/drawingml/2006/main" w="12700"/>
        </p:spPr>
        <p:txBody>
          <a:bodyPr xmlns:a="http://schemas.openxmlformats.org/drawingml/2006/main" lIns="45718" tIns="45718" rIns="45718" bIns="45718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n-lt"/>
                <a:ea typeface="+mn-lt"/>
                <a:cs typeface="+mn-lt"/>
              </a:defRPr>
            </a:pPr>
          </a:p>
        </p:txBody>
      </p:sp>
      <p:pic>
        <p:nvPicPr>
          <p:cNvPr id="114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0671ba2e81461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108350" y="4441607"/>
            <a:ext cx="260789" cy="260789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  <p:sp>
        <p:nvSpPr>
          <p:cNvPr id="80" name="Text 23">
            <a:extLst xmlns:a="http://schemas.openxmlformats.org/drawingml/2006/main">
              <a:ext uri="{FF2B5EF4-FFF2-40B4-BE49-F238E27FC236}">
                <a16:creationId xmlns:a16="http://schemas.microsoft.com/office/drawing/2014/main" id="{A721A32B-A1D9-4F4F-8E65-C0FCDE5BD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481024"/>
            <a:ext cx="2606040" cy="200239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lnSpc>
                <a:spcPts val="1600"/>
              </a:lnSpc>
              <a:buNone/>
              <a:defRPr sz="1400">
                <a:solidFill>
                  <a:srgbClr val="C3C8CE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Action plans</a:t>
            </a:r>
          </a:p>
        </p:txBody>
      </p:sp>
      <p:sp>
        <p:nvSpPr>
          <p:cNvPr id="81" name="Shape 24">
            <a:extLst xmlns:a="http://schemas.openxmlformats.org/drawingml/2006/main">
              <a:ext uri="{FF2B5EF4-FFF2-40B4-BE49-F238E27FC236}">
                <a16:creationId xmlns:a16="http://schemas.microsoft.com/office/drawing/2014/main" id="{8252A164-625E-4376-B771-C995F6419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5038344"/>
            <a:ext cx="566931" cy="56693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FF00"/>
          </a:solidFill>
          <a:ln xmlns:a="http://schemas.openxmlformats.org/drawingml/2006/main" w="12700"/>
        </p:spPr>
        <p:txBody>
          <a:bodyPr xmlns:a="http://schemas.openxmlformats.org/drawingml/2006/main" lIns="45718" tIns="45718" rIns="45718" bIns="45718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n-lt"/>
                <a:ea typeface="+mn-lt"/>
                <a:cs typeface="+mn-lt"/>
              </a:defRPr>
            </a:pPr>
          </a:p>
        </p:txBody>
      </p:sp>
      <p:pic>
        <p:nvPicPr>
          <p:cNvPr id="117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a25c3b1a01434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108350" y="5191414"/>
            <a:ext cx="260789" cy="260789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  <p:sp>
        <p:nvSpPr>
          <p:cNvPr id="83" name="Text 25">
            <a:extLst xmlns:a="http://schemas.openxmlformats.org/drawingml/2006/main">
              <a:ext uri="{FF2B5EF4-FFF2-40B4-BE49-F238E27FC236}">
                <a16:creationId xmlns:a16="http://schemas.microsoft.com/office/drawing/2014/main" id="{CD7DCF82-DA82-4AC5-96DA-198FFF271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5230831"/>
            <a:ext cx="2606040" cy="20024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lnSpc>
                <a:spcPts val="1600"/>
              </a:lnSpc>
              <a:buNone/>
              <a:defRPr sz="1400" b="1">
                <a:solidFill>
                  <a:srgbClr val="F4F6F2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Care from licensed providers</a:t>
            </a:r>
          </a:p>
        </p:txBody>
      </p:sp>
      <p:sp>
        <p:nvSpPr>
          <p:cNvPr id="84" name="Text 26">
            <a:extLst xmlns:a="http://schemas.openxmlformats.org/drawingml/2006/main">
              <a:ext uri="{FF2B5EF4-FFF2-40B4-BE49-F238E27FC236}">
                <a16:creationId xmlns:a16="http://schemas.microsoft.com/office/drawing/2014/main" id="{E8FECD96-038D-4216-AF12-77B80B54C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5753467"/>
            <a:ext cx="3200402" cy="197385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1400" b="1" i="1">
                <a:solidFill>
                  <a:srgbClr val="C8FF00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Pulse Check delivers all four.</a:t>
            </a:r>
          </a:p>
        </p:txBody>
      </p:sp>
    </p:spTree>
    <p:extLst>
      <p:ext uri="{BB962C8B-B14F-4D97-AF65-F5344CB8AC3E}">
        <p14:creationId xmlns:p14="http://schemas.microsoft.com/office/powerpoint/2010/main" val="444767590"/>
      </p:ext>
    </p:extLst>
  </p:cSld>
</p:sld>
</file>

<file path=ppt/slides/slide4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0A0B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6" name="Shape 0">
            <a:extLst xmlns:a="http://schemas.openxmlformats.org/drawingml/2006/main">
              <a:ext uri="{FF2B5EF4-FFF2-40B4-BE49-F238E27FC236}">
                <a16:creationId xmlns:a16="http://schemas.microsoft.com/office/drawing/2014/main" id="{066D13BF-B4FD-476F-B35A-446A06E95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66927"/>
            <a:ext cx="2656334" cy="384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41619"/>
          </a:solidFill>
          <a:ln xmlns:a="http://schemas.openxmlformats.org/drawingml/2006/main" w="12700">
            <a:solidFill>
              <a:srgbClr val="2A2E33"/>
            </a:solidFill>
          </a:ln>
        </p:spPr>
        <p:txBody>
          <a:bodyPr xmlns:a="http://schemas.openxmlformats.org/drawingml/2006/main" lIns="45718" tIns="45718" rIns="45718" bIns="45718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n-lt"/>
                <a:ea typeface="+mn-lt"/>
                <a:cs typeface="+mn-lt"/>
              </a:defRPr>
            </a:pPr>
          </a:p>
        </p:txBody>
      </p:sp>
      <p:sp>
        <p:nvSpPr>
          <p:cNvPr id="87" name="Shape 1">
            <a:extLst xmlns:a="http://schemas.openxmlformats.org/drawingml/2006/main">
              <a:ext uri="{FF2B5EF4-FFF2-40B4-BE49-F238E27FC236}">
                <a16:creationId xmlns:a16="http://schemas.microsoft.com/office/drawing/2014/main" id="{4F3BB965-7BE1-423E-BCCE-B3252A065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38" y="722376"/>
            <a:ext cx="73155" cy="731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FF00"/>
          </a:solidFill>
          <a:ln xmlns:a="http://schemas.openxmlformats.org/drawingml/2006/main" w="12700"/>
        </p:spPr>
        <p:txBody>
          <a:bodyPr xmlns:a="http://schemas.openxmlformats.org/drawingml/2006/main" lIns="45718" tIns="45718" rIns="45718" bIns="45718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n-lt"/>
                <a:ea typeface="+mn-lt"/>
                <a:cs typeface="+mn-lt"/>
              </a:defRPr>
            </a:pPr>
          </a:p>
        </p:txBody>
      </p:sp>
      <p:sp>
        <p:nvSpPr>
          <p:cNvPr id="88" name="Text 2">
            <a:extLst xmlns:a="http://schemas.openxmlformats.org/drawingml/2006/main">
              <a:ext uri="{FF2B5EF4-FFF2-40B4-BE49-F238E27FC236}">
                <a16:creationId xmlns:a16="http://schemas.microsoft.com/office/drawing/2014/main" id="{905F5C1D-C26B-44A6-B3B0-C002A670E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" y="691178"/>
            <a:ext cx="2290574" cy="135547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1000" b="1" spc="200">
                <a:solidFill>
                  <a:srgbClr val="F4F6F2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WHY THIS IS DIFFERENT</a:t>
            </a:r>
          </a:p>
        </p:txBody>
      </p:sp>
      <p:sp>
        <p:nvSpPr>
          <p:cNvPr id="89" name="Text 3">
            <a:extLst xmlns:a="http://schemas.openxmlformats.org/drawingml/2006/main">
              <a:ext uri="{FF2B5EF4-FFF2-40B4-BE49-F238E27FC236}">
                <a16:creationId xmlns:a16="http://schemas.microsoft.com/office/drawing/2014/main" id="{0E811161-B251-4C4B-B3DA-29434B4C7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597172"/>
            <a:ext cx="10515601" cy="554694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ts val="4400"/>
              </a:lnSpc>
              <a:buNone/>
              <a:defRPr sz="4000" b="1">
                <a:solidFill>
                  <a:srgbClr val="F4F6F2"/>
                </a:solidFill>
                <a:latin typeface="Arial"/>
                <a:ea typeface="Arial"/>
                <a:cs typeface="Arial"/>
              </a:defRPr>
            </a:pPr>
            <a:r>
              <a:t>Not a vitamin. A </a:t>
            </a:r>
            <a:r>
              <a:rPr>
                <a:solidFill>
                  <a:srgbClr val="C8FF00"/>
                </a:solidFill>
              </a:rPr>
              <a:t>prescription.</a:t>
            </a:r>
          </a:p>
        </p:txBody>
      </p:sp>
      <p:sp>
        <p:nvSpPr>
          <p:cNvPr id="90" name="Text 4">
            <a:extLst xmlns:a="http://schemas.openxmlformats.org/drawingml/2006/main">
              <a:ext uri="{FF2B5EF4-FFF2-40B4-BE49-F238E27FC236}">
                <a16:creationId xmlns:a16="http://schemas.microsoft.com/office/drawing/2014/main" id="{D7E9C204-E8A7-4449-9391-569CCB9E9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7" y="2195889"/>
            <a:ext cx="10058401" cy="54598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lnSpc>
                <a:spcPts val="2200"/>
              </a:lnSpc>
              <a:buNone/>
              <a:defRPr sz="1600">
                <a:solidFill>
                  <a:srgbClr val="8A9099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Most performance tools are optional upgrades. Compliance makes Pulse Check a line item schools already have to fund.</a:t>
            </a:r>
          </a:p>
        </p:txBody>
      </p:sp>
      <p:sp>
        <p:nvSpPr>
          <p:cNvPr id="91" name="Shape 5">
            <a:extLst xmlns:a="http://schemas.openxmlformats.org/drawingml/2006/main">
              <a:ext uri="{FF2B5EF4-FFF2-40B4-BE49-F238E27FC236}">
                <a16:creationId xmlns:a16="http://schemas.microsoft.com/office/drawing/2014/main" id="{5C032E33-0A6A-49E9-91E2-639CE843E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971800"/>
            <a:ext cx="5074921" cy="2834640"/>
          </a:xfrm>
          <a:prstGeom xmlns:a="http://schemas.openxmlformats.org/drawingml/2006/main" prst="roundRect">
            <a:avLst>
              <a:gd name="adj" fmla="val 3871"/>
            </a:avLst>
          </a:prstGeom>
          <a:solidFill xmlns:a="http://schemas.openxmlformats.org/drawingml/2006/main">
            <a:srgbClr val="141619"/>
          </a:solidFill>
          <a:ln xmlns:a="http://schemas.openxmlformats.org/drawingml/2006/main" w="12700">
            <a:solidFill>
              <a:srgbClr val="2A2E33"/>
            </a:solidFill>
          </a:ln>
          <a:effectLst xmlns:a="http://schemas.openxmlformats.org/drawingml/2006/main">
            <a:outerShdw blurRad="177800" dist="50800" dir="5400000" sx="100000" sy="100000" kx="0" ky="0" algn="b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 lIns="45718" tIns="45718" rIns="45718" bIns="45718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n-lt"/>
                <a:ea typeface="+mn-lt"/>
                <a:cs typeface="+mn-lt"/>
              </a:defRPr>
            </a:pPr>
          </a:p>
        </p:txBody>
      </p:sp>
      <p:sp>
        <p:nvSpPr>
          <p:cNvPr id="92" name="Text 6">
            <a:extLst xmlns:a="http://schemas.openxmlformats.org/drawingml/2006/main">
              <a:ext uri="{FF2B5EF4-FFF2-40B4-BE49-F238E27FC236}">
                <a16:creationId xmlns:a16="http://schemas.microsoft.com/office/drawing/2014/main" id="{2ACDAFC5-A819-4599-8F27-3C3800DC6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309365"/>
            <a:ext cx="4389121" cy="14783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1100" b="1" spc="200">
                <a:solidFill>
                  <a:srgbClr val="8A9099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THE OLD WAY</a:t>
            </a:r>
          </a:p>
        </p:txBody>
      </p:sp>
      <p:sp>
        <p:nvSpPr>
          <p:cNvPr id="93" name="Text 7">
            <a:extLst xmlns:a="http://schemas.openxmlformats.org/drawingml/2006/main">
              <a:ext uri="{FF2B5EF4-FFF2-40B4-BE49-F238E27FC236}">
                <a16:creationId xmlns:a16="http://schemas.microsoft.com/office/drawing/2014/main" id="{95E4307F-039B-4F1B-9460-A9ECF1BB2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585092"/>
            <a:ext cx="4389121" cy="41933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3000" b="1">
                <a:solidFill>
                  <a:srgbClr val="8A9099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A vitamin</a:t>
            </a:r>
          </a:p>
        </p:txBody>
      </p:sp>
      <p:pic>
        <p:nvPicPr>
          <p:cNvPr id="123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88de6e2be4487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43000" y="4297679"/>
            <a:ext cx="237744" cy="237746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  <p:sp>
        <p:nvSpPr>
          <p:cNvPr id="95" name="Text 8">
            <a:extLst xmlns:a="http://schemas.openxmlformats.org/drawingml/2006/main">
              <a:ext uri="{FF2B5EF4-FFF2-40B4-BE49-F238E27FC236}">
                <a16:creationId xmlns:a16="http://schemas.microsoft.com/office/drawing/2014/main" id="{514C867D-7F66-4009-8167-50A099F4A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8759" y="4351434"/>
            <a:ext cx="4114803" cy="185099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1300">
                <a:solidFill>
                  <a:srgbClr val="C3C8CE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Nice to have, easy to cut</a:t>
            </a:r>
          </a:p>
        </p:txBody>
      </p:sp>
      <p:pic>
        <p:nvPicPr>
          <p:cNvPr id="12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88de6e2be4487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43000" y="4754879"/>
            <a:ext cx="237744" cy="237746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  <p:sp>
        <p:nvSpPr>
          <p:cNvPr id="97" name="Text 9">
            <a:extLst xmlns:a="http://schemas.openxmlformats.org/drawingml/2006/main">
              <a:ext uri="{FF2B5EF4-FFF2-40B4-BE49-F238E27FC236}">
                <a16:creationId xmlns:a16="http://schemas.microsoft.com/office/drawing/2014/main" id="{E3E6EE43-5B67-485F-A4A9-2341AF697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8759" y="4808634"/>
            <a:ext cx="4114803" cy="185099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1300">
                <a:solidFill>
                  <a:srgbClr val="C3C8CE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Sold on motivation</a:t>
            </a:r>
          </a:p>
        </p:txBody>
      </p:sp>
      <p:pic>
        <p:nvPicPr>
          <p:cNvPr id="127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88de6e2be4487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43000" y="5212079"/>
            <a:ext cx="237744" cy="237746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  <p:sp>
        <p:nvSpPr>
          <p:cNvPr id="99" name="Text 10">
            <a:extLst xmlns:a="http://schemas.openxmlformats.org/drawingml/2006/main">
              <a:ext uri="{FF2B5EF4-FFF2-40B4-BE49-F238E27FC236}">
                <a16:creationId xmlns:a16="http://schemas.microsoft.com/office/drawing/2014/main" id="{B5C95793-FC69-496E-B54D-4F5CE138F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8759" y="5265834"/>
            <a:ext cx="4114803" cy="185099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1300">
                <a:solidFill>
                  <a:srgbClr val="C3C8CE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Competes for discretionary budget</a:t>
            </a:r>
          </a:p>
        </p:txBody>
      </p:sp>
      <p:sp>
        <p:nvSpPr>
          <p:cNvPr id="100" name="Shape 11">
            <a:extLst xmlns:a="http://schemas.openxmlformats.org/drawingml/2006/main">
              <a:ext uri="{FF2B5EF4-FFF2-40B4-BE49-F238E27FC236}">
                <a16:creationId xmlns:a16="http://schemas.microsoft.com/office/drawing/2014/main" id="{8B93CE92-4834-444F-A614-C6DB670C4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59" y="2971800"/>
            <a:ext cx="5074921" cy="2834640"/>
          </a:xfrm>
          <a:prstGeom xmlns:a="http://schemas.openxmlformats.org/drawingml/2006/main" prst="roundRect">
            <a:avLst>
              <a:gd name="adj" fmla="val 3871"/>
            </a:avLst>
          </a:prstGeom>
          <a:solidFill xmlns:a="http://schemas.openxmlformats.org/drawingml/2006/main">
            <a:srgbClr val="141619"/>
          </a:solidFill>
          <a:ln xmlns:a="http://schemas.openxmlformats.org/drawingml/2006/main" w="12700">
            <a:solidFill>
              <a:srgbClr val="C8FF00"/>
            </a:solidFill>
          </a:ln>
          <a:effectLst xmlns:a="http://schemas.openxmlformats.org/drawingml/2006/main">
            <a:outerShdw blurRad="177800" dist="50800" dir="5400000" sx="100000" sy="100000" kx="0" ky="0" algn="b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 lIns="45718" tIns="45718" rIns="45718" bIns="45718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n-lt"/>
                <a:ea typeface="+mn-lt"/>
                <a:cs typeface="+mn-lt"/>
              </a:defRPr>
            </a:pPr>
          </a:p>
        </p:txBody>
      </p:sp>
      <p:sp>
        <p:nvSpPr>
          <p:cNvPr id="101" name="Text 12">
            <a:extLst xmlns:a="http://schemas.openxmlformats.org/drawingml/2006/main">
              <a:ext uri="{FF2B5EF4-FFF2-40B4-BE49-F238E27FC236}">
                <a16:creationId xmlns:a16="http://schemas.microsoft.com/office/drawing/2014/main" id="{E889EAC7-8A36-4734-A65E-12CF0954D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309365"/>
            <a:ext cx="4389121" cy="14783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1100" b="1" spc="200">
                <a:solidFill>
                  <a:srgbClr val="C8FF00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PULSE CHECK</a:t>
            </a:r>
          </a:p>
        </p:txBody>
      </p:sp>
      <p:sp>
        <p:nvSpPr>
          <p:cNvPr id="102" name="Text 13">
            <a:extLst xmlns:a="http://schemas.openxmlformats.org/drawingml/2006/main">
              <a:ext uri="{FF2B5EF4-FFF2-40B4-BE49-F238E27FC236}">
                <a16:creationId xmlns:a16="http://schemas.microsoft.com/office/drawing/2014/main" id="{AE297A64-699A-4B10-BDC7-9CC13E3C1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585092"/>
            <a:ext cx="4389121" cy="41933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3000" b="1">
                <a:solidFill>
                  <a:srgbClr val="F4F6F2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A prescription</a:t>
            </a:r>
          </a:p>
        </p:txBody>
      </p:sp>
      <p:pic>
        <p:nvPicPr>
          <p:cNvPr id="132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033c6cc93a435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29400" y="4297679"/>
            <a:ext cx="237744" cy="237746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  <p:sp>
        <p:nvSpPr>
          <p:cNvPr id="104" name="Text 14">
            <a:extLst xmlns:a="http://schemas.openxmlformats.org/drawingml/2006/main">
              <a:ext uri="{FF2B5EF4-FFF2-40B4-BE49-F238E27FC236}">
                <a16:creationId xmlns:a16="http://schemas.microsoft.com/office/drawing/2014/main" id="{4FA234C6-9C29-4927-83B3-B6C4DF612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5158" y="4351434"/>
            <a:ext cx="4114803" cy="185099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1300">
                <a:solidFill>
                  <a:srgbClr val="F4F6F2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Required, already in the budget</a:t>
            </a:r>
          </a:p>
        </p:txBody>
      </p:sp>
      <p:pic>
        <p:nvPicPr>
          <p:cNvPr id="134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033c6cc93a435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29400" y="4754879"/>
            <a:ext cx="237744" cy="237746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  <p:sp>
        <p:nvSpPr>
          <p:cNvPr id="106" name="Text 15">
            <a:extLst xmlns:a="http://schemas.openxmlformats.org/drawingml/2006/main">
              <a:ext uri="{FF2B5EF4-FFF2-40B4-BE49-F238E27FC236}">
                <a16:creationId xmlns:a16="http://schemas.microsoft.com/office/drawing/2014/main" id="{8AF43F8E-5C5C-470C-828F-01ED7E90A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5158" y="4808634"/>
            <a:ext cx="4114803" cy="185099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1300">
                <a:solidFill>
                  <a:srgbClr val="F4F6F2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Sold on compliance</a:t>
            </a:r>
          </a:p>
        </p:txBody>
      </p:sp>
      <p:pic>
        <p:nvPicPr>
          <p:cNvPr id="136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033c6cc93a435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29400" y="5212079"/>
            <a:ext cx="237744" cy="237746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  <p:sp>
        <p:nvSpPr>
          <p:cNvPr id="108" name="Text 16">
            <a:extLst xmlns:a="http://schemas.openxmlformats.org/drawingml/2006/main">
              <a:ext uri="{FF2B5EF4-FFF2-40B4-BE49-F238E27FC236}">
                <a16:creationId xmlns:a16="http://schemas.microsoft.com/office/drawing/2014/main" id="{0CCE0162-A8EC-4DCF-972E-85D769313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5158" y="5265834"/>
            <a:ext cx="4114803" cy="185099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1300">
                <a:solidFill>
                  <a:srgbClr val="F4F6F2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Funded as a mandate line item</a:t>
            </a:r>
          </a:p>
        </p:txBody>
      </p:sp>
    </p:spTree>
    <p:extLst>
      <p:ext uri="{BB962C8B-B14F-4D97-AF65-F5344CB8AC3E}">
        <p14:creationId xmlns:p14="http://schemas.microsoft.com/office/powerpoint/2010/main" val="1844916332"/>
      </p:ext>
    </p:extLst>
  </p:cSld>
</p:sld>
</file>

<file path=ppt/slides/slide5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0A0B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0" name="Shape 0">
            <a:extLst xmlns:a="http://schemas.openxmlformats.org/drawingml/2006/main">
              <a:ext uri="{FF2B5EF4-FFF2-40B4-BE49-F238E27FC236}">
                <a16:creationId xmlns:a16="http://schemas.microsoft.com/office/drawing/2014/main" id="{F089B3AB-08BA-4A95-A00F-5F9AC109E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66927"/>
            <a:ext cx="1828802" cy="384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41619"/>
          </a:solidFill>
          <a:ln xmlns:a="http://schemas.openxmlformats.org/drawingml/2006/main" w="12700">
            <a:solidFill>
              <a:srgbClr val="2A2E33"/>
            </a:solidFill>
          </a:ln>
        </p:spPr>
        <p:txBody>
          <a:bodyPr xmlns:a="http://schemas.openxmlformats.org/drawingml/2006/main" lIns="45718" tIns="45718" rIns="45718" bIns="45718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n-lt"/>
                <a:ea typeface="+mn-lt"/>
                <a:cs typeface="+mn-lt"/>
              </a:defRPr>
            </a:pPr>
          </a:p>
        </p:txBody>
      </p:sp>
      <p:sp>
        <p:nvSpPr>
          <p:cNvPr id="111" name="Shape 1">
            <a:extLst xmlns:a="http://schemas.openxmlformats.org/drawingml/2006/main">
              <a:ext uri="{FF2B5EF4-FFF2-40B4-BE49-F238E27FC236}">
                <a16:creationId xmlns:a16="http://schemas.microsoft.com/office/drawing/2014/main" id="{298F9596-3996-48B2-A825-1EBC3F979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38" y="722376"/>
            <a:ext cx="73155" cy="731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FF00"/>
          </a:solidFill>
          <a:ln xmlns:a="http://schemas.openxmlformats.org/drawingml/2006/main" w="12700"/>
        </p:spPr>
        <p:txBody>
          <a:bodyPr xmlns:a="http://schemas.openxmlformats.org/drawingml/2006/main" lIns="45718" tIns="45718" rIns="45718" bIns="45718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n-lt"/>
                <a:ea typeface="+mn-lt"/>
                <a:cs typeface="+mn-lt"/>
              </a:defRPr>
            </a:pPr>
          </a:p>
        </p:txBody>
      </p:sp>
      <p:sp>
        <p:nvSpPr>
          <p:cNvPr id="112" name="Text 2">
            <a:extLst xmlns:a="http://schemas.openxmlformats.org/drawingml/2006/main">
              <a:ext uri="{FF2B5EF4-FFF2-40B4-BE49-F238E27FC236}">
                <a16:creationId xmlns:a16="http://schemas.microsoft.com/office/drawing/2014/main" id="{6E712DAE-3B8F-406F-998C-A715CBF73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" y="691178"/>
            <a:ext cx="1463042" cy="135547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1000" b="1" spc="200">
                <a:solidFill>
                  <a:srgbClr val="F4F6F2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THE SOLUTION</a:t>
            </a:r>
          </a:p>
        </p:txBody>
      </p:sp>
      <p:sp>
        <p:nvSpPr>
          <p:cNvPr id="113" name="Text 3">
            <a:extLst xmlns:a="http://schemas.openxmlformats.org/drawingml/2006/main">
              <a:ext uri="{FF2B5EF4-FFF2-40B4-BE49-F238E27FC236}">
                <a16:creationId xmlns:a16="http://schemas.microsoft.com/office/drawing/2014/main" id="{6138B0B4-B4B8-4DB3-AC04-C0C848F6C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597172"/>
            <a:ext cx="10515601" cy="554694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ts val="4400"/>
              </a:lnSpc>
              <a:buNone/>
              <a:defRPr sz="4000" b="1">
                <a:solidFill>
                  <a:srgbClr val="F4F6F2"/>
                </a:solidFill>
                <a:latin typeface="Arial"/>
                <a:ea typeface="Arial"/>
                <a:cs typeface="Arial"/>
              </a:defRPr>
            </a:pPr>
            <a:r>
              <a:t>Train the mind </a:t>
            </a:r>
            <a:r>
              <a:rPr>
                <a:solidFill>
                  <a:srgbClr val="C8FF00"/>
                </a:solidFill>
              </a:rPr>
              <a:t>before the moment.</a:t>
            </a:r>
          </a:p>
        </p:txBody>
      </p:sp>
      <p:sp>
        <p:nvSpPr>
          <p:cNvPr id="114" name="Text 4">
            <a:extLst xmlns:a="http://schemas.openxmlformats.org/drawingml/2006/main">
              <a:ext uri="{FF2B5EF4-FFF2-40B4-BE49-F238E27FC236}">
                <a16:creationId xmlns:a16="http://schemas.microsoft.com/office/drawing/2014/main" id="{4F2A6264-EA53-446D-9378-36E305221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7" y="2197883"/>
            <a:ext cx="10058401" cy="450553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1600">
                <a:solidFill>
                  <a:srgbClr val="8A9099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Pulse Check builds composure ahead of competition, supports the athlete in the moment, and routes to real care when needed.</a:t>
            </a:r>
          </a:p>
        </p:txBody>
      </p:sp>
      <p:sp>
        <p:nvSpPr>
          <p:cNvPr id="115" name="Shape 5">
            <a:extLst xmlns:a="http://schemas.openxmlformats.org/drawingml/2006/main">
              <a:ext uri="{FF2B5EF4-FFF2-40B4-BE49-F238E27FC236}">
                <a16:creationId xmlns:a16="http://schemas.microsoft.com/office/drawing/2014/main" id="{1B6BB7B7-42E2-4E69-92FF-F39F2C46C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834638"/>
            <a:ext cx="3429002" cy="2743202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141619"/>
          </a:solidFill>
          <a:ln xmlns:a="http://schemas.openxmlformats.org/drawingml/2006/main" w="12700">
            <a:solidFill>
              <a:srgbClr val="2A2E33"/>
            </a:solidFill>
          </a:ln>
          <a:effectLst xmlns:a="http://schemas.openxmlformats.org/drawingml/2006/main">
            <a:outerShdw blurRad="177800" dist="50800" dir="5400000" sx="100000" sy="100000" kx="0" ky="0" algn="b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 lIns="45718" tIns="45718" rIns="45718" bIns="45718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n-lt"/>
                <a:ea typeface="+mn-lt"/>
                <a:cs typeface="+mn-lt"/>
              </a:defRPr>
            </a:pPr>
          </a:p>
        </p:txBody>
      </p:sp>
      <p:sp>
        <p:nvSpPr>
          <p:cNvPr id="116" name="Shape 6">
            <a:extLst xmlns:a="http://schemas.openxmlformats.org/drawingml/2006/main">
              <a:ext uri="{FF2B5EF4-FFF2-40B4-BE49-F238E27FC236}">
                <a16:creationId xmlns:a16="http://schemas.microsoft.com/office/drawing/2014/main" id="{CE81A120-60E5-4711-BEA7-44740BDCB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2999" y="3154678"/>
            <a:ext cx="731524" cy="73152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FF00"/>
          </a:solidFill>
          <a:ln xmlns:a="http://schemas.openxmlformats.org/drawingml/2006/main" w="12700"/>
        </p:spPr>
        <p:txBody>
          <a:bodyPr xmlns:a="http://schemas.openxmlformats.org/drawingml/2006/main" lIns="45718" tIns="45718" rIns="45718" bIns="45718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n-lt"/>
                <a:ea typeface="+mn-lt"/>
                <a:cs typeface="+mn-lt"/>
              </a:defRPr>
            </a:pPr>
          </a:p>
        </p:txBody>
      </p:sp>
      <p:pic>
        <p:nvPicPr>
          <p:cNvPr id="145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dc46062d97491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340510" y="3352189"/>
            <a:ext cx="336501" cy="336501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  <p:sp>
        <p:nvSpPr>
          <p:cNvPr id="118" name="Text 7">
            <a:extLst xmlns:a="http://schemas.openxmlformats.org/drawingml/2006/main">
              <a:ext uri="{FF2B5EF4-FFF2-40B4-BE49-F238E27FC236}">
                <a16:creationId xmlns:a16="http://schemas.microsoft.com/office/drawing/2014/main" id="{5DEE2542-E54B-45A6-A8F0-855A228E5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399" y="3378544"/>
            <a:ext cx="2103123" cy="28379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2000" b="1">
                <a:solidFill>
                  <a:srgbClr val="C8FF00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TRAIN</a:t>
            </a:r>
          </a:p>
        </p:txBody>
      </p:sp>
      <p:sp>
        <p:nvSpPr>
          <p:cNvPr id="119" name="Text 8">
            <a:extLst xmlns:a="http://schemas.openxmlformats.org/drawingml/2006/main">
              <a:ext uri="{FF2B5EF4-FFF2-40B4-BE49-F238E27FC236}">
                <a16:creationId xmlns:a16="http://schemas.microsoft.com/office/drawing/2014/main" id="{B5A90873-B12A-4846-91C3-35177FD9C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2999" y="4097306"/>
            <a:ext cx="2788923" cy="1360868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ts val="1800"/>
              </a:lnSpc>
              <a:buNone/>
              <a:defRPr sz="1300" b="1">
                <a:solidFill>
                  <a:srgbClr val="D3FD51"/>
                </a:solidFill>
                <a:latin typeface="Arial"/>
                <a:ea typeface="Arial"/>
                <a:cs typeface="Arial"/>
              </a:defRPr>
            </a:pPr>
            <a:r>
              <a:t>Athletes chat with Nora,</a:t>
            </a:r>
            <a:r>
              <a:rPr b="0">
                <a:solidFill>
                  <a:srgbClr val="C3C8CE"/>
                </a:solidFill>
              </a:rPr>
              <a:t> their AI coach, through a personalized curriculum of cognitive simulations on their phones, rehearsing composure, focus, and decisioning before they reach competition</a:t>
            </a:r>
          </a:p>
        </p:txBody>
      </p:sp>
      <p:pic>
        <p:nvPicPr>
          <p:cNvPr id="148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736b4fe80f4d8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279391" y="4023359"/>
            <a:ext cx="274322" cy="274322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  <p:sp>
        <p:nvSpPr>
          <p:cNvPr id="121" name="Shape 9">
            <a:extLst xmlns:a="http://schemas.openxmlformats.org/drawingml/2006/main">
              <a:ext uri="{FF2B5EF4-FFF2-40B4-BE49-F238E27FC236}">
                <a16:creationId xmlns:a16="http://schemas.microsoft.com/office/drawing/2014/main" id="{8B6BE275-2E96-4E6D-BEDE-31D21D4FD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5423" y="2834638"/>
            <a:ext cx="3429002" cy="2743202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141619"/>
          </a:solidFill>
          <a:ln xmlns:a="http://schemas.openxmlformats.org/drawingml/2006/main" w="12700">
            <a:solidFill>
              <a:srgbClr val="2A2E33"/>
            </a:solidFill>
          </a:ln>
          <a:effectLst xmlns:a="http://schemas.openxmlformats.org/drawingml/2006/main">
            <a:outerShdw blurRad="177800" dist="50800" dir="5400000" sx="100000" sy="100000" kx="0" ky="0" algn="b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 lIns="45718" tIns="45718" rIns="45718" bIns="45718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n-lt"/>
                <a:ea typeface="+mn-lt"/>
                <a:cs typeface="+mn-lt"/>
              </a:defRPr>
            </a:pPr>
          </a:p>
        </p:txBody>
      </p:sp>
      <p:sp>
        <p:nvSpPr>
          <p:cNvPr id="122" name="Shape 10">
            <a:extLst xmlns:a="http://schemas.openxmlformats.org/drawingml/2006/main">
              <a:ext uri="{FF2B5EF4-FFF2-40B4-BE49-F238E27FC236}">
                <a16:creationId xmlns:a16="http://schemas.microsoft.com/office/drawing/2014/main" id="{660B6AA0-4861-4ED7-9B61-85FA738B1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5464" y="3154678"/>
            <a:ext cx="731523" cy="73152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9DFF"/>
          </a:solidFill>
          <a:ln xmlns:a="http://schemas.openxmlformats.org/drawingml/2006/main" w="12700"/>
        </p:spPr>
        <p:txBody>
          <a:bodyPr xmlns:a="http://schemas.openxmlformats.org/drawingml/2006/main" lIns="45718" tIns="45718" rIns="45718" bIns="45718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n-lt"/>
                <a:ea typeface="+mn-lt"/>
                <a:cs typeface="+mn-lt"/>
              </a:defRPr>
            </a:pPr>
          </a:p>
        </p:txBody>
      </p:sp>
      <p:pic>
        <p:nvPicPr>
          <p:cNvPr id="151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93e2632a724db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052974" y="3352189"/>
            <a:ext cx="336501" cy="336501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  <p:sp>
        <p:nvSpPr>
          <p:cNvPr id="124" name="Text 11">
            <a:extLst xmlns:a="http://schemas.openxmlformats.org/drawingml/2006/main">
              <a:ext uri="{FF2B5EF4-FFF2-40B4-BE49-F238E27FC236}">
                <a16:creationId xmlns:a16="http://schemas.microsoft.com/office/drawing/2014/main" id="{99A27CE2-4B80-4EEF-B3A3-FCAEEBDB7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9864" y="3378544"/>
            <a:ext cx="2103122" cy="28379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2000" b="1">
                <a:solidFill>
                  <a:srgbClr val="5B9DFF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SUPPORT</a:t>
            </a:r>
          </a:p>
        </p:txBody>
      </p:sp>
      <p:sp>
        <p:nvSpPr>
          <p:cNvPr id="125" name="Text 12">
            <a:extLst xmlns:a="http://schemas.openxmlformats.org/drawingml/2006/main">
              <a:ext uri="{FF2B5EF4-FFF2-40B4-BE49-F238E27FC236}">
                <a16:creationId xmlns:a16="http://schemas.microsoft.com/office/drawing/2014/main" id="{C2F9FA9D-D64F-4AE8-95DA-B5D46E562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5464" y="4325906"/>
            <a:ext cx="2788922" cy="903668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ts val="1800"/>
              </a:lnSpc>
              <a:buNone/>
              <a:defRPr sz="1300">
                <a:solidFill>
                  <a:srgbClr val="C3C8CE"/>
                </a:solidFill>
                <a:latin typeface="Arial"/>
                <a:ea typeface="Arial"/>
                <a:cs typeface="Arial"/>
              </a:defRPr>
            </a:pPr>
            <a:r>
              <a:t>On game day, passive </a:t>
            </a:r>
            <a:r>
              <a:rPr b="1">
                <a:solidFill>
                  <a:srgbClr val="6B9BF8"/>
                </a:solidFill>
              </a:rPr>
              <a:t>biometrics catch the signal early</a:t>
            </a:r>
            <a:r>
              <a:t> and Nora reinforces the trained skills in real time.</a:t>
            </a:r>
          </a:p>
        </p:txBody>
      </p:sp>
      <p:pic>
        <p:nvPicPr>
          <p:cNvPr id="154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736b4fe80f4d8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991856" y="4023359"/>
            <a:ext cx="274322" cy="274322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  <p:sp>
        <p:nvSpPr>
          <p:cNvPr id="127" name="Shape 13">
            <a:extLst xmlns:a="http://schemas.openxmlformats.org/drawingml/2006/main">
              <a:ext uri="{FF2B5EF4-FFF2-40B4-BE49-F238E27FC236}">
                <a16:creationId xmlns:a16="http://schemas.microsoft.com/office/drawing/2014/main" id="{6289F067-40AD-4F8F-8452-01C22715C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7888" y="2834638"/>
            <a:ext cx="3429002" cy="2743202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141619"/>
          </a:solidFill>
          <a:ln xmlns:a="http://schemas.openxmlformats.org/drawingml/2006/main" w="12700">
            <a:solidFill>
              <a:srgbClr val="2A2E33"/>
            </a:solidFill>
          </a:ln>
          <a:effectLst xmlns:a="http://schemas.openxmlformats.org/drawingml/2006/main">
            <a:outerShdw blurRad="177800" dist="50800" dir="5400000" sx="100000" sy="100000" kx="0" ky="0" algn="b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 lIns="45718" tIns="45718" rIns="45718" bIns="45718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n-lt"/>
                <a:ea typeface="+mn-lt"/>
                <a:cs typeface="+mn-lt"/>
              </a:defRPr>
            </a:pPr>
          </a:p>
        </p:txBody>
      </p:sp>
      <p:sp>
        <p:nvSpPr>
          <p:cNvPr id="128" name="Shape 14">
            <a:extLst xmlns:a="http://schemas.openxmlformats.org/drawingml/2006/main">
              <a:ext uri="{FF2B5EF4-FFF2-40B4-BE49-F238E27FC236}">
                <a16:creationId xmlns:a16="http://schemas.microsoft.com/office/drawing/2014/main" id="{BD5DCD00-FB41-492C-A5EC-8FB979DED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7928" y="3154678"/>
            <a:ext cx="731523" cy="73152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FB5"/>
          </a:solidFill>
          <a:ln xmlns:a="http://schemas.openxmlformats.org/drawingml/2006/main" w="12700"/>
        </p:spPr>
        <p:txBody>
          <a:bodyPr xmlns:a="http://schemas.openxmlformats.org/drawingml/2006/main" lIns="45718" tIns="45718" rIns="45718" bIns="45718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n-lt"/>
                <a:ea typeface="+mn-lt"/>
                <a:cs typeface="+mn-lt"/>
              </a:defRPr>
            </a:pPr>
          </a:p>
        </p:txBody>
      </p:sp>
      <p:pic>
        <p:nvPicPr>
          <p:cNvPr id="157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6d5e4b5f174aa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765437" y="3352189"/>
            <a:ext cx="336501" cy="336501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  <p:sp>
        <p:nvSpPr>
          <p:cNvPr id="130" name="Text 15">
            <a:extLst xmlns:a="http://schemas.openxmlformats.org/drawingml/2006/main">
              <a:ext uri="{FF2B5EF4-FFF2-40B4-BE49-F238E27FC236}">
                <a16:creationId xmlns:a16="http://schemas.microsoft.com/office/drawing/2014/main" id="{32CCD481-D9AE-4DE0-9E7C-64623FAB8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2328" y="3378544"/>
            <a:ext cx="2103122" cy="28379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2000" b="1">
                <a:solidFill>
                  <a:srgbClr val="FF6FB5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ROUTE</a:t>
            </a:r>
          </a:p>
        </p:txBody>
      </p:sp>
      <p:sp>
        <p:nvSpPr>
          <p:cNvPr id="131" name="Text 16">
            <a:extLst xmlns:a="http://schemas.openxmlformats.org/drawingml/2006/main">
              <a:ext uri="{FF2B5EF4-FFF2-40B4-BE49-F238E27FC236}">
                <a16:creationId xmlns:a16="http://schemas.microsoft.com/office/drawing/2014/main" id="{630B7E27-6B8F-4654-AA9E-E722DCB2A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7928" y="4211606"/>
            <a:ext cx="2788922" cy="1132268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ts val="1800"/>
              </a:lnSpc>
              <a:buNone/>
              <a:defRPr sz="1300">
                <a:solidFill>
                  <a:srgbClr val="C3C8CE"/>
                </a:solidFill>
                <a:latin typeface="Arial"/>
                <a:ea typeface="Arial"/>
                <a:cs typeface="Arial"/>
              </a:defRPr>
            </a:pPr>
            <a:r>
              <a:t>When Nora </a:t>
            </a:r>
            <a:r>
              <a:rPr b="1">
                <a:solidFill>
                  <a:srgbClr val="ED78B3"/>
                </a:solidFill>
              </a:rPr>
              <a:t>detects symptoms of a mental crisis brewing</a:t>
            </a:r>
            <a:r>
              <a:t>, Pulse Check </a:t>
            </a:r>
            <a:r>
              <a:rPr b="1">
                <a:solidFill>
                  <a:srgbClr val="ED78B3"/>
                </a:solidFill>
              </a:rPr>
              <a:t>connects the athlete to a human clinician through AuntEDNA.ai's </a:t>
            </a:r>
            <a:r>
              <a:t>HIPAA-compliant clinical pathway.</a:t>
            </a:r>
          </a:p>
        </p:txBody>
      </p:sp>
      <p:sp>
        <p:nvSpPr>
          <p:cNvPr id="132" name="Text 17">
            <a:extLst xmlns:a="http://schemas.openxmlformats.org/drawingml/2006/main">
              <a:ext uri="{FF2B5EF4-FFF2-40B4-BE49-F238E27FC236}">
                <a16:creationId xmlns:a16="http://schemas.microsoft.com/office/drawing/2014/main" id="{62F70BC9-4EF2-4ED6-B786-8963199C7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6021646"/>
            <a:ext cx="10515601" cy="209668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 algn="ctr">
              <a:buNone/>
              <a:defRPr sz="1500" b="1" i="1">
                <a:solidFill>
                  <a:srgbClr val="C8FF00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Athletes train the response before competition, so the body remembers how to perform under pressure.</a:t>
            </a:r>
          </a:p>
        </p:txBody>
      </p:sp>
    </p:spTree>
    <p:extLst>
      <p:ext uri="{BB962C8B-B14F-4D97-AF65-F5344CB8AC3E}">
        <p14:creationId xmlns:p14="http://schemas.microsoft.com/office/powerpoint/2010/main" val="1122368618"/>
      </p:ext>
    </p:extLst>
  </p:cSld>
</p:sld>
</file>

<file path=ppt/slides/slide6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0A0B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4" name="Shape 0">
            <a:extLst xmlns:a="http://schemas.openxmlformats.org/drawingml/2006/main">
              <a:ext uri="{FF2B5EF4-FFF2-40B4-BE49-F238E27FC236}">
                <a16:creationId xmlns:a16="http://schemas.microsoft.com/office/drawing/2014/main" id="{30918298-835B-49ED-8387-D28338A9B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66927"/>
            <a:ext cx="1828802" cy="384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41619"/>
          </a:solidFill>
          <a:ln xmlns:a="http://schemas.openxmlformats.org/drawingml/2006/main" w="12700">
            <a:solidFill>
              <a:srgbClr val="2A2E33"/>
            </a:solidFill>
          </a:ln>
        </p:spPr>
        <p:txBody>
          <a:bodyPr xmlns:a="http://schemas.openxmlformats.org/drawingml/2006/main" lIns="45718" tIns="45718" rIns="45718" bIns="45718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n-lt"/>
                <a:ea typeface="+mn-lt"/>
                <a:cs typeface="+mn-lt"/>
              </a:defRPr>
            </a:pPr>
          </a:p>
        </p:txBody>
      </p:sp>
      <p:sp>
        <p:nvSpPr>
          <p:cNvPr id="135" name="Shape 1">
            <a:extLst xmlns:a="http://schemas.openxmlformats.org/drawingml/2006/main">
              <a:ext uri="{FF2B5EF4-FFF2-40B4-BE49-F238E27FC236}">
                <a16:creationId xmlns:a16="http://schemas.microsoft.com/office/drawing/2014/main" id="{3294B1E0-5F03-413B-8086-17948B1E9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38" y="722376"/>
            <a:ext cx="73155" cy="731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FF00"/>
          </a:solidFill>
          <a:ln xmlns:a="http://schemas.openxmlformats.org/drawingml/2006/main" w="12700"/>
        </p:spPr>
        <p:txBody>
          <a:bodyPr xmlns:a="http://schemas.openxmlformats.org/drawingml/2006/main" lIns="45718" tIns="45718" rIns="45718" bIns="45718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n-lt"/>
                <a:ea typeface="+mn-lt"/>
                <a:cs typeface="+mn-lt"/>
              </a:defRPr>
            </a:pPr>
          </a:p>
        </p:txBody>
      </p:sp>
      <p:sp>
        <p:nvSpPr>
          <p:cNvPr id="136" name="Text 2">
            <a:extLst xmlns:a="http://schemas.openxmlformats.org/drawingml/2006/main">
              <a:ext uri="{FF2B5EF4-FFF2-40B4-BE49-F238E27FC236}">
                <a16:creationId xmlns:a16="http://schemas.microsoft.com/office/drawing/2014/main" id="{2263FFD0-9187-4798-952F-E297F8891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" y="691178"/>
            <a:ext cx="1463042" cy="135547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1000" b="1" spc="200">
                <a:solidFill>
                  <a:srgbClr val="F4F6F2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HOW IT WORKS</a:t>
            </a:r>
          </a:p>
        </p:txBody>
      </p:sp>
      <p:sp>
        <p:nvSpPr>
          <p:cNvPr id="137" name="Text 3">
            <a:extLst xmlns:a="http://schemas.openxmlformats.org/drawingml/2006/main">
              <a:ext uri="{FF2B5EF4-FFF2-40B4-BE49-F238E27FC236}">
                <a16:creationId xmlns:a16="http://schemas.microsoft.com/office/drawing/2014/main" id="{D56F9CA1-6ACF-4A4C-AFD3-39025D65B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849" y="1159607"/>
            <a:ext cx="10515602" cy="554693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ts val="4400"/>
              </a:lnSpc>
              <a:buNone/>
              <a:defRPr sz="4000" b="1">
                <a:solidFill>
                  <a:srgbClr val="F4F6F2"/>
                </a:solidFill>
                <a:latin typeface="Arial"/>
                <a:ea typeface="Arial"/>
                <a:cs typeface="Arial"/>
              </a:defRPr>
            </a:pPr>
            <a:r>
              <a:t>What the athlete </a:t>
            </a:r>
            <a:r>
              <a:rPr>
                <a:solidFill>
                  <a:srgbClr val="C8FF00"/>
                </a:solidFill>
              </a:rPr>
              <a:t>actually sees.</a:t>
            </a:r>
          </a:p>
        </p:txBody>
      </p:sp>
      <p:sp>
        <p:nvSpPr>
          <p:cNvPr id="138" name="Text 4">
            <a:extLst xmlns:a="http://schemas.openxmlformats.org/drawingml/2006/main">
              <a:ext uri="{FF2B5EF4-FFF2-40B4-BE49-F238E27FC236}">
                <a16:creationId xmlns:a16="http://schemas.microsoft.com/office/drawing/2014/main" id="{FD5218AD-431B-4439-B98D-8126AE857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961" y="2078378"/>
            <a:ext cx="3391297" cy="1136353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1600">
                <a:solidFill>
                  <a:srgbClr val="8A9099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Passive biometrics detect the signal, Nora trains and settles the response, and Sports Intel reads each athlete in context — inside the app they already open.</a:t>
            </a:r>
          </a:p>
        </p:txBody>
      </p:sp>
      <p:sp>
        <p:nvSpPr>
          <p:cNvPr id="139" name="t800">
            <a:extLst xmlns:a="http://schemas.openxmlformats.org/drawingml/2006/main">
              <a:ext uri="{FF2B5EF4-FFF2-40B4-BE49-F238E27FC236}">
                <a16:creationId xmlns:a16="http://schemas.microsoft.com/office/drawing/2014/main" id="{312C2ADD-DF5D-47A0-BD1A-CDDC35924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5177" y="1871284"/>
            <a:ext cx="1421054" cy="14783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 algn="ctr">
              <a:buNone/>
              <a:defRPr sz="1100" b="1">
                <a:solidFill>
                  <a:srgbClr val="5BA3F5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DETECT</a:t>
            </a:r>
          </a:p>
        </p:txBody>
      </p:sp>
      <p:pic>
        <p:nvPicPr>
          <p:cNvPr id="157" name="phone80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5b550c407e401f"/>
          <a:srcRect xmlns:a="http://schemas.openxmlformats.org/drawingml/2006/main" l="0" t="0" r="7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641303" y="2083233"/>
            <a:ext cx="1828801" cy="3861102"/>
          </a:xfrm>
          <a:ln xmlns:a="http://schemas.openxmlformats.org/drawingml/2006/main" w="12700">
            <a:solidFill>
              <a:srgbClr val="3A3F47"/>
            </a:solidFill>
          </a:ln>
        </p:spPr>
      </p:pic>
      <p:sp>
        <p:nvSpPr>
          <p:cNvPr id="141" name="t802">
            <a:extLst xmlns:a="http://schemas.openxmlformats.org/drawingml/2006/main">
              <a:ext uri="{FF2B5EF4-FFF2-40B4-BE49-F238E27FC236}">
                <a16:creationId xmlns:a16="http://schemas.microsoft.com/office/drawing/2014/main" id="{1BD1E752-6CC4-4D4F-8ECA-2ECBDC4FC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704" y="6056183"/>
            <a:ext cx="1700000" cy="27524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 algn="ctr">
              <a:buNone/>
              <a:defRPr sz="1000">
                <a:solidFill>
                  <a:srgbClr val="A8AEB8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Passive biometrics read each athlete in context.</a:t>
            </a:r>
          </a:p>
        </p:txBody>
      </p:sp>
      <p:sp>
        <p:nvSpPr>
          <p:cNvPr id="142" name="t803">
            <a:extLst xmlns:a="http://schemas.openxmlformats.org/drawingml/2006/main">
              <a:ext uri="{FF2B5EF4-FFF2-40B4-BE49-F238E27FC236}">
                <a16:creationId xmlns:a16="http://schemas.microsoft.com/office/drawing/2014/main" id="{4E55A18B-D8B7-4644-B8F3-8DEA551C1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8817" y="1869543"/>
            <a:ext cx="1421054" cy="14783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 algn="ctr">
              <a:buNone/>
              <a:defRPr sz="1100" b="1">
                <a:solidFill>
                  <a:srgbClr val="E0FE10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TRAIN</a:t>
            </a:r>
          </a:p>
        </p:txBody>
      </p:sp>
      <p:pic>
        <p:nvPicPr>
          <p:cNvPr id="160" name="phone80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3979fc750b4f49"/>
          <a:srcRect xmlns:a="http://schemas.openxmlformats.org/drawingml/2006/main" l="0" t="0" r="0" b="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20500" y="2119084"/>
            <a:ext cx="1817574" cy="3836989"/>
          </a:xfrm>
          <a:ln xmlns:a="http://schemas.openxmlformats.org/drawingml/2006/main" w="12700">
            <a:solidFill>
              <a:srgbClr val="3A3F47"/>
            </a:solidFill>
          </a:ln>
        </p:spPr>
      </p:pic>
      <p:sp>
        <p:nvSpPr>
          <p:cNvPr id="144" name="t805">
            <a:extLst xmlns:a="http://schemas.openxmlformats.org/drawingml/2006/main">
              <a:ext uri="{FF2B5EF4-FFF2-40B4-BE49-F238E27FC236}">
                <a16:creationId xmlns:a16="http://schemas.microsoft.com/office/drawing/2014/main" id="{6C42641E-9458-4C22-8FDB-887AD7F84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9344" y="6056183"/>
            <a:ext cx="1700000" cy="27524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 algn="ctr">
              <a:buNone/>
              <a:defRPr sz="1000">
                <a:solidFill>
                  <a:srgbClr val="A8AEB8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Guided box-breathing trains the body to settle.</a:t>
            </a:r>
          </a:p>
        </p:txBody>
      </p:sp>
      <p:sp>
        <p:nvSpPr>
          <p:cNvPr id="145" name="t806">
            <a:extLst xmlns:a="http://schemas.openxmlformats.org/drawingml/2006/main">
              <a:ext uri="{FF2B5EF4-FFF2-40B4-BE49-F238E27FC236}">
                <a16:creationId xmlns:a16="http://schemas.microsoft.com/office/drawing/2014/main" id="{82C20021-A20F-4C60-9D75-3722EE950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2647" y="1869543"/>
            <a:ext cx="1421054" cy="14783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 algn="ctr">
              <a:buNone/>
              <a:defRPr sz="1100" b="1">
                <a:solidFill>
                  <a:srgbClr val="34D399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SUPPORT</a:t>
            </a:r>
          </a:p>
        </p:txBody>
      </p:sp>
      <p:pic>
        <p:nvPicPr>
          <p:cNvPr id="163" name="phone80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d2df12d5b94d93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928774" y="2119172"/>
            <a:ext cx="1828801" cy="3860801"/>
          </a:xfrm>
          <a:ln xmlns:a="http://schemas.openxmlformats.org/drawingml/2006/main" w="12700">
            <a:solidFill>
              <a:srgbClr val="3A3F47"/>
            </a:solidFill>
          </a:ln>
        </p:spPr>
      </p:pic>
      <p:sp>
        <p:nvSpPr>
          <p:cNvPr id="147" name="t808">
            <a:extLst xmlns:a="http://schemas.openxmlformats.org/drawingml/2006/main">
              <a:ext uri="{FF2B5EF4-FFF2-40B4-BE49-F238E27FC236}">
                <a16:creationId xmlns:a16="http://schemas.microsoft.com/office/drawing/2014/main" id="{EBDD0E4C-7479-45B7-BA86-629147F45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3174" y="6081684"/>
            <a:ext cx="1700000" cy="27524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 algn="ctr">
              <a:buNone/>
              <a:defRPr sz="1000">
                <a:solidFill>
                  <a:srgbClr val="A8AEB8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In the moment, Nora settles the trained response.</a:t>
            </a:r>
          </a:p>
        </p:txBody>
      </p:sp>
    </p:spTree>
    <p:extLst>
      <p:ext uri="{BB962C8B-B14F-4D97-AF65-F5344CB8AC3E}">
        <p14:creationId xmlns:p14="http://schemas.microsoft.com/office/powerpoint/2010/main" val="1695668883"/>
      </p:ext>
    </p:extLst>
  </p:cSld>
</p:sld>
</file>

<file path=ppt/slides/slide7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0A0B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4" name="Shape 0">
            <a:extLst xmlns:a="http://schemas.openxmlformats.org/drawingml/2006/main">
              <a:ext uri="{FF2B5EF4-FFF2-40B4-BE49-F238E27FC236}">
                <a16:creationId xmlns:a16="http://schemas.microsoft.com/office/drawing/2014/main" id="{30918298-835B-49ED-8387-D28338A9B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66927"/>
            <a:ext cx="1828802" cy="384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41619"/>
          </a:solidFill>
          <a:ln xmlns:a="http://schemas.openxmlformats.org/drawingml/2006/main" w="12700">
            <a:solidFill>
              <a:srgbClr val="2A2E33"/>
            </a:solidFill>
          </a:ln>
        </p:spPr>
        <p:txBody>
          <a:bodyPr xmlns:a="http://schemas.openxmlformats.org/drawingml/2006/main" lIns="45718" tIns="45718" rIns="45718" bIns="45718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n-lt"/>
                <a:ea typeface="+mn-lt"/>
                <a:cs typeface="+mn-lt"/>
              </a:defRPr>
            </a:pPr>
          </a:p>
        </p:txBody>
      </p:sp>
      <p:sp>
        <p:nvSpPr>
          <p:cNvPr id="135" name="Shape 1">
            <a:extLst xmlns:a="http://schemas.openxmlformats.org/drawingml/2006/main">
              <a:ext uri="{FF2B5EF4-FFF2-40B4-BE49-F238E27FC236}">
                <a16:creationId xmlns:a16="http://schemas.microsoft.com/office/drawing/2014/main" id="{3294B1E0-5F03-413B-8086-17948B1E9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38" y="722376"/>
            <a:ext cx="73155" cy="731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FF00"/>
          </a:solidFill>
          <a:ln xmlns:a="http://schemas.openxmlformats.org/drawingml/2006/main" w="12700"/>
        </p:spPr>
        <p:txBody>
          <a:bodyPr xmlns:a="http://schemas.openxmlformats.org/drawingml/2006/main" lIns="45718" tIns="45718" rIns="45718" bIns="45718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n-lt"/>
                <a:ea typeface="+mn-lt"/>
                <a:cs typeface="+mn-lt"/>
              </a:defRPr>
            </a:pPr>
          </a:p>
        </p:txBody>
      </p:sp>
      <p:sp>
        <p:nvSpPr>
          <p:cNvPr id="136" name="Text 2">
            <a:extLst xmlns:a="http://schemas.openxmlformats.org/drawingml/2006/main">
              <a:ext uri="{FF2B5EF4-FFF2-40B4-BE49-F238E27FC236}">
                <a16:creationId xmlns:a16="http://schemas.microsoft.com/office/drawing/2014/main" id="{2263FFD0-9187-4798-952F-E297F8891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" y="691178"/>
            <a:ext cx="1463042" cy="135547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1000" b="1" spc="200">
                <a:solidFill>
                  <a:srgbClr val="F4F6F2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HOW IT WORKS</a:t>
            </a:r>
          </a:p>
        </p:txBody>
      </p:sp>
      <p:sp>
        <p:nvSpPr>
          <p:cNvPr id="137" name="Text 3">
            <a:extLst xmlns:a="http://schemas.openxmlformats.org/drawingml/2006/main">
              <a:ext uri="{FF2B5EF4-FFF2-40B4-BE49-F238E27FC236}">
                <a16:creationId xmlns:a16="http://schemas.microsoft.com/office/drawing/2014/main" id="{D56F9CA1-6ACF-4A4C-AFD3-39025D65B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849" y="1159607"/>
            <a:ext cx="10515602" cy="5588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ts val="4400"/>
              </a:lnSpc>
              <a:buNone/>
              <a:defRPr sz="4000" b="1">
                <a:solidFill>
                  <a:srgbClr val="F4F6F2"/>
                </a:solidFill>
                <a:latin typeface="Arial"/>
                <a:ea typeface="Arial"/>
                <a:cs typeface="Arial"/>
              </a:defRPr>
            </a:pPr>
            <a:r>
              <a:t>What </a:t>
            </a:r>
            <a:r>
              <a:t>the coaches </a:t>
            </a:r>
            <a:r>
              <a:rPr>
                <a:solidFill>
                  <a:srgbClr val="C8FF00"/>
                </a:solidFill>
              </a:rPr>
              <a:t>see.</a:t>
            </a:r>
          </a:p>
        </p:txBody>
      </p:sp>
      <p:sp>
        <p:nvSpPr>
          <p:cNvPr id="138" name="Text 4">
            <a:extLst xmlns:a="http://schemas.openxmlformats.org/drawingml/2006/main">
              <a:ext uri="{FF2B5EF4-FFF2-40B4-BE49-F238E27FC236}">
                <a16:creationId xmlns:a16="http://schemas.microsoft.com/office/drawing/2014/main" id="{FD5218AD-431B-4439-B98D-8126AE857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961" y="2078378"/>
            <a:ext cx="3391297" cy="12192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1600">
                <a:solidFill>
                  <a:srgbClr val="8A9099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One roster shows who’s ready, who needs attention, and who hasn’t checked in — with athlete profiles, readiness status, and recent signals in one coach-first view.</a:t>
            </a:r>
          </a:p>
        </p:txBody>
      </p:sp>
      <p:pic>
        <p:nvPicPr>
          <p:cNvPr id="154" name="phone80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9a9436e9474cc6"/>
          <a:srcRect xmlns:a="http://schemas.openxmlformats.org/drawingml/2006/main" l="0" t="578" r="0" b="57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495800" y="2105025"/>
            <a:ext cx="6667500" cy="3752850"/>
          </a:xfrm>
          <a:prstGeom xmlns:a="http://schemas.openxmlformats.org/drawingml/2006/main" prst="roundRect">
            <a:avLst>
              <a:gd name="adj" fmla="val 2538"/>
            </a:avLst>
          </a:prstGeom>
          <a:ln xmlns:a="http://schemas.openxmlformats.org/drawingml/2006/main" w="12700">
            <a:solidFill>
              <a:srgbClr val="3A3F47"/>
            </a:solidFill>
          </a:ln>
        </p:spPr>
      </p:pic>
    </p:spTree>
    <p:extLst>
      <p:ext uri="{BB962C8B-B14F-4D97-AF65-F5344CB8AC3E}">
        <p14:creationId xmlns:p14="http://schemas.microsoft.com/office/powerpoint/2010/main" val="1695668883"/>
      </p:ext>
    </p:extLst>
  </p:cSld>
</p:sld>
</file>

<file path=ppt/slides/slide8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0A0B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9" name="Shape 0">
            <a:extLst xmlns:a="http://schemas.openxmlformats.org/drawingml/2006/main">
              <a:ext uri="{FF2B5EF4-FFF2-40B4-BE49-F238E27FC236}">
                <a16:creationId xmlns:a16="http://schemas.microsoft.com/office/drawing/2014/main" id="{446664C0-C6A0-4452-A29C-AF007E7A9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66927"/>
            <a:ext cx="1828802" cy="384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41619"/>
          </a:solidFill>
          <a:ln xmlns:a="http://schemas.openxmlformats.org/drawingml/2006/main" w="12700">
            <a:solidFill>
              <a:srgbClr val="2A2E33"/>
            </a:solidFill>
          </a:ln>
        </p:spPr>
        <p:txBody>
          <a:bodyPr xmlns:a="http://schemas.openxmlformats.org/drawingml/2006/main" lIns="45718" tIns="45718" rIns="45718" bIns="45718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n-lt"/>
                <a:ea typeface="+mn-lt"/>
                <a:cs typeface="+mn-lt"/>
              </a:defRPr>
            </a:pPr>
          </a:p>
        </p:txBody>
      </p:sp>
      <p:sp>
        <p:nvSpPr>
          <p:cNvPr id="150" name="Shape 1">
            <a:extLst xmlns:a="http://schemas.openxmlformats.org/drawingml/2006/main">
              <a:ext uri="{FF2B5EF4-FFF2-40B4-BE49-F238E27FC236}">
                <a16:creationId xmlns:a16="http://schemas.microsoft.com/office/drawing/2014/main" id="{77D759B3-D019-4DC6-A6FB-5899D230C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38" y="722376"/>
            <a:ext cx="73155" cy="731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FF00"/>
          </a:solidFill>
          <a:ln xmlns:a="http://schemas.openxmlformats.org/drawingml/2006/main" w="12700"/>
        </p:spPr>
        <p:txBody>
          <a:bodyPr xmlns:a="http://schemas.openxmlformats.org/drawingml/2006/main" lIns="45718" tIns="45718" rIns="45718" bIns="45718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n-lt"/>
                <a:ea typeface="+mn-lt"/>
                <a:cs typeface="+mn-lt"/>
              </a:defRPr>
            </a:pPr>
          </a:p>
        </p:txBody>
      </p:sp>
      <p:sp>
        <p:nvSpPr>
          <p:cNvPr id="151" name="Text 2">
            <a:extLst xmlns:a="http://schemas.openxmlformats.org/drawingml/2006/main">
              <a:ext uri="{FF2B5EF4-FFF2-40B4-BE49-F238E27FC236}">
                <a16:creationId xmlns:a16="http://schemas.microsoft.com/office/drawing/2014/main" id="{EB56CDFC-D0CE-482D-9169-0C108534A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" y="691178"/>
            <a:ext cx="1463042" cy="135547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1000" b="1" spc="200">
                <a:solidFill>
                  <a:srgbClr val="F4F6F2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THE ROUTE</a:t>
            </a:r>
          </a:p>
        </p:txBody>
      </p:sp>
      <p:sp>
        <p:nvSpPr>
          <p:cNvPr id="152" name="Text 3">
            <a:extLst xmlns:a="http://schemas.openxmlformats.org/drawingml/2006/main">
              <a:ext uri="{FF2B5EF4-FFF2-40B4-BE49-F238E27FC236}">
                <a16:creationId xmlns:a16="http://schemas.microsoft.com/office/drawing/2014/main" id="{FFD9B22A-CA42-4240-86C3-D8165CED6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849" y="1300257"/>
            <a:ext cx="10515602" cy="554693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ts val="4400"/>
              </a:lnSpc>
              <a:buNone/>
              <a:defRPr sz="4000" b="1">
                <a:solidFill>
                  <a:srgbClr val="F4F6F2"/>
                </a:solidFill>
                <a:latin typeface="Arial"/>
                <a:ea typeface="Arial"/>
                <a:cs typeface="Arial"/>
              </a:defRPr>
            </a:pPr>
            <a:r>
              <a:t>Not a chatbot. </a:t>
            </a:r>
            <a:r>
              <a:rPr>
                <a:solidFill>
                  <a:srgbClr val="C8FF00"/>
                </a:solidFill>
              </a:rPr>
              <a:t>A real human.</a:t>
            </a:r>
          </a:p>
        </p:txBody>
      </p:sp>
      <p:sp>
        <p:nvSpPr>
          <p:cNvPr id="153" name="Text 4">
            <a:extLst xmlns:a="http://schemas.openxmlformats.org/drawingml/2006/main">
              <a:ext uri="{FF2B5EF4-FFF2-40B4-BE49-F238E27FC236}">
                <a16:creationId xmlns:a16="http://schemas.microsoft.com/office/drawing/2014/main" id="{A666849A-D64B-4F8A-98E7-34537330B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304" y="1964445"/>
            <a:ext cx="10058401" cy="450554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1600">
                <a:solidFill>
                  <a:srgbClr val="8A9099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We catch the moment, package the context, and hand off to a licensed human through AuntEDNA.ai — including a same-day welfare check.</a:t>
            </a:r>
          </a:p>
        </p:txBody>
      </p:sp>
      <p:sp>
        <p:nvSpPr>
          <p:cNvPr id="154" name="t820">
            <a:extLst xmlns:a="http://schemas.openxmlformats.org/drawingml/2006/main">
              <a:ext uri="{FF2B5EF4-FFF2-40B4-BE49-F238E27FC236}">
                <a16:creationId xmlns:a16="http://schemas.microsoft.com/office/drawing/2014/main" id="{A42B8006-2DBC-4AB0-9FFB-AC1F7F8AF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3108" y="2524493"/>
            <a:ext cx="1373685" cy="135547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 algn="ctr">
              <a:buNone/>
              <a:defRPr sz="1000" b="1">
                <a:solidFill>
                  <a:srgbClr val="FF7A93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NORA FLAGS IT</a:t>
            </a:r>
          </a:p>
        </p:txBody>
      </p:sp>
      <p:sp>
        <p:nvSpPr>
          <p:cNvPr id="155" name="t821">
            <a:extLst xmlns:a="http://schemas.openxmlformats.org/drawingml/2006/main">
              <a:ext uri="{FF2B5EF4-FFF2-40B4-BE49-F238E27FC236}">
                <a16:creationId xmlns:a16="http://schemas.microsoft.com/office/drawing/2014/main" id="{4E73A48A-AF79-40D9-8051-037301D1E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2408" y="2524493"/>
            <a:ext cx="1373685" cy="135547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 algn="ctr">
              <a:buNone/>
              <a:defRPr sz="1000" b="1">
                <a:solidFill>
                  <a:srgbClr val="34D399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A HUMAN ANSWERS</a:t>
            </a:r>
          </a:p>
        </p:txBody>
      </p:sp>
      <p:pic>
        <p:nvPicPr>
          <p:cNvPr id="187" name="phone82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565ff26ed54d27"/>
          <a:srcRect xmlns:a="http://schemas.openxmlformats.org/drawingml/2006/main" l="0" t="0" r="0" b="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27829" y="2708275"/>
            <a:ext cx="1544084" cy="3259535"/>
          </a:xfrm>
          <a:ln xmlns:a="http://schemas.openxmlformats.org/drawingml/2006/main" w="12700">
            <a:solidFill>
              <a:srgbClr val="3A3F47"/>
            </a:solidFill>
          </a:ln>
        </p:spPr>
      </p:pic>
      <p:pic>
        <p:nvPicPr>
          <p:cNvPr id="188" name="phone82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c7cd1dee7b4ee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491247" y="2716349"/>
            <a:ext cx="1530208" cy="3230439"/>
          </a:xfrm>
          <a:ln xmlns:a="http://schemas.openxmlformats.org/drawingml/2006/main" w="12700">
            <a:solidFill>
              <a:srgbClr val="3A3F47"/>
            </a:solidFill>
          </a:ln>
        </p:spPr>
      </p:pic>
      <p:sp>
        <p:nvSpPr>
          <p:cNvPr id="158" name="r824">
            <a:extLst xmlns:a="http://schemas.openxmlformats.org/drawingml/2006/main">
              <a:ext uri="{FF2B5EF4-FFF2-40B4-BE49-F238E27FC236}">
                <a16:creationId xmlns:a16="http://schemas.microsoft.com/office/drawing/2014/main" id="{E9E55E6A-81E2-4F2D-8889-0C674F032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0000" y="2959999"/>
            <a:ext cx="6060000" cy="880001"/>
          </a:xfrm>
          <a:prstGeom xmlns:a="http://schemas.openxmlformats.org/drawingml/2006/main" prst="roundRect">
            <a:avLst>
              <a:gd name="adj" fmla="val 9000"/>
            </a:avLst>
          </a:prstGeom>
          <a:solidFill xmlns:a="http://schemas.openxmlformats.org/drawingml/2006/main">
            <a:srgbClr val="141518"/>
          </a:solidFill>
          <a:ln xmlns:a="http://schemas.openxmlformats.org/drawingml/2006/main">
            <a:solidFill>
              <a:srgbClr val="2A2E33"/>
            </a:solidFill>
          </a:ln>
        </p:spPr>
        <p:txBody>
          <a:bodyPr xmlns:a="http://schemas.openxmlformats.org/drawingml/2006/main" lIns="45718" tIns="45718" rIns="45718" bIns="45718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n-lt"/>
                <a:ea typeface="+mn-lt"/>
                <a:cs typeface="+mn-lt"/>
              </a:defRPr>
            </a:pPr>
          </a:p>
        </p:txBody>
      </p:sp>
      <p:sp>
        <p:nvSpPr>
          <p:cNvPr id="159" name="Circle">
            <a:extLst xmlns:a="http://schemas.openxmlformats.org/drawingml/2006/main">
              <a:ext uri="{FF2B5EF4-FFF2-40B4-BE49-F238E27FC236}">
                <a16:creationId xmlns:a16="http://schemas.microsoft.com/office/drawing/2014/main" id="{4DCE1DB0-3645-4617-A42E-5CB77C394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209998" y="3169998"/>
            <a:ext cx="460004" cy="46000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7A93"/>
          </a:solidFill>
          <a:ln xmlns:a="http://schemas.openxmlformats.org/drawingml/2006/main" w="12700">
            <a:noFill/>
          </a:ln>
        </p:spPr>
        <p:txBody>
          <a:bodyPr xmlns:a="http://schemas.openxmlformats.org/drawingml/2006/main" wrap="square" lIns="45718" tIns="45718" rIns="45718" bIns="4571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latin typeface="+mn-lt"/>
                <a:ea typeface="+mn-lt"/>
                <a:cs typeface="+mn-lt"/>
              </a:defRPr>
            </a:pPr>
          </a:p>
        </p:txBody>
      </p:sp>
      <p:sp>
        <p:nvSpPr>
          <p:cNvPr id="160" name="1">
            <a:extLst xmlns:a="http://schemas.openxmlformats.org/drawingml/2006/main">
              <a:ext uri="{FF2B5EF4-FFF2-40B4-BE49-F238E27FC236}">
                <a16:creationId xmlns:a16="http://schemas.microsoft.com/office/drawing/2014/main" id="{3B18F54A-0BD7-47CD-B6A4-F6C18C34B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323084" y="3261729"/>
            <a:ext cx="233831" cy="2765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</a:ln>
        </p:spPr>
        <p:txBody>
          <a:bodyPr xmlns:a="http://schemas.openxmlformats.org/drawingml/2006/main" wrap="square" lIns="45719" tIns="45719" rIns="45719" bIns="45719" anchor="ctr">
            <a:spAutoFit/>
          </a:bodyPr>
          <a:lstStyle xmlns:a="http://schemas.openxmlformats.org/drawingml/2006/main">
            <a:lvl1pPr algn="ctr">
              <a:buNone/>
              <a:defRPr sz="1300" b="1">
                <a:solidFill>
                  <a:srgbClr val="0A0A0B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1</a:t>
            </a:r>
          </a:p>
        </p:txBody>
      </p:sp>
      <p:sp>
        <p:nvSpPr>
          <p:cNvPr id="162" name="t826">
            <a:extLst xmlns:a="http://schemas.openxmlformats.org/drawingml/2006/main">
              <a:ext uri="{FF2B5EF4-FFF2-40B4-BE49-F238E27FC236}">
                <a16:creationId xmlns:a16="http://schemas.microsoft.com/office/drawing/2014/main" id="{E9518CB0-B6CE-4AE6-BB99-DE189F35C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0000" y="3110000"/>
            <a:ext cx="5150001" cy="185099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1300" b="1">
                <a:solidFill>
                  <a:srgbClr val="F4F6F2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Trigger</a:t>
            </a:r>
          </a:p>
        </p:txBody>
      </p:sp>
      <p:sp>
        <p:nvSpPr>
          <p:cNvPr id="163" name="t827">
            <a:extLst xmlns:a="http://schemas.openxmlformats.org/drawingml/2006/main">
              <a:ext uri="{FF2B5EF4-FFF2-40B4-BE49-F238E27FC236}">
                <a16:creationId xmlns:a16="http://schemas.microsoft.com/office/drawing/2014/main" id="{E400C8E9-2479-40E5-9356-5EA2880AC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0000" y="3404999"/>
            <a:ext cx="5150001" cy="135547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1000">
                <a:solidFill>
                  <a:srgbClr val="A8AEB8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Flagged chat + biometric snapshot the instant Nora detects a critical signal.</a:t>
            </a:r>
          </a:p>
        </p:txBody>
      </p:sp>
      <p:sp>
        <p:nvSpPr>
          <p:cNvPr id="164" name="r828">
            <a:extLst xmlns:a="http://schemas.openxmlformats.org/drawingml/2006/main">
              <a:ext uri="{FF2B5EF4-FFF2-40B4-BE49-F238E27FC236}">
                <a16:creationId xmlns:a16="http://schemas.microsoft.com/office/drawing/2014/main" id="{7C9692D0-2F68-4593-8F29-F72CB03F7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0000" y="3939999"/>
            <a:ext cx="6060000" cy="880001"/>
          </a:xfrm>
          <a:prstGeom xmlns:a="http://schemas.openxmlformats.org/drawingml/2006/main" prst="roundRect">
            <a:avLst>
              <a:gd name="adj" fmla="val 9000"/>
            </a:avLst>
          </a:prstGeom>
          <a:solidFill xmlns:a="http://schemas.openxmlformats.org/drawingml/2006/main">
            <a:srgbClr val="141518"/>
          </a:solidFill>
          <a:ln xmlns:a="http://schemas.openxmlformats.org/drawingml/2006/main">
            <a:solidFill>
              <a:srgbClr val="2A2E33"/>
            </a:solidFill>
          </a:ln>
        </p:spPr>
        <p:txBody>
          <a:bodyPr xmlns:a="http://schemas.openxmlformats.org/drawingml/2006/main" lIns="45718" tIns="45718" rIns="45718" bIns="45718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n-lt"/>
                <a:ea typeface="+mn-lt"/>
                <a:cs typeface="+mn-lt"/>
              </a:defRPr>
            </a:pPr>
          </a:p>
        </p:txBody>
      </p:sp>
      <p:sp>
        <p:nvSpPr>
          <p:cNvPr id="165" name="Circle">
            <a:extLst xmlns:a="http://schemas.openxmlformats.org/drawingml/2006/main">
              <a:ext uri="{FF2B5EF4-FFF2-40B4-BE49-F238E27FC236}">
                <a16:creationId xmlns:a16="http://schemas.microsoft.com/office/drawing/2014/main" id="{2E3E6811-00AB-460A-B686-4AAD49CFC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209998" y="4149999"/>
            <a:ext cx="460004" cy="46000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12700">
            <a:noFill/>
          </a:ln>
        </p:spPr>
        <p:txBody>
          <a:bodyPr xmlns:a="http://schemas.openxmlformats.org/drawingml/2006/main" wrap="square" lIns="45718" tIns="45718" rIns="45718" bIns="4571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latin typeface="+mn-lt"/>
                <a:ea typeface="+mn-lt"/>
                <a:cs typeface="+mn-lt"/>
              </a:defRPr>
            </a:pPr>
          </a:p>
        </p:txBody>
      </p:sp>
      <p:sp>
        <p:nvSpPr>
          <p:cNvPr id="166" name="2">
            <a:extLst xmlns:a="http://schemas.openxmlformats.org/drawingml/2006/main">
              <a:ext uri="{FF2B5EF4-FFF2-40B4-BE49-F238E27FC236}">
                <a16:creationId xmlns:a16="http://schemas.microsoft.com/office/drawing/2014/main" id="{116B1F96-B924-4D5B-9DD6-6D557243E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323084" y="4241730"/>
            <a:ext cx="233831" cy="2765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</a:ln>
        </p:spPr>
        <p:txBody>
          <a:bodyPr xmlns:a="http://schemas.openxmlformats.org/drawingml/2006/main" wrap="square" lIns="45719" tIns="45719" rIns="45719" bIns="45719" anchor="ctr">
            <a:spAutoFit/>
          </a:bodyPr>
          <a:lstStyle xmlns:a="http://schemas.openxmlformats.org/drawingml/2006/main">
            <a:lvl1pPr algn="ctr">
              <a:buNone/>
              <a:defRPr sz="1300" b="1">
                <a:solidFill>
                  <a:srgbClr val="0A0A0B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2</a:t>
            </a:r>
          </a:p>
        </p:txBody>
      </p:sp>
      <p:sp>
        <p:nvSpPr>
          <p:cNvPr id="168" name="t830">
            <a:extLst xmlns:a="http://schemas.openxmlformats.org/drawingml/2006/main">
              <a:ext uri="{FF2B5EF4-FFF2-40B4-BE49-F238E27FC236}">
                <a16:creationId xmlns:a16="http://schemas.microsoft.com/office/drawing/2014/main" id="{E3774549-EB3B-4D3A-9EDC-14EBA250B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0000" y="4089999"/>
            <a:ext cx="5150001" cy="1851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1300" b="1">
                <a:solidFill>
                  <a:srgbClr val="F4F6F2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Route</a:t>
            </a:r>
          </a:p>
        </p:txBody>
      </p:sp>
      <p:sp>
        <p:nvSpPr>
          <p:cNvPr id="169" name="t831">
            <a:extLst xmlns:a="http://schemas.openxmlformats.org/drawingml/2006/main">
              <a:ext uri="{FF2B5EF4-FFF2-40B4-BE49-F238E27FC236}">
                <a16:creationId xmlns:a16="http://schemas.microsoft.com/office/drawing/2014/main" id="{5C82693C-8286-4BD4-B86D-5616909B1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0000" y="4385000"/>
            <a:ext cx="5150001" cy="27524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1000">
                <a:solidFill>
                  <a:srgbClr val="A8AEB8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The signal layer packages the full context and hands off to AuntEDNA.ai over a HIPAA-secure pathway.</a:t>
            </a:r>
          </a:p>
        </p:txBody>
      </p:sp>
      <p:sp>
        <p:nvSpPr>
          <p:cNvPr id="170" name="r832">
            <a:extLst xmlns:a="http://schemas.openxmlformats.org/drawingml/2006/main">
              <a:ext uri="{FF2B5EF4-FFF2-40B4-BE49-F238E27FC236}">
                <a16:creationId xmlns:a16="http://schemas.microsoft.com/office/drawing/2014/main" id="{FE11B4C1-E919-4DE4-9C01-14B4D9F03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0000" y="4920000"/>
            <a:ext cx="6060000" cy="880001"/>
          </a:xfrm>
          <a:prstGeom xmlns:a="http://schemas.openxmlformats.org/drawingml/2006/main" prst="roundRect">
            <a:avLst>
              <a:gd name="adj" fmla="val 9000"/>
            </a:avLst>
          </a:prstGeom>
          <a:solidFill xmlns:a="http://schemas.openxmlformats.org/drawingml/2006/main">
            <a:srgbClr val="141518"/>
          </a:solidFill>
          <a:ln xmlns:a="http://schemas.openxmlformats.org/drawingml/2006/main">
            <a:solidFill>
              <a:srgbClr val="2A2E33"/>
            </a:solidFill>
          </a:ln>
        </p:spPr>
        <p:txBody>
          <a:bodyPr xmlns:a="http://schemas.openxmlformats.org/drawingml/2006/main" lIns="45718" tIns="45718" rIns="45718" bIns="45718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n-lt"/>
                <a:ea typeface="+mn-lt"/>
                <a:cs typeface="+mn-lt"/>
              </a:defRPr>
            </a:pPr>
          </a:p>
        </p:txBody>
      </p:sp>
      <p:sp>
        <p:nvSpPr>
          <p:cNvPr id="171" name="Circle">
            <a:extLst xmlns:a="http://schemas.openxmlformats.org/drawingml/2006/main">
              <a:ext uri="{FF2B5EF4-FFF2-40B4-BE49-F238E27FC236}">
                <a16:creationId xmlns:a16="http://schemas.microsoft.com/office/drawing/2014/main" id="{534CE8FA-2D08-4054-9665-885DF95D9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209998" y="5129999"/>
            <a:ext cx="460004" cy="46000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12700">
            <a:noFill/>
          </a:ln>
        </p:spPr>
        <p:txBody>
          <a:bodyPr xmlns:a="http://schemas.openxmlformats.org/drawingml/2006/main" wrap="square" lIns="45718" tIns="45718" rIns="45718" bIns="4571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latin typeface="+mn-lt"/>
                <a:ea typeface="+mn-lt"/>
                <a:cs typeface="+mn-lt"/>
              </a:defRPr>
            </a:pPr>
          </a:p>
        </p:txBody>
      </p:sp>
      <p:sp>
        <p:nvSpPr>
          <p:cNvPr id="172" name="3">
            <a:extLst xmlns:a="http://schemas.openxmlformats.org/drawingml/2006/main">
              <a:ext uri="{FF2B5EF4-FFF2-40B4-BE49-F238E27FC236}">
                <a16:creationId xmlns:a16="http://schemas.microsoft.com/office/drawing/2014/main" id="{E45F1083-1940-4E99-A430-44350B80E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323084" y="5221730"/>
            <a:ext cx="233831" cy="2765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</a:ln>
        </p:spPr>
        <p:txBody>
          <a:bodyPr xmlns:a="http://schemas.openxmlformats.org/drawingml/2006/main" wrap="square" lIns="45719" tIns="45719" rIns="45719" bIns="45719" anchor="ctr">
            <a:spAutoFit/>
          </a:bodyPr>
          <a:lstStyle xmlns:a="http://schemas.openxmlformats.org/drawingml/2006/main">
            <a:lvl1pPr algn="ctr">
              <a:buNone/>
              <a:defRPr sz="1300" b="1">
                <a:solidFill>
                  <a:srgbClr val="0A0A0B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3</a:t>
            </a:r>
          </a:p>
        </p:txBody>
      </p:sp>
      <p:sp>
        <p:nvSpPr>
          <p:cNvPr id="174" name="t834">
            <a:extLst xmlns:a="http://schemas.openxmlformats.org/drawingml/2006/main">
              <a:ext uri="{FF2B5EF4-FFF2-40B4-BE49-F238E27FC236}">
                <a16:creationId xmlns:a16="http://schemas.microsoft.com/office/drawing/2014/main" id="{AEC63696-B982-463B-A518-5FFEC148C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0000" y="5069999"/>
            <a:ext cx="5150001" cy="1851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1300" b="1">
                <a:solidFill>
                  <a:srgbClr val="F4F6F2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Human</a:t>
            </a:r>
          </a:p>
        </p:txBody>
      </p:sp>
      <p:sp>
        <p:nvSpPr>
          <p:cNvPr id="175" name="t835">
            <a:extLst xmlns:a="http://schemas.openxmlformats.org/drawingml/2006/main">
              <a:ext uri="{FF2B5EF4-FFF2-40B4-BE49-F238E27FC236}">
                <a16:creationId xmlns:a16="http://schemas.microsoft.com/office/drawing/2014/main" id="{8C0069A7-0561-47E8-A24D-168A03971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0000" y="5365000"/>
            <a:ext cx="5150001" cy="13554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1000">
                <a:solidFill>
                  <a:srgbClr val="A8AEB8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A licensed clinician runs a same-day welfare check — a real person, not a bot.</a:t>
            </a:r>
          </a:p>
        </p:txBody>
      </p:sp>
      <p:sp>
        <p:nvSpPr>
          <p:cNvPr id="176" name="r836">
            <a:extLst xmlns:a="http://schemas.openxmlformats.org/drawingml/2006/main">
              <a:ext uri="{FF2B5EF4-FFF2-40B4-BE49-F238E27FC236}">
                <a16:creationId xmlns:a16="http://schemas.microsoft.com/office/drawing/2014/main" id="{C59C574D-0010-40A3-857A-7C6177461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6030000"/>
            <a:ext cx="10533381" cy="560001"/>
          </a:xfrm>
          <a:prstGeom xmlns:a="http://schemas.openxmlformats.org/drawingml/2006/main" prst="roundRect">
            <a:avLst>
              <a:gd name="adj" fmla="val 14000"/>
            </a:avLst>
          </a:prstGeom>
          <a:solidFill xmlns:a="http://schemas.openxmlformats.org/drawingml/2006/main">
            <a:srgbClr val="12140C"/>
          </a:solidFill>
          <a:ln xmlns:a="http://schemas.openxmlformats.org/drawingml/2006/main">
            <a:solidFill>
              <a:srgbClr val="3A4A12"/>
            </a:solidFill>
          </a:ln>
        </p:spPr>
        <p:txBody>
          <a:bodyPr xmlns:a="http://schemas.openxmlformats.org/drawingml/2006/main" lIns="45718" tIns="45718" rIns="45718" bIns="45718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n-lt"/>
                <a:ea typeface="+mn-lt"/>
                <a:cs typeface="+mn-lt"/>
              </a:defRPr>
            </a:pPr>
          </a:p>
        </p:txBody>
      </p:sp>
      <p:sp>
        <p:nvSpPr>
          <p:cNvPr id="177" name="t837">
            <a:extLst xmlns:a="http://schemas.openxmlformats.org/drawingml/2006/main">
              <a:ext uri="{FF2B5EF4-FFF2-40B4-BE49-F238E27FC236}">
                <a16:creationId xmlns:a16="http://schemas.microsoft.com/office/drawing/2014/main" id="{72C8BAFB-F533-4BDD-A9C9-1CF5E2C7F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000" y="6261085"/>
            <a:ext cx="10100000" cy="14783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100" b="1">
                <a:solidFill>
                  <a:srgbClr val="E0FE10"/>
                </a:solidFill>
                <a:latin typeface="Arial"/>
                <a:ea typeface="Arial"/>
                <a:cs typeface="Arial"/>
              </a:defRPr>
            </a:pPr>
            <a:r>
              <a:t>The difference: </a:t>
            </a:r>
            <a:r>
              <a:rPr b="0">
                <a:solidFill>
                  <a:srgbClr val="C7CBD1"/>
                </a:solidFill>
              </a:rPr>
              <a:t>chatbot “therapy” stops at the AI. Pulse Check never pretends to be the clinician — it routes to one, with the context already packaged.</a:t>
            </a:r>
          </a:p>
        </p:txBody>
      </p:sp>
    </p:spTree>
    <p:extLst>
      <p:ext uri="{BB962C8B-B14F-4D97-AF65-F5344CB8AC3E}">
        <p14:creationId xmlns:p14="http://schemas.microsoft.com/office/powerpoint/2010/main" val="1794065049"/>
      </p:ext>
    </p:extLst>
  </p:cSld>
</p:sld>
</file>

<file path=ppt/slides/slide9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0A0B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9" name="Shape 0">
            <a:extLst xmlns:a="http://schemas.openxmlformats.org/drawingml/2006/main">
              <a:ext uri="{FF2B5EF4-FFF2-40B4-BE49-F238E27FC236}">
                <a16:creationId xmlns:a16="http://schemas.microsoft.com/office/drawing/2014/main" id="{884573C1-6A18-4508-A269-9942432F6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66927"/>
            <a:ext cx="1828802" cy="384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41619"/>
          </a:solidFill>
          <a:ln xmlns:a="http://schemas.openxmlformats.org/drawingml/2006/main" w="12700">
            <a:solidFill>
              <a:srgbClr val="2A2E33"/>
            </a:solidFill>
          </a:ln>
        </p:spPr>
        <p:txBody>
          <a:bodyPr xmlns:a="http://schemas.openxmlformats.org/drawingml/2006/main" lIns="45718" tIns="45718" rIns="45718" bIns="45718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n-lt"/>
                <a:ea typeface="+mn-lt"/>
                <a:cs typeface="+mn-lt"/>
              </a:defRPr>
            </a:pPr>
          </a:p>
        </p:txBody>
      </p:sp>
      <p:sp>
        <p:nvSpPr>
          <p:cNvPr id="180" name="Shape 1">
            <a:extLst xmlns:a="http://schemas.openxmlformats.org/drawingml/2006/main">
              <a:ext uri="{FF2B5EF4-FFF2-40B4-BE49-F238E27FC236}">
                <a16:creationId xmlns:a16="http://schemas.microsoft.com/office/drawing/2014/main" id="{3692E1B7-41A9-40D0-AB44-A708C38C9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38" y="722376"/>
            <a:ext cx="73155" cy="731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FF00"/>
          </a:solidFill>
          <a:ln xmlns:a="http://schemas.openxmlformats.org/drawingml/2006/main" w="12700"/>
        </p:spPr>
        <p:txBody>
          <a:bodyPr xmlns:a="http://schemas.openxmlformats.org/drawingml/2006/main" lIns="45718" tIns="45718" rIns="45718" bIns="45718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n-lt"/>
                <a:ea typeface="+mn-lt"/>
                <a:cs typeface="+mn-lt"/>
              </a:defRPr>
            </a:pPr>
          </a:p>
        </p:txBody>
      </p:sp>
      <p:sp>
        <p:nvSpPr>
          <p:cNvPr id="181" name="Text 2">
            <a:extLst xmlns:a="http://schemas.openxmlformats.org/drawingml/2006/main">
              <a:ext uri="{FF2B5EF4-FFF2-40B4-BE49-F238E27FC236}">
                <a16:creationId xmlns:a16="http://schemas.microsoft.com/office/drawing/2014/main" id="{D542F660-428F-4BCB-A02E-E012C9532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" y="691178"/>
            <a:ext cx="1463042" cy="135547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1000" b="1" spc="200">
                <a:solidFill>
                  <a:srgbClr val="F4F6F2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THE MOAT</a:t>
            </a:r>
          </a:p>
        </p:txBody>
      </p:sp>
      <p:sp>
        <p:nvSpPr>
          <p:cNvPr id="182" name="Text 3">
            <a:extLst xmlns:a="http://schemas.openxmlformats.org/drawingml/2006/main">
              <a:ext uri="{FF2B5EF4-FFF2-40B4-BE49-F238E27FC236}">
                <a16:creationId xmlns:a16="http://schemas.microsoft.com/office/drawing/2014/main" id="{9860694F-A160-4828-930F-B21B151EF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599865"/>
            <a:ext cx="10515601" cy="54931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lnSpc>
                <a:spcPts val="4400"/>
              </a:lnSpc>
              <a:buNone/>
              <a:defRPr sz="3800" b="1">
                <a:solidFill>
                  <a:srgbClr val="F4F6F2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The Sports Intelligence Layer.</a:t>
            </a:r>
          </a:p>
        </p:txBody>
      </p:sp>
      <p:sp>
        <p:nvSpPr>
          <p:cNvPr id="183" name="Text 4">
            <a:extLst xmlns:a="http://schemas.openxmlformats.org/drawingml/2006/main">
              <a:ext uri="{FF2B5EF4-FFF2-40B4-BE49-F238E27FC236}">
                <a16:creationId xmlns:a16="http://schemas.microsoft.com/office/drawing/2014/main" id="{57949CC8-9FB3-4687-96BC-2A23F6C1A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7" y="2220742"/>
            <a:ext cx="10058401" cy="221954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1600">
                <a:solidFill>
                  <a:srgbClr val="8A9099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Competitors own one slice. Pulse Check ties the whole workflow into one institutional system.</a:t>
            </a:r>
          </a:p>
        </p:txBody>
      </p:sp>
      <p:sp>
        <p:nvSpPr>
          <p:cNvPr id="184" name="Shape 5">
            <a:extLst xmlns:a="http://schemas.openxmlformats.org/drawingml/2006/main">
              <a:ext uri="{FF2B5EF4-FFF2-40B4-BE49-F238E27FC236}">
                <a16:creationId xmlns:a16="http://schemas.microsoft.com/office/drawing/2014/main" id="{EBC5539D-B0AE-4702-8F57-00C21BA2A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788920"/>
            <a:ext cx="5074921" cy="1554482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141619"/>
          </a:solidFill>
          <a:ln xmlns:a="http://schemas.openxmlformats.org/drawingml/2006/main" w="12700">
            <a:solidFill>
              <a:srgbClr val="2A2E33"/>
            </a:solidFill>
          </a:ln>
          <a:effectLst xmlns:a="http://schemas.openxmlformats.org/drawingml/2006/main">
            <a:outerShdw blurRad="177800" dist="50800" dir="5400000" sx="100000" sy="100000" kx="0" ky="0" algn="b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 lIns="45718" tIns="45718" rIns="45718" bIns="45718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n-lt"/>
                <a:ea typeface="+mn-lt"/>
                <a:cs typeface="+mn-lt"/>
              </a:defRPr>
            </a:pPr>
          </a:p>
        </p:txBody>
      </p:sp>
      <p:sp>
        <p:nvSpPr>
          <p:cNvPr id="185" name="Shape 6">
            <a:extLst xmlns:a="http://schemas.openxmlformats.org/drawingml/2006/main">
              <a:ext uri="{FF2B5EF4-FFF2-40B4-BE49-F238E27FC236}">
                <a16:creationId xmlns:a16="http://schemas.microsoft.com/office/drawing/2014/main" id="{2346571F-CCA7-43EB-B22B-DAB436690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6" y="3108960"/>
            <a:ext cx="822963" cy="82296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1E22"/>
          </a:solidFill>
          <a:ln xmlns:a="http://schemas.openxmlformats.org/drawingml/2006/main" w="12700"/>
        </p:spPr>
        <p:txBody>
          <a:bodyPr xmlns:a="http://schemas.openxmlformats.org/drawingml/2006/main" lIns="45718" tIns="45718" rIns="45718" bIns="45718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n-lt"/>
                <a:ea typeface="+mn-lt"/>
                <a:cs typeface="+mn-lt"/>
              </a:defRPr>
            </a:pPr>
          </a:p>
        </p:txBody>
      </p:sp>
      <p:pic>
        <p:nvPicPr>
          <p:cNvPr id="215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95dd0071f74e2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337766" y="3331159"/>
            <a:ext cx="378564" cy="378564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  <p:sp>
        <p:nvSpPr>
          <p:cNvPr id="187" name="Text 7">
            <a:extLst xmlns:a="http://schemas.openxmlformats.org/drawingml/2006/main">
              <a:ext uri="{FF2B5EF4-FFF2-40B4-BE49-F238E27FC236}">
                <a16:creationId xmlns:a16="http://schemas.microsoft.com/office/drawing/2014/main" id="{CDB52C92-3C71-412B-970D-7F1A5FDF6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8838" y="3162229"/>
            <a:ext cx="3566162" cy="259222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b="1">
                <a:solidFill>
                  <a:srgbClr val="F4F6F2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Athlete biometrics</a:t>
            </a:r>
          </a:p>
        </p:txBody>
      </p:sp>
      <p:sp>
        <p:nvSpPr>
          <p:cNvPr id="188" name="Text 8">
            <a:extLst xmlns:a="http://schemas.openxmlformats.org/drawingml/2006/main">
              <a:ext uri="{FF2B5EF4-FFF2-40B4-BE49-F238E27FC236}">
                <a16:creationId xmlns:a16="http://schemas.microsoft.com/office/drawing/2014/main" id="{B40B1092-9788-438F-823D-9C995BDEC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8838" y="3646963"/>
            <a:ext cx="3611883" cy="423608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ts val="1700"/>
              </a:lnSpc>
              <a:buNone/>
              <a:defRPr sz="1300" b="1">
                <a:solidFill>
                  <a:srgbClr val="D2FB50"/>
                </a:solidFill>
                <a:latin typeface="Arial"/>
                <a:ea typeface="Arial"/>
                <a:cs typeface="Arial"/>
              </a:defRPr>
            </a:pPr>
            <a:r>
              <a:t>Sport-specific signal,</a:t>
            </a:r>
            <a:r>
              <a:rPr b="0"/>
              <a:t> </a:t>
            </a:r>
            <a:r>
              <a:rPr b="0">
                <a:solidFill>
                  <a:srgbClr val="C3C8CE"/>
                </a:solidFill>
              </a:rPr>
              <a:t>not a generic wellness score.</a:t>
            </a:r>
          </a:p>
        </p:txBody>
      </p:sp>
      <p:sp>
        <p:nvSpPr>
          <p:cNvPr id="189" name="Shape 9">
            <a:extLst xmlns:a="http://schemas.openxmlformats.org/drawingml/2006/main">
              <a:ext uri="{FF2B5EF4-FFF2-40B4-BE49-F238E27FC236}">
                <a16:creationId xmlns:a16="http://schemas.microsoft.com/office/drawing/2014/main" id="{CC674F54-91E4-4E56-9147-586C6817C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59" y="2788920"/>
            <a:ext cx="5074921" cy="1554482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141619"/>
          </a:solidFill>
          <a:ln xmlns:a="http://schemas.openxmlformats.org/drawingml/2006/main" w="12700">
            <a:solidFill>
              <a:srgbClr val="2A2E33"/>
            </a:solidFill>
          </a:ln>
          <a:effectLst xmlns:a="http://schemas.openxmlformats.org/drawingml/2006/main">
            <a:outerShdw blurRad="177800" dist="50800" dir="5400000" sx="100000" sy="100000" kx="0" ky="0" algn="b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 lIns="45718" tIns="45718" rIns="45718" bIns="45718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n-lt"/>
                <a:ea typeface="+mn-lt"/>
                <a:cs typeface="+mn-lt"/>
              </a:defRPr>
            </a:pPr>
          </a:p>
        </p:txBody>
      </p:sp>
      <p:sp>
        <p:nvSpPr>
          <p:cNvPr id="190" name="Shape 10">
            <a:extLst xmlns:a="http://schemas.openxmlformats.org/drawingml/2006/main">
              <a:ext uri="{FF2B5EF4-FFF2-40B4-BE49-F238E27FC236}">
                <a16:creationId xmlns:a16="http://schemas.microsoft.com/office/drawing/2014/main" id="{5ED65FD9-6EB8-4FA7-A71D-3D4447E7F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1968" y="3108960"/>
            <a:ext cx="822963" cy="82296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1E22"/>
          </a:solidFill>
          <a:ln xmlns:a="http://schemas.openxmlformats.org/drawingml/2006/main" w="12700"/>
        </p:spPr>
        <p:txBody>
          <a:bodyPr xmlns:a="http://schemas.openxmlformats.org/drawingml/2006/main" lIns="45718" tIns="45718" rIns="45718" bIns="45718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n-lt"/>
                <a:ea typeface="+mn-lt"/>
                <a:cs typeface="+mn-lt"/>
              </a:defRPr>
            </a:pPr>
          </a:p>
        </p:txBody>
      </p:sp>
      <p:pic>
        <p:nvPicPr>
          <p:cNvPr id="220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145eeaae76489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24167" y="3331159"/>
            <a:ext cx="378564" cy="378564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  <p:sp>
        <p:nvSpPr>
          <p:cNvPr id="192" name="Text 11">
            <a:extLst xmlns:a="http://schemas.openxmlformats.org/drawingml/2006/main">
              <a:ext uri="{FF2B5EF4-FFF2-40B4-BE49-F238E27FC236}">
                <a16:creationId xmlns:a16="http://schemas.microsoft.com/office/drawing/2014/main" id="{44FC1CCD-84B8-4BFD-990F-1A8E08E68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5240" y="3162229"/>
            <a:ext cx="3566160" cy="259222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b="1">
                <a:solidFill>
                  <a:srgbClr val="F4F6F2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Cognitive game library</a:t>
            </a:r>
          </a:p>
        </p:txBody>
      </p:sp>
      <p:sp>
        <p:nvSpPr>
          <p:cNvPr id="193" name="Text 12">
            <a:extLst xmlns:a="http://schemas.openxmlformats.org/drawingml/2006/main">
              <a:ext uri="{FF2B5EF4-FFF2-40B4-BE49-F238E27FC236}">
                <a16:creationId xmlns:a16="http://schemas.microsoft.com/office/drawing/2014/main" id="{8CE748DE-3AFB-441E-9A2F-2AE755510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5240" y="3646963"/>
            <a:ext cx="3611882" cy="423608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ts val="1700"/>
              </a:lnSpc>
              <a:buNone/>
              <a:defRPr sz="1300">
                <a:solidFill>
                  <a:srgbClr val="C3C8CE"/>
                </a:solidFill>
                <a:latin typeface="Arial"/>
                <a:ea typeface="Arial"/>
                <a:cs typeface="Arial"/>
              </a:defRPr>
            </a:pPr>
            <a:r>
              <a:t>Proprietary sims that </a:t>
            </a:r>
            <a:r>
              <a:rPr b="1">
                <a:solidFill>
                  <a:srgbClr val="D3FD51"/>
                </a:solidFill>
              </a:rPr>
              <a:t>train focus, composure, decisioning.</a:t>
            </a:r>
          </a:p>
        </p:txBody>
      </p:sp>
      <p:sp>
        <p:nvSpPr>
          <p:cNvPr id="194" name="Shape 13">
            <a:extLst xmlns:a="http://schemas.openxmlformats.org/drawingml/2006/main">
              <a:ext uri="{FF2B5EF4-FFF2-40B4-BE49-F238E27FC236}">
                <a16:creationId xmlns:a16="http://schemas.microsoft.com/office/drawing/2014/main" id="{27202D80-1BEF-41CE-ABB5-DE43E971C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526279"/>
            <a:ext cx="5074921" cy="1554482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141619"/>
          </a:solidFill>
          <a:ln xmlns:a="http://schemas.openxmlformats.org/drawingml/2006/main" w="12700">
            <a:solidFill>
              <a:srgbClr val="2A2E33"/>
            </a:solidFill>
          </a:ln>
          <a:effectLst xmlns:a="http://schemas.openxmlformats.org/drawingml/2006/main">
            <a:outerShdw blurRad="177800" dist="50800" dir="5400000" sx="100000" sy="100000" kx="0" ky="0" algn="b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 lIns="45718" tIns="45718" rIns="45718" bIns="45718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n-lt"/>
                <a:ea typeface="+mn-lt"/>
                <a:cs typeface="+mn-lt"/>
              </a:defRPr>
            </a:pPr>
          </a:p>
        </p:txBody>
      </p:sp>
      <p:sp>
        <p:nvSpPr>
          <p:cNvPr id="195" name="Shape 14">
            <a:extLst xmlns:a="http://schemas.openxmlformats.org/drawingml/2006/main">
              <a:ext uri="{FF2B5EF4-FFF2-40B4-BE49-F238E27FC236}">
                <a16:creationId xmlns:a16="http://schemas.microsoft.com/office/drawing/2014/main" id="{C6EC707B-9350-4AB4-B34C-522A491B4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6" y="4846320"/>
            <a:ext cx="822963" cy="82296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1E22"/>
          </a:solidFill>
          <a:ln xmlns:a="http://schemas.openxmlformats.org/drawingml/2006/main" w="12700"/>
        </p:spPr>
        <p:txBody>
          <a:bodyPr xmlns:a="http://schemas.openxmlformats.org/drawingml/2006/main" lIns="45718" tIns="45718" rIns="45718" bIns="45718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n-lt"/>
                <a:ea typeface="+mn-lt"/>
                <a:cs typeface="+mn-lt"/>
              </a:defRPr>
            </a:pPr>
          </a:p>
        </p:txBody>
      </p:sp>
      <p:pic>
        <p:nvPicPr>
          <p:cNvPr id="225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e2c0f736ca471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337766" y="5068518"/>
            <a:ext cx="378564" cy="378564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  <p:sp>
        <p:nvSpPr>
          <p:cNvPr id="197" name="Text 15">
            <a:extLst xmlns:a="http://schemas.openxmlformats.org/drawingml/2006/main">
              <a:ext uri="{FF2B5EF4-FFF2-40B4-BE49-F238E27FC236}">
                <a16:creationId xmlns:a16="http://schemas.microsoft.com/office/drawing/2014/main" id="{2AFEB05A-7BD1-4EF5-B099-B69405DA0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8838" y="4899588"/>
            <a:ext cx="3566162" cy="259223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b="1">
                <a:solidFill>
                  <a:srgbClr val="F4F6F2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Clinical partner routing</a:t>
            </a:r>
          </a:p>
        </p:txBody>
      </p:sp>
      <p:sp>
        <p:nvSpPr>
          <p:cNvPr id="198" name="Text 16">
            <a:extLst xmlns:a="http://schemas.openxmlformats.org/drawingml/2006/main">
              <a:ext uri="{FF2B5EF4-FFF2-40B4-BE49-F238E27FC236}">
                <a16:creationId xmlns:a16="http://schemas.microsoft.com/office/drawing/2014/main" id="{10525FFB-DB63-4DC0-81A5-16113172A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8838" y="5492274"/>
            <a:ext cx="3611883" cy="207708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ts val="1700"/>
              </a:lnSpc>
              <a:buNone/>
              <a:defRPr sz="1300">
                <a:solidFill>
                  <a:srgbClr val="C3C8CE"/>
                </a:solidFill>
                <a:latin typeface="Arial"/>
                <a:ea typeface="Arial"/>
                <a:cs typeface="Arial"/>
              </a:defRPr>
            </a:pPr>
            <a:r>
              <a:t>A real </a:t>
            </a:r>
            <a:r>
              <a:rPr b="1">
                <a:solidFill>
                  <a:srgbClr val="D2FC51"/>
                </a:solidFill>
              </a:rPr>
              <a:t>care pathway through AuntEDNA.ai.</a:t>
            </a:r>
          </a:p>
        </p:txBody>
      </p:sp>
      <p:sp>
        <p:nvSpPr>
          <p:cNvPr id="199" name="Shape 17">
            <a:extLst xmlns:a="http://schemas.openxmlformats.org/drawingml/2006/main">
              <a:ext uri="{FF2B5EF4-FFF2-40B4-BE49-F238E27FC236}">
                <a16:creationId xmlns:a16="http://schemas.microsoft.com/office/drawing/2014/main" id="{F104E169-F45C-4E6A-96FD-5702F290D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59" y="4526279"/>
            <a:ext cx="5074921" cy="1554482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141619"/>
          </a:solidFill>
          <a:ln xmlns:a="http://schemas.openxmlformats.org/drawingml/2006/main" w="12700">
            <a:solidFill>
              <a:srgbClr val="2A2E33"/>
            </a:solidFill>
          </a:ln>
          <a:effectLst xmlns:a="http://schemas.openxmlformats.org/drawingml/2006/main">
            <a:outerShdw blurRad="177800" dist="50800" dir="5400000" sx="100000" sy="100000" kx="0" ky="0" algn="b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 lIns="45718" tIns="45718" rIns="45718" bIns="45718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n-lt"/>
                <a:ea typeface="+mn-lt"/>
                <a:cs typeface="+mn-lt"/>
              </a:defRPr>
            </a:pPr>
          </a:p>
        </p:txBody>
      </p:sp>
      <p:sp>
        <p:nvSpPr>
          <p:cNvPr id="200" name="Shape 18">
            <a:extLst xmlns:a="http://schemas.openxmlformats.org/drawingml/2006/main">
              <a:ext uri="{FF2B5EF4-FFF2-40B4-BE49-F238E27FC236}">
                <a16:creationId xmlns:a16="http://schemas.microsoft.com/office/drawing/2014/main" id="{3E28F243-EA0A-49B3-A05D-889C960B0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1968" y="4846320"/>
            <a:ext cx="822963" cy="82296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1E22"/>
          </a:solidFill>
          <a:ln xmlns:a="http://schemas.openxmlformats.org/drawingml/2006/main" w="12700"/>
        </p:spPr>
        <p:txBody>
          <a:bodyPr xmlns:a="http://schemas.openxmlformats.org/drawingml/2006/main" lIns="45718" tIns="45718" rIns="45718" bIns="45718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n-lt"/>
                <a:ea typeface="+mn-lt"/>
                <a:cs typeface="+mn-lt"/>
              </a:defRPr>
            </a:pPr>
          </a:p>
        </p:txBody>
      </p:sp>
      <p:pic>
        <p:nvPicPr>
          <p:cNvPr id="230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fca8b7663b4eb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24167" y="5068518"/>
            <a:ext cx="378564" cy="378564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  <p:sp>
        <p:nvSpPr>
          <p:cNvPr id="202" name="Text 19">
            <a:extLst xmlns:a="http://schemas.openxmlformats.org/drawingml/2006/main">
              <a:ext uri="{FF2B5EF4-FFF2-40B4-BE49-F238E27FC236}">
                <a16:creationId xmlns:a16="http://schemas.microsoft.com/office/drawing/2014/main" id="{A1D2C4C6-7875-4AFD-86D5-C33EBCD24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5240" y="4899588"/>
            <a:ext cx="3566160" cy="259223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b="1">
                <a:solidFill>
                  <a:srgbClr val="F4F6F2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Institutional workflow</a:t>
            </a:r>
          </a:p>
        </p:txBody>
      </p:sp>
      <p:sp>
        <p:nvSpPr>
          <p:cNvPr id="203" name="Text 20">
            <a:extLst xmlns:a="http://schemas.openxmlformats.org/drawingml/2006/main">
              <a:ext uri="{FF2B5EF4-FFF2-40B4-BE49-F238E27FC236}">
                <a16:creationId xmlns:a16="http://schemas.microsoft.com/office/drawing/2014/main" id="{DFCC054A-84DE-4A0D-BD27-CE29D9D1C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5240" y="5384324"/>
            <a:ext cx="3611882" cy="423608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ts val="1700"/>
              </a:lnSpc>
              <a:buNone/>
              <a:defRPr sz="1300">
                <a:solidFill>
                  <a:srgbClr val="C3C8CE"/>
                </a:solidFill>
                <a:latin typeface="Arial"/>
                <a:ea typeface="Arial"/>
                <a:cs typeface="Arial"/>
              </a:defRPr>
            </a:pPr>
            <a:r>
              <a:t>Built for how athletic departments actually </a:t>
            </a:r>
            <a:r>
              <a:rPr b="1">
                <a:solidFill>
                  <a:srgbClr val="D3FD51"/>
                </a:solidFill>
              </a:rPr>
              <a:t>buy and run.</a:t>
            </a:r>
          </a:p>
        </p:txBody>
      </p:sp>
    </p:spTree>
    <p:extLst>
      <p:ext uri="{BB962C8B-B14F-4D97-AF65-F5344CB8AC3E}">
        <p14:creationId xmlns:p14="http://schemas.microsoft.com/office/powerpoint/2010/main" val="1844378563"/>
      </p:ext>
    </p:extLst>
  </p:cSld>
</p:sld>
</file>

<file path=ppt/slides/slide10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0A0B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5" name="Shape 0">
            <a:extLst xmlns:a="http://schemas.openxmlformats.org/drawingml/2006/main">
              <a:ext uri="{FF2B5EF4-FFF2-40B4-BE49-F238E27FC236}">
                <a16:creationId xmlns:a16="http://schemas.microsoft.com/office/drawing/2014/main" id="{1FEA4FAF-A5A8-4316-AEFE-7BA1150A1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66927"/>
            <a:ext cx="2080262" cy="384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41619"/>
          </a:solidFill>
          <a:ln xmlns:a="http://schemas.openxmlformats.org/drawingml/2006/main" w="12700">
            <a:solidFill>
              <a:srgbClr val="2A2E33"/>
            </a:solidFill>
          </a:ln>
        </p:spPr>
        <p:txBody>
          <a:bodyPr xmlns:a="http://schemas.openxmlformats.org/drawingml/2006/main" lIns="45718" tIns="45718" rIns="45718" bIns="45718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n-lt"/>
                <a:ea typeface="+mn-lt"/>
                <a:cs typeface="+mn-lt"/>
              </a:defRPr>
            </a:pPr>
          </a:p>
        </p:txBody>
      </p:sp>
      <p:sp>
        <p:nvSpPr>
          <p:cNvPr id="206" name="Shape 1">
            <a:extLst xmlns:a="http://schemas.openxmlformats.org/drawingml/2006/main">
              <a:ext uri="{FF2B5EF4-FFF2-40B4-BE49-F238E27FC236}">
                <a16:creationId xmlns:a16="http://schemas.microsoft.com/office/drawing/2014/main" id="{4F5ECFB0-0D5A-4B1E-9D57-813EE9C0D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38" y="722376"/>
            <a:ext cx="73155" cy="731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FF00"/>
          </a:solidFill>
          <a:ln xmlns:a="http://schemas.openxmlformats.org/drawingml/2006/main" w="12700"/>
        </p:spPr>
        <p:txBody>
          <a:bodyPr xmlns:a="http://schemas.openxmlformats.org/drawingml/2006/main" lIns="45718" tIns="45718" rIns="45718" bIns="45718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n-lt"/>
                <a:ea typeface="+mn-lt"/>
                <a:cs typeface="+mn-lt"/>
              </a:defRPr>
            </a:pPr>
          </a:p>
        </p:txBody>
      </p:sp>
      <p:sp>
        <p:nvSpPr>
          <p:cNvPr id="207" name="Text 2">
            <a:extLst xmlns:a="http://schemas.openxmlformats.org/drawingml/2006/main">
              <a:ext uri="{FF2B5EF4-FFF2-40B4-BE49-F238E27FC236}">
                <a16:creationId xmlns:a16="http://schemas.microsoft.com/office/drawing/2014/main" id="{37EA9285-8C37-4EA2-8666-AD81C9A98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" y="691178"/>
            <a:ext cx="1714501" cy="135547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1000" b="1" spc="200">
                <a:solidFill>
                  <a:srgbClr val="F4F6F2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PROOF IN MOTION</a:t>
            </a:r>
          </a:p>
        </p:txBody>
      </p:sp>
      <p:sp>
        <p:nvSpPr>
          <p:cNvPr id="208" name="Text 3">
            <a:extLst xmlns:a="http://schemas.openxmlformats.org/drawingml/2006/main">
              <a:ext uri="{FF2B5EF4-FFF2-40B4-BE49-F238E27FC236}">
                <a16:creationId xmlns:a16="http://schemas.microsoft.com/office/drawing/2014/main" id="{0F37441B-7052-4F67-BBB4-2EEA30797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599865"/>
            <a:ext cx="10515601" cy="54931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lnSpc>
                <a:spcPts val="4400"/>
              </a:lnSpc>
              <a:buNone/>
              <a:defRPr sz="3800" b="1">
                <a:solidFill>
                  <a:srgbClr val="F4F6F2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Three paid pilots, on real campuses.</a:t>
            </a:r>
          </a:p>
        </p:txBody>
      </p:sp>
      <p:pic>
        <p:nvPicPr>
          <p:cNvPr id="23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0984f6e7cd4ee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22960" y="2148838"/>
            <a:ext cx="2743202" cy="3703324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  <p:sp>
        <p:nvSpPr>
          <p:cNvPr id="210" name="Shape 4">
            <a:extLst xmlns:a="http://schemas.openxmlformats.org/drawingml/2006/main">
              <a:ext uri="{FF2B5EF4-FFF2-40B4-BE49-F238E27FC236}">
                <a16:creationId xmlns:a16="http://schemas.microsoft.com/office/drawing/2014/main" id="{B845D997-C63A-41F4-9DB2-1199D113E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440679"/>
            <a:ext cx="2743202" cy="411482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C8FF00"/>
          </a:solidFill>
          <a:ln xmlns:a="http://schemas.openxmlformats.org/drawingml/2006/main" w="12700"/>
        </p:spPr>
        <p:txBody>
          <a:bodyPr xmlns:a="http://schemas.openxmlformats.org/drawingml/2006/main" lIns="45718" tIns="45718" rIns="45718" bIns="45718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n-lt"/>
                <a:ea typeface="+mn-lt"/>
                <a:cs typeface="+mn-lt"/>
              </a:defRPr>
            </a:pPr>
          </a:p>
        </p:txBody>
      </p:sp>
      <p:sp>
        <p:nvSpPr>
          <p:cNvPr id="211" name="Text 5">
            <a:extLst xmlns:a="http://schemas.openxmlformats.org/drawingml/2006/main">
              <a:ext uri="{FF2B5EF4-FFF2-40B4-BE49-F238E27FC236}">
                <a16:creationId xmlns:a16="http://schemas.microsoft.com/office/drawing/2014/main" id="{51D79A31-F71A-4397-A3B5-D2F15D85C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19" y="5578647"/>
            <a:ext cx="2560323" cy="13554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1000" b="1" spc="100">
                <a:solidFill>
                  <a:srgbClr val="0A0B0D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NAKYALA  ·  CLARK ATLANTA</a:t>
            </a:r>
          </a:p>
        </p:txBody>
      </p:sp>
      <p:sp>
        <p:nvSpPr>
          <p:cNvPr id="212" name="Text 6">
            <a:extLst xmlns:a="http://schemas.openxmlformats.org/drawingml/2006/main">
              <a:ext uri="{FF2B5EF4-FFF2-40B4-BE49-F238E27FC236}">
                <a16:creationId xmlns:a16="http://schemas.microsoft.com/office/drawing/2014/main" id="{6EBF9C75-5876-48BF-8004-5DAB001EE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199" y="2367339"/>
            <a:ext cx="7498083" cy="56884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ts val="2300"/>
              </a:lnSpc>
              <a:buNone/>
              <a:defRPr sz="1600">
                <a:solidFill>
                  <a:srgbClr val="C3C8CE"/>
                </a:solidFill>
                <a:latin typeface="Arial"/>
                <a:ea typeface="Arial"/>
                <a:cs typeface="Arial"/>
              </a:defRPr>
            </a:pPr>
            <a:r>
              <a:t>Three approved paid pilots — </a:t>
            </a:r>
            <a:r>
              <a:rPr b="1">
                <a:solidFill>
                  <a:srgbClr val="D3FD51"/>
                </a:solidFill>
              </a:rPr>
              <a:t>Clark Atlanta</a:t>
            </a:r>
            <a:r>
              <a:rPr>
                <a:solidFill>
                  <a:srgbClr val="D3FD51"/>
                </a:solidFill>
              </a:rPr>
              <a:t>, </a:t>
            </a:r>
            <a:r>
              <a:rPr b="1">
                <a:solidFill>
                  <a:srgbClr val="D3FD51"/>
                </a:solidFill>
              </a:rPr>
              <a:t>DePaul, and UMES. Worcester State </a:t>
            </a:r>
            <a:r>
              <a:t>and the </a:t>
            </a:r>
            <a:r>
              <a:rPr b="1">
                <a:solidFill>
                  <a:srgbClr val="D3FD51"/>
                </a:solidFill>
              </a:rPr>
              <a:t>New England Patriots </a:t>
            </a:r>
            <a:r>
              <a:t>are in active conversation.</a:t>
            </a:r>
          </a:p>
        </p:txBody>
      </p:sp>
      <p:sp>
        <p:nvSpPr>
          <p:cNvPr id="213" name="Shape 7">
            <a:extLst xmlns:a="http://schemas.openxmlformats.org/drawingml/2006/main">
              <a:ext uri="{FF2B5EF4-FFF2-40B4-BE49-F238E27FC236}">
                <a16:creationId xmlns:a16="http://schemas.microsoft.com/office/drawing/2014/main" id="{593CA859-67E5-4AFF-A46E-14BB4EBF6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3246120"/>
            <a:ext cx="2395728" cy="1371602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141619"/>
          </a:solidFill>
          <a:ln xmlns:a="http://schemas.openxmlformats.org/drawingml/2006/main" w="12700">
            <a:solidFill>
              <a:srgbClr val="2A2E33"/>
            </a:solidFill>
          </a:ln>
          <a:effectLst xmlns:a="http://schemas.openxmlformats.org/drawingml/2006/main">
            <a:outerShdw blurRad="177800" dist="50800" dir="5400000" sx="100000" sy="100000" kx="0" ky="0" algn="b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 lIns="45718" tIns="45718" rIns="45718" bIns="45718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n-lt"/>
                <a:ea typeface="+mn-lt"/>
                <a:cs typeface="+mn-lt"/>
              </a:defRPr>
            </a:pPr>
          </a:p>
        </p:txBody>
      </p:sp>
      <p:sp>
        <p:nvSpPr>
          <p:cNvPr id="214" name="Text 8">
            <a:extLst xmlns:a="http://schemas.openxmlformats.org/drawingml/2006/main">
              <a:ext uri="{FF2B5EF4-FFF2-40B4-BE49-F238E27FC236}">
                <a16:creationId xmlns:a16="http://schemas.microsoft.com/office/drawing/2014/main" id="{2D0690A8-A2A9-48DF-B533-39022972E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2232" y="3486355"/>
            <a:ext cx="2011680" cy="333345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2300" b="1">
                <a:solidFill>
                  <a:srgbClr val="C8FF00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3</a:t>
            </a:r>
          </a:p>
        </p:txBody>
      </p:sp>
      <p:sp>
        <p:nvSpPr>
          <p:cNvPr id="215" name="Text 9">
            <a:extLst xmlns:a="http://schemas.openxmlformats.org/drawingml/2006/main">
              <a:ext uri="{FF2B5EF4-FFF2-40B4-BE49-F238E27FC236}">
                <a16:creationId xmlns:a16="http://schemas.microsoft.com/office/drawing/2014/main" id="{A89746E3-4880-42D1-94FB-66C5D2DC0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2232" y="4115237"/>
            <a:ext cx="2057402" cy="182005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lnSpc>
                <a:spcPts val="1500"/>
              </a:lnSpc>
              <a:buNone/>
              <a:defRPr sz="1100">
                <a:solidFill>
                  <a:srgbClr val="8A9099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approved paid pilots</a:t>
            </a:r>
          </a:p>
        </p:txBody>
      </p:sp>
      <p:sp>
        <p:nvSpPr>
          <p:cNvPr id="216" name="Shape 10">
            <a:extLst xmlns:a="http://schemas.openxmlformats.org/drawingml/2006/main">
              <a:ext uri="{FF2B5EF4-FFF2-40B4-BE49-F238E27FC236}">
                <a16:creationId xmlns:a16="http://schemas.microsoft.com/office/drawing/2014/main" id="{89CF3A44-601C-4CC8-9DDC-93ED3FD7F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8232" y="3246120"/>
            <a:ext cx="2395730" cy="1371602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141619"/>
          </a:solidFill>
          <a:ln xmlns:a="http://schemas.openxmlformats.org/drawingml/2006/main" w="12700">
            <a:solidFill>
              <a:srgbClr val="2A2E33"/>
            </a:solidFill>
          </a:ln>
          <a:effectLst xmlns:a="http://schemas.openxmlformats.org/drawingml/2006/main">
            <a:outerShdw blurRad="177800" dist="50800" dir="5400000" sx="100000" sy="100000" kx="0" ky="0" algn="b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 lIns="45718" tIns="45718" rIns="45718" bIns="45718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n-lt"/>
                <a:ea typeface="+mn-lt"/>
                <a:cs typeface="+mn-lt"/>
              </a:defRPr>
            </a:pPr>
          </a:p>
        </p:txBody>
      </p:sp>
      <p:sp>
        <p:nvSpPr>
          <p:cNvPr id="217" name="Text 11">
            <a:extLst xmlns:a="http://schemas.openxmlformats.org/drawingml/2006/main">
              <a:ext uri="{FF2B5EF4-FFF2-40B4-BE49-F238E27FC236}">
                <a16:creationId xmlns:a16="http://schemas.microsoft.com/office/drawing/2014/main" id="{7B0AEB32-6E6A-47C1-AB1B-EBABAA834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4264" y="3486355"/>
            <a:ext cx="2011680" cy="333345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2300" b="1">
                <a:solidFill>
                  <a:srgbClr val="5B9DFF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$355</a:t>
            </a:r>
          </a:p>
        </p:txBody>
      </p:sp>
      <p:sp>
        <p:nvSpPr>
          <p:cNvPr id="218" name="Text 12">
            <a:extLst xmlns:a="http://schemas.openxmlformats.org/drawingml/2006/main">
              <a:ext uri="{FF2B5EF4-FFF2-40B4-BE49-F238E27FC236}">
                <a16:creationId xmlns:a16="http://schemas.microsoft.com/office/drawing/2014/main" id="{B3D851FA-7FEB-4277-9E5F-A97832703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4264" y="4115237"/>
            <a:ext cx="2057402" cy="182005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lnSpc>
                <a:spcPts val="1500"/>
              </a:lnSpc>
              <a:buNone/>
              <a:defRPr sz="1100">
                <a:solidFill>
                  <a:srgbClr val="8A9099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per athlete · first 90 days</a:t>
            </a:r>
          </a:p>
        </p:txBody>
      </p:sp>
      <p:sp>
        <p:nvSpPr>
          <p:cNvPr id="219" name="Shape 13">
            <a:extLst xmlns:a="http://schemas.openxmlformats.org/drawingml/2006/main">
              <a:ext uri="{FF2B5EF4-FFF2-40B4-BE49-F238E27FC236}">
                <a16:creationId xmlns:a16="http://schemas.microsoft.com/office/drawing/2014/main" id="{467FFD14-BE5F-4119-B9CE-5E114E9C8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0264" y="3246120"/>
            <a:ext cx="2395730" cy="1371602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141619"/>
          </a:solidFill>
          <a:ln xmlns:a="http://schemas.openxmlformats.org/drawingml/2006/main" w="12700">
            <a:solidFill>
              <a:srgbClr val="2A2E33"/>
            </a:solidFill>
          </a:ln>
          <a:effectLst xmlns:a="http://schemas.openxmlformats.org/drawingml/2006/main">
            <a:outerShdw blurRad="177800" dist="50800" dir="5400000" sx="100000" sy="100000" kx="0" ky="0" algn="b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 lIns="45718" tIns="45718" rIns="45718" bIns="45718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n-lt"/>
                <a:ea typeface="+mn-lt"/>
                <a:cs typeface="+mn-lt"/>
              </a:defRPr>
            </a:pPr>
          </a:p>
        </p:txBody>
      </p:sp>
      <p:sp>
        <p:nvSpPr>
          <p:cNvPr id="220" name="Text 14">
            <a:extLst xmlns:a="http://schemas.openxmlformats.org/drawingml/2006/main">
              <a:ext uri="{FF2B5EF4-FFF2-40B4-BE49-F238E27FC236}">
                <a16:creationId xmlns:a16="http://schemas.microsoft.com/office/drawing/2014/main" id="{016545ED-B12D-47CD-A17C-85A00236A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5" y="3486355"/>
            <a:ext cx="2011679" cy="333345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2300" b="1">
                <a:solidFill>
                  <a:srgbClr val="A98BFF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$229</a:t>
            </a:r>
          </a:p>
        </p:txBody>
      </p:sp>
      <p:sp>
        <p:nvSpPr>
          <p:cNvPr id="221" name="Text 15">
            <a:extLst xmlns:a="http://schemas.openxmlformats.org/drawingml/2006/main">
              <a:ext uri="{FF2B5EF4-FFF2-40B4-BE49-F238E27FC236}">
                <a16:creationId xmlns:a16="http://schemas.microsoft.com/office/drawing/2014/main" id="{A0AEC772-7936-4BD6-84C2-932995DFA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4" y="4115237"/>
            <a:ext cx="2057402" cy="182005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lnSpc>
                <a:spcPts val="1500"/>
              </a:lnSpc>
              <a:buNone/>
              <a:defRPr sz="1100">
                <a:solidFill>
                  <a:srgbClr val="8A9099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per athlete · annual continuation</a:t>
            </a:r>
          </a:p>
        </p:txBody>
      </p:sp>
      <p:sp>
        <p:nvSpPr>
          <p:cNvPr id="222" name="Shape 16">
            <a:extLst xmlns:a="http://schemas.openxmlformats.org/drawingml/2006/main">
              <a:ext uri="{FF2B5EF4-FFF2-40B4-BE49-F238E27FC236}">
                <a16:creationId xmlns:a16="http://schemas.microsoft.com/office/drawing/2014/main" id="{407FD8A7-2021-498E-8616-2D2F56C58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4800600"/>
            <a:ext cx="7498082" cy="1051562"/>
          </a:xfrm>
          <a:prstGeom xmlns:a="http://schemas.openxmlformats.org/drawingml/2006/main" prst="roundRect">
            <a:avLst>
              <a:gd name="adj" fmla="val 10435"/>
            </a:avLst>
          </a:prstGeom>
          <a:solidFill xmlns:a="http://schemas.openxmlformats.org/drawingml/2006/main">
            <a:srgbClr val="141619"/>
          </a:solidFill>
          <a:ln xmlns:a="http://schemas.openxmlformats.org/drawingml/2006/main" w="12700">
            <a:solidFill>
              <a:srgbClr val="C8FF00"/>
            </a:solidFill>
          </a:ln>
          <a:effectLst xmlns:a="http://schemas.openxmlformats.org/drawingml/2006/main">
            <a:outerShdw blurRad="177800" dist="50800" dir="5400000" sx="100000" sy="100000" kx="0" ky="0" algn="b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 lIns="45718" tIns="45718" rIns="45718" bIns="45718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n-lt"/>
                <a:ea typeface="+mn-lt"/>
                <a:cs typeface="+mn-lt"/>
              </a:defRPr>
            </a:pPr>
          </a:p>
        </p:txBody>
      </p:sp>
      <p:pic>
        <p:nvPicPr>
          <p:cNvPr id="24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e0c717c4ac94d3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206240" y="5074920"/>
            <a:ext cx="457202" cy="457202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  <p:sp>
        <p:nvSpPr>
          <p:cNvPr id="224" name="Text 17">
            <a:extLst xmlns:a="http://schemas.openxmlformats.org/drawingml/2006/main">
              <a:ext uri="{FF2B5EF4-FFF2-40B4-BE49-F238E27FC236}">
                <a16:creationId xmlns:a16="http://schemas.microsoft.com/office/drawing/2014/main" id="{F4A8F5ED-CF1D-47AD-8D7E-389BA45FE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5103145"/>
            <a:ext cx="6309362" cy="446468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ts val="1800"/>
              </a:lnSpc>
              <a:buNone/>
              <a:defRPr sz="1300" b="1">
                <a:solidFill>
                  <a:srgbClr val="F4F6F2"/>
                </a:solidFill>
                <a:latin typeface="Arial"/>
                <a:ea typeface="Arial"/>
                <a:cs typeface="Arial"/>
              </a:defRPr>
            </a:pPr>
            <a:r>
              <a:t>Why it matters.  </a:t>
            </a:r>
            <a:r>
              <a:rPr b="0">
                <a:solidFill>
                  <a:srgbClr val="C3C8CE"/>
                </a:solidFill>
              </a:rPr>
              <a:t>Three approved pilots prove the product, compliance, and commercial story at once.</a:t>
            </a:r>
          </a:p>
        </p:txBody>
      </p:sp>
    </p:spTree>
    <p:extLst>
      <p:ext uri="{BB962C8B-B14F-4D97-AF65-F5344CB8AC3E}">
        <p14:creationId xmlns:p14="http://schemas.microsoft.com/office/powerpoint/2010/main" val="995215224"/>
      </p:ext>
    </p:extLst>
  </p:cSld>
</p:sld>
</file>

<file path=ppt/slides/slide11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0A0B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6" name="Shape 0">
            <a:extLst xmlns:a="http://schemas.openxmlformats.org/drawingml/2006/main">
              <a:ext uri="{FF2B5EF4-FFF2-40B4-BE49-F238E27FC236}">
                <a16:creationId xmlns:a16="http://schemas.microsoft.com/office/drawing/2014/main" id="{6154741B-CE91-45F4-9BA6-16367AA08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66927"/>
            <a:ext cx="1828802" cy="384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41619"/>
          </a:solidFill>
          <a:ln xmlns:a="http://schemas.openxmlformats.org/drawingml/2006/main" w="12700">
            <a:solidFill>
              <a:srgbClr val="2A2E33"/>
            </a:solidFill>
          </a:ln>
        </p:spPr>
        <p:txBody>
          <a:bodyPr xmlns:a="http://schemas.openxmlformats.org/drawingml/2006/main" lIns="45718" tIns="45718" rIns="45718" bIns="45718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n-lt"/>
                <a:ea typeface="+mn-lt"/>
                <a:cs typeface="+mn-lt"/>
              </a:defRPr>
            </a:pPr>
          </a:p>
        </p:txBody>
      </p:sp>
      <p:sp>
        <p:nvSpPr>
          <p:cNvPr id="227" name="Shape 1">
            <a:extLst xmlns:a="http://schemas.openxmlformats.org/drawingml/2006/main">
              <a:ext uri="{FF2B5EF4-FFF2-40B4-BE49-F238E27FC236}">
                <a16:creationId xmlns:a16="http://schemas.microsoft.com/office/drawing/2014/main" id="{6129D0F6-F961-4F4A-ADEE-88F78E1BD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38" y="722376"/>
            <a:ext cx="73155" cy="731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FF00"/>
          </a:solidFill>
          <a:ln xmlns:a="http://schemas.openxmlformats.org/drawingml/2006/main" w="12700"/>
        </p:spPr>
        <p:txBody>
          <a:bodyPr xmlns:a="http://schemas.openxmlformats.org/drawingml/2006/main" lIns="45718" tIns="45718" rIns="45718" bIns="45718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n-lt"/>
                <a:ea typeface="+mn-lt"/>
                <a:cs typeface="+mn-lt"/>
              </a:defRPr>
            </a:pPr>
          </a:p>
        </p:txBody>
      </p:sp>
      <p:sp>
        <p:nvSpPr>
          <p:cNvPr id="228" name="Text 2">
            <a:extLst xmlns:a="http://schemas.openxmlformats.org/drawingml/2006/main">
              <a:ext uri="{FF2B5EF4-FFF2-40B4-BE49-F238E27FC236}">
                <a16:creationId xmlns:a16="http://schemas.microsoft.com/office/drawing/2014/main" id="{48C5491D-7201-4419-B501-5EC3BD8EC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" y="691178"/>
            <a:ext cx="1463042" cy="135547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1000" b="1" spc="200">
                <a:solidFill>
                  <a:srgbClr val="F4F6F2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THE MARKET</a:t>
            </a:r>
          </a:p>
        </p:txBody>
      </p:sp>
      <p:sp>
        <p:nvSpPr>
          <p:cNvPr id="229" name="Text 3">
            <a:extLst xmlns:a="http://schemas.openxmlformats.org/drawingml/2006/main">
              <a:ext uri="{FF2B5EF4-FFF2-40B4-BE49-F238E27FC236}">
                <a16:creationId xmlns:a16="http://schemas.microsoft.com/office/drawing/2014/main" id="{7147CCD7-32DC-4B63-AB3D-8E28D8712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602555"/>
            <a:ext cx="10515601" cy="543929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ts val="4400"/>
              </a:lnSpc>
              <a:buNone/>
              <a:defRPr sz="3600" b="1">
                <a:solidFill>
                  <a:srgbClr val="F4F6F2"/>
                </a:solidFill>
                <a:latin typeface="Arial"/>
                <a:ea typeface="Arial"/>
                <a:cs typeface="Arial"/>
              </a:defRPr>
            </a:pPr>
            <a:r>
              <a:t>We start where compliance is </a:t>
            </a:r>
            <a:r>
              <a:rPr>
                <a:solidFill>
                  <a:srgbClr val="C8FF00"/>
                </a:solidFill>
              </a:rPr>
              <a:t>mandatory.</a:t>
            </a:r>
          </a:p>
        </p:txBody>
      </p:sp>
      <p:sp>
        <p:nvSpPr>
          <p:cNvPr id="230" name="Text 4">
            <a:extLst xmlns:a="http://schemas.openxmlformats.org/drawingml/2006/main">
              <a:ext uri="{FF2B5EF4-FFF2-40B4-BE49-F238E27FC236}">
                <a16:creationId xmlns:a16="http://schemas.microsoft.com/office/drawing/2014/main" id="{B0AC5988-E717-43C0-A424-07AD46677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7" y="2220742"/>
            <a:ext cx="10058401" cy="221954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1600">
                <a:solidFill>
                  <a:srgbClr val="8A9099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Every NCAA school is a required buyer. We land schools first, then expand to the pro and federation tiers.</a:t>
            </a:r>
          </a:p>
        </p:txBody>
      </p:sp>
      <p:sp>
        <p:nvSpPr>
          <p:cNvPr id="231" name="Shape 5">
            <a:extLst xmlns:a="http://schemas.openxmlformats.org/drawingml/2006/main">
              <a:ext uri="{FF2B5EF4-FFF2-40B4-BE49-F238E27FC236}">
                <a16:creationId xmlns:a16="http://schemas.microsoft.com/office/drawing/2014/main" id="{05F3A676-BECC-4729-9F00-203AE1473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788920"/>
            <a:ext cx="10561320" cy="1691642"/>
          </a:xfrm>
          <a:prstGeom xmlns:a="http://schemas.openxmlformats.org/drawingml/2006/main" prst="roundRect">
            <a:avLst>
              <a:gd name="adj" fmla="val 6486"/>
            </a:avLst>
          </a:prstGeom>
          <a:solidFill xmlns:a="http://schemas.openxmlformats.org/drawingml/2006/main">
            <a:srgbClr val="141619"/>
          </a:solidFill>
          <a:ln xmlns:a="http://schemas.openxmlformats.org/drawingml/2006/main" w="12700">
            <a:solidFill>
              <a:srgbClr val="C8FF00"/>
            </a:solidFill>
          </a:ln>
          <a:effectLst xmlns:a="http://schemas.openxmlformats.org/drawingml/2006/main">
            <a:outerShdw blurRad="177800" dist="50800" dir="5400000" sx="100000" sy="100000" kx="0" ky="0" algn="b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 lIns="45718" tIns="45718" rIns="45718" bIns="45718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n-lt"/>
                <a:ea typeface="+mn-lt"/>
                <a:cs typeface="+mn-lt"/>
              </a:defRPr>
            </a:pPr>
          </a:p>
        </p:txBody>
      </p:sp>
      <p:sp>
        <p:nvSpPr>
          <p:cNvPr id="232" name="Text 6">
            <a:extLst xmlns:a="http://schemas.openxmlformats.org/drawingml/2006/main">
              <a:ext uri="{FF2B5EF4-FFF2-40B4-BE49-F238E27FC236}">
                <a16:creationId xmlns:a16="http://schemas.microsoft.com/office/drawing/2014/main" id="{27A800A0-3356-412D-A697-858AB9272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080765"/>
            <a:ext cx="5486400" cy="14783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1100" b="1" spc="200">
                <a:solidFill>
                  <a:srgbClr val="C8FF00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PRIMARY FOCUS  ·  NCAA INSTITUTIONS</a:t>
            </a:r>
          </a:p>
        </p:txBody>
      </p:sp>
      <p:sp>
        <p:nvSpPr>
          <p:cNvPr id="233" name="Text 7">
            <a:extLst xmlns:a="http://schemas.openxmlformats.org/drawingml/2006/main">
              <a:ext uri="{FF2B5EF4-FFF2-40B4-BE49-F238E27FC236}">
                <a16:creationId xmlns:a16="http://schemas.microsoft.com/office/drawing/2014/main" id="{A82568D8-F12A-4AEC-AF86-D60C537CE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425878"/>
            <a:ext cx="3200400" cy="554882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4000" b="1">
                <a:solidFill>
                  <a:srgbClr val="5B9DFF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1,100+</a:t>
            </a:r>
          </a:p>
        </p:txBody>
      </p:sp>
      <p:sp>
        <p:nvSpPr>
          <p:cNvPr id="234" name="Text 8">
            <a:extLst xmlns:a="http://schemas.openxmlformats.org/drawingml/2006/main">
              <a:ext uri="{FF2B5EF4-FFF2-40B4-BE49-F238E27FC236}">
                <a16:creationId xmlns:a16="http://schemas.microsoft.com/office/drawing/2014/main" id="{DA067B8F-A706-40F1-84B4-DFA889E39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19" y="4142692"/>
            <a:ext cx="3108962" cy="172815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1200">
                <a:solidFill>
                  <a:srgbClr val="C3C8CE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NCAA member schools</a:t>
            </a:r>
          </a:p>
        </p:txBody>
      </p:sp>
      <p:sp>
        <p:nvSpPr>
          <p:cNvPr id="235" name="Text 9">
            <a:extLst xmlns:a="http://schemas.openxmlformats.org/drawingml/2006/main">
              <a:ext uri="{FF2B5EF4-FFF2-40B4-BE49-F238E27FC236}">
                <a16:creationId xmlns:a16="http://schemas.microsoft.com/office/drawing/2014/main" id="{572FCA2D-6A04-4506-A177-6F660567B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425878"/>
            <a:ext cx="3200400" cy="554882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4000" b="1">
                <a:solidFill>
                  <a:srgbClr val="A98BFF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520K+</a:t>
            </a:r>
          </a:p>
        </p:txBody>
      </p:sp>
      <p:sp>
        <p:nvSpPr>
          <p:cNvPr id="236" name="Text 10">
            <a:extLst xmlns:a="http://schemas.openxmlformats.org/drawingml/2006/main">
              <a:ext uri="{FF2B5EF4-FFF2-40B4-BE49-F238E27FC236}">
                <a16:creationId xmlns:a16="http://schemas.microsoft.com/office/drawing/2014/main" id="{2EA57A5A-F05A-478C-8267-3C6512AA9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7720" y="4142692"/>
            <a:ext cx="3108962" cy="172815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1200">
                <a:solidFill>
                  <a:srgbClr val="C3C8CE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student-athletes</a:t>
            </a:r>
          </a:p>
        </p:txBody>
      </p:sp>
      <p:sp>
        <p:nvSpPr>
          <p:cNvPr id="237" name="Text 11">
            <a:extLst xmlns:a="http://schemas.openxmlformats.org/drawingml/2006/main">
              <a:ext uri="{FF2B5EF4-FFF2-40B4-BE49-F238E27FC236}">
                <a16:creationId xmlns:a16="http://schemas.microsoft.com/office/drawing/2014/main" id="{343FAC21-185D-4396-9189-FAAEF6AED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425878"/>
            <a:ext cx="3200400" cy="554882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4000" b="1">
                <a:solidFill>
                  <a:srgbClr val="C8FF00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100%</a:t>
            </a:r>
          </a:p>
        </p:txBody>
      </p:sp>
      <p:sp>
        <p:nvSpPr>
          <p:cNvPr id="238" name="Text 12">
            <a:extLst xmlns:a="http://schemas.openxmlformats.org/drawingml/2006/main">
              <a:ext uri="{FF2B5EF4-FFF2-40B4-BE49-F238E27FC236}">
                <a16:creationId xmlns:a16="http://schemas.microsoft.com/office/drawing/2014/main" id="{42E7690E-EB9B-47EC-B0DA-4566BD501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18" y="4142692"/>
            <a:ext cx="3108962" cy="172815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1200">
                <a:solidFill>
                  <a:srgbClr val="C3C8CE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require mental health support</a:t>
            </a:r>
          </a:p>
        </p:txBody>
      </p:sp>
      <p:sp>
        <p:nvSpPr>
          <p:cNvPr id="239" name="Text 13">
            <a:extLst xmlns:a="http://schemas.openxmlformats.org/drawingml/2006/main">
              <a:ext uri="{FF2B5EF4-FFF2-40B4-BE49-F238E27FC236}">
                <a16:creationId xmlns:a16="http://schemas.microsoft.com/office/drawing/2014/main" id="{A1C5E514-96A6-481C-A584-F55AC803D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6" y="4772404"/>
            <a:ext cx="5486403" cy="14783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1100" b="1" spc="200">
                <a:solidFill>
                  <a:srgbClr val="8A9099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LATER EXPANSION</a:t>
            </a:r>
          </a:p>
        </p:txBody>
      </p:sp>
      <p:sp>
        <p:nvSpPr>
          <p:cNvPr id="240" name="Shape 14">
            <a:extLst xmlns:a="http://schemas.openxmlformats.org/drawingml/2006/main">
              <a:ext uri="{FF2B5EF4-FFF2-40B4-BE49-F238E27FC236}">
                <a16:creationId xmlns:a16="http://schemas.microsoft.com/office/drawing/2014/main" id="{0F449681-1897-4CCB-87C4-CFF2BCB0E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029200"/>
            <a:ext cx="3429002" cy="9144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141619"/>
          </a:solidFill>
          <a:ln xmlns:a="http://schemas.openxmlformats.org/drawingml/2006/main" w="12700">
            <a:solidFill>
              <a:srgbClr val="2A2E33"/>
            </a:solidFill>
          </a:ln>
          <a:effectLst xmlns:a="http://schemas.openxmlformats.org/drawingml/2006/main">
            <a:outerShdw blurRad="177800" dist="50800" dir="5400000" sx="100000" sy="100000" kx="0" ky="0" algn="b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 lIns="45718" tIns="45718" rIns="45718" bIns="45718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n-lt"/>
                <a:ea typeface="+mn-lt"/>
                <a:cs typeface="+mn-lt"/>
              </a:defRPr>
            </a:pPr>
          </a:p>
        </p:txBody>
      </p:sp>
      <p:sp>
        <p:nvSpPr>
          <p:cNvPr id="241" name="Shape 15">
            <a:extLst xmlns:a="http://schemas.openxmlformats.org/drawingml/2006/main">
              <a:ext uri="{FF2B5EF4-FFF2-40B4-BE49-F238E27FC236}">
                <a16:creationId xmlns:a16="http://schemas.microsoft.com/office/drawing/2014/main" id="{C41E5E68-B881-46CF-BB1C-C9D021098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1" y="5230367"/>
            <a:ext cx="502923" cy="50292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1E22"/>
          </a:solidFill>
          <a:ln xmlns:a="http://schemas.openxmlformats.org/drawingml/2006/main" w="12700"/>
        </p:spPr>
        <p:txBody>
          <a:bodyPr xmlns:a="http://schemas.openxmlformats.org/drawingml/2006/main" lIns="45718" tIns="45718" rIns="45718" bIns="45718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n-lt"/>
                <a:ea typeface="+mn-lt"/>
                <a:cs typeface="+mn-lt"/>
              </a:defRPr>
            </a:pPr>
          </a:p>
        </p:txBody>
      </p:sp>
      <p:pic>
        <p:nvPicPr>
          <p:cNvPr id="27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769bee2eec47d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214780" y="5366156"/>
            <a:ext cx="231345" cy="231345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  <p:sp>
        <p:nvSpPr>
          <p:cNvPr id="243" name="Text 16">
            <a:extLst xmlns:a="http://schemas.openxmlformats.org/drawingml/2006/main">
              <a:ext uri="{FF2B5EF4-FFF2-40B4-BE49-F238E27FC236}">
                <a16:creationId xmlns:a16="http://schemas.microsoft.com/office/drawing/2014/main" id="{DDAA4D9F-6200-48E8-9271-129D54082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7360" y="5236831"/>
            <a:ext cx="2377441" cy="197385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1400" b="1">
                <a:solidFill>
                  <a:srgbClr val="F4F6F2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Professional teams</a:t>
            </a:r>
          </a:p>
        </p:txBody>
      </p:sp>
      <p:sp>
        <p:nvSpPr>
          <p:cNvPr id="244" name="Text 17">
            <a:extLst xmlns:a="http://schemas.openxmlformats.org/drawingml/2006/main">
              <a:ext uri="{FF2B5EF4-FFF2-40B4-BE49-F238E27FC236}">
                <a16:creationId xmlns:a16="http://schemas.microsoft.com/office/drawing/2014/main" id="{EE6E5510-3C0B-4C02-B45F-5530FF04A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7360" y="5572504"/>
            <a:ext cx="2423162" cy="14783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1100">
                <a:solidFill>
                  <a:srgbClr val="8A9099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After NCAA proof</a:t>
            </a:r>
          </a:p>
        </p:txBody>
      </p:sp>
      <p:sp>
        <p:nvSpPr>
          <p:cNvPr id="245" name="Shape 18">
            <a:extLst xmlns:a="http://schemas.openxmlformats.org/drawingml/2006/main">
              <a:ext uri="{FF2B5EF4-FFF2-40B4-BE49-F238E27FC236}">
                <a16:creationId xmlns:a16="http://schemas.microsoft.com/office/drawing/2014/main" id="{BC874136-161D-4839-BDC6-8DA832906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5423" y="5029200"/>
            <a:ext cx="3429002" cy="9144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141619"/>
          </a:solidFill>
          <a:ln xmlns:a="http://schemas.openxmlformats.org/drawingml/2006/main" w="12700">
            <a:solidFill>
              <a:srgbClr val="2A2E33"/>
            </a:solidFill>
          </a:ln>
          <a:effectLst xmlns:a="http://schemas.openxmlformats.org/drawingml/2006/main">
            <a:outerShdw blurRad="177800" dist="50800" dir="5400000" sx="100000" sy="100000" kx="0" ky="0" algn="b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 lIns="45718" tIns="45718" rIns="45718" bIns="45718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n-lt"/>
                <a:ea typeface="+mn-lt"/>
                <a:cs typeface="+mn-lt"/>
              </a:defRPr>
            </a:pPr>
          </a:p>
        </p:txBody>
      </p:sp>
      <p:sp>
        <p:nvSpPr>
          <p:cNvPr id="246" name="Shape 19">
            <a:extLst xmlns:a="http://schemas.openxmlformats.org/drawingml/2006/main">
              <a:ext uri="{FF2B5EF4-FFF2-40B4-BE49-F238E27FC236}">
                <a16:creationId xmlns:a16="http://schemas.microsoft.com/office/drawing/2014/main" id="{9D54206F-7F8C-4821-A400-96AA4C1F6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454" y="5230367"/>
            <a:ext cx="502923" cy="50292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1E22"/>
          </a:solidFill>
          <a:ln xmlns:a="http://schemas.openxmlformats.org/drawingml/2006/main" w="12700"/>
        </p:spPr>
        <p:txBody>
          <a:bodyPr xmlns:a="http://schemas.openxmlformats.org/drawingml/2006/main" lIns="45718" tIns="45718" rIns="45718" bIns="45718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n-lt"/>
                <a:ea typeface="+mn-lt"/>
                <a:cs typeface="+mn-lt"/>
              </a:defRPr>
            </a:pPr>
          </a:p>
        </p:txBody>
      </p:sp>
      <p:pic>
        <p:nvPicPr>
          <p:cNvPr id="279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375cc99e3e490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927243" y="5366156"/>
            <a:ext cx="231345" cy="231345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  <p:sp>
        <p:nvSpPr>
          <p:cNvPr id="248" name="Text 20">
            <a:extLst xmlns:a="http://schemas.openxmlformats.org/drawingml/2006/main">
              <a:ext uri="{FF2B5EF4-FFF2-40B4-BE49-F238E27FC236}">
                <a16:creationId xmlns:a16="http://schemas.microsoft.com/office/drawing/2014/main" id="{86ABB092-4987-4BBB-8439-0A289AF85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9823" y="5236831"/>
            <a:ext cx="2377442" cy="197385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1400" b="1">
                <a:solidFill>
                  <a:srgbClr val="F4F6F2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Federations &amp; NGBs</a:t>
            </a:r>
          </a:p>
        </p:txBody>
      </p:sp>
      <p:sp>
        <p:nvSpPr>
          <p:cNvPr id="249" name="Text 21">
            <a:extLst xmlns:a="http://schemas.openxmlformats.org/drawingml/2006/main">
              <a:ext uri="{FF2B5EF4-FFF2-40B4-BE49-F238E27FC236}">
                <a16:creationId xmlns:a16="http://schemas.microsoft.com/office/drawing/2014/main" id="{2BDA6087-2B18-41A6-B872-0BDC4B8E9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9823" y="5572504"/>
            <a:ext cx="2423162" cy="14783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1100">
                <a:solidFill>
                  <a:srgbClr val="8A9099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National team pipelines</a:t>
            </a:r>
          </a:p>
        </p:txBody>
      </p:sp>
      <p:sp>
        <p:nvSpPr>
          <p:cNvPr id="250" name="Shape 22">
            <a:extLst xmlns:a="http://schemas.openxmlformats.org/drawingml/2006/main">
              <a:ext uri="{FF2B5EF4-FFF2-40B4-BE49-F238E27FC236}">
                <a16:creationId xmlns:a16="http://schemas.microsoft.com/office/drawing/2014/main" id="{92202D50-46BB-41F0-9EBB-57D091AD1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7888" y="5029200"/>
            <a:ext cx="3429002" cy="9144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141619"/>
          </a:solidFill>
          <a:ln xmlns:a="http://schemas.openxmlformats.org/drawingml/2006/main" w="12700">
            <a:solidFill>
              <a:srgbClr val="2A2E33"/>
            </a:solidFill>
          </a:ln>
          <a:effectLst xmlns:a="http://schemas.openxmlformats.org/drawingml/2006/main">
            <a:outerShdw blurRad="177800" dist="50800" dir="5400000" sx="100000" sy="100000" kx="0" ky="0" algn="b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 lIns="45718" tIns="45718" rIns="45718" bIns="45718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n-lt"/>
                <a:ea typeface="+mn-lt"/>
                <a:cs typeface="+mn-lt"/>
              </a:defRPr>
            </a:pPr>
          </a:p>
        </p:txBody>
      </p:sp>
      <p:sp>
        <p:nvSpPr>
          <p:cNvPr id="251" name="Shape 23">
            <a:extLst xmlns:a="http://schemas.openxmlformats.org/drawingml/2006/main">
              <a:ext uri="{FF2B5EF4-FFF2-40B4-BE49-F238E27FC236}">
                <a16:creationId xmlns:a16="http://schemas.microsoft.com/office/drawing/2014/main" id="{D095ED65-241C-47DF-B2AE-BC403C95F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18" y="5230367"/>
            <a:ext cx="502923" cy="50292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1E22"/>
          </a:solidFill>
          <a:ln xmlns:a="http://schemas.openxmlformats.org/drawingml/2006/main" w="12700"/>
        </p:spPr>
        <p:txBody>
          <a:bodyPr xmlns:a="http://schemas.openxmlformats.org/drawingml/2006/main" lIns="45718" tIns="45718" rIns="45718" bIns="45718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n-lt"/>
                <a:ea typeface="+mn-lt"/>
                <a:cs typeface="+mn-lt"/>
              </a:defRPr>
            </a:pPr>
          </a:p>
        </p:txBody>
      </p:sp>
      <p:pic>
        <p:nvPicPr>
          <p:cNvPr id="284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b33a56dcf1428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639708" y="5366156"/>
            <a:ext cx="231345" cy="231345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  <p:sp>
        <p:nvSpPr>
          <p:cNvPr id="253" name="Text 24">
            <a:extLst xmlns:a="http://schemas.openxmlformats.org/drawingml/2006/main">
              <a:ext uri="{FF2B5EF4-FFF2-40B4-BE49-F238E27FC236}">
                <a16:creationId xmlns:a16="http://schemas.microsoft.com/office/drawing/2014/main" id="{68357856-B315-455C-91BA-62FF46128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2288" y="5236831"/>
            <a:ext cx="2377441" cy="197385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1400" b="1">
                <a:solidFill>
                  <a:srgbClr val="F4F6F2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Leagues</a:t>
            </a:r>
          </a:p>
        </p:txBody>
      </p:sp>
      <p:sp>
        <p:nvSpPr>
          <p:cNvPr id="254" name="Text 25">
            <a:extLst xmlns:a="http://schemas.openxmlformats.org/drawingml/2006/main">
              <a:ext uri="{FF2B5EF4-FFF2-40B4-BE49-F238E27FC236}">
                <a16:creationId xmlns:a16="http://schemas.microsoft.com/office/drawing/2014/main" id="{DFF72215-E47D-4A36-A1F1-D5A3CD615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2288" y="5572504"/>
            <a:ext cx="2423162" cy="14783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1100">
                <a:solidFill>
                  <a:srgbClr val="8A9099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League-wide deals</a:t>
            </a:r>
          </a:p>
        </p:txBody>
      </p:sp>
    </p:spTree>
    <p:extLst>
      <p:ext uri="{BB962C8B-B14F-4D97-AF65-F5344CB8AC3E}">
        <p14:creationId xmlns:p14="http://schemas.microsoft.com/office/powerpoint/2010/main" val="626413031"/>
      </p:ext>
    </p:extLst>
  </p:cSld>
</p:sld>
</file>

<file path=ppt/slides/slide12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0A0B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6" name="Shape 0">
            <a:extLst xmlns:a="http://schemas.openxmlformats.org/drawingml/2006/main">
              <a:ext uri="{FF2B5EF4-FFF2-40B4-BE49-F238E27FC236}">
                <a16:creationId xmlns:a16="http://schemas.microsoft.com/office/drawing/2014/main" id="{2C400B73-4530-49E7-A9B6-A9ADD6E55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66927"/>
            <a:ext cx="1828802" cy="384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41619"/>
          </a:solidFill>
          <a:ln xmlns:a="http://schemas.openxmlformats.org/drawingml/2006/main" w="12700">
            <a:solidFill>
              <a:srgbClr val="2A2E33"/>
            </a:solidFill>
          </a:ln>
        </p:spPr>
        <p:txBody>
          <a:bodyPr xmlns:a="http://schemas.openxmlformats.org/drawingml/2006/main" lIns="45718" tIns="45718" rIns="45718" bIns="45718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n-lt"/>
                <a:ea typeface="+mn-lt"/>
                <a:cs typeface="+mn-lt"/>
              </a:defRPr>
            </a:pPr>
          </a:p>
        </p:txBody>
      </p:sp>
      <p:sp>
        <p:nvSpPr>
          <p:cNvPr id="257" name="Shape 1">
            <a:extLst xmlns:a="http://schemas.openxmlformats.org/drawingml/2006/main">
              <a:ext uri="{FF2B5EF4-FFF2-40B4-BE49-F238E27FC236}">
                <a16:creationId xmlns:a16="http://schemas.microsoft.com/office/drawing/2014/main" id="{8B5DBDA2-EF91-4490-B337-5EC45EFC1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38" y="722376"/>
            <a:ext cx="73155" cy="731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FF00"/>
          </a:solidFill>
          <a:ln xmlns:a="http://schemas.openxmlformats.org/drawingml/2006/main" w="12700"/>
        </p:spPr>
        <p:txBody>
          <a:bodyPr xmlns:a="http://schemas.openxmlformats.org/drawingml/2006/main" lIns="45718" tIns="45718" rIns="45718" bIns="45718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n-lt"/>
                <a:ea typeface="+mn-lt"/>
                <a:cs typeface="+mn-lt"/>
              </a:defRPr>
            </a:pPr>
          </a:p>
        </p:txBody>
      </p:sp>
      <p:sp>
        <p:nvSpPr>
          <p:cNvPr id="258" name="Text 2">
            <a:extLst xmlns:a="http://schemas.openxmlformats.org/drawingml/2006/main">
              <a:ext uri="{FF2B5EF4-FFF2-40B4-BE49-F238E27FC236}">
                <a16:creationId xmlns:a16="http://schemas.microsoft.com/office/drawing/2014/main" id="{FB58F967-5025-4E82-AE2E-B9B72D737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" y="691178"/>
            <a:ext cx="1463042" cy="135547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1000" b="1" spc="200">
                <a:solidFill>
                  <a:srgbClr val="F4F6F2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GO-TO-MARKET</a:t>
            </a:r>
          </a:p>
        </p:txBody>
      </p:sp>
      <p:sp>
        <p:nvSpPr>
          <p:cNvPr id="259" name="Text 3">
            <a:extLst xmlns:a="http://schemas.openxmlformats.org/drawingml/2006/main">
              <a:ext uri="{FF2B5EF4-FFF2-40B4-BE49-F238E27FC236}">
                <a16:creationId xmlns:a16="http://schemas.microsoft.com/office/drawing/2014/main" id="{03BFD791-DDB5-48E6-93E5-58B635BB1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605246"/>
            <a:ext cx="10515601" cy="53854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lnSpc>
                <a:spcPts val="4400"/>
              </a:lnSpc>
              <a:buNone/>
              <a:defRPr sz="3400" b="1">
                <a:solidFill>
                  <a:srgbClr val="F4F6F2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A clear path into every athletic department.</a:t>
            </a:r>
          </a:p>
        </p:txBody>
      </p:sp>
      <p:sp>
        <p:nvSpPr>
          <p:cNvPr id="260" name="Text 4">
            <a:extLst xmlns:a="http://schemas.openxmlformats.org/drawingml/2006/main">
              <a:ext uri="{FF2B5EF4-FFF2-40B4-BE49-F238E27FC236}">
                <a16:creationId xmlns:a16="http://schemas.microsoft.com/office/drawing/2014/main" id="{9F95FCB7-2303-4C3D-9B24-7418BD19A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7" y="2175023"/>
            <a:ext cx="10058401" cy="221953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1600">
                <a:solidFill>
                  <a:srgbClr val="8A9099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Pilots are paid contracts. We conform the platform to each school, then convert to a continuation contract.</a:t>
            </a:r>
          </a:p>
        </p:txBody>
      </p:sp>
      <p:sp>
        <p:nvSpPr>
          <p:cNvPr id="261" name="Shape 5">
            <a:extLst xmlns:a="http://schemas.openxmlformats.org/drawingml/2006/main">
              <a:ext uri="{FF2B5EF4-FFF2-40B4-BE49-F238E27FC236}">
                <a16:creationId xmlns:a16="http://schemas.microsoft.com/office/drawing/2014/main" id="{B64EDE56-9CB2-458F-ACEA-2565F00BF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788920"/>
            <a:ext cx="2542034" cy="2743202"/>
          </a:xfrm>
          <a:prstGeom xmlns:a="http://schemas.openxmlformats.org/drawingml/2006/main" prst="roundRect">
            <a:avLst>
              <a:gd name="adj" fmla="val 4317"/>
            </a:avLst>
          </a:prstGeom>
          <a:solidFill xmlns:a="http://schemas.openxmlformats.org/drawingml/2006/main">
            <a:srgbClr val="141619"/>
          </a:solidFill>
          <a:ln xmlns:a="http://schemas.openxmlformats.org/drawingml/2006/main" w="12700">
            <a:solidFill>
              <a:srgbClr val="2A2E33"/>
            </a:solidFill>
          </a:ln>
          <a:effectLst xmlns:a="http://schemas.openxmlformats.org/drawingml/2006/main">
            <a:outerShdw blurRad="177800" dist="50800" dir="5400000" sx="100000" sy="100000" kx="0" ky="0" algn="b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 lIns="45718" tIns="45718" rIns="45718" bIns="45718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n-lt"/>
                <a:ea typeface="+mn-lt"/>
                <a:cs typeface="+mn-lt"/>
              </a:defRPr>
            </a:pPr>
          </a:p>
        </p:txBody>
      </p:sp>
      <p:sp>
        <p:nvSpPr>
          <p:cNvPr id="262" name="Text 6">
            <a:extLst xmlns:a="http://schemas.openxmlformats.org/drawingml/2006/main">
              <a:ext uri="{FF2B5EF4-FFF2-40B4-BE49-F238E27FC236}">
                <a16:creationId xmlns:a16="http://schemas.microsoft.com/office/drawing/2014/main" id="{14C47B82-2588-47F2-A73B-150531594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3059310"/>
            <a:ext cx="914402" cy="419337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3000" b="1">
                <a:solidFill>
                  <a:srgbClr val="5B9DFF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1</a:t>
            </a:r>
          </a:p>
        </p:txBody>
      </p:sp>
      <p:sp>
        <p:nvSpPr>
          <p:cNvPr id="263" name="Text 7">
            <a:extLst xmlns:a="http://schemas.openxmlformats.org/drawingml/2006/main">
              <a:ext uri="{FF2B5EF4-FFF2-40B4-BE49-F238E27FC236}">
                <a16:creationId xmlns:a16="http://schemas.microsoft.com/office/drawing/2014/main" id="{9B529E82-0BDE-430C-A521-360E674D0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3739870"/>
            <a:ext cx="2011679" cy="246938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1700" b="1">
                <a:solidFill>
                  <a:srgbClr val="F4F6F2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Paid pilot</a:t>
            </a:r>
          </a:p>
        </p:txBody>
      </p:sp>
      <p:sp>
        <p:nvSpPr>
          <p:cNvPr id="264" name="Text 8">
            <a:extLst xmlns:a="http://schemas.openxmlformats.org/drawingml/2006/main">
              <a:ext uri="{FF2B5EF4-FFF2-40B4-BE49-F238E27FC236}">
                <a16:creationId xmlns:a16="http://schemas.microsoft.com/office/drawing/2014/main" id="{CA8F3C7B-A464-4990-93FA-D0E4585B8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544421"/>
            <a:ext cx="2057402" cy="420917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lnSpc>
                <a:spcPts val="1700"/>
              </a:lnSpc>
              <a:buNone/>
              <a:defRPr sz="1200">
                <a:solidFill>
                  <a:srgbClr val="C3C8CE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$355 per athlete for the first 90-day pilot.</a:t>
            </a:r>
          </a:p>
        </p:txBody>
      </p:sp>
      <p:pic>
        <p:nvPicPr>
          <p:cNvPr id="293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e18d9a63ee4f4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383279" y="4023359"/>
            <a:ext cx="237746" cy="237746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  <p:sp>
        <p:nvSpPr>
          <p:cNvPr id="266" name="Shape 9">
            <a:extLst xmlns:a="http://schemas.openxmlformats.org/drawingml/2006/main">
              <a:ext uri="{FF2B5EF4-FFF2-40B4-BE49-F238E27FC236}">
                <a16:creationId xmlns:a16="http://schemas.microsoft.com/office/drawing/2014/main" id="{947D1A73-45B9-4DA2-B980-859023A3E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3008" y="2788920"/>
            <a:ext cx="2542034" cy="2743202"/>
          </a:xfrm>
          <a:prstGeom xmlns:a="http://schemas.openxmlformats.org/drawingml/2006/main" prst="roundRect">
            <a:avLst>
              <a:gd name="adj" fmla="val 4317"/>
            </a:avLst>
          </a:prstGeom>
          <a:solidFill xmlns:a="http://schemas.openxmlformats.org/drawingml/2006/main">
            <a:srgbClr val="141619"/>
          </a:solidFill>
          <a:ln xmlns:a="http://schemas.openxmlformats.org/drawingml/2006/main" w="12700">
            <a:solidFill>
              <a:srgbClr val="2A2E33"/>
            </a:solidFill>
          </a:ln>
          <a:effectLst xmlns:a="http://schemas.openxmlformats.org/drawingml/2006/main">
            <a:outerShdw blurRad="177800" dist="50800" dir="5400000" sx="100000" sy="100000" kx="0" ky="0" algn="b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 lIns="45718" tIns="45718" rIns="45718" bIns="45718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n-lt"/>
                <a:ea typeface="+mn-lt"/>
                <a:cs typeface="+mn-lt"/>
              </a:defRPr>
            </a:pPr>
          </a:p>
        </p:txBody>
      </p:sp>
      <p:sp>
        <p:nvSpPr>
          <p:cNvPr id="267" name="Text 10">
            <a:extLst xmlns:a="http://schemas.openxmlformats.org/drawingml/2006/main">
              <a:ext uri="{FF2B5EF4-FFF2-40B4-BE49-F238E27FC236}">
                <a16:creationId xmlns:a16="http://schemas.microsoft.com/office/drawing/2014/main" id="{1A428BA6-E309-4A6D-A7CC-DDE08AB2C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7328" y="3059310"/>
            <a:ext cx="914402" cy="419337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3000" b="1">
                <a:solidFill>
                  <a:srgbClr val="A98BFF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2</a:t>
            </a:r>
          </a:p>
        </p:txBody>
      </p:sp>
      <p:sp>
        <p:nvSpPr>
          <p:cNvPr id="268" name="Text 11">
            <a:extLst xmlns:a="http://schemas.openxmlformats.org/drawingml/2006/main">
              <a:ext uri="{FF2B5EF4-FFF2-40B4-BE49-F238E27FC236}">
                <a16:creationId xmlns:a16="http://schemas.microsoft.com/office/drawing/2014/main" id="{76167B99-5132-4BDC-A6EF-43ECD4406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7328" y="3739870"/>
            <a:ext cx="2011680" cy="246938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1700" b="1">
                <a:solidFill>
                  <a:srgbClr val="F4F6F2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Conform</a:t>
            </a:r>
          </a:p>
        </p:txBody>
      </p:sp>
      <p:sp>
        <p:nvSpPr>
          <p:cNvPr id="269" name="Text 12">
            <a:extLst xmlns:a="http://schemas.openxmlformats.org/drawingml/2006/main">
              <a:ext uri="{FF2B5EF4-FFF2-40B4-BE49-F238E27FC236}">
                <a16:creationId xmlns:a16="http://schemas.microsoft.com/office/drawing/2014/main" id="{F6FC6251-D16A-4DAE-B724-2FC7B30F9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7328" y="4544421"/>
            <a:ext cx="2057402" cy="420917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lnSpc>
                <a:spcPts val="1700"/>
              </a:lnSpc>
              <a:buNone/>
              <a:defRPr sz="1200">
                <a:solidFill>
                  <a:srgbClr val="C3C8CE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Tune Pulse Check to the school's sport and workflow.</a:t>
            </a:r>
          </a:p>
        </p:txBody>
      </p:sp>
      <p:pic>
        <p:nvPicPr>
          <p:cNvPr id="298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e18d9a63ee4f4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53328" y="4023359"/>
            <a:ext cx="237746" cy="237746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  <p:sp>
        <p:nvSpPr>
          <p:cNvPr id="271" name="Shape 13">
            <a:extLst xmlns:a="http://schemas.openxmlformats.org/drawingml/2006/main">
              <a:ext uri="{FF2B5EF4-FFF2-40B4-BE49-F238E27FC236}">
                <a16:creationId xmlns:a16="http://schemas.microsoft.com/office/drawing/2014/main" id="{C28B2210-43E6-47B2-88C4-FFD18FBE5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3054" y="2788920"/>
            <a:ext cx="2542035" cy="2743202"/>
          </a:xfrm>
          <a:prstGeom xmlns:a="http://schemas.openxmlformats.org/drawingml/2006/main" prst="roundRect">
            <a:avLst>
              <a:gd name="adj" fmla="val 4317"/>
            </a:avLst>
          </a:prstGeom>
          <a:solidFill xmlns:a="http://schemas.openxmlformats.org/drawingml/2006/main">
            <a:srgbClr val="141619"/>
          </a:solidFill>
          <a:ln xmlns:a="http://schemas.openxmlformats.org/drawingml/2006/main" w="12700">
            <a:solidFill>
              <a:srgbClr val="2A2E33"/>
            </a:solidFill>
          </a:ln>
          <a:effectLst xmlns:a="http://schemas.openxmlformats.org/drawingml/2006/main">
            <a:outerShdw blurRad="177800" dist="50800" dir="5400000" sx="100000" sy="100000" kx="0" ky="0" algn="b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 lIns="45718" tIns="45718" rIns="45718" bIns="45718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n-lt"/>
                <a:ea typeface="+mn-lt"/>
                <a:cs typeface="+mn-lt"/>
              </a:defRPr>
            </a:pPr>
          </a:p>
        </p:txBody>
      </p:sp>
      <p:sp>
        <p:nvSpPr>
          <p:cNvPr id="272" name="Text 14">
            <a:extLst xmlns:a="http://schemas.openxmlformats.org/drawingml/2006/main">
              <a:ext uri="{FF2B5EF4-FFF2-40B4-BE49-F238E27FC236}">
                <a16:creationId xmlns:a16="http://schemas.microsoft.com/office/drawing/2014/main" id="{D82F0DC3-9C65-42AD-93F6-6D82199F5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7376" y="3059310"/>
            <a:ext cx="914402" cy="419337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3000" b="1">
                <a:solidFill>
                  <a:srgbClr val="C8FF00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3</a:t>
            </a:r>
          </a:p>
        </p:txBody>
      </p:sp>
      <p:sp>
        <p:nvSpPr>
          <p:cNvPr id="273" name="Text 15">
            <a:extLst xmlns:a="http://schemas.openxmlformats.org/drawingml/2006/main">
              <a:ext uri="{FF2B5EF4-FFF2-40B4-BE49-F238E27FC236}">
                <a16:creationId xmlns:a16="http://schemas.microsoft.com/office/drawing/2014/main" id="{5AE7D517-C9C4-4152-AA4D-BF219F7FF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7376" y="3739870"/>
            <a:ext cx="2011680" cy="246938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1700" b="1">
                <a:solidFill>
                  <a:srgbClr val="F4F6F2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Prove</a:t>
            </a:r>
          </a:p>
        </p:txBody>
      </p:sp>
      <p:sp>
        <p:nvSpPr>
          <p:cNvPr id="274" name="Text 16">
            <a:extLst xmlns:a="http://schemas.openxmlformats.org/drawingml/2006/main">
              <a:ext uri="{FF2B5EF4-FFF2-40B4-BE49-F238E27FC236}">
                <a16:creationId xmlns:a16="http://schemas.microsoft.com/office/drawing/2014/main" id="{F8253052-453C-4786-881F-4FDF8CC97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7376" y="4544421"/>
            <a:ext cx="2057402" cy="420917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lnSpc>
                <a:spcPts val="1700"/>
              </a:lnSpc>
              <a:buNone/>
              <a:defRPr sz="1200">
                <a:solidFill>
                  <a:srgbClr val="C3C8CE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90 days of adherence and compliance evidence.</a:t>
            </a:r>
          </a:p>
        </p:txBody>
      </p:sp>
      <p:pic>
        <p:nvPicPr>
          <p:cNvPr id="303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e18d9a63ee4f4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723376" y="4023359"/>
            <a:ext cx="237746" cy="237746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  <p:sp>
        <p:nvSpPr>
          <p:cNvPr id="276" name="Shape 17">
            <a:extLst xmlns:a="http://schemas.openxmlformats.org/drawingml/2006/main">
              <a:ext uri="{FF2B5EF4-FFF2-40B4-BE49-F238E27FC236}">
                <a16:creationId xmlns:a16="http://schemas.microsoft.com/office/drawing/2014/main" id="{97C66BEB-6F81-45D3-B34D-7A33B3A60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3104" y="2788920"/>
            <a:ext cx="2542034" cy="2743202"/>
          </a:xfrm>
          <a:prstGeom xmlns:a="http://schemas.openxmlformats.org/drawingml/2006/main" prst="roundRect">
            <a:avLst>
              <a:gd name="adj" fmla="val 4317"/>
            </a:avLst>
          </a:prstGeom>
          <a:solidFill xmlns:a="http://schemas.openxmlformats.org/drawingml/2006/main">
            <a:srgbClr val="141619"/>
          </a:solidFill>
          <a:ln xmlns:a="http://schemas.openxmlformats.org/drawingml/2006/main" w="12700">
            <a:solidFill>
              <a:srgbClr val="2A2E33"/>
            </a:solidFill>
          </a:ln>
          <a:effectLst xmlns:a="http://schemas.openxmlformats.org/drawingml/2006/main">
            <a:outerShdw blurRad="177800" dist="50800" dir="5400000" sx="100000" sy="100000" kx="0" ky="0" algn="b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 lIns="45718" tIns="45718" rIns="45718" bIns="45718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n-lt"/>
                <a:ea typeface="+mn-lt"/>
                <a:cs typeface="+mn-lt"/>
              </a:defRPr>
            </a:pPr>
          </a:p>
        </p:txBody>
      </p:sp>
      <p:sp>
        <p:nvSpPr>
          <p:cNvPr id="277" name="Text 18">
            <a:extLst xmlns:a="http://schemas.openxmlformats.org/drawingml/2006/main">
              <a:ext uri="{FF2B5EF4-FFF2-40B4-BE49-F238E27FC236}">
                <a16:creationId xmlns:a16="http://schemas.microsoft.com/office/drawing/2014/main" id="{00FF9F60-73AD-4BE3-9C8D-F13CC2D6A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7423" y="3059310"/>
            <a:ext cx="914402" cy="419337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3000" b="1">
                <a:solidFill>
                  <a:srgbClr val="FF6FB5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4</a:t>
            </a:r>
          </a:p>
        </p:txBody>
      </p:sp>
      <p:sp>
        <p:nvSpPr>
          <p:cNvPr id="278" name="Text 19">
            <a:extLst xmlns:a="http://schemas.openxmlformats.org/drawingml/2006/main">
              <a:ext uri="{FF2B5EF4-FFF2-40B4-BE49-F238E27FC236}">
                <a16:creationId xmlns:a16="http://schemas.microsoft.com/office/drawing/2014/main" id="{D762B80D-2D2E-415E-8394-CDEE92F40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7423" y="3739870"/>
            <a:ext cx="2011680" cy="246938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1700" b="1">
                <a:solidFill>
                  <a:srgbClr val="F4F6F2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Convert</a:t>
            </a:r>
          </a:p>
        </p:txBody>
      </p:sp>
      <p:sp>
        <p:nvSpPr>
          <p:cNvPr id="279" name="Text 20">
            <a:extLst xmlns:a="http://schemas.openxmlformats.org/drawingml/2006/main">
              <a:ext uri="{FF2B5EF4-FFF2-40B4-BE49-F238E27FC236}">
                <a16:creationId xmlns:a16="http://schemas.microsoft.com/office/drawing/2014/main" id="{68D0330C-B534-4043-A267-4DFFAA127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7423" y="4544421"/>
            <a:ext cx="2057402" cy="420917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lnSpc>
                <a:spcPts val="1700"/>
              </a:lnSpc>
              <a:buNone/>
              <a:defRPr sz="1200">
                <a:solidFill>
                  <a:srgbClr val="C3C8CE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$229 per athlete annually, department-wide.</a:t>
            </a:r>
          </a:p>
        </p:txBody>
      </p:sp>
      <p:sp>
        <p:nvSpPr>
          <p:cNvPr id="280" name="Text 21">
            <a:extLst xmlns:a="http://schemas.openxmlformats.org/drawingml/2006/main">
              <a:ext uri="{FF2B5EF4-FFF2-40B4-BE49-F238E27FC236}">
                <a16:creationId xmlns:a16="http://schemas.microsoft.com/office/drawing/2014/main" id="{DCE468A7-DF48-4642-91E5-1FDF4AECE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834748"/>
            <a:ext cx="10515601" cy="400584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 algn="ctr">
              <a:buNone/>
              <a:defRPr sz="1400" b="1" i="1">
                <a:solidFill>
                  <a:srgbClr val="C8FF00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Three approved pilots — Clark Atlanta, DePaul, and UMES — with Worcester State and the New England Patriots in conversation.</a:t>
            </a:r>
          </a:p>
        </p:txBody>
      </p:sp>
    </p:spTree>
    <p:extLst>
      <p:ext uri="{BB962C8B-B14F-4D97-AF65-F5344CB8AC3E}">
        <p14:creationId xmlns:p14="http://schemas.microsoft.com/office/powerpoint/2010/main" val="1839492838"/>
      </p:ext>
    </p:extLst>
  </p:cSld>
</p:sld>
</file>

<file path=ppt/slides/slide13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0A0B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2" name="Shape 0">
            <a:extLst xmlns:a="http://schemas.openxmlformats.org/drawingml/2006/main">
              <a:ext uri="{FF2B5EF4-FFF2-40B4-BE49-F238E27FC236}">
                <a16:creationId xmlns:a16="http://schemas.microsoft.com/office/drawing/2014/main" id="{1CE63685-323D-4CC3-866F-EAACDDC50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66927"/>
            <a:ext cx="2368296" cy="384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41619"/>
          </a:solidFill>
          <a:ln xmlns:a="http://schemas.openxmlformats.org/drawingml/2006/main" w="12700">
            <a:solidFill>
              <a:srgbClr val="2A2E33"/>
            </a:solidFill>
          </a:ln>
        </p:spPr>
        <p:txBody>
          <a:bodyPr xmlns:a="http://schemas.openxmlformats.org/drawingml/2006/main" lIns="45718" tIns="45718" rIns="45718" bIns="45718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n-lt"/>
                <a:ea typeface="+mn-lt"/>
                <a:cs typeface="+mn-lt"/>
              </a:defRPr>
            </a:pPr>
          </a:p>
        </p:txBody>
      </p:sp>
      <p:sp>
        <p:nvSpPr>
          <p:cNvPr id="283" name="Shape 1">
            <a:extLst xmlns:a="http://schemas.openxmlformats.org/drawingml/2006/main">
              <a:ext uri="{FF2B5EF4-FFF2-40B4-BE49-F238E27FC236}">
                <a16:creationId xmlns:a16="http://schemas.microsoft.com/office/drawing/2014/main" id="{425C836C-1830-4518-8FC7-A8DCF0B72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38" y="722376"/>
            <a:ext cx="73155" cy="731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FF00"/>
          </a:solidFill>
          <a:ln xmlns:a="http://schemas.openxmlformats.org/drawingml/2006/main" w="12700"/>
        </p:spPr>
        <p:txBody>
          <a:bodyPr xmlns:a="http://schemas.openxmlformats.org/drawingml/2006/main" lIns="45718" tIns="45718" rIns="45718" bIns="45718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n-lt"/>
                <a:ea typeface="+mn-lt"/>
                <a:cs typeface="+mn-lt"/>
              </a:defRPr>
            </a:pPr>
          </a:p>
        </p:txBody>
      </p:sp>
      <p:sp>
        <p:nvSpPr>
          <p:cNvPr id="284" name="Text 2">
            <a:extLst xmlns:a="http://schemas.openxmlformats.org/drawingml/2006/main">
              <a:ext uri="{FF2B5EF4-FFF2-40B4-BE49-F238E27FC236}">
                <a16:creationId xmlns:a16="http://schemas.microsoft.com/office/drawing/2014/main" id="{3A11051A-D911-4D65-9289-5927F198B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" y="691178"/>
            <a:ext cx="2002535" cy="135547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1000" b="1" spc="200">
                <a:solidFill>
                  <a:srgbClr val="F4F6F2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CONTRACT ECONOMICS</a:t>
            </a:r>
          </a:p>
        </p:txBody>
      </p:sp>
      <p:sp>
        <p:nvSpPr>
          <p:cNvPr id="285" name="Text 3">
            <a:extLst xmlns:a="http://schemas.openxmlformats.org/drawingml/2006/main">
              <a:ext uri="{FF2B5EF4-FFF2-40B4-BE49-F238E27FC236}">
                <a16:creationId xmlns:a16="http://schemas.microsoft.com/office/drawing/2014/main" id="{8ECE4FDE-67F0-4679-8D59-116E82619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599865"/>
            <a:ext cx="10515601" cy="54931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lnSpc>
                <a:spcPts val="4400"/>
              </a:lnSpc>
              <a:buNone/>
              <a:defRPr sz="3800" b="1">
                <a:solidFill>
                  <a:srgbClr val="F4F6F2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The units that compound.</a:t>
            </a:r>
          </a:p>
        </p:txBody>
      </p:sp>
      <p:sp>
        <p:nvSpPr>
          <p:cNvPr id="286" name="Text 4">
            <a:extLst xmlns:a="http://schemas.openxmlformats.org/drawingml/2006/main">
              <a:ext uri="{FF2B5EF4-FFF2-40B4-BE49-F238E27FC236}">
                <a16:creationId xmlns:a16="http://schemas.microsoft.com/office/drawing/2014/main" id="{BF87EDA6-968A-4D96-91C0-80A0AE8A1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7" y="2220742"/>
            <a:ext cx="10058401" cy="221954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1600">
                <a:solidFill>
                  <a:srgbClr val="8A9099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Average annual contract value across the NCAA buyer tiers, with pro and federation deals above.</a:t>
            </a:r>
          </a:p>
        </p:txBody>
      </p:sp>
      <p:sp>
        <p:nvSpPr>
          <p:cNvPr id="287" name="Shape 5">
            <a:extLst xmlns:a="http://schemas.openxmlformats.org/drawingml/2006/main">
              <a:ext uri="{FF2B5EF4-FFF2-40B4-BE49-F238E27FC236}">
                <a16:creationId xmlns:a16="http://schemas.microsoft.com/office/drawing/2014/main" id="{D8B05FE1-9BAA-42DF-A96E-8F3CB807E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834638"/>
            <a:ext cx="2075690" cy="3017524"/>
          </a:xfrm>
          <a:prstGeom xmlns:a="http://schemas.openxmlformats.org/drawingml/2006/main" prst="roundRect">
            <a:avLst>
              <a:gd name="adj" fmla="val 5286"/>
            </a:avLst>
          </a:prstGeom>
          <a:solidFill xmlns:a="http://schemas.openxmlformats.org/drawingml/2006/main">
            <a:srgbClr val="141619"/>
          </a:solidFill>
          <a:ln xmlns:a="http://schemas.openxmlformats.org/drawingml/2006/main" w="12700">
            <a:solidFill>
              <a:srgbClr val="2A2E33"/>
            </a:solidFill>
          </a:ln>
          <a:effectLst xmlns:a="http://schemas.openxmlformats.org/drawingml/2006/main">
            <a:outerShdw blurRad="177800" dist="50800" dir="5400000" sx="100000" sy="100000" kx="0" ky="0" algn="b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 lIns="45718" tIns="45718" rIns="45718" bIns="45718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n-lt"/>
                <a:ea typeface="+mn-lt"/>
                <a:cs typeface="+mn-lt"/>
              </a:defRPr>
            </a:pPr>
          </a:p>
        </p:txBody>
      </p:sp>
      <p:sp>
        <p:nvSpPr>
          <p:cNvPr id="288" name="Text 6">
            <a:extLst xmlns:a="http://schemas.openxmlformats.org/drawingml/2006/main">
              <a:ext uri="{FF2B5EF4-FFF2-40B4-BE49-F238E27FC236}">
                <a16:creationId xmlns:a16="http://schemas.microsoft.com/office/drawing/2014/main" id="{2A937231-D0BF-4F5B-949F-18BB7362F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7" y="3100322"/>
            <a:ext cx="1709930" cy="1270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900" b="1" spc="150">
                <a:solidFill>
                  <a:srgbClr val="C8FF00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TIER 1</a:t>
            </a:r>
          </a:p>
        </p:txBody>
      </p:sp>
      <p:sp>
        <p:nvSpPr>
          <p:cNvPr id="289" name="Text 7">
            <a:extLst xmlns:a="http://schemas.openxmlformats.org/drawingml/2006/main">
              <a:ext uri="{FF2B5EF4-FFF2-40B4-BE49-F238E27FC236}">
                <a16:creationId xmlns:a16="http://schemas.microsoft.com/office/drawing/2014/main" id="{92A49F05-70EA-4B1A-9FFA-F0EF91384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7" y="3517196"/>
            <a:ext cx="1709930" cy="225942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lnSpc>
                <a:spcPts val="1800"/>
              </a:lnSpc>
              <a:buNone/>
              <a:defRPr sz="1600" b="1">
                <a:solidFill>
                  <a:srgbClr val="F4F6F2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D2 / D3</a:t>
            </a:r>
          </a:p>
        </p:txBody>
      </p:sp>
      <p:sp>
        <p:nvSpPr>
          <p:cNvPr id="290" name="Text 8">
            <a:extLst xmlns:a="http://schemas.openxmlformats.org/drawingml/2006/main">
              <a:ext uri="{FF2B5EF4-FFF2-40B4-BE49-F238E27FC236}">
                <a16:creationId xmlns:a16="http://schemas.microsoft.com/office/drawing/2014/main" id="{7F4FF4A8-B2BD-4E93-944E-80E2449EF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" y="4679648"/>
            <a:ext cx="1755648" cy="333345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2300" b="1">
                <a:solidFill>
                  <a:srgbClr val="C8FF00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$5–10K</a:t>
            </a:r>
          </a:p>
        </p:txBody>
      </p:sp>
      <p:sp>
        <p:nvSpPr>
          <p:cNvPr id="291" name="Text 9">
            <a:extLst xmlns:a="http://schemas.openxmlformats.org/drawingml/2006/main">
              <a:ext uri="{FF2B5EF4-FFF2-40B4-BE49-F238E27FC236}">
                <a16:creationId xmlns:a16="http://schemas.microsoft.com/office/drawing/2014/main" id="{26119AA5-5D54-4AC7-8C9A-03D58F297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7" y="5374390"/>
            <a:ext cx="1728219" cy="169155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lnSpc>
                <a:spcPts val="1400"/>
              </a:lnSpc>
              <a:buNone/>
              <a:defRPr sz="1000">
                <a:solidFill>
                  <a:srgbClr val="8A9099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Fastest close, highest volume</a:t>
            </a:r>
          </a:p>
        </p:txBody>
      </p:sp>
      <p:sp>
        <p:nvSpPr>
          <p:cNvPr id="292" name="Shape 10">
            <a:extLst xmlns:a="http://schemas.openxmlformats.org/drawingml/2006/main">
              <a:ext uri="{FF2B5EF4-FFF2-40B4-BE49-F238E27FC236}">
                <a16:creationId xmlns:a16="http://schemas.microsoft.com/office/drawing/2014/main" id="{8028382F-EC61-47FB-A31D-8235542AC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1527" y="2834638"/>
            <a:ext cx="2075690" cy="3017524"/>
          </a:xfrm>
          <a:prstGeom xmlns:a="http://schemas.openxmlformats.org/drawingml/2006/main" prst="roundRect">
            <a:avLst>
              <a:gd name="adj" fmla="val 5286"/>
            </a:avLst>
          </a:prstGeom>
          <a:solidFill xmlns:a="http://schemas.openxmlformats.org/drawingml/2006/main">
            <a:srgbClr val="141619"/>
          </a:solidFill>
          <a:ln xmlns:a="http://schemas.openxmlformats.org/drawingml/2006/main" w="12700">
            <a:solidFill>
              <a:srgbClr val="2A2E33"/>
            </a:solidFill>
          </a:ln>
          <a:effectLst xmlns:a="http://schemas.openxmlformats.org/drawingml/2006/main">
            <a:outerShdw blurRad="177800" dist="50800" dir="5400000" sx="100000" sy="100000" kx="0" ky="0" algn="b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 lIns="45718" tIns="45718" rIns="45718" bIns="45718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n-lt"/>
                <a:ea typeface="+mn-lt"/>
                <a:cs typeface="+mn-lt"/>
              </a:defRPr>
            </a:pPr>
          </a:p>
        </p:txBody>
      </p:sp>
      <p:sp>
        <p:nvSpPr>
          <p:cNvPr id="293" name="Text 11">
            <a:extLst xmlns:a="http://schemas.openxmlformats.org/drawingml/2006/main">
              <a:ext uri="{FF2B5EF4-FFF2-40B4-BE49-F238E27FC236}">
                <a16:creationId xmlns:a16="http://schemas.microsoft.com/office/drawing/2014/main" id="{8FC10ADD-0E21-4422-A158-D02779BAE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2696" y="3100322"/>
            <a:ext cx="1709930" cy="1270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900" b="1" spc="150">
                <a:solidFill>
                  <a:srgbClr val="5B9DFF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TIER 2</a:t>
            </a:r>
          </a:p>
        </p:txBody>
      </p:sp>
      <p:sp>
        <p:nvSpPr>
          <p:cNvPr id="294" name="Text 12">
            <a:extLst xmlns:a="http://schemas.openxmlformats.org/drawingml/2006/main">
              <a:ext uri="{FF2B5EF4-FFF2-40B4-BE49-F238E27FC236}">
                <a16:creationId xmlns:a16="http://schemas.microsoft.com/office/drawing/2014/main" id="{3C82FA71-74D9-48E3-9096-61D43B5F7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2696" y="3517196"/>
            <a:ext cx="1709930" cy="225942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lnSpc>
                <a:spcPts val="1800"/>
              </a:lnSpc>
              <a:buNone/>
              <a:defRPr sz="1600" b="1">
                <a:solidFill>
                  <a:srgbClr val="F4F6F2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Mid-Major</a:t>
            </a:r>
          </a:p>
        </p:txBody>
      </p:sp>
      <p:sp>
        <p:nvSpPr>
          <p:cNvPr id="295" name="Text 13">
            <a:extLst xmlns:a="http://schemas.openxmlformats.org/drawingml/2006/main">
              <a:ext uri="{FF2B5EF4-FFF2-40B4-BE49-F238E27FC236}">
                <a16:creationId xmlns:a16="http://schemas.microsoft.com/office/drawing/2014/main" id="{EED9743C-C164-4862-A539-8E3AD63D3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2696" y="4679648"/>
            <a:ext cx="1755650" cy="333345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2300" b="1">
                <a:solidFill>
                  <a:srgbClr val="5B9DFF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$10–20K</a:t>
            </a:r>
          </a:p>
        </p:txBody>
      </p:sp>
      <p:sp>
        <p:nvSpPr>
          <p:cNvPr id="296" name="Text 14">
            <a:extLst xmlns:a="http://schemas.openxmlformats.org/drawingml/2006/main">
              <a:ext uri="{FF2B5EF4-FFF2-40B4-BE49-F238E27FC236}">
                <a16:creationId xmlns:a16="http://schemas.microsoft.com/office/drawing/2014/main" id="{6ABC156B-9F06-4EF1-A13E-C547A160B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2696" y="5374390"/>
            <a:ext cx="1728218" cy="169155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lnSpc>
                <a:spcPts val="1400"/>
              </a:lnSpc>
              <a:buNone/>
              <a:defRPr sz="1000">
                <a:solidFill>
                  <a:srgbClr val="8A9099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~350–450 athletes</a:t>
            </a:r>
          </a:p>
        </p:txBody>
      </p:sp>
      <p:sp>
        <p:nvSpPr>
          <p:cNvPr id="297" name="Shape 15">
            <a:extLst xmlns:a="http://schemas.openxmlformats.org/drawingml/2006/main">
              <a:ext uri="{FF2B5EF4-FFF2-40B4-BE49-F238E27FC236}">
                <a16:creationId xmlns:a16="http://schemas.microsoft.com/office/drawing/2014/main" id="{9E984711-9643-4DAF-9BBC-1A65DBF5D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0096" y="2834638"/>
            <a:ext cx="2075690" cy="3017524"/>
          </a:xfrm>
          <a:prstGeom xmlns:a="http://schemas.openxmlformats.org/drawingml/2006/main" prst="roundRect">
            <a:avLst>
              <a:gd name="adj" fmla="val 5286"/>
            </a:avLst>
          </a:prstGeom>
          <a:solidFill xmlns:a="http://schemas.openxmlformats.org/drawingml/2006/main">
            <a:srgbClr val="141619"/>
          </a:solidFill>
          <a:ln xmlns:a="http://schemas.openxmlformats.org/drawingml/2006/main" w="12700">
            <a:solidFill>
              <a:srgbClr val="2A2E33"/>
            </a:solidFill>
          </a:ln>
          <a:effectLst xmlns:a="http://schemas.openxmlformats.org/drawingml/2006/main">
            <a:outerShdw blurRad="177800" dist="50800" dir="5400000" sx="100000" sy="100000" kx="0" ky="0" algn="b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 lIns="45718" tIns="45718" rIns="45718" bIns="45718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n-lt"/>
                <a:ea typeface="+mn-lt"/>
                <a:cs typeface="+mn-lt"/>
              </a:defRPr>
            </a:pPr>
          </a:p>
        </p:txBody>
      </p:sp>
      <p:sp>
        <p:nvSpPr>
          <p:cNvPr id="298" name="Text 16">
            <a:extLst xmlns:a="http://schemas.openxmlformats.org/drawingml/2006/main">
              <a:ext uri="{FF2B5EF4-FFF2-40B4-BE49-F238E27FC236}">
                <a16:creationId xmlns:a16="http://schemas.microsoft.com/office/drawing/2014/main" id="{894351D1-6CD8-414E-BA2B-097A061B7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1264" y="3100322"/>
            <a:ext cx="1709930" cy="1270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900" b="1" spc="150">
                <a:solidFill>
                  <a:srgbClr val="A98BFF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TIER 3</a:t>
            </a:r>
          </a:p>
        </p:txBody>
      </p:sp>
      <p:sp>
        <p:nvSpPr>
          <p:cNvPr id="299" name="Text 17">
            <a:extLst xmlns:a="http://schemas.openxmlformats.org/drawingml/2006/main">
              <a:ext uri="{FF2B5EF4-FFF2-40B4-BE49-F238E27FC236}">
                <a16:creationId xmlns:a16="http://schemas.microsoft.com/office/drawing/2014/main" id="{1A2A4622-526C-42BB-9441-B828284A6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1264" y="3517196"/>
            <a:ext cx="1709930" cy="225942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lnSpc>
                <a:spcPts val="1800"/>
              </a:lnSpc>
              <a:buNone/>
              <a:defRPr sz="1600" b="1">
                <a:solidFill>
                  <a:srgbClr val="F4F6F2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Power Four</a:t>
            </a:r>
          </a:p>
        </p:txBody>
      </p:sp>
      <p:sp>
        <p:nvSpPr>
          <p:cNvPr id="300" name="Text 18">
            <a:extLst xmlns:a="http://schemas.openxmlformats.org/drawingml/2006/main">
              <a:ext uri="{FF2B5EF4-FFF2-40B4-BE49-F238E27FC236}">
                <a16:creationId xmlns:a16="http://schemas.microsoft.com/office/drawing/2014/main" id="{274ACCC4-708F-4F67-B8A5-AEED2455D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1264" y="4679648"/>
            <a:ext cx="1755649" cy="333345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2300" b="1">
                <a:solidFill>
                  <a:srgbClr val="A98BFF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$40–80K</a:t>
            </a:r>
          </a:p>
        </p:txBody>
      </p:sp>
      <p:sp>
        <p:nvSpPr>
          <p:cNvPr id="301" name="Text 19">
            <a:extLst xmlns:a="http://schemas.openxmlformats.org/drawingml/2006/main">
              <a:ext uri="{FF2B5EF4-FFF2-40B4-BE49-F238E27FC236}">
                <a16:creationId xmlns:a16="http://schemas.microsoft.com/office/drawing/2014/main" id="{8CA6B0FA-009A-46FF-ADB3-CDB9FF836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1264" y="5374390"/>
            <a:ext cx="1728218" cy="169155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lnSpc>
                <a:spcPts val="1400"/>
              </a:lnSpc>
              <a:buNone/>
              <a:defRPr sz="1000">
                <a:solidFill>
                  <a:srgbClr val="8A9099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~600–700 athletes</a:t>
            </a:r>
          </a:p>
        </p:txBody>
      </p:sp>
      <p:sp>
        <p:nvSpPr>
          <p:cNvPr id="302" name="Shape 20">
            <a:extLst xmlns:a="http://schemas.openxmlformats.org/drawingml/2006/main">
              <a:ext uri="{FF2B5EF4-FFF2-40B4-BE49-F238E27FC236}">
                <a16:creationId xmlns:a16="http://schemas.microsoft.com/office/drawing/2014/main" id="{0C6F40A1-10B9-43FE-9848-E97B64B50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8664" y="2834638"/>
            <a:ext cx="2075690" cy="3017524"/>
          </a:xfrm>
          <a:prstGeom xmlns:a="http://schemas.openxmlformats.org/drawingml/2006/main" prst="roundRect">
            <a:avLst>
              <a:gd name="adj" fmla="val 5286"/>
            </a:avLst>
          </a:prstGeom>
          <a:solidFill xmlns:a="http://schemas.openxmlformats.org/drawingml/2006/main">
            <a:srgbClr val="141619"/>
          </a:solidFill>
          <a:ln xmlns:a="http://schemas.openxmlformats.org/drawingml/2006/main" w="12700">
            <a:solidFill>
              <a:srgbClr val="2A2E33"/>
            </a:solidFill>
          </a:ln>
          <a:effectLst xmlns:a="http://schemas.openxmlformats.org/drawingml/2006/main">
            <a:outerShdw blurRad="177800" dist="50800" dir="5400000" sx="100000" sy="100000" kx="0" ky="0" algn="b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 lIns="45718" tIns="45718" rIns="45718" bIns="45718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n-lt"/>
                <a:ea typeface="+mn-lt"/>
                <a:cs typeface="+mn-lt"/>
              </a:defRPr>
            </a:pPr>
          </a:p>
        </p:txBody>
      </p:sp>
      <p:sp>
        <p:nvSpPr>
          <p:cNvPr id="303" name="Text 21">
            <a:extLst xmlns:a="http://schemas.openxmlformats.org/drawingml/2006/main">
              <a:ext uri="{FF2B5EF4-FFF2-40B4-BE49-F238E27FC236}">
                <a16:creationId xmlns:a16="http://schemas.microsoft.com/office/drawing/2014/main" id="{AD46FA16-76F4-42BF-8019-E3E860560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9830" y="3100322"/>
            <a:ext cx="1709930" cy="1270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900" b="1" spc="150">
                <a:solidFill>
                  <a:srgbClr val="FF9D4D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TIER 4</a:t>
            </a:r>
          </a:p>
        </p:txBody>
      </p:sp>
      <p:sp>
        <p:nvSpPr>
          <p:cNvPr id="304" name="Text 22">
            <a:extLst xmlns:a="http://schemas.openxmlformats.org/drawingml/2006/main">
              <a:ext uri="{FF2B5EF4-FFF2-40B4-BE49-F238E27FC236}">
                <a16:creationId xmlns:a16="http://schemas.microsoft.com/office/drawing/2014/main" id="{E0203380-87F7-421B-841C-BD3650080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9830" y="3517196"/>
            <a:ext cx="1709930" cy="225942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lnSpc>
                <a:spcPts val="1800"/>
              </a:lnSpc>
              <a:buNone/>
              <a:defRPr sz="1600" b="1">
                <a:solidFill>
                  <a:srgbClr val="F4F6F2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Pro Team</a:t>
            </a:r>
          </a:p>
        </p:txBody>
      </p:sp>
      <p:sp>
        <p:nvSpPr>
          <p:cNvPr id="305" name="Text 23">
            <a:extLst xmlns:a="http://schemas.openxmlformats.org/drawingml/2006/main">
              <a:ext uri="{FF2B5EF4-FFF2-40B4-BE49-F238E27FC236}">
                <a16:creationId xmlns:a16="http://schemas.microsoft.com/office/drawing/2014/main" id="{6675BC95-0831-4CDD-9B0B-CAB6BF1B5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9830" y="4679648"/>
            <a:ext cx="1755650" cy="333345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2300" b="1">
                <a:solidFill>
                  <a:srgbClr val="FF9D4D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$100K</a:t>
            </a:r>
          </a:p>
        </p:txBody>
      </p:sp>
      <p:sp>
        <p:nvSpPr>
          <p:cNvPr id="306" name="Text 24">
            <a:extLst xmlns:a="http://schemas.openxmlformats.org/drawingml/2006/main">
              <a:ext uri="{FF2B5EF4-FFF2-40B4-BE49-F238E27FC236}">
                <a16:creationId xmlns:a16="http://schemas.microsoft.com/office/drawing/2014/main" id="{330AB1DF-B923-484F-AB7A-725B6C736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9830" y="5374390"/>
            <a:ext cx="1728218" cy="169155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lnSpc>
                <a:spcPts val="1400"/>
              </a:lnSpc>
              <a:buNone/>
              <a:defRPr sz="1000">
                <a:solidFill>
                  <a:srgbClr val="8A9099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Roster + practice squad</a:t>
            </a:r>
          </a:p>
        </p:txBody>
      </p:sp>
      <p:sp>
        <p:nvSpPr>
          <p:cNvPr id="307" name="Shape 25">
            <a:extLst xmlns:a="http://schemas.openxmlformats.org/drawingml/2006/main">
              <a:ext uri="{FF2B5EF4-FFF2-40B4-BE49-F238E27FC236}">
                <a16:creationId xmlns:a16="http://schemas.microsoft.com/office/drawing/2014/main" id="{BC1DCFA0-9632-4AF7-B92E-AEE423D43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7230" y="2834638"/>
            <a:ext cx="2075690" cy="3017524"/>
          </a:xfrm>
          <a:prstGeom xmlns:a="http://schemas.openxmlformats.org/drawingml/2006/main" prst="roundRect">
            <a:avLst>
              <a:gd name="adj" fmla="val 5286"/>
            </a:avLst>
          </a:prstGeom>
          <a:solidFill xmlns:a="http://schemas.openxmlformats.org/drawingml/2006/main">
            <a:srgbClr val="141619"/>
          </a:solidFill>
          <a:ln xmlns:a="http://schemas.openxmlformats.org/drawingml/2006/main" w="12700">
            <a:solidFill>
              <a:srgbClr val="2A2E33"/>
            </a:solidFill>
          </a:ln>
          <a:effectLst xmlns:a="http://schemas.openxmlformats.org/drawingml/2006/main">
            <a:outerShdw blurRad="177800" dist="50800" dir="5400000" sx="100000" sy="100000" kx="0" ky="0" algn="b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 lIns="45718" tIns="45718" rIns="45718" bIns="45718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n-lt"/>
                <a:ea typeface="+mn-lt"/>
                <a:cs typeface="+mn-lt"/>
              </a:defRPr>
            </a:pPr>
          </a:p>
        </p:txBody>
      </p:sp>
      <p:sp>
        <p:nvSpPr>
          <p:cNvPr id="308" name="Text 26">
            <a:extLst xmlns:a="http://schemas.openxmlformats.org/drawingml/2006/main">
              <a:ext uri="{FF2B5EF4-FFF2-40B4-BE49-F238E27FC236}">
                <a16:creationId xmlns:a16="http://schemas.microsoft.com/office/drawing/2014/main" id="{DB8A2ADD-8A2A-4736-A533-CB2ECB382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3100322"/>
            <a:ext cx="1709928" cy="1270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900" b="1" spc="150">
                <a:solidFill>
                  <a:srgbClr val="FF6FB5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TIER 5</a:t>
            </a:r>
          </a:p>
        </p:txBody>
      </p:sp>
      <p:sp>
        <p:nvSpPr>
          <p:cNvPr id="309" name="Text 27">
            <a:extLst xmlns:a="http://schemas.openxmlformats.org/drawingml/2006/main">
              <a:ext uri="{FF2B5EF4-FFF2-40B4-BE49-F238E27FC236}">
                <a16:creationId xmlns:a16="http://schemas.microsoft.com/office/drawing/2014/main" id="{06951014-920B-457A-954E-2A95D605D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3517196"/>
            <a:ext cx="1709928" cy="225942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lnSpc>
                <a:spcPts val="1800"/>
              </a:lnSpc>
              <a:buNone/>
              <a:defRPr sz="1600" b="1">
                <a:solidFill>
                  <a:srgbClr val="F4F6F2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Federation</a:t>
            </a:r>
          </a:p>
        </p:txBody>
      </p:sp>
      <p:sp>
        <p:nvSpPr>
          <p:cNvPr id="310" name="Text 28">
            <a:extLst xmlns:a="http://schemas.openxmlformats.org/drawingml/2006/main">
              <a:ext uri="{FF2B5EF4-FFF2-40B4-BE49-F238E27FC236}">
                <a16:creationId xmlns:a16="http://schemas.microsoft.com/office/drawing/2014/main" id="{05417222-7AD0-4EB7-8CB8-032576CEA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4679648"/>
            <a:ext cx="1755648" cy="333345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2300" b="1">
                <a:solidFill>
                  <a:srgbClr val="FF6FB5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$100–250K</a:t>
            </a:r>
          </a:p>
        </p:txBody>
      </p:sp>
      <p:sp>
        <p:nvSpPr>
          <p:cNvPr id="311" name="Text 29">
            <a:extLst xmlns:a="http://schemas.openxmlformats.org/drawingml/2006/main">
              <a:ext uri="{FF2B5EF4-FFF2-40B4-BE49-F238E27FC236}">
                <a16:creationId xmlns:a16="http://schemas.microsoft.com/office/drawing/2014/main" id="{C78A84C9-F3E1-42DD-AD9B-7C06FDA99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374390"/>
            <a:ext cx="1728217" cy="169155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lnSpc>
                <a:spcPts val="1400"/>
              </a:lnSpc>
              <a:buNone/>
              <a:defRPr sz="1000">
                <a:solidFill>
                  <a:srgbClr val="8A9099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Scales with athlete pool</a:t>
            </a:r>
          </a:p>
        </p:txBody>
      </p:sp>
      <p:sp>
        <p:nvSpPr>
          <p:cNvPr id="312" name="Text 30">
            <a:extLst xmlns:a="http://schemas.openxmlformats.org/drawingml/2006/main">
              <a:ext uri="{FF2B5EF4-FFF2-40B4-BE49-F238E27FC236}">
                <a16:creationId xmlns:a16="http://schemas.microsoft.com/office/drawing/2014/main" id="{5308A166-20B8-4FF8-B20F-40475D650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6079649"/>
            <a:ext cx="10515601" cy="1851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 algn="ctr">
              <a:buNone/>
              <a:defRPr sz="1300" b="1" i="1">
                <a:solidFill>
                  <a:srgbClr val="C8FF00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NCAA schools are the beachhead. Pro and federation tiers carry the path to scale.</a:t>
            </a:r>
          </a:p>
        </p:txBody>
      </p:sp>
    </p:spTree>
    <p:extLst>
      <p:ext uri="{BB962C8B-B14F-4D97-AF65-F5344CB8AC3E}">
        <p14:creationId xmlns:p14="http://schemas.microsoft.com/office/powerpoint/2010/main" val="1951884152"/>
      </p:ext>
    </p:extLst>
  </p:cSld>
</p:sld>
</file>

<file path=ppt/slides/slide14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0A0B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4" name="Shape 0">
            <a:extLst xmlns:a="http://schemas.openxmlformats.org/drawingml/2006/main">
              <a:ext uri="{FF2B5EF4-FFF2-40B4-BE49-F238E27FC236}">
                <a16:creationId xmlns:a16="http://schemas.microsoft.com/office/drawing/2014/main" id="{77438DAB-3C4A-40C1-938F-1A5F9AD4D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66927"/>
            <a:ext cx="1828802" cy="384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41619"/>
          </a:solidFill>
          <a:ln xmlns:a="http://schemas.openxmlformats.org/drawingml/2006/main" w="12700">
            <a:solidFill>
              <a:srgbClr val="2A2E33"/>
            </a:solidFill>
          </a:ln>
        </p:spPr>
        <p:txBody>
          <a:bodyPr xmlns:a="http://schemas.openxmlformats.org/drawingml/2006/main" lIns="45718" tIns="45718" rIns="45718" bIns="45718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n-lt"/>
                <a:ea typeface="+mn-lt"/>
                <a:cs typeface="+mn-lt"/>
              </a:defRPr>
            </a:pPr>
          </a:p>
        </p:txBody>
      </p:sp>
      <p:sp>
        <p:nvSpPr>
          <p:cNvPr id="315" name="Shape 1">
            <a:extLst xmlns:a="http://schemas.openxmlformats.org/drawingml/2006/main">
              <a:ext uri="{FF2B5EF4-FFF2-40B4-BE49-F238E27FC236}">
                <a16:creationId xmlns:a16="http://schemas.microsoft.com/office/drawing/2014/main" id="{072FC297-66C1-40F2-9841-FA817A86F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38" y="722376"/>
            <a:ext cx="73155" cy="731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FF00"/>
          </a:solidFill>
          <a:ln xmlns:a="http://schemas.openxmlformats.org/drawingml/2006/main" w="12700"/>
        </p:spPr>
        <p:txBody>
          <a:bodyPr xmlns:a="http://schemas.openxmlformats.org/drawingml/2006/main" lIns="45718" tIns="45718" rIns="45718" bIns="45718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n-lt"/>
                <a:ea typeface="+mn-lt"/>
                <a:cs typeface="+mn-lt"/>
              </a:defRPr>
            </a:pPr>
          </a:p>
        </p:txBody>
      </p:sp>
      <p:sp>
        <p:nvSpPr>
          <p:cNvPr id="316" name="Text 2">
            <a:extLst xmlns:a="http://schemas.openxmlformats.org/drawingml/2006/main">
              <a:ext uri="{FF2B5EF4-FFF2-40B4-BE49-F238E27FC236}">
                <a16:creationId xmlns:a16="http://schemas.microsoft.com/office/drawing/2014/main" id="{51639057-8E1A-40E2-A2E1-9E75147F4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" y="691178"/>
            <a:ext cx="1463042" cy="135547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1000" b="1" spc="200">
                <a:solidFill>
                  <a:srgbClr val="F4F6F2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BEACHHEAD</a:t>
            </a:r>
          </a:p>
        </p:txBody>
      </p:sp>
      <p:sp>
        <p:nvSpPr>
          <p:cNvPr id="317" name="Text 3">
            <a:extLst xmlns:a="http://schemas.openxmlformats.org/drawingml/2006/main">
              <a:ext uri="{FF2B5EF4-FFF2-40B4-BE49-F238E27FC236}">
                <a16:creationId xmlns:a16="http://schemas.microsoft.com/office/drawing/2014/main" id="{E7641D75-1864-4850-A6F5-596ABD3C8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599865"/>
            <a:ext cx="10515601" cy="54931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ts val="4400"/>
              </a:lnSpc>
              <a:buNone/>
              <a:defRPr sz="3800" b="1">
                <a:solidFill>
                  <a:srgbClr val="F4F6F2"/>
                </a:solidFill>
                <a:latin typeface="Arial"/>
                <a:ea typeface="Arial"/>
                <a:cs typeface="Arial"/>
              </a:defRPr>
            </a:pPr>
            <a:r>
              <a:t>The first </a:t>
            </a:r>
            <a:r>
              <a:rPr>
                <a:solidFill>
                  <a:srgbClr val="C8FF00"/>
                </a:solidFill>
              </a:rPr>
              <a:t>$1M</a:t>
            </a:r>
            <a:r>
              <a:t> is already visible.</a:t>
            </a:r>
          </a:p>
        </p:txBody>
      </p:sp>
      <p:sp>
        <p:nvSpPr>
          <p:cNvPr id="318" name="Text 4">
            <a:extLst xmlns:a="http://schemas.openxmlformats.org/drawingml/2006/main">
              <a:ext uri="{FF2B5EF4-FFF2-40B4-BE49-F238E27FC236}">
                <a16:creationId xmlns:a16="http://schemas.microsoft.com/office/drawing/2014/main" id="{92C477C8-C074-4D99-993E-3D08A13F9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7" y="2220742"/>
            <a:ext cx="10058401" cy="221954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1600">
                <a:solidFill>
                  <a:srgbClr val="8A9099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Our 12–24 month beachhead is the set of collegiate contracts already in motion, all required buyers.</a:t>
            </a:r>
          </a:p>
        </p:txBody>
      </p:sp>
      <p:sp>
        <p:nvSpPr>
          <p:cNvPr id="319" name="Shape 5">
            <a:extLst xmlns:a="http://schemas.openxmlformats.org/drawingml/2006/main">
              <a:ext uri="{FF2B5EF4-FFF2-40B4-BE49-F238E27FC236}">
                <a16:creationId xmlns:a16="http://schemas.microsoft.com/office/drawing/2014/main" id="{80A30155-0DA1-45BA-B809-EB2C3F9E4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788920"/>
            <a:ext cx="3337560" cy="2377442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141619"/>
          </a:solidFill>
          <a:ln xmlns:a="http://schemas.openxmlformats.org/drawingml/2006/main" w="12700">
            <a:solidFill>
              <a:srgbClr val="2A2E33"/>
            </a:solidFill>
          </a:ln>
          <a:effectLst xmlns:a="http://schemas.openxmlformats.org/drawingml/2006/main">
            <a:outerShdw blurRad="177800" dist="50800" dir="5400000" sx="100000" sy="100000" kx="0" ky="0" algn="b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 lIns="45718" tIns="45718" rIns="45718" bIns="45718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n-lt"/>
                <a:ea typeface="+mn-lt"/>
                <a:cs typeface="+mn-lt"/>
              </a:defRPr>
            </a:pPr>
          </a:p>
        </p:txBody>
      </p:sp>
      <p:sp>
        <p:nvSpPr>
          <p:cNvPr id="320" name="Text 6">
            <a:extLst xmlns:a="http://schemas.openxmlformats.org/drawingml/2006/main">
              <a:ext uri="{FF2B5EF4-FFF2-40B4-BE49-F238E27FC236}">
                <a16:creationId xmlns:a16="http://schemas.microsoft.com/office/drawing/2014/main" id="{24B38CE6-AA38-4E55-BA96-255ED3646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6" y="3149943"/>
            <a:ext cx="2788923" cy="283792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2000" b="1">
                <a:solidFill>
                  <a:srgbClr val="F4F6F2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D2 / D3</a:t>
            </a:r>
          </a:p>
        </p:txBody>
      </p:sp>
      <p:sp>
        <p:nvSpPr>
          <p:cNvPr id="321" name="Text 7">
            <a:extLst xmlns:a="http://schemas.openxmlformats.org/drawingml/2006/main">
              <a:ext uri="{FF2B5EF4-FFF2-40B4-BE49-F238E27FC236}">
                <a16:creationId xmlns:a16="http://schemas.microsoft.com/office/drawing/2014/main" id="{D56B462B-EF5B-451D-893C-B6EEC4CD9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6" y="3696067"/>
            <a:ext cx="2788923" cy="197385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1400">
                <a:solidFill>
                  <a:srgbClr val="8A9099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30 × $10K</a:t>
            </a:r>
          </a:p>
        </p:txBody>
      </p:sp>
      <p:sp>
        <p:nvSpPr>
          <p:cNvPr id="322" name="Text 8">
            <a:extLst xmlns:a="http://schemas.openxmlformats.org/drawingml/2006/main">
              <a:ext uri="{FF2B5EF4-FFF2-40B4-BE49-F238E27FC236}">
                <a16:creationId xmlns:a16="http://schemas.microsoft.com/office/drawing/2014/main" id="{8A4B6086-193B-4958-B3D4-320916700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6" y="4169683"/>
            <a:ext cx="2788923" cy="530313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3800" b="1">
                <a:solidFill>
                  <a:srgbClr val="C8FF00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$300K</a:t>
            </a:r>
          </a:p>
        </p:txBody>
      </p:sp>
      <p:sp>
        <p:nvSpPr>
          <p:cNvPr id="323" name="Text 9">
            <a:extLst xmlns:a="http://schemas.openxmlformats.org/drawingml/2006/main">
              <a:ext uri="{FF2B5EF4-FFF2-40B4-BE49-F238E27FC236}">
                <a16:creationId xmlns:a16="http://schemas.microsoft.com/office/drawing/2014/main" id="{66671655-5BB5-4E47-BE22-408F0D788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6" y="4851398"/>
            <a:ext cx="2788923" cy="1270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900" spc="150">
                <a:solidFill>
                  <a:srgbClr val="8A9099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SEGMENT TOTAL</a:t>
            </a:r>
          </a:p>
        </p:txBody>
      </p:sp>
      <p:sp>
        <p:nvSpPr>
          <p:cNvPr id="324" name="Shape 10">
            <a:extLst xmlns:a="http://schemas.openxmlformats.org/drawingml/2006/main">
              <a:ext uri="{FF2B5EF4-FFF2-40B4-BE49-F238E27FC236}">
                <a16:creationId xmlns:a16="http://schemas.microsoft.com/office/drawing/2014/main" id="{318A1AC5-552D-45B0-9754-FFE083221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2788920"/>
            <a:ext cx="3337560" cy="2377442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141619"/>
          </a:solidFill>
          <a:ln xmlns:a="http://schemas.openxmlformats.org/drawingml/2006/main" w="12700">
            <a:solidFill>
              <a:srgbClr val="2A2E33"/>
            </a:solidFill>
          </a:ln>
          <a:effectLst xmlns:a="http://schemas.openxmlformats.org/drawingml/2006/main">
            <a:outerShdw blurRad="177800" dist="50800" dir="5400000" sx="100000" sy="100000" kx="0" ky="0" algn="b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 lIns="45718" tIns="45718" rIns="45718" bIns="45718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n-lt"/>
                <a:ea typeface="+mn-lt"/>
                <a:cs typeface="+mn-lt"/>
              </a:defRPr>
            </a:pPr>
          </a:p>
        </p:txBody>
      </p:sp>
      <p:sp>
        <p:nvSpPr>
          <p:cNvPr id="325" name="Text 11">
            <a:extLst xmlns:a="http://schemas.openxmlformats.org/drawingml/2006/main">
              <a:ext uri="{FF2B5EF4-FFF2-40B4-BE49-F238E27FC236}">
                <a16:creationId xmlns:a16="http://schemas.microsoft.com/office/drawing/2014/main" id="{E7300948-A90F-407B-994C-B7198D8BB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7447" y="3149943"/>
            <a:ext cx="2788922" cy="283792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2000" b="1">
                <a:solidFill>
                  <a:srgbClr val="F4F6F2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Mid-Major</a:t>
            </a:r>
          </a:p>
        </p:txBody>
      </p:sp>
      <p:sp>
        <p:nvSpPr>
          <p:cNvPr id="326" name="Text 12">
            <a:extLst xmlns:a="http://schemas.openxmlformats.org/drawingml/2006/main">
              <a:ext uri="{FF2B5EF4-FFF2-40B4-BE49-F238E27FC236}">
                <a16:creationId xmlns:a16="http://schemas.microsoft.com/office/drawing/2014/main" id="{D55D4CB9-B651-4726-978D-74B367943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7447" y="3696067"/>
            <a:ext cx="2788922" cy="197385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1400">
                <a:solidFill>
                  <a:srgbClr val="8A9099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20 × $20K</a:t>
            </a:r>
          </a:p>
        </p:txBody>
      </p:sp>
      <p:sp>
        <p:nvSpPr>
          <p:cNvPr id="327" name="Text 13">
            <a:extLst xmlns:a="http://schemas.openxmlformats.org/drawingml/2006/main">
              <a:ext uri="{FF2B5EF4-FFF2-40B4-BE49-F238E27FC236}">
                <a16:creationId xmlns:a16="http://schemas.microsoft.com/office/drawing/2014/main" id="{A78C6596-9585-474D-AA99-02D4CB37F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7447" y="4169683"/>
            <a:ext cx="2788922" cy="530313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3800" b="1">
                <a:solidFill>
                  <a:srgbClr val="5B9DFF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$400K</a:t>
            </a:r>
          </a:p>
        </p:txBody>
      </p:sp>
      <p:sp>
        <p:nvSpPr>
          <p:cNvPr id="328" name="Text 14">
            <a:extLst xmlns:a="http://schemas.openxmlformats.org/drawingml/2006/main">
              <a:ext uri="{FF2B5EF4-FFF2-40B4-BE49-F238E27FC236}">
                <a16:creationId xmlns:a16="http://schemas.microsoft.com/office/drawing/2014/main" id="{C890AD78-60A4-4F0C-8A2B-7D45F4857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7447" y="4851398"/>
            <a:ext cx="2788922" cy="1270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900" spc="150">
                <a:solidFill>
                  <a:srgbClr val="8A9099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SEGMENT TOTAL</a:t>
            </a:r>
          </a:p>
        </p:txBody>
      </p:sp>
      <p:sp>
        <p:nvSpPr>
          <p:cNvPr id="329" name="Shape 15">
            <a:extLst xmlns:a="http://schemas.openxmlformats.org/drawingml/2006/main">
              <a:ext uri="{FF2B5EF4-FFF2-40B4-BE49-F238E27FC236}">
                <a16:creationId xmlns:a16="http://schemas.microsoft.com/office/drawing/2014/main" id="{AD9F4FDA-B139-420E-9316-F16848BF3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18" y="2788920"/>
            <a:ext cx="3337562" cy="2377442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141619"/>
          </a:solidFill>
          <a:ln xmlns:a="http://schemas.openxmlformats.org/drawingml/2006/main" w="12700">
            <a:solidFill>
              <a:srgbClr val="2A2E33"/>
            </a:solidFill>
          </a:ln>
          <a:effectLst xmlns:a="http://schemas.openxmlformats.org/drawingml/2006/main">
            <a:outerShdw blurRad="177800" dist="50800" dir="5400000" sx="100000" sy="100000" kx="0" ky="0" algn="b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 lIns="45718" tIns="45718" rIns="45718" bIns="45718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n-lt"/>
                <a:ea typeface="+mn-lt"/>
                <a:cs typeface="+mn-lt"/>
              </a:defRPr>
            </a:pPr>
          </a:p>
        </p:txBody>
      </p:sp>
      <p:sp>
        <p:nvSpPr>
          <p:cNvPr id="330" name="Text 16">
            <a:extLst xmlns:a="http://schemas.openxmlformats.org/drawingml/2006/main">
              <a:ext uri="{FF2B5EF4-FFF2-40B4-BE49-F238E27FC236}">
                <a16:creationId xmlns:a16="http://schemas.microsoft.com/office/drawing/2014/main" id="{2D634851-4E88-47F4-8245-1EBEF7BCF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9328" y="3149943"/>
            <a:ext cx="2788922" cy="283792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2000" b="1">
                <a:solidFill>
                  <a:srgbClr val="F4F6F2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Power Four</a:t>
            </a:r>
          </a:p>
        </p:txBody>
      </p:sp>
      <p:sp>
        <p:nvSpPr>
          <p:cNvPr id="331" name="Text 17">
            <a:extLst xmlns:a="http://schemas.openxmlformats.org/drawingml/2006/main">
              <a:ext uri="{FF2B5EF4-FFF2-40B4-BE49-F238E27FC236}">
                <a16:creationId xmlns:a16="http://schemas.microsoft.com/office/drawing/2014/main" id="{88E6C47F-AF97-43EE-AB26-B5C351EC5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9328" y="3696067"/>
            <a:ext cx="2788922" cy="197385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1400">
                <a:solidFill>
                  <a:srgbClr val="8A9099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4 × $75K</a:t>
            </a:r>
          </a:p>
        </p:txBody>
      </p:sp>
      <p:sp>
        <p:nvSpPr>
          <p:cNvPr id="332" name="Text 18">
            <a:extLst xmlns:a="http://schemas.openxmlformats.org/drawingml/2006/main">
              <a:ext uri="{FF2B5EF4-FFF2-40B4-BE49-F238E27FC236}">
                <a16:creationId xmlns:a16="http://schemas.microsoft.com/office/drawing/2014/main" id="{568253B5-DAA3-47F6-8FAA-80CF3C150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9328" y="4169683"/>
            <a:ext cx="2788922" cy="530313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3800" b="1">
                <a:solidFill>
                  <a:srgbClr val="A98BFF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$300K</a:t>
            </a:r>
          </a:p>
        </p:txBody>
      </p:sp>
      <p:sp>
        <p:nvSpPr>
          <p:cNvPr id="333" name="Text 19">
            <a:extLst xmlns:a="http://schemas.openxmlformats.org/drawingml/2006/main">
              <a:ext uri="{FF2B5EF4-FFF2-40B4-BE49-F238E27FC236}">
                <a16:creationId xmlns:a16="http://schemas.microsoft.com/office/drawing/2014/main" id="{FF6CBB91-0F07-4E7A-BAA3-AC299D60F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9328" y="4851398"/>
            <a:ext cx="2788922" cy="1270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900" spc="150">
                <a:solidFill>
                  <a:srgbClr val="8A9099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SEGMENT TOTAL</a:t>
            </a:r>
          </a:p>
        </p:txBody>
      </p:sp>
      <p:sp>
        <p:nvSpPr>
          <p:cNvPr id="334" name="Shape 20">
            <a:extLst xmlns:a="http://schemas.openxmlformats.org/drawingml/2006/main">
              <a:ext uri="{FF2B5EF4-FFF2-40B4-BE49-F238E27FC236}">
                <a16:creationId xmlns:a16="http://schemas.microsoft.com/office/drawing/2014/main" id="{983CB06D-F0CF-43C1-BA61-165E76BB4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349240"/>
            <a:ext cx="10561320" cy="914402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141619"/>
          </a:solidFill>
          <a:ln xmlns:a="http://schemas.openxmlformats.org/drawingml/2006/main" w="12700">
            <a:solidFill>
              <a:srgbClr val="C8FF00"/>
            </a:solidFill>
          </a:ln>
          <a:effectLst xmlns:a="http://schemas.openxmlformats.org/drawingml/2006/main">
            <a:outerShdw blurRad="177800" dist="50800" dir="5400000" sx="100000" sy="100000" kx="0" ky="0" algn="b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 lIns="45718" tIns="45718" rIns="45718" bIns="45718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n-lt"/>
                <a:ea typeface="+mn-lt"/>
                <a:cs typeface="+mn-lt"/>
              </a:defRPr>
            </a:pPr>
          </a:p>
        </p:txBody>
      </p:sp>
      <p:sp>
        <p:nvSpPr>
          <p:cNvPr id="335" name="Text 21">
            <a:extLst xmlns:a="http://schemas.openxmlformats.org/drawingml/2006/main">
              <a:ext uri="{FF2B5EF4-FFF2-40B4-BE49-F238E27FC236}">
                <a16:creationId xmlns:a16="http://schemas.microsoft.com/office/drawing/2014/main" id="{57319C57-51D2-4C3C-9D0D-6BFC67527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713889"/>
            <a:ext cx="6400800" cy="1851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1300" b="1" spc="100">
                <a:solidFill>
                  <a:srgbClr val="F4F6F2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54 CONTRACTS  ·  12–24 MONTH BEACHHEAD</a:t>
            </a:r>
          </a:p>
        </p:txBody>
      </p:sp>
      <p:sp>
        <p:nvSpPr>
          <p:cNvPr id="336" name="Text 22">
            <a:extLst xmlns:a="http://schemas.openxmlformats.org/drawingml/2006/main">
              <a:ext uri="{FF2B5EF4-FFF2-40B4-BE49-F238E27FC236}">
                <a16:creationId xmlns:a16="http://schemas.microsoft.com/office/drawing/2014/main" id="{FBD8EB6C-0629-42E1-886D-131D8A7F6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5541283"/>
            <a:ext cx="2834640" cy="530313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 algn="r">
              <a:buNone/>
              <a:defRPr sz="3800" b="1">
                <a:solidFill>
                  <a:srgbClr val="C8FF00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$1.0M</a:t>
            </a:r>
          </a:p>
        </p:txBody>
      </p:sp>
    </p:spTree>
    <p:extLst>
      <p:ext uri="{BB962C8B-B14F-4D97-AF65-F5344CB8AC3E}">
        <p14:creationId xmlns:p14="http://schemas.microsoft.com/office/powerpoint/2010/main" val="1957633241"/>
      </p:ext>
    </p:extLst>
  </p:cSld>
</p:sld>
</file>

<file path=ppt/slides/slide15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0A0B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8" name="Shape 0">
            <a:extLst xmlns:a="http://schemas.openxmlformats.org/drawingml/2006/main">
              <a:ext uri="{FF2B5EF4-FFF2-40B4-BE49-F238E27FC236}">
                <a16:creationId xmlns:a16="http://schemas.microsoft.com/office/drawing/2014/main" id="{AC28E5AF-86E5-4502-AA73-D5F09F779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66927"/>
            <a:ext cx="2080262" cy="384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41619"/>
          </a:solidFill>
          <a:ln xmlns:a="http://schemas.openxmlformats.org/drawingml/2006/main" w="12700">
            <a:solidFill>
              <a:srgbClr val="2A2E33"/>
            </a:solidFill>
          </a:ln>
        </p:spPr>
        <p:txBody>
          <a:bodyPr xmlns:a="http://schemas.openxmlformats.org/drawingml/2006/main" lIns="45718" tIns="45718" rIns="45718" bIns="45718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n-lt"/>
                <a:ea typeface="+mn-lt"/>
                <a:cs typeface="+mn-lt"/>
              </a:defRPr>
            </a:pPr>
          </a:p>
        </p:txBody>
      </p:sp>
      <p:sp>
        <p:nvSpPr>
          <p:cNvPr id="339" name="Shape 1">
            <a:extLst xmlns:a="http://schemas.openxmlformats.org/drawingml/2006/main">
              <a:ext uri="{FF2B5EF4-FFF2-40B4-BE49-F238E27FC236}">
                <a16:creationId xmlns:a16="http://schemas.microsoft.com/office/drawing/2014/main" id="{53EE807B-D363-45D9-9116-556073823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38" y="722376"/>
            <a:ext cx="73155" cy="731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FF00"/>
          </a:solidFill>
          <a:ln xmlns:a="http://schemas.openxmlformats.org/drawingml/2006/main" w="12700"/>
        </p:spPr>
        <p:txBody>
          <a:bodyPr xmlns:a="http://schemas.openxmlformats.org/drawingml/2006/main" lIns="45718" tIns="45718" rIns="45718" bIns="45718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n-lt"/>
                <a:ea typeface="+mn-lt"/>
                <a:cs typeface="+mn-lt"/>
              </a:defRPr>
            </a:pPr>
          </a:p>
        </p:txBody>
      </p:sp>
      <p:sp>
        <p:nvSpPr>
          <p:cNvPr id="340" name="Text 2">
            <a:extLst xmlns:a="http://schemas.openxmlformats.org/drawingml/2006/main">
              <a:ext uri="{FF2B5EF4-FFF2-40B4-BE49-F238E27FC236}">
                <a16:creationId xmlns:a16="http://schemas.microsoft.com/office/drawing/2014/main" id="{2E12C4AB-4293-42ED-9A83-D45F1EEA9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" y="691178"/>
            <a:ext cx="1714501" cy="135547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1000" b="1" spc="200">
                <a:solidFill>
                  <a:srgbClr val="F4F6F2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REVENUE ROADMAP</a:t>
            </a:r>
          </a:p>
        </p:txBody>
      </p:sp>
      <p:sp>
        <p:nvSpPr>
          <p:cNvPr id="341" name="Text 3">
            <a:extLst xmlns:a="http://schemas.openxmlformats.org/drawingml/2006/main">
              <a:ext uri="{FF2B5EF4-FFF2-40B4-BE49-F238E27FC236}">
                <a16:creationId xmlns:a16="http://schemas.microsoft.com/office/drawing/2014/main" id="{02665788-8937-4211-B226-C601A6EE1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599865"/>
            <a:ext cx="10515601" cy="54931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ts val="4400"/>
              </a:lnSpc>
              <a:buNone/>
              <a:defRPr sz="3800" b="1">
                <a:solidFill>
                  <a:srgbClr val="F4F6F2"/>
                </a:solidFill>
                <a:latin typeface="Arial"/>
                <a:ea typeface="Arial"/>
                <a:cs typeface="Arial"/>
              </a:defRPr>
            </a:pPr>
            <a:r>
              <a:t>A visible path to </a:t>
            </a:r>
            <a:r>
              <a:rPr>
                <a:solidFill>
                  <a:srgbClr val="C8FF00"/>
                </a:solidFill>
              </a:rPr>
              <a:t>$100M ARR.</a:t>
            </a:r>
          </a:p>
        </p:txBody>
      </p:sp>
      <p:sp>
        <p:nvSpPr>
          <p:cNvPr id="342" name="Text 4">
            <a:extLst xmlns:a="http://schemas.openxmlformats.org/drawingml/2006/main">
              <a:ext uri="{FF2B5EF4-FFF2-40B4-BE49-F238E27FC236}">
                <a16:creationId xmlns:a16="http://schemas.microsoft.com/office/drawing/2014/main" id="{58841D70-E3FB-45C6-A508-14CB3E152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7" y="2220742"/>
            <a:ext cx="10058401" cy="221954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1600">
                <a:solidFill>
                  <a:srgbClr val="8A9099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Prove Pulse Check in every NCAA tier in Years 1–2, then scale through pro, federation, and league deals.</a:t>
            </a:r>
          </a:p>
        </p:txBody>
      </p:sp>
      <p:sp>
        <p:nvSpPr>
          <p:cNvPr id="343" name="Shape 5">
            <a:extLst xmlns:a="http://schemas.openxmlformats.org/drawingml/2006/main">
              <a:ext uri="{FF2B5EF4-FFF2-40B4-BE49-F238E27FC236}">
                <a16:creationId xmlns:a16="http://schemas.microsoft.com/office/drawing/2014/main" id="{AAF2CE73-6FA5-4933-8FF3-BEAD1382B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788920"/>
            <a:ext cx="5074921" cy="3246122"/>
          </a:xfrm>
          <a:prstGeom xmlns:a="http://schemas.openxmlformats.org/drawingml/2006/main" prst="roundRect">
            <a:avLst>
              <a:gd name="adj" fmla="val 3380"/>
            </a:avLst>
          </a:prstGeom>
          <a:solidFill xmlns:a="http://schemas.openxmlformats.org/drawingml/2006/main">
            <a:srgbClr val="141619"/>
          </a:solidFill>
          <a:ln xmlns:a="http://schemas.openxmlformats.org/drawingml/2006/main" w="12700">
            <a:solidFill>
              <a:srgbClr val="2A2E33"/>
            </a:solidFill>
          </a:ln>
          <a:effectLst xmlns:a="http://schemas.openxmlformats.org/drawingml/2006/main">
            <a:outerShdw blurRad="177800" dist="50800" dir="5400000" sx="100000" sy="100000" kx="0" ky="0" algn="b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 lIns="45718" tIns="45718" rIns="45718" bIns="45718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n-lt"/>
                <a:ea typeface="+mn-lt"/>
                <a:cs typeface="+mn-lt"/>
              </a:defRPr>
            </a:pPr>
          </a:p>
        </p:txBody>
      </p:sp>
      <p:sp>
        <p:nvSpPr>
          <p:cNvPr id="344" name="Text 6">
            <a:extLst xmlns:a="http://schemas.openxmlformats.org/drawingml/2006/main">
              <a:ext uri="{FF2B5EF4-FFF2-40B4-BE49-F238E27FC236}">
                <a16:creationId xmlns:a16="http://schemas.microsoft.com/office/drawing/2014/main" id="{752A1687-22FC-4772-98BB-D9AC43033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080765"/>
            <a:ext cx="3657600" cy="14783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1100" b="1" spc="150">
                <a:solidFill>
                  <a:srgbClr val="5B9DFF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YEARS 1–2  ·  PROVE IT</a:t>
            </a:r>
          </a:p>
        </p:txBody>
      </p:sp>
      <p:sp>
        <p:nvSpPr>
          <p:cNvPr id="345" name="Text 7">
            <a:extLst xmlns:a="http://schemas.openxmlformats.org/drawingml/2006/main">
              <a:ext uri="{FF2B5EF4-FFF2-40B4-BE49-F238E27FC236}">
                <a16:creationId xmlns:a16="http://schemas.microsoft.com/office/drawing/2014/main" id="{E4A69042-2951-44E7-B0E4-FF4650E39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356492"/>
            <a:ext cx="4389121" cy="41933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3000" b="1">
                <a:solidFill>
                  <a:srgbClr val="F4F6F2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~$1.0M ARR</a:t>
            </a:r>
          </a:p>
        </p:txBody>
      </p:sp>
      <p:sp>
        <p:nvSpPr>
          <p:cNvPr id="346" name="Text 8">
            <a:extLst xmlns:a="http://schemas.openxmlformats.org/drawingml/2006/main">
              <a:ext uri="{FF2B5EF4-FFF2-40B4-BE49-F238E27FC236}">
                <a16:creationId xmlns:a16="http://schemas.microsoft.com/office/drawing/2014/main" id="{E16310E1-ABDE-4BAE-A356-E2EB71460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2998" y="4154456"/>
            <a:ext cx="4434844" cy="469328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lnSpc>
                <a:spcPts val="1900"/>
              </a:lnSpc>
              <a:buNone/>
              <a:defRPr sz="1300">
                <a:solidFill>
                  <a:srgbClr val="C3C8CE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Land anchor contracts across every NCAA tier. Validate the product, build case studies, establish compliance credibility.</a:t>
            </a:r>
          </a:p>
        </p:txBody>
      </p:sp>
      <p:sp>
        <p:nvSpPr>
          <p:cNvPr id="347" name="Text 9">
            <a:extLst xmlns:a="http://schemas.openxmlformats.org/drawingml/2006/main">
              <a:ext uri="{FF2B5EF4-FFF2-40B4-BE49-F238E27FC236}">
                <a16:creationId xmlns:a16="http://schemas.microsoft.com/office/drawing/2014/main" id="{6C76549F-AC51-4691-A7AA-6C3EB3791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16809"/>
            <a:ext cx="4389121" cy="259222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b="1">
                <a:solidFill>
                  <a:srgbClr val="5B9DFF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54 contracts</a:t>
            </a:r>
          </a:p>
        </p:txBody>
      </p:sp>
      <p:sp>
        <p:nvSpPr>
          <p:cNvPr id="348" name="Shape 10">
            <a:extLst xmlns:a="http://schemas.openxmlformats.org/drawingml/2006/main">
              <a:ext uri="{FF2B5EF4-FFF2-40B4-BE49-F238E27FC236}">
                <a16:creationId xmlns:a16="http://schemas.microsoft.com/office/drawing/2014/main" id="{9FF22160-27A3-4320-9BA3-C7DA450AC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59" y="2788920"/>
            <a:ext cx="5074921" cy="3246122"/>
          </a:xfrm>
          <a:prstGeom xmlns:a="http://schemas.openxmlformats.org/drawingml/2006/main" prst="roundRect">
            <a:avLst>
              <a:gd name="adj" fmla="val 3380"/>
            </a:avLst>
          </a:prstGeom>
          <a:solidFill xmlns:a="http://schemas.openxmlformats.org/drawingml/2006/main">
            <a:srgbClr val="141619"/>
          </a:solidFill>
          <a:ln xmlns:a="http://schemas.openxmlformats.org/drawingml/2006/main" w="12700">
            <a:solidFill>
              <a:srgbClr val="C8FF00"/>
            </a:solidFill>
          </a:ln>
          <a:effectLst xmlns:a="http://schemas.openxmlformats.org/drawingml/2006/main">
            <a:outerShdw blurRad="177800" dist="50800" dir="5400000" sx="100000" sy="100000" kx="0" ky="0" algn="b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 lIns="45718" tIns="45718" rIns="45718" bIns="45718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n-lt"/>
                <a:ea typeface="+mn-lt"/>
                <a:cs typeface="+mn-lt"/>
              </a:defRPr>
            </a:pPr>
          </a:p>
        </p:txBody>
      </p:sp>
      <p:sp>
        <p:nvSpPr>
          <p:cNvPr id="349" name="Text 11">
            <a:extLst xmlns:a="http://schemas.openxmlformats.org/drawingml/2006/main">
              <a:ext uri="{FF2B5EF4-FFF2-40B4-BE49-F238E27FC236}">
                <a16:creationId xmlns:a16="http://schemas.microsoft.com/office/drawing/2014/main" id="{CF70B6E7-78D3-4348-8C87-8F02CD52A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080765"/>
            <a:ext cx="3657600" cy="14783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1100" b="1" spc="150">
                <a:solidFill>
                  <a:srgbClr val="C8FF00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YEARS 3–5  ·  SCALE</a:t>
            </a:r>
          </a:p>
        </p:txBody>
      </p:sp>
      <p:sp>
        <p:nvSpPr>
          <p:cNvPr id="350" name="Text 12">
            <a:extLst xmlns:a="http://schemas.openxmlformats.org/drawingml/2006/main">
              <a:ext uri="{FF2B5EF4-FFF2-40B4-BE49-F238E27FC236}">
                <a16:creationId xmlns:a16="http://schemas.microsoft.com/office/drawing/2014/main" id="{B4CBC6F5-22AF-4BEE-B2C9-CA61D02B4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356492"/>
            <a:ext cx="4389121" cy="41933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3000" b="1">
                <a:solidFill>
                  <a:srgbClr val="F4F6F2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$100M+ ARR</a:t>
            </a:r>
          </a:p>
        </p:txBody>
      </p:sp>
      <p:sp>
        <p:nvSpPr>
          <p:cNvPr id="351" name="Text 13">
            <a:extLst xmlns:a="http://schemas.openxmlformats.org/drawingml/2006/main">
              <a:ext uri="{FF2B5EF4-FFF2-40B4-BE49-F238E27FC236}">
                <a16:creationId xmlns:a16="http://schemas.microsoft.com/office/drawing/2014/main" id="{F1EA6867-38E9-4FCF-97F2-AFE973EAC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033806"/>
            <a:ext cx="4434841" cy="710628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lnSpc>
                <a:spcPts val="1900"/>
              </a:lnSpc>
              <a:buNone/>
              <a:defRPr sz="1300">
                <a:solidFill>
                  <a:srgbClr val="C3C8CE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Saturate the NCAA (~1,000 schools, ~$15M ARR), then layer the high-ACV tiers — ~150 pro teams, ~80 federations, and league-wide platform deals — to clear $100M+.</a:t>
            </a:r>
          </a:p>
        </p:txBody>
      </p:sp>
      <p:sp>
        <p:nvSpPr>
          <p:cNvPr id="352" name="Text 14">
            <a:extLst xmlns:a="http://schemas.openxmlformats.org/drawingml/2006/main">
              <a:ext uri="{FF2B5EF4-FFF2-40B4-BE49-F238E27FC236}">
                <a16:creationId xmlns:a16="http://schemas.microsoft.com/office/drawing/2014/main" id="{893E0D25-7055-469D-8D8C-899616591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5383458"/>
            <a:ext cx="4389121" cy="525923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b="1">
                <a:solidFill>
                  <a:srgbClr val="C8FF00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NCAA ~$15M  ·  pro + federation + league ~$85M</a:t>
            </a:r>
          </a:p>
        </p:txBody>
      </p:sp>
    </p:spTree>
    <p:extLst>
      <p:ext uri="{BB962C8B-B14F-4D97-AF65-F5344CB8AC3E}">
        <p14:creationId xmlns:p14="http://schemas.microsoft.com/office/powerpoint/2010/main" val="758158683"/>
      </p:ext>
    </p:extLst>
  </p:cSld>
</p:sld>
</file>

<file path=ppt/slides/slide16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0A0B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4" name="Shape 0">
            <a:extLst xmlns:a="http://schemas.openxmlformats.org/drawingml/2006/main">
              <a:ext uri="{FF2B5EF4-FFF2-40B4-BE49-F238E27FC236}">
                <a16:creationId xmlns:a16="http://schemas.microsoft.com/office/drawing/2014/main" id="{06E3AA11-D443-4828-897D-E7FFDED9F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66927"/>
            <a:ext cx="1828802" cy="384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41619"/>
          </a:solidFill>
          <a:ln xmlns:a="http://schemas.openxmlformats.org/drawingml/2006/main" w="12700">
            <a:solidFill>
              <a:srgbClr val="2A2E33"/>
            </a:solidFill>
          </a:ln>
        </p:spPr>
        <p:txBody>
          <a:bodyPr xmlns:a="http://schemas.openxmlformats.org/drawingml/2006/main" lIns="45718" tIns="45718" rIns="45718" bIns="45718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n-lt"/>
                <a:ea typeface="+mn-lt"/>
                <a:cs typeface="+mn-lt"/>
              </a:defRPr>
            </a:pPr>
          </a:p>
        </p:txBody>
      </p:sp>
      <p:sp>
        <p:nvSpPr>
          <p:cNvPr id="355" name="Shape 1">
            <a:extLst xmlns:a="http://schemas.openxmlformats.org/drawingml/2006/main">
              <a:ext uri="{FF2B5EF4-FFF2-40B4-BE49-F238E27FC236}">
                <a16:creationId xmlns:a16="http://schemas.microsoft.com/office/drawing/2014/main" id="{814C2672-41EA-4EA4-9900-61691C63D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38" y="722376"/>
            <a:ext cx="73155" cy="731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FF00"/>
          </a:solidFill>
          <a:ln xmlns:a="http://schemas.openxmlformats.org/drawingml/2006/main" w="12700"/>
        </p:spPr>
        <p:txBody>
          <a:bodyPr xmlns:a="http://schemas.openxmlformats.org/drawingml/2006/main" lIns="45718" tIns="45718" rIns="45718" bIns="45718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n-lt"/>
                <a:ea typeface="+mn-lt"/>
                <a:cs typeface="+mn-lt"/>
              </a:defRPr>
            </a:pPr>
          </a:p>
        </p:txBody>
      </p:sp>
      <p:sp>
        <p:nvSpPr>
          <p:cNvPr id="356" name="Text 2">
            <a:extLst xmlns:a="http://schemas.openxmlformats.org/drawingml/2006/main">
              <a:ext uri="{FF2B5EF4-FFF2-40B4-BE49-F238E27FC236}">
                <a16:creationId xmlns:a16="http://schemas.microsoft.com/office/drawing/2014/main" id="{E66BE8C4-F6D7-4672-964E-B02211DA7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" y="691178"/>
            <a:ext cx="1463042" cy="135547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1000" b="1" spc="200">
                <a:solidFill>
                  <a:srgbClr val="F4F6F2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THE TEAM</a:t>
            </a:r>
          </a:p>
        </p:txBody>
      </p:sp>
      <p:sp>
        <p:nvSpPr>
          <p:cNvPr id="357" name="Text 3">
            <a:extLst xmlns:a="http://schemas.openxmlformats.org/drawingml/2006/main">
              <a:ext uri="{FF2B5EF4-FFF2-40B4-BE49-F238E27FC236}">
                <a16:creationId xmlns:a16="http://schemas.microsoft.com/office/drawing/2014/main" id="{2F86B320-9717-4033-9075-B9CF6BE1C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397118"/>
            <a:ext cx="10515601" cy="954802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ts val="3800"/>
              </a:lnSpc>
              <a:buNone/>
              <a:defRPr sz="3200" b="1">
                <a:solidFill>
                  <a:srgbClr val="F4F6F2"/>
                </a:solidFill>
                <a:latin typeface="Arial"/>
                <a:ea typeface="Arial"/>
                <a:cs typeface="Arial"/>
              </a:defRPr>
            </a:pPr>
            <a:r>
              <a:t>Operators who know </a:t>
            </a:r>
            <a:r>
              <a:rPr>
                <a:solidFill>
                  <a:srgbClr val="C8FF00"/>
                </a:solidFill>
              </a:rPr>
              <a:t>software, athletes, and clinical trust.</a:t>
            </a:r>
          </a:p>
        </p:txBody>
      </p:sp>
      <p:sp>
        <p:nvSpPr>
          <p:cNvPr id="358" name="Shape 4">
            <a:extLst xmlns:a="http://schemas.openxmlformats.org/drawingml/2006/main">
              <a:ext uri="{FF2B5EF4-FFF2-40B4-BE49-F238E27FC236}">
                <a16:creationId xmlns:a16="http://schemas.microsoft.com/office/drawing/2014/main" id="{BD9B5EDB-EFBB-4F7F-AA5B-EF69A5BDD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331720"/>
            <a:ext cx="3429002" cy="246888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141619"/>
          </a:solidFill>
          <a:ln xmlns:a="http://schemas.openxmlformats.org/drawingml/2006/main" w="12700">
            <a:solidFill>
              <a:srgbClr val="2A2E33"/>
            </a:solidFill>
          </a:ln>
          <a:effectLst xmlns:a="http://schemas.openxmlformats.org/drawingml/2006/main">
            <a:outerShdw blurRad="177800" dist="50800" dir="5400000" sx="100000" sy="100000" kx="0" ky="0" algn="b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 lIns="45718" tIns="45718" rIns="45718" bIns="45718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n-lt"/>
                <a:ea typeface="+mn-lt"/>
                <a:cs typeface="+mn-lt"/>
              </a:defRPr>
            </a:pPr>
          </a:p>
        </p:txBody>
      </p:sp>
      <p:sp>
        <p:nvSpPr>
          <p:cNvPr id="359" name="Text 5">
            <a:extLst xmlns:a="http://schemas.openxmlformats.org/drawingml/2006/main">
              <a:ext uri="{FF2B5EF4-FFF2-40B4-BE49-F238E27FC236}">
                <a16:creationId xmlns:a16="http://schemas.microsoft.com/office/drawing/2014/main" id="{7EDAB5F0-7801-46C8-BF7E-0A5B5C11D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78" y="3456128"/>
            <a:ext cx="2926083" cy="259223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b="1">
                <a:solidFill>
                  <a:srgbClr val="F4F6F2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Tremaine Grant</a:t>
            </a:r>
          </a:p>
        </p:txBody>
      </p:sp>
      <p:sp>
        <p:nvSpPr>
          <p:cNvPr id="360" name="Text 6">
            <a:extLst xmlns:a="http://schemas.openxmlformats.org/drawingml/2006/main">
              <a:ext uri="{FF2B5EF4-FFF2-40B4-BE49-F238E27FC236}">
                <a16:creationId xmlns:a16="http://schemas.microsoft.com/office/drawing/2014/main" id="{DC875003-2630-4E96-9142-A16157423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78" y="3829387"/>
            <a:ext cx="2926083" cy="13554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1000" b="1" spc="150">
                <a:solidFill>
                  <a:srgbClr val="C8FF00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FOUNDER &amp; CEO</a:t>
            </a:r>
          </a:p>
        </p:txBody>
      </p:sp>
      <p:sp>
        <p:nvSpPr>
          <p:cNvPr id="361" name="Text 7">
            <a:extLst xmlns:a="http://schemas.openxmlformats.org/drawingml/2006/main">
              <a:ext uri="{FF2B5EF4-FFF2-40B4-BE49-F238E27FC236}">
                <a16:creationId xmlns:a16="http://schemas.microsoft.com/office/drawing/2014/main" id="{82122D1E-3B37-46CC-A2FE-CEA880600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064112"/>
            <a:ext cx="2971802" cy="67237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lnSpc>
                <a:spcPts val="1800"/>
              </a:lnSpc>
              <a:buNone/>
              <a:defRPr sz="1200">
                <a:solidFill>
                  <a:srgbClr val="C3C8CE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Principal full-stack engineer, deep in AI, with a decade in clinical research. D1 athlete at FSU. </a:t>
            </a:r>
          </a:p>
        </p:txBody>
      </p:sp>
      <p:sp>
        <p:nvSpPr>
          <p:cNvPr id="362" name="Shape 8">
            <a:extLst xmlns:a="http://schemas.openxmlformats.org/drawingml/2006/main">
              <a:ext uri="{FF2B5EF4-FFF2-40B4-BE49-F238E27FC236}">
                <a16:creationId xmlns:a16="http://schemas.microsoft.com/office/drawing/2014/main" id="{50B739D0-565A-4C4A-9DC3-AE326F76C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5423" y="2331720"/>
            <a:ext cx="3429002" cy="246888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141619"/>
          </a:solidFill>
          <a:ln xmlns:a="http://schemas.openxmlformats.org/drawingml/2006/main" w="12700">
            <a:solidFill>
              <a:srgbClr val="2A2E33"/>
            </a:solidFill>
          </a:ln>
          <a:effectLst xmlns:a="http://schemas.openxmlformats.org/drawingml/2006/main">
            <a:outerShdw blurRad="177800" dist="50800" dir="5400000" sx="100000" sy="100000" kx="0" ky="0" algn="b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 lIns="45718" tIns="45718" rIns="45718" bIns="45718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n-lt"/>
                <a:ea typeface="+mn-lt"/>
                <a:cs typeface="+mn-lt"/>
              </a:defRPr>
            </a:pPr>
          </a:p>
        </p:txBody>
      </p:sp>
      <p:sp>
        <p:nvSpPr>
          <p:cNvPr id="363" name="Text 9">
            <a:extLst xmlns:a="http://schemas.openxmlformats.org/drawingml/2006/main">
              <a:ext uri="{FF2B5EF4-FFF2-40B4-BE49-F238E27FC236}">
                <a16:creationId xmlns:a16="http://schemas.microsoft.com/office/drawing/2014/main" id="{54AF540D-E30A-4000-9827-99C9BD2A0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9743" y="3456128"/>
            <a:ext cx="2926083" cy="259223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b="1">
                <a:solidFill>
                  <a:srgbClr val="F4F6F2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Bobby Nweke</a:t>
            </a:r>
          </a:p>
        </p:txBody>
      </p:sp>
      <p:sp>
        <p:nvSpPr>
          <p:cNvPr id="364" name="Text 10">
            <a:extLst xmlns:a="http://schemas.openxmlformats.org/drawingml/2006/main">
              <a:ext uri="{FF2B5EF4-FFF2-40B4-BE49-F238E27FC236}">
                <a16:creationId xmlns:a16="http://schemas.microsoft.com/office/drawing/2014/main" id="{F2D224BD-11BE-4565-A033-B1E2DF326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9743" y="3829387"/>
            <a:ext cx="2926083" cy="13554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1000" b="1" spc="150">
                <a:solidFill>
                  <a:srgbClr val="5B9DFF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CHIEF OF STAFF</a:t>
            </a:r>
          </a:p>
        </p:txBody>
      </p:sp>
      <p:sp>
        <p:nvSpPr>
          <p:cNvPr id="365" name="Text 11">
            <a:extLst xmlns:a="http://schemas.openxmlformats.org/drawingml/2006/main">
              <a:ext uri="{FF2B5EF4-FFF2-40B4-BE49-F238E27FC236}">
                <a16:creationId xmlns:a16="http://schemas.microsoft.com/office/drawing/2014/main" id="{4F0C9FDE-FB30-4CEE-A731-D4CD43A1B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9744" y="4178412"/>
            <a:ext cx="2971801" cy="44377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lnSpc>
                <a:spcPts val="1800"/>
              </a:lnSpc>
              <a:buNone/>
              <a:defRPr sz="1200">
                <a:solidFill>
                  <a:srgbClr val="C3C8CE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10 years in human performance across training, athletics, and education.</a:t>
            </a:r>
          </a:p>
        </p:txBody>
      </p:sp>
      <p:sp>
        <p:nvSpPr>
          <p:cNvPr id="366" name="Shape 12">
            <a:extLst xmlns:a="http://schemas.openxmlformats.org/drawingml/2006/main">
              <a:ext uri="{FF2B5EF4-FFF2-40B4-BE49-F238E27FC236}">
                <a16:creationId xmlns:a16="http://schemas.microsoft.com/office/drawing/2014/main" id="{470D5F37-5697-4510-B01D-3B07D046F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7888" y="2331720"/>
            <a:ext cx="3429002" cy="246888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141619"/>
          </a:solidFill>
          <a:ln xmlns:a="http://schemas.openxmlformats.org/drawingml/2006/main" w="12700">
            <a:solidFill>
              <a:srgbClr val="2A2E33"/>
            </a:solidFill>
          </a:ln>
          <a:effectLst xmlns:a="http://schemas.openxmlformats.org/drawingml/2006/main">
            <a:outerShdw blurRad="177800" dist="50800" dir="5400000" sx="100000" sy="100000" kx="0" ky="0" algn="b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 lIns="45718" tIns="45718" rIns="45718" bIns="45718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n-lt"/>
                <a:ea typeface="+mn-lt"/>
                <a:cs typeface="+mn-lt"/>
              </a:defRPr>
            </a:pPr>
          </a:p>
        </p:txBody>
      </p:sp>
      <p:sp>
        <p:nvSpPr>
          <p:cNvPr id="367" name="Text 13">
            <a:extLst xmlns:a="http://schemas.openxmlformats.org/drawingml/2006/main">
              <a:ext uri="{FF2B5EF4-FFF2-40B4-BE49-F238E27FC236}">
                <a16:creationId xmlns:a16="http://schemas.microsoft.com/office/drawing/2014/main" id="{F884B45B-1536-4258-9473-ACCECF248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2206" y="3456128"/>
            <a:ext cx="2926082" cy="259223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b="1">
                <a:solidFill>
                  <a:srgbClr val="F4F6F2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Lola Oluwaladun</a:t>
            </a:r>
          </a:p>
        </p:txBody>
      </p:sp>
      <p:sp>
        <p:nvSpPr>
          <p:cNvPr id="368" name="Text 14">
            <a:extLst xmlns:a="http://schemas.openxmlformats.org/drawingml/2006/main">
              <a:ext uri="{FF2B5EF4-FFF2-40B4-BE49-F238E27FC236}">
                <a16:creationId xmlns:a16="http://schemas.microsoft.com/office/drawing/2014/main" id="{F8C94127-83EE-44FF-808F-408A7AF7E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2206" y="3829387"/>
            <a:ext cx="2926082" cy="13554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1000" b="1" spc="150">
                <a:solidFill>
                  <a:srgbClr val="A98BFF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HEAD OF DESIGN</a:t>
            </a:r>
          </a:p>
        </p:txBody>
      </p:sp>
      <p:sp>
        <p:nvSpPr>
          <p:cNvPr id="369" name="Text 15">
            <a:extLst xmlns:a="http://schemas.openxmlformats.org/drawingml/2006/main">
              <a:ext uri="{FF2B5EF4-FFF2-40B4-BE49-F238E27FC236}">
                <a16:creationId xmlns:a16="http://schemas.microsoft.com/office/drawing/2014/main" id="{01A93627-9D6F-417F-8C93-D859F3030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2206" y="4178412"/>
            <a:ext cx="2971802" cy="44377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lnSpc>
                <a:spcPts val="1800"/>
              </a:lnSpc>
              <a:buNone/>
              <a:defRPr sz="1200">
                <a:solidFill>
                  <a:srgbClr val="C3C8CE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Owns product experience and athlete-facing UX across Pulse.</a:t>
            </a:r>
          </a:p>
        </p:txBody>
      </p:sp>
      <p:sp>
        <p:nvSpPr>
          <p:cNvPr id="370" name="Shape 16">
            <a:extLst xmlns:a="http://schemas.openxmlformats.org/drawingml/2006/main">
              <a:ext uri="{FF2B5EF4-FFF2-40B4-BE49-F238E27FC236}">
                <a16:creationId xmlns:a16="http://schemas.microsoft.com/office/drawing/2014/main" id="{F170A9FC-3C4B-4B71-9578-221BC66DC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983479"/>
            <a:ext cx="10561320" cy="1188722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141619"/>
          </a:solidFill>
          <a:ln xmlns:a="http://schemas.openxmlformats.org/drawingml/2006/main" w="12700">
            <a:solidFill>
              <a:srgbClr val="2A2E33"/>
            </a:solidFill>
          </a:ln>
          <a:effectLst xmlns:a="http://schemas.openxmlformats.org/drawingml/2006/main">
            <a:outerShdw blurRad="177800" dist="50800" dir="5400000" sx="100000" sy="100000" kx="0" ky="0" algn="b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 lIns="45718" tIns="45718" rIns="45718" bIns="45718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n-lt"/>
                <a:ea typeface="+mn-lt"/>
                <a:cs typeface="+mn-lt"/>
              </a:defRPr>
            </a:pPr>
          </a:p>
        </p:txBody>
      </p:sp>
      <p:sp>
        <p:nvSpPr>
          <p:cNvPr id="371" name="Text 17">
            <a:extLst xmlns:a="http://schemas.openxmlformats.org/drawingml/2006/main">
              <a:ext uri="{FF2B5EF4-FFF2-40B4-BE49-F238E27FC236}">
                <a16:creationId xmlns:a16="http://schemas.microsoft.com/office/drawing/2014/main" id="{E4EE6558-6491-48BC-A575-AF8AB29EF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235747"/>
            <a:ext cx="3657600" cy="13554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1000" b="1" spc="150">
                <a:solidFill>
                  <a:srgbClr val="C8FF00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ADVISORS &amp; BACKING</a:t>
            </a:r>
          </a:p>
        </p:txBody>
      </p:sp>
      <p:pic>
        <p:nvPicPr>
          <p:cNvPr id="418" name="Tremaine photo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2682e5363044a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137459" y="2531433"/>
            <a:ext cx="800002" cy="800002"/>
          </a:xfrm>
          <a:ln xmlns:a="http://schemas.openxmlformats.org/drawingml/2006/main" w="12700">
            <a:solidFill>
              <a:srgbClr val="2A2E33"/>
            </a:solidFill>
          </a:ln>
        </p:spPr>
      </p:pic>
      <p:pic>
        <p:nvPicPr>
          <p:cNvPr id="419" name="Bobby photo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783822927c425e"/>
          <a:srcRect xmlns:a="http://schemas.openxmlformats.org/drawingml/2006/main" l="0" t="7900" r="0" b="788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849923" y="2539999"/>
            <a:ext cx="800002" cy="800101"/>
          </a:xfrm>
          <a:ln xmlns:a="http://schemas.openxmlformats.org/drawingml/2006/main" w="12700">
            <a:solidFill>
              <a:srgbClr val="2A2E33"/>
            </a:solidFill>
          </a:ln>
        </p:spPr>
      </p:pic>
      <p:pic>
        <p:nvPicPr>
          <p:cNvPr id="420" name="Lola photo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d54e79303543be"/>
          <a:srcRect xmlns:a="http://schemas.openxmlformats.org/drawingml/2006/main" l="0" t="3900" r="0" b="388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562386" y="2539999"/>
            <a:ext cx="800002" cy="800101"/>
          </a:xfrm>
          <a:ln xmlns:a="http://schemas.openxmlformats.org/drawingml/2006/main" w="12700">
            <a:solidFill>
              <a:srgbClr val="2A2E33"/>
            </a:solidFill>
          </a:ln>
        </p:spPr>
      </p:pic>
      <p:pic>
        <p:nvPicPr>
          <p:cNvPr id="421" name="Marques Zak photo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2356e1592c4666"/>
          <a:srcRect xmlns:a="http://schemas.openxmlformats.org/drawingml/2006/main" l="0" t="6667" r="4" b="667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42999" y="5429999"/>
            <a:ext cx="459980" cy="459980"/>
          </a:xfrm>
          <a:ln xmlns:a="http://schemas.openxmlformats.org/drawingml/2006/main" w="12700">
            <a:solidFill>
              <a:srgbClr val="2A2E33"/>
            </a:solidFill>
          </a:ln>
        </p:spPr>
      </p:pic>
      <p:sp>
        <p:nvSpPr>
          <p:cNvPr id="376" name="t111">
            <a:extLst xmlns:a="http://schemas.openxmlformats.org/drawingml/2006/main">
              <a:ext uri="{FF2B5EF4-FFF2-40B4-BE49-F238E27FC236}">
                <a16:creationId xmlns:a16="http://schemas.microsoft.com/office/drawing/2014/main" id="{101ECAC0-A2A6-489C-9E7A-1C2EC0A7A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2998" y="5544453"/>
            <a:ext cx="1960322" cy="135547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b">
            <a:spAutoFit/>
          </a:bodyPr>
          <a:lstStyle xmlns:a="http://schemas.openxmlformats.org/drawingml/2006/main">
            <a:lvl1pPr>
              <a:buNone/>
              <a:defRPr sz="1000" b="1">
                <a:solidFill>
                  <a:srgbClr val="F4F6F2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Marques Zak</a:t>
            </a:r>
          </a:p>
        </p:txBody>
      </p:sp>
      <p:sp>
        <p:nvSpPr>
          <p:cNvPr id="377" name="t112">
            <a:extLst xmlns:a="http://schemas.openxmlformats.org/drawingml/2006/main">
              <a:ext uri="{FF2B5EF4-FFF2-40B4-BE49-F238E27FC236}">
                <a16:creationId xmlns:a16="http://schemas.microsoft.com/office/drawing/2014/main" id="{AC510C7A-F4F4-4ADE-9D96-78FF24BAA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2998" y="5689998"/>
            <a:ext cx="1960322" cy="1270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800">
                <a:solidFill>
                  <a:srgbClr val="8A9099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CMO, ACC</a:t>
            </a:r>
          </a:p>
        </p:txBody>
      </p:sp>
      <p:pic>
        <p:nvPicPr>
          <p:cNvPr id="424" name="Valerie Alexander photo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f61be94ce84115"/>
          <a:srcRect xmlns:a="http://schemas.openxmlformats.org/drawingml/2006/main" l="0" t="0" r="4" b="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703320" y="5429999"/>
            <a:ext cx="459979" cy="459979"/>
          </a:xfrm>
          <a:ln xmlns:a="http://schemas.openxmlformats.org/drawingml/2006/main" w="12700">
            <a:solidFill>
              <a:srgbClr val="2A2E33"/>
            </a:solidFill>
          </a:ln>
        </p:spPr>
      </p:pic>
      <p:sp>
        <p:nvSpPr>
          <p:cNvPr id="379" name="t114">
            <a:extLst xmlns:a="http://schemas.openxmlformats.org/drawingml/2006/main">
              <a:ext uri="{FF2B5EF4-FFF2-40B4-BE49-F238E27FC236}">
                <a16:creationId xmlns:a16="http://schemas.microsoft.com/office/drawing/2014/main" id="{5D088A31-85BE-48DF-9E01-26D7D40B1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3319" y="5544453"/>
            <a:ext cx="1960323" cy="135547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b">
            <a:spAutoFit/>
          </a:bodyPr>
          <a:lstStyle xmlns:a="http://schemas.openxmlformats.org/drawingml/2006/main">
            <a:lvl1pPr>
              <a:buNone/>
              <a:defRPr sz="1000" b="1">
                <a:solidFill>
                  <a:srgbClr val="F4F6F2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Valerie Alexander</a:t>
            </a:r>
          </a:p>
        </p:txBody>
      </p:sp>
      <p:sp>
        <p:nvSpPr>
          <p:cNvPr id="380" name="t115">
            <a:extLst xmlns:a="http://schemas.openxmlformats.org/drawingml/2006/main">
              <a:ext uri="{FF2B5EF4-FFF2-40B4-BE49-F238E27FC236}">
                <a16:creationId xmlns:a16="http://schemas.microsoft.com/office/drawing/2014/main" id="{8DD269C6-9092-4991-ACDF-030EA96AD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3319" y="5689998"/>
            <a:ext cx="1960323" cy="1270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800">
                <a:solidFill>
                  <a:srgbClr val="8A9099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Enterprise &amp; IPO Attorney</a:t>
            </a:r>
          </a:p>
        </p:txBody>
      </p:sp>
      <p:pic>
        <p:nvPicPr>
          <p:cNvPr id="427" name="DeRay Mckesson photo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7df1236a3f4d79"/>
          <a:srcRect xmlns:a="http://schemas.openxmlformats.org/drawingml/2006/main" l="4583" t="0" r="4587" b="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63640" y="5429999"/>
            <a:ext cx="459979" cy="459979"/>
          </a:xfrm>
          <a:ln xmlns:a="http://schemas.openxmlformats.org/drawingml/2006/main" w="12700">
            <a:solidFill>
              <a:srgbClr val="2A2E33"/>
            </a:solidFill>
          </a:ln>
        </p:spPr>
      </p:pic>
      <p:sp>
        <p:nvSpPr>
          <p:cNvPr id="382" name="t117">
            <a:extLst xmlns:a="http://schemas.openxmlformats.org/drawingml/2006/main">
              <a:ext uri="{FF2B5EF4-FFF2-40B4-BE49-F238E27FC236}">
                <a16:creationId xmlns:a16="http://schemas.microsoft.com/office/drawing/2014/main" id="{2F5E0319-D6BD-4DA2-8F25-0893E074E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3640" y="5544453"/>
            <a:ext cx="1960322" cy="135547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b">
            <a:spAutoFit/>
          </a:bodyPr>
          <a:lstStyle xmlns:a="http://schemas.openxmlformats.org/drawingml/2006/main">
            <a:lvl1pPr>
              <a:buNone/>
              <a:defRPr sz="1000" b="1">
                <a:solidFill>
                  <a:srgbClr val="F4F6F2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DeRay Mckesson</a:t>
            </a:r>
          </a:p>
        </p:txBody>
      </p:sp>
      <p:sp>
        <p:nvSpPr>
          <p:cNvPr id="383" name="t118">
            <a:extLst xmlns:a="http://schemas.openxmlformats.org/drawingml/2006/main">
              <a:ext uri="{FF2B5EF4-FFF2-40B4-BE49-F238E27FC236}">
                <a16:creationId xmlns:a16="http://schemas.microsoft.com/office/drawing/2014/main" id="{2491D772-3D89-4783-95B0-2B938BF7B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3640" y="5689998"/>
            <a:ext cx="1960322" cy="1270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800">
                <a:solidFill>
                  <a:srgbClr val="8A9099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Organizing · HBCU reach</a:t>
            </a:r>
          </a:p>
        </p:txBody>
      </p:sp>
      <p:pic>
        <p:nvPicPr>
          <p:cNvPr id="430" name="Erik Edwards photo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1ce94cc5224db3"/>
          <a:srcRect xmlns:a="http://schemas.openxmlformats.org/drawingml/2006/main" l="0" t="6042" r="4" b="604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823959" y="5429999"/>
            <a:ext cx="459979" cy="459980"/>
          </a:xfrm>
          <a:ln xmlns:a="http://schemas.openxmlformats.org/drawingml/2006/main" w="12700">
            <a:solidFill>
              <a:srgbClr val="2A2E33"/>
            </a:solidFill>
          </a:ln>
        </p:spPr>
      </p:pic>
      <p:sp>
        <p:nvSpPr>
          <p:cNvPr id="385" name="t120">
            <a:extLst xmlns:a="http://schemas.openxmlformats.org/drawingml/2006/main">
              <a:ext uri="{FF2B5EF4-FFF2-40B4-BE49-F238E27FC236}">
                <a16:creationId xmlns:a16="http://schemas.microsoft.com/office/drawing/2014/main" id="{08DEE5AD-950B-44B9-81A1-04F0C2D9D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958" y="5544453"/>
            <a:ext cx="1960323" cy="135547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b">
            <a:spAutoFit/>
          </a:bodyPr>
          <a:lstStyle xmlns:a="http://schemas.openxmlformats.org/drawingml/2006/main">
            <a:lvl1pPr>
              <a:buNone/>
              <a:defRPr sz="1000" b="1">
                <a:solidFill>
                  <a:srgbClr val="F4F6F2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Erik Edwards</a:t>
            </a:r>
          </a:p>
        </p:txBody>
      </p:sp>
      <p:sp>
        <p:nvSpPr>
          <p:cNvPr id="386" name="t121">
            <a:extLst xmlns:a="http://schemas.openxmlformats.org/drawingml/2006/main">
              <a:ext uri="{FF2B5EF4-FFF2-40B4-BE49-F238E27FC236}">
                <a16:creationId xmlns:a16="http://schemas.microsoft.com/office/drawing/2014/main" id="{BEF0AFA0-3AAE-4678-8FA5-528E0092E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958" y="5689998"/>
            <a:ext cx="1960323" cy="1270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800">
                <a:solidFill>
                  <a:srgbClr val="8A9099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Partner, Cooley</a:t>
            </a:r>
          </a:p>
        </p:txBody>
      </p:sp>
      <p:sp>
        <p:nvSpPr>
          <p:cNvPr id="387" name="t140">
            <a:extLst xmlns:a="http://schemas.openxmlformats.org/drawingml/2006/main">
              <a:ext uri="{FF2B5EF4-FFF2-40B4-BE49-F238E27FC236}">
                <a16:creationId xmlns:a16="http://schemas.microsoft.com/office/drawing/2014/main" id="{1846CE16-C7FC-49B5-A6F0-7B98C424C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9998" y="5232858"/>
            <a:ext cx="4584282" cy="1270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8A9099"/>
                </a:solidFill>
                <a:latin typeface="Arial"/>
                <a:ea typeface="Arial"/>
                <a:cs typeface="Arial"/>
              </a:defRPr>
            </a:pPr>
            <a:r>
              <a:t>Lead investor — </a:t>
            </a:r>
            <a:r>
              <a:rPr b="1">
                <a:solidFill>
                  <a:srgbClr val="F4F6F2"/>
                </a:solidFill>
              </a:rPr>
              <a:t>LAUNCH ▲</a:t>
            </a:r>
          </a:p>
        </p:txBody>
      </p:sp>
      <p:sp>
        <p:nvSpPr>
          <p:cNvPr id="388" name="FSU bg">
            <a:extLst xmlns:a="http://schemas.openxmlformats.org/drawingml/2006/main">
              <a:ext uri="{FF2B5EF4-FFF2-40B4-BE49-F238E27FC236}">
                <a16:creationId xmlns:a16="http://schemas.microsoft.com/office/drawing/2014/main" id="{6B9AD8E5-344D-4B05-9395-1A6DFAEA4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7459" y="2980000"/>
            <a:ext cx="380001" cy="38000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9DCE1"/>
            </a:solidFill>
          </a:ln>
        </p:spPr>
        <p:txBody>
          <a:bodyPr xmlns:a="http://schemas.openxmlformats.org/drawingml/2006/main" lIns="45718" tIns="45718" rIns="45718" bIns="45718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n-lt"/>
                <a:ea typeface="+mn-lt"/>
                <a:cs typeface="+mn-lt"/>
              </a:defRPr>
            </a:pPr>
          </a:p>
        </p:txBody>
      </p:sp>
      <p:pic>
        <p:nvPicPr>
          <p:cNvPr id="435" name="FSU logo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b6a4265c164ce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667459" y="3018000"/>
            <a:ext cx="280001" cy="304001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  <p:sp>
        <p:nvSpPr>
          <p:cNvPr id="390" name="Harvard bg">
            <a:extLst xmlns:a="http://schemas.openxmlformats.org/drawingml/2006/main">
              <a:ext uri="{FF2B5EF4-FFF2-40B4-BE49-F238E27FC236}">
                <a16:creationId xmlns:a16="http://schemas.microsoft.com/office/drawing/2014/main" id="{9897B4AA-5AAF-4801-B758-83B904F22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9922" y="2974999"/>
            <a:ext cx="380001" cy="38000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9DCE1"/>
            </a:solidFill>
          </a:ln>
        </p:spPr>
        <p:txBody>
          <a:bodyPr xmlns:a="http://schemas.openxmlformats.org/drawingml/2006/main" lIns="45718" tIns="45718" rIns="45718" bIns="45718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n-lt"/>
                <a:ea typeface="+mn-lt"/>
                <a:cs typeface="+mn-lt"/>
              </a:defRPr>
            </a:pPr>
          </a:p>
        </p:txBody>
      </p:sp>
      <p:pic>
        <p:nvPicPr>
          <p:cNvPr id="437" name="Harvard logo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6fbf1d30f8041c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84923" y="3006000"/>
            <a:ext cx="270001" cy="318001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</p:spTree>
    <p:extLst>
      <p:ext uri="{BB962C8B-B14F-4D97-AF65-F5344CB8AC3E}">
        <p14:creationId xmlns:p14="http://schemas.microsoft.com/office/powerpoint/2010/main" val="79401402"/>
      </p:ext>
    </p:extLst>
  </p:cSld>
</p:sld>
</file>

<file path=ppt/slides/slide17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0A0B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3" name="Shape 0">
            <a:extLst xmlns:a="http://schemas.openxmlformats.org/drawingml/2006/main">
              <a:ext uri="{FF2B5EF4-FFF2-40B4-BE49-F238E27FC236}">
                <a16:creationId xmlns:a16="http://schemas.microsoft.com/office/drawing/2014/main" id="{28FFFD47-0508-469E-B855-7C6D70E5B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66927"/>
            <a:ext cx="2176274" cy="384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41619"/>
          </a:solidFill>
          <a:ln xmlns:a="http://schemas.openxmlformats.org/drawingml/2006/main" w="12700">
            <a:solidFill>
              <a:srgbClr val="2A2E33"/>
            </a:solidFill>
          </a:ln>
        </p:spPr>
        <p:txBody>
          <a:bodyPr xmlns:a="http://schemas.openxmlformats.org/drawingml/2006/main" lIns="45718" tIns="45718" rIns="45718" bIns="45718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n-lt"/>
                <a:ea typeface="+mn-lt"/>
                <a:cs typeface="+mn-lt"/>
              </a:defRPr>
            </a:pPr>
          </a:p>
        </p:txBody>
      </p:sp>
      <p:sp>
        <p:nvSpPr>
          <p:cNvPr id="394" name="Shape 1">
            <a:extLst xmlns:a="http://schemas.openxmlformats.org/drawingml/2006/main">
              <a:ext uri="{FF2B5EF4-FFF2-40B4-BE49-F238E27FC236}">
                <a16:creationId xmlns:a16="http://schemas.microsoft.com/office/drawing/2014/main" id="{5736524C-93D7-4A5A-8F34-8CE3B8895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38" y="722376"/>
            <a:ext cx="73155" cy="731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FF00"/>
          </a:solidFill>
          <a:ln xmlns:a="http://schemas.openxmlformats.org/drawingml/2006/main" w="12700"/>
        </p:spPr>
        <p:txBody>
          <a:bodyPr xmlns:a="http://schemas.openxmlformats.org/drawingml/2006/main" lIns="45718" tIns="45718" rIns="45718" bIns="45718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n-lt"/>
                <a:ea typeface="+mn-lt"/>
                <a:cs typeface="+mn-lt"/>
              </a:defRPr>
            </a:pPr>
          </a:p>
        </p:txBody>
      </p:sp>
      <p:sp>
        <p:nvSpPr>
          <p:cNvPr id="395" name="Text 2">
            <a:extLst xmlns:a="http://schemas.openxmlformats.org/drawingml/2006/main">
              <a:ext uri="{FF2B5EF4-FFF2-40B4-BE49-F238E27FC236}">
                <a16:creationId xmlns:a16="http://schemas.microsoft.com/office/drawing/2014/main" id="{3F7D87DF-96B2-4AD6-BFDF-E055CFA93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" y="691178"/>
            <a:ext cx="1810513" cy="135547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1000" b="1" spc="200">
                <a:solidFill>
                  <a:srgbClr val="F4F6F2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CLINICAL PATHWAY</a:t>
            </a:r>
          </a:p>
        </p:txBody>
      </p:sp>
      <p:sp>
        <p:nvSpPr>
          <p:cNvPr id="396" name="Text 3">
            <a:extLst xmlns:a="http://schemas.openxmlformats.org/drawingml/2006/main">
              <a:ext uri="{FF2B5EF4-FFF2-40B4-BE49-F238E27FC236}">
                <a16:creationId xmlns:a16="http://schemas.microsoft.com/office/drawing/2014/main" id="{C0CFF5AD-8CB4-4C2D-B21A-20F0710C4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602555"/>
            <a:ext cx="10515601" cy="543929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ts val="4400"/>
              </a:lnSpc>
              <a:buNone/>
              <a:defRPr sz="3600" b="1">
                <a:solidFill>
                  <a:srgbClr val="F4F6F2"/>
                </a:solidFill>
                <a:latin typeface="Arial"/>
                <a:ea typeface="Arial"/>
                <a:cs typeface="Arial"/>
              </a:defRPr>
            </a:pPr>
            <a:r>
              <a:t>AuntEDNA.ai validates the </a:t>
            </a:r>
            <a:r>
              <a:rPr>
                <a:solidFill>
                  <a:srgbClr val="FF6FB5"/>
                </a:solidFill>
              </a:rPr>
              <a:t>care layer.</a:t>
            </a:r>
          </a:p>
        </p:txBody>
      </p:sp>
      <p:sp>
        <p:nvSpPr>
          <p:cNvPr id="397" name="Text 4">
            <a:extLst xmlns:a="http://schemas.openxmlformats.org/drawingml/2006/main">
              <a:ext uri="{FF2B5EF4-FFF2-40B4-BE49-F238E27FC236}">
                <a16:creationId xmlns:a16="http://schemas.microsoft.com/office/drawing/2014/main" id="{80B2E7D2-6C27-4169-B82B-2E936A86D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7" y="2220742"/>
            <a:ext cx="10058401" cy="221954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1600">
                <a:solidFill>
                  <a:srgbClr val="8A9099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Pulse Check owns the detection, scoring, and routing. AuntEDNA.ai handles the clinical handoff.</a:t>
            </a:r>
          </a:p>
        </p:txBody>
      </p:sp>
      <p:sp>
        <p:nvSpPr>
          <p:cNvPr id="398" name="Shape 5">
            <a:extLst xmlns:a="http://schemas.openxmlformats.org/drawingml/2006/main">
              <a:ext uri="{FF2B5EF4-FFF2-40B4-BE49-F238E27FC236}">
                <a16:creationId xmlns:a16="http://schemas.microsoft.com/office/drawing/2014/main" id="{63EB4485-AD8F-482C-BFBB-E8248D511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420000"/>
            <a:ext cx="10561320" cy="960122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141619"/>
          </a:solidFill>
          <a:ln xmlns:a="http://schemas.openxmlformats.org/drawingml/2006/main" w="12700">
            <a:solidFill>
              <a:srgbClr val="2A2E33"/>
            </a:solidFill>
          </a:ln>
          <a:effectLst xmlns:a="http://schemas.openxmlformats.org/drawingml/2006/main">
            <a:outerShdw blurRad="177800" dist="50800" dir="5400000" sx="100000" sy="100000" kx="0" ky="0" algn="b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 lIns="45718" tIns="45718" rIns="45718" bIns="45718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n-lt"/>
                <a:ea typeface="+mn-lt"/>
                <a:cs typeface="+mn-lt"/>
              </a:defRPr>
            </a:pPr>
          </a:p>
        </p:txBody>
      </p:sp>
      <p:sp>
        <p:nvSpPr>
          <p:cNvPr id="399" name="Shape 6">
            <a:extLst xmlns:a="http://schemas.openxmlformats.org/drawingml/2006/main">
              <a:ext uri="{FF2B5EF4-FFF2-40B4-BE49-F238E27FC236}">
                <a16:creationId xmlns:a16="http://schemas.microsoft.com/office/drawing/2014/main" id="{614958D6-BDD2-4DFE-86D4-44D9F5AC5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3621168"/>
            <a:ext cx="548642" cy="54864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1E22"/>
          </a:solidFill>
          <a:ln xmlns:a="http://schemas.openxmlformats.org/drawingml/2006/main" w="12700"/>
        </p:spPr>
        <p:txBody>
          <a:bodyPr xmlns:a="http://schemas.openxmlformats.org/drawingml/2006/main" lIns="45718" tIns="45718" rIns="45718" bIns="45718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n-lt"/>
                <a:ea typeface="+mn-lt"/>
                <a:cs typeface="+mn-lt"/>
              </a:defRPr>
            </a:pPr>
          </a:p>
        </p:txBody>
      </p:sp>
      <p:pic>
        <p:nvPicPr>
          <p:cNvPr id="43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7dbd7e953f49c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245413" y="3766122"/>
            <a:ext cx="252376" cy="252376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  <p:sp>
        <p:nvSpPr>
          <p:cNvPr id="401" name="Text 7">
            <a:extLst xmlns:a="http://schemas.openxmlformats.org/drawingml/2006/main">
              <a:ext uri="{FF2B5EF4-FFF2-40B4-BE49-F238E27FC236}">
                <a16:creationId xmlns:a16="http://schemas.microsoft.com/office/drawing/2014/main" id="{B337916E-B28D-4E91-BC4A-968995D0B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4519" y="3735442"/>
            <a:ext cx="3657603" cy="246938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1700" b="1">
                <a:solidFill>
                  <a:srgbClr val="F4F6F2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NSF Phase I grant</a:t>
            </a:r>
          </a:p>
        </p:txBody>
      </p:sp>
      <p:sp>
        <p:nvSpPr>
          <p:cNvPr id="402" name="Text 8">
            <a:extLst xmlns:a="http://schemas.openxmlformats.org/drawingml/2006/main">
              <a:ext uri="{FF2B5EF4-FFF2-40B4-BE49-F238E27FC236}">
                <a16:creationId xmlns:a16="http://schemas.microsoft.com/office/drawing/2014/main" id="{387758FB-843B-4DF9-8276-43EB4927A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3755057"/>
            <a:ext cx="5669280" cy="207709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lnSpc>
                <a:spcPts val="1700"/>
              </a:lnSpc>
              <a:buNone/>
              <a:defRPr sz="1300">
                <a:solidFill>
                  <a:srgbClr val="C3C8CE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Independent validation through scientific peer review.</a:t>
            </a:r>
          </a:p>
        </p:txBody>
      </p:sp>
      <p:sp>
        <p:nvSpPr>
          <p:cNvPr id="403" name="Shape 9">
            <a:extLst xmlns:a="http://schemas.openxmlformats.org/drawingml/2006/main">
              <a:ext uri="{FF2B5EF4-FFF2-40B4-BE49-F238E27FC236}">
                <a16:creationId xmlns:a16="http://schemas.microsoft.com/office/drawing/2014/main" id="{5A9110B2-0B91-4908-B42A-B6EA33248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439999"/>
            <a:ext cx="10561320" cy="960122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141619"/>
          </a:solidFill>
          <a:ln xmlns:a="http://schemas.openxmlformats.org/drawingml/2006/main" w="12700">
            <a:solidFill>
              <a:srgbClr val="2A2E33"/>
            </a:solidFill>
          </a:ln>
          <a:effectLst xmlns:a="http://schemas.openxmlformats.org/drawingml/2006/main">
            <a:outerShdw blurRad="177800" dist="50800" dir="5400000" sx="100000" sy="100000" kx="0" ky="0" algn="b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 lIns="45718" tIns="45718" rIns="45718" bIns="45718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n-lt"/>
                <a:ea typeface="+mn-lt"/>
                <a:cs typeface="+mn-lt"/>
              </a:defRPr>
            </a:pPr>
          </a:p>
        </p:txBody>
      </p:sp>
      <p:sp>
        <p:nvSpPr>
          <p:cNvPr id="404" name="Shape 10">
            <a:extLst xmlns:a="http://schemas.openxmlformats.org/drawingml/2006/main">
              <a:ext uri="{FF2B5EF4-FFF2-40B4-BE49-F238E27FC236}">
                <a16:creationId xmlns:a16="http://schemas.microsoft.com/office/drawing/2014/main" id="{C51BC511-CA40-4F69-9C43-3A14CBBAB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41167"/>
            <a:ext cx="548642" cy="54864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1E22"/>
          </a:solidFill>
          <a:ln xmlns:a="http://schemas.openxmlformats.org/drawingml/2006/main" w="12700"/>
        </p:spPr>
        <p:txBody>
          <a:bodyPr xmlns:a="http://schemas.openxmlformats.org/drawingml/2006/main" lIns="45718" tIns="45718" rIns="45718" bIns="45718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n-lt"/>
                <a:ea typeface="+mn-lt"/>
                <a:cs typeface="+mn-lt"/>
              </a:defRPr>
            </a:pPr>
          </a:p>
        </p:txBody>
      </p:sp>
      <p:pic>
        <p:nvPicPr>
          <p:cNvPr id="437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bdbe782363f404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245413" y="4793872"/>
            <a:ext cx="252376" cy="252376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  <p:sp>
        <p:nvSpPr>
          <p:cNvPr id="406" name="Text 11">
            <a:extLst xmlns:a="http://schemas.openxmlformats.org/drawingml/2006/main">
              <a:ext uri="{FF2B5EF4-FFF2-40B4-BE49-F238E27FC236}">
                <a16:creationId xmlns:a16="http://schemas.microsoft.com/office/drawing/2014/main" id="{185AA363-3090-44F3-804D-D43585BBE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4519" y="4755443"/>
            <a:ext cx="3657603" cy="246937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1700" b="1">
                <a:solidFill>
                  <a:srgbClr val="F4F6F2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80% adherence</a:t>
            </a:r>
          </a:p>
        </p:txBody>
      </p:sp>
      <p:sp>
        <p:nvSpPr>
          <p:cNvPr id="407" name="Text 12">
            <a:extLst xmlns:a="http://schemas.openxmlformats.org/drawingml/2006/main">
              <a:ext uri="{FF2B5EF4-FFF2-40B4-BE49-F238E27FC236}">
                <a16:creationId xmlns:a16="http://schemas.microsoft.com/office/drawing/2014/main" id="{4D073433-8121-49F9-B03B-4E6D0AD1F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4775058"/>
            <a:ext cx="5669280" cy="207708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lnSpc>
                <a:spcPts val="1700"/>
              </a:lnSpc>
              <a:buNone/>
              <a:defRPr sz="1300">
                <a:solidFill>
                  <a:srgbClr val="C3C8CE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AuntEDNA.ai evidence across 1,000+ student-athletes.</a:t>
            </a:r>
          </a:p>
        </p:txBody>
      </p:sp>
      <p:sp>
        <p:nvSpPr>
          <p:cNvPr id="408" name="Shape 13">
            <a:extLst xmlns:a="http://schemas.openxmlformats.org/drawingml/2006/main">
              <a:ext uri="{FF2B5EF4-FFF2-40B4-BE49-F238E27FC236}">
                <a16:creationId xmlns:a16="http://schemas.microsoft.com/office/drawing/2014/main" id="{D2DFE524-067A-4942-AE37-9A05F67EC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460000"/>
            <a:ext cx="10561320" cy="960122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141619"/>
          </a:solidFill>
          <a:ln xmlns:a="http://schemas.openxmlformats.org/drawingml/2006/main" w="12700">
            <a:solidFill>
              <a:srgbClr val="2A2E33"/>
            </a:solidFill>
          </a:ln>
          <a:effectLst xmlns:a="http://schemas.openxmlformats.org/drawingml/2006/main">
            <a:outerShdw blurRad="177800" dist="50800" dir="5400000" sx="100000" sy="100000" kx="0" ky="0" algn="b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 lIns="45718" tIns="45718" rIns="45718" bIns="45718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n-lt"/>
                <a:ea typeface="+mn-lt"/>
                <a:cs typeface="+mn-lt"/>
              </a:defRPr>
            </a:pPr>
          </a:p>
        </p:txBody>
      </p:sp>
      <p:sp>
        <p:nvSpPr>
          <p:cNvPr id="409" name="Shape 14">
            <a:extLst xmlns:a="http://schemas.openxmlformats.org/drawingml/2006/main">
              <a:ext uri="{FF2B5EF4-FFF2-40B4-BE49-F238E27FC236}">
                <a16:creationId xmlns:a16="http://schemas.microsoft.com/office/drawing/2014/main" id="{A8D614B2-6515-437B-8074-09CC3D6CA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5661168"/>
            <a:ext cx="548642" cy="54864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1E22"/>
          </a:solidFill>
          <a:ln xmlns:a="http://schemas.openxmlformats.org/drawingml/2006/main" w="12700"/>
        </p:spPr>
        <p:txBody>
          <a:bodyPr xmlns:a="http://schemas.openxmlformats.org/drawingml/2006/main" lIns="45718" tIns="45718" rIns="45718" bIns="45718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n-lt"/>
                <a:ea typeface="+mn-lt"/>
                <a:cs typeface="+mn-lt"/>
              </a:defRPr>
            </a:pPr>
          </a:p>
        </p:txBody>
      </p:sp>
      <p:pic>
        <p:nvPicPr>
          <p:cNvPr id="442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d43a725b3e24df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245413" y="5809300"/>
            <a:ext cx="252376" cy="252376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  <p:sp>
        <p:nvSpPr>
          <p:cNvPr id="411" name="Text 15">
            <a:extLst xmlns:a="http://schemas.openxmlformats.org/drawingml/2006/main">
              <a:ext uri="{FF2B5EF4-FFF2-40B4-BE49-F238E27FC236}">
                <a16:creationId xmlns:a16="http://schemas.microsoft.com/office/drawing/2014/main" id="{D18C21FB-B822-44B9-B1B9-AC5CF1EC1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4519" y="5775442"/>
            <a:ext cx="3657603" cy="246938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1700" b="1">
                <a:solidFill>
                  <a:srgbClr val="F4F6F2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Shared research layer</a:t>
            </a:r>
          </a:p>
        </p:txBody>
      </p:sp>
      <p:sp>
        <p:nvSpPr>
          <p:cNvPr id="412" name="Text 16">
            <a:extLst xmlns:a="http://schemas.openxmlformats.org/drawingml/2006/main">
              <a:ext uri="{FF2B5EF4-FFF2-40B4-BE49-F238E27FC236}">
                <a16:creationId xmlns:a16="http://schemas.microsoft.com/office/drawing/2014/main" id="{218B8F94-51C7-4485-B184-02CD636EB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5795057"/>
            <a:ext cx="5669280" cy="207708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lnSpc>
                <a:spcPts val="1700"/>
              </a:lnSpc>
              <a:buNone/>
              <a:defRPr sz="1300">
                <a:solidFill>
                  <a:srgbClr val="C3C8CE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Models trained on a validated, peer-reviewed athlete dataset.</a:t>
            </a:r>
          </a:p>
        </p:txBody>
      </p:sp>
      <p:sp>
        <p:nvSpPr>
          <p:cNvPr id="413" name="t150">
            <a:extLst xmlns:a="http://schemas.openxmlformats.org/drawingml/2006/main">
              <a:ext uri="{FF2B5EF4-FFF2-40B4-BE49-F238E27FC236}">
                <a16:creationId xmlns:a16="http://schemas.microsoft.com/office/drawing/2014/main" id="{6B914321-4C27-425D-9828-0FD468459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78" y="2600000"/>
            <a:ext cx="5000004" cy="1270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900" b="1">
                <a:solidFill>
                  <a:srgbClr val="E15B97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AUNTEDNA.AI CO-CEOS</a:t>
            </a:r>
          </a:p>
        </p:txBody>
      </p:sp>
      <p:pic>
        <p:nvPicPr>
          <p:cNvPr id="446" name="Jelanna photo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eec8ae23f84523"/>
          <a:srcRect xmlns:a="http://schemas.openxmlformats.org/drawingml/2006/main" l="0" t="0" r="21" b="2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97280" y="2819999"/>
            <a:ext cx="469901" cy="469901"/>
          </a:xfrm>
          <a:ln xmlns:a="http://schemas.openxmlformats.org/drawingml/2006/main" w="12700">
            <a:solidFill>
              <a:srgbClr val="2A2E33"/>
            </a:solidFill>
          </a:ln>
        </p:spPr>
      </p:pic>
      <p:sp>
        <p:nvSpPr>
          <p:cNvPr id="415" name="t152">
            <a:extLst xmlns:a="http://schemas.openxmlformats.org/drawingml/2006/main">
              <a:ext uri="{FF2B5EF4-FFF2-40B4-BE49-F238E27FC236}">
                <a16:creationId xmlns:a16="http://schemas.microsoft.com/office/drawing/2014/main" id="{5E54218A-7E47-436F-B789-F4F68AFA4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0000" y="2850000"/>
            <a:ext cx="3200002" cy="13554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1000" b="1">
                <a:solidFill>
                  <a:srgbClr val="F4F6F2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Jelanna Salas Olivera</a:t>
            </a:r>
          </a:p>
        </p:txBody>
      </p:sp>
      <p:sp>
        <p:nvSpPr>
          <p:cNvPr id="416" name="t153">
            <a:extLst xmlns:a="http://schemas.openxmlformats.org/drawingml/2006/main">
              <a:ext uri="{FF2B5EF4-FFF2-40B4-BE49-F238E27FC236}">
                <a16:creationId xmlns:a16="http://schemas.microsoft.com/office/drawing/2014/main" id="{AE20312E-8208-4812-B272-CB44F7A7B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0000" y="3089998"/>
            <a:ext cx="3200002" cy="1270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800">
                <a:solidFill>
                  <a:srgbClr val="8A9099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Co-CEO</a:t>
            </a:r>
          </a:p>
        </p:txBody>
      </p:sp>
      <p:pic>
        <p:nvPicPr>
          <p:cNvPr id="449" name="Tracey photo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560c81535b47a4"/>
          <a:srcRect xmlns:a="http://schemas.openxmlformats.org/drawingml/2006/main" l="0" t="0" r="21" b="2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999999" y="2819999"/>
            <a:ext cx="469901" cy="469901"/>
          </a:xfrm>
          <a:ln xmlns:a="http://schemas.openxmlformats.org/drawingml/2006/main" w="12700">
            <a:solidFill>
              <a:srgbClr val="2A2E33"/>
            </a:solidFill>
          </a:ln>
        </p:spPr>
      </p:pic>
      <p:sp>
        <p:nvSpPr>
          <p:cNvPr id="418" name="t155">
            <a:extLst xmlns:a="http://schemas.openxmlformats.org/drawingml/2006/main">
              <a:ext uri="{FF2B5EF4-FFF2-40B4-BE49-F238E27FC236}">
                <a16:creationId xmlns:a16="http://schemas.microsoft.com/office/drawing/2014/main" id="{E37E64E1-FE42-40E7-BE00-7237E99FF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998" y="2850000"/>
            <a:ext cx="3200002" cy="13554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1000" b="1">
                <a:solidFill>
                  <a:srgbClr val="F4F6F2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Dr. Tracey Hathaway</a:t>
            </a:r>
          </a:p>
        </p:txBody>
      </p:sp>
      <p:sp>
        <p:nvSpPr>
          <p:cNvPr id="419" name="t156">
            <a:extLst xmlns:a="http://schemas.openxmlformats.org/drawingml/2006/main">
              <a:ext uri="{FF2B5EF4-FFF2-40B4-BE49-F238E27FC236}">
                <a16:creationId xmlns:a16="http://schemas.microsoft.com/office/drawing/2014/main" id="{4BFD70AD-E3E2-420F-AB90-87399E205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998" y="3089998"/>
            <a:ext cx="3200002" cy="1270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800">
                <a:solidFill>
                  <a:srgbClr val="8A9099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Co-CEO</a:t>
            </a:r>
          </a:p>
        </p:txBody>
      </p:sp>
    </p:spTree>
    <p:extLst>
      <p:ext uri="{BB962C8B-B14F-4D97-AF65-F5344CB8AC3E}">
        <p14:creationId xmlns:p14="http://schemas.microsoft.com/office/powerpoint/2010/main" val="768720826"/>
      </p:ext>
    </p:extLst>
  </p:cSld>
</p:sld>
</file>

<file path=ppt/slides/slide18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07080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1" name="Shape 0">
            <a:extLst xmlns:a="http://schemas.openxmlformats.org/drawingml/2006/main">
              <a:ext uri="{FF2B5EF4-FFF2-40B4-BE49-F238E27FC236}">
                <a16:creationId xmlns:a16="http://schemas.microsoft.com/office/drawing/2014/main" id="{C1FF9D08-7CF0-4C79-954A-1A298107D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080A"/>
          </a:solidFill>
          <a:ln xmlns:a="http://schemas.openxmlformats.org/drawingml/2006/main" w="12700"/>
        </p:spPr>
        <p:txBody>
          <a:bodyPr xmlns:a="http://schemas.openxmlformats.org/drawingml/2006/main" lIns="45718" tIns="45718" rIns="45718" bIns="45718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n-lt"/>
                <a:ea typeface="+mn-lt"/>
                <a:cs typeface="+mn-lt"/>
              </a:defRPr>
            </a:pPr>
          </a:p>
        </p:txBody>
      </p:sp>
      <p:sp>
        <p:nvSpPr>
          <p:cNvPr id="422" name="Shape 1">
            <a:extLst xmlns:a="http://schemas.openxmlformats.org/drawingml/2006/main">
              <a:ext uri="{FF2B5EF4-FFF2-40B4-BE49-F238E27FC236}">
                <a16:creationId xmlns:a16="http://schemas.microsoft.com/office/drawing/2014/main" id="{32E86788-204F-4D54-8E74-5071E1BAF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889000" y="-889001"/>
            <a:ext cx="3048000" cy="304800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0FE10">
              <a:alpha val="8000"/>
            </a:srgbClr>
          </a:solidFill>
          <a:ln xmlns:a="http://schemas.openxmlformats.org/drawingml/2006/main" w="12700"/>
        </p:spPr>
        <p:txBody>
          <a:bodyPr xmlns:a="http://schemas.openxmlformats.org/drawingml/2006/main" lIns="45718" tIns="45718" rIns="45718" bIns="45718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n-lt"/>
                <a:ea typeface="+mn-lt"/>
                <a:cs typeface="+mn-lt"/>
              </a:defRPr>
            </a:pPr>
          </a:p>
        </p:txBody>
      </p:sp>
      <p:sp>
        <p:nvSpPr>
          <p:cNvPr id="423" name="Shape 2">
            <a:extLst xmlns:a="http://schemas.openxmlformats.org/drawingml/2006/main">
              <a:ext uri="{FF2B5EF4-FFF2-40B4-BE49-F238E27FC236}">
                <a16:creationId xmlns:a16="http://schemas.microsoft.com/office/drawing/2014/main" id="{79E812B9-7D48-4B09-A6AC-BE4AC23FF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571999"/>
            <a:ext cx="3302000" cy="330200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B82F6">
              <a:alpha val="7000"/>
            </a:srgbClr>
          </a:solidFill>
          <a:ln xmlns:a="http://schemas.openxmlformats.org/drawingml/2006/main" w="12700"/>
        </p:spPr>
        <p:txBody>
          <a:bodyPr xmlns:a="http://schemas.openxmlformats.org/drawingml/2006/main" lIns="45718" tIns="45718" rIns="45718" bIns="45718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n-lt"/>
                <a:ea typeface="+mn-lt"/>
                <a:cs typeface="+mn-lt"/>
              </a:defRPr>
            </a:pPr>
          </a:p>
        </p:txBody>
      </p:sp>
      <p:sp>
        <p:nvSpPr>
          <p:cNvPr id="424" name="Shape 3">
            <a:extLst xmlns:a="http://schemas.openxmlformats.org/drawingml/2006/main">
              <a:ext uri="{FF2B5EF4-FFF2-40B4-BE49-F238E27FC236}">
                <a16:creationId xmlns:a16="http://schemas.microsoft.com/office/drawing/2014/main" id="{EA31D1AF-C6F9-432A-9278-BB3D60C55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500" y="571500"/>
            <a:ext cx="2419945" cy="37589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>
              <a:alpha val="4000"/>
            </a:srgbClr>
          </a:solidFill>
          <a:ln xmlns:a="http://schemas.openxmlformats.org/drawingml/2006/main" w="6350">
            <a:solidFill>
              <a:srgbClr val="FFFFFF">
                <a:alpha val="10000"/>
              </a:srgbClr>
            </a:solidFill>
          </a:ln>
        </p:spPr>
        <p:txBody>
          <a:bodyPr xmlns:a="http://schemas.openxmlformats.org/drawingml/2006/main" lIns="45718" tIns="45718" rIns="45718" bIns="45718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n-lt"/>
                <a:ea typeface="+mn-lt"/>
                <a:cs typeface="+mn-lt"/>
              </a:defRPr>
            </a:pPr>
          </a:p>
        </p:txBody>
      </p:sp>
      <p:sp>
        <p:nvSpPr>
          <p:cNvPr id="425" name="Text 4">
            <a:extLst xmlns:a="http://schemas.openxmlformats.org/drawingml/2006/main">
              <a:ext uri="{FF2B5EF4-FFF2-40B4-BE49-F238E27FC236}">
                <a16:creationId xmlns:a16="http://schemas.microsoft.com/office/drawing/2014/main" id="{A44AFEF3-7648-435B-A1A9-305585891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550" y="641350"/>
            <a:ext cx="2200444" cy="261589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 anchor="ctr">
            <a:normAutofit fontScale="100000" lnSpcReduction="0"/>
          </a:bodyPr>
          <a:lstStyle xmlns:a="http://schemas.openxmlformats.org/drawingml/2006/main">
            <a:lvl1pPr>
              <a:lnSpc>
                <a:spcPct val="155000"/>
              </a:lnSpc>
              <a:buNone/>
              <a:defRPr sz="1200" b="1" spc="300">
                <a:solidFill>
                  <a:srgbClr val="E0FE10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WHO SUPPORTS US</a:t>
            </a:r>
          </a:p>
        </p:txBody>
      </p:sp>
      <p:sp>
        <p:nvSpPr>
          <p:cNvPr id="426" name="Text 5">
            <a:extLst xmlns:a="http://schemas.openxmlformats.org/drawingml/2006/main">
              <a:ext uri="{FF2B5EF4-FFF2-40B4-BE49-F238E27FC236}">
                <a16:creationId xmlns:a16="http://schemas.microsoft.com/office/drawing/2014/main" id="{53BEA0D2-CEDC-4B96-8A3B-9689AFE53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500" y="1036290"/>
            <a:ext cx="11118850" cy="608857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100000" lnSpcReduction="0"/>
          </a:bodyPr>
          <a:lstStyle xmlns:a="http://schemas.openxmlformats.org/drawingml/2006/main"/>
          <a:p xmlns:a="http://schemas.openxmlformats.org/drawingml/2006/main">
            <a:pPr>
              <a:lnSpc>
                <a:spcPct val="114000"/>
              </a:lnSpc>
              <a:buNone/>
              <a:defRPr sz="4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We are not building </a:t>
            </a:r>
            <a:r>
              <a:rPr>
                <a:solidFill>
                  <a:srgbClr val="E0FE10"/>
                </a:solidFill>
              </a:rPr>
              <a:t>in isolation.</a:t>
            </a:r>
          </a:p>
        </p:txBody>
      </p:sp>
      <p:sp>
        <p:nvSpPr>
          <p:cNvPr id="427" name="Text 6">
            <a:extLst xmlns:a="http://schemas.openxmlformats.org/drawingml/2006/main">
              <a:ext uri="{FF2B5EF4-FFF2-40B4-BE49-F238E27FC236}">
                <a16:creationId xmlns:a16="http://schemas.microsoft.com/office/drawing/2014/main" id="{973FAAAE-0348-43B0-A3F8-CEE119315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500" y="1704281"/>
            <a:ext cx="11118850" cy="234307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100000" lnSpcReduction="0"/>
          </a:bodyPr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  <a:defRPr sz="1200">
                <a:solidFill>
                  <a:srgbClr val="FFFFFF">
                    <a:alpha val="66000"/>
                  </a:srgbClr>
                </a:solidFill>
                <a:latin typeface="Arial"/>
                <a:ea typeface="Arial"/>
                <a:cs typeface="Arial"/>
              </a:defRPr>
            </a:pPr>
            <a:r>
              <a:t>Strategic support already spans </a:t>
            </a:r>
            <a:r>
              <a:rPr b="1">
                <a:solidFill>
                  <a:srgbClr val="FFFFFF"/>
                </a:solidFill>
              </a:rPr>
              <a:t>clinical pathway, hardware, legal, capital, institutional access, infrastructure, and research.</a:t>
            </a:r>
          </a:p>
        </p:txBody>
      </p:sp>
      <p:sp>
        <p:nvSpPr>
          <p:cNvPr id="428" name="Shape 7">
            <a:extLst xmlns:a="http://schemas.openxmlformats.org/drawingml/2006/main">
              <a:ext uri="{FF2B5EF4-FFF2-40B4-BE49-F238E27FC236}">
                <a16:creationId xmlns:a16="http://schemas.microsoft.com/office/drawing/2014/main" id="{7078377F-939E-4EA7-815A-4FFDFBF14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500" y="2103683"/>
            <a:ext cx="3530600" cy="3543998"/>
          </a:xfrm>
          <a:prstGeom xmlns:a="http://schemas.openxmlformats.org/drawingml/2006/main" prst="roundRect">
            <a:avLst>
              <a:gd name="adj" fmla="val 5036"/>
            </a:avLst>
          </a:prstGeom>
          <a:solidFill xmlns:a="http://schemas.openxmlformats.org/drawingml/2006/main">
            <a:srgbClr val="FFFFFF">
              <a:alpha val="4000"/>
            </a:srgbClr>
          </a:solidFill>
          <a:ln xmlns:a="http://schemas.openxmlformats.org/drawingml/2006/main" w="6350">
            <a:solidFill>
              <a:srgbClr val="FFFFFF">
                <a:alpha val="10000"/>
              </a:srgbClr>
            </a:solidFill>
          </a:ln>
          <a:effectLst xmlns:a="http://schemas.openxmlformats.org/drawingml/2006/main">
            <a:outerShdw blurRad="571500" dist="285750" dir="5400000" sx="100000" sy="100000" kx="0" ky="0" algn="b" rotWithShape="0">
              <a:srgbClr val="F47CC8">
                <a:alpha val="12000"/>
              </a:srgbClr>
            </a:outerShdw>
          </a:effectLst>
        </p:spPr>
        <p:txBody>
          <a:bodyPr xmlns:a="http://schemas.openxmlformats.org/drawingml/2006/main" lIns="45718" tIns="45718" rIns="45718" bIns="45718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n-lt"/>
                <a:ea typeface="+mn-lt"/>
                <a:cs typeface="+mn-lt"/>
              </a:defRPr>
            </a:pPr>
          </a:p>
        </p:txBody>
      </p:sp>
      <p:sp>
        <p:nvSpPr>
          <p:cNvPr id="429" name="Text 8">
            <a:extLst xmlns:a="http://schemas.openxmlformats.org/drawingml/2006/main">
              <a:ext uri="{FF2B5EF4-FFF2-40B4-BE49-F238E27FC236}">
                <a16:creationId xmlns:a16="http://schemas.microsoft.com/office/drawing/2014/main" id="{48838589-0718-430C-BE1B-7F28C2B80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49733"/>
            <a:ext cx="3309493" cy="182862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100000" lnSpcReduction="0"/>
          </a:bodyPr>
          <a:lstStyle xmlns:a="http://schemas.openxmlformats.org/drawingml/2006/main">
            <a:lvl1pPr>
              <a:lnSpc>
                <a:spcPct val="155000"/>
              </a:lnSpc>
              <a:buNone/>
              <a:defRPr sz="800" b="1" spc="200">
                <a:solidFill>
                  <a:srgbClr val="F47CC8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CLINICAL PATHWAY</a:t>
            </a:r>
          </a:p>
        </p:txBody>
      </p:sp>
      <p:sp>
        <p:nvSpPr>
          <p:cNvPr id="430" name="Text 9">
            <a:extLst xmlns:a="http://schemas.openxmlformats.org/drawingml/2006/main">
              <a:ext uri="{FF2B5EF4-FFF2-40B4-BE49-F238E27FC236}">
                <a16:creationId xmlns:a16="http://schemas.microsoft.com/office/drawing/2014/main" id="{BE572B8B-18C8-4E75-9B16-A9AF71E99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59596"/>
            <a:ext cx="3309493" cy="304802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100000" lnSpcReduction="0"/>
          </a:bodyPr>
          <a:lstStyle xmlns:a="http://schemas.openxmlformats.org/drawingml/2006/main"/>
          <a:p xmlns:a="http://schemas.openxmlformats.org/drawingml/2006/main">
            <a:pPr defTabSz="704087">
              <a:buNone/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Aunt</a:t>
            </a:r>
            <a:r>
              <a:rPr>
                <a:solidFill>
                  <a:srgbClr val="F47CC8"/>
                </a:solidFill>
              </a:rPr>
              <a:t>EDNA</a:t>
            </a:r>
            <a:r>
              <a:rPr sz="1000"/>
              <a:t>.ai</a:t>
            </a:r>
          </a:p>
        </p:txBody>
      </p:sp>
      <p:sp>
        <p:nvSpPr>
          <p:cNvPr id="431" name="Text 10">
            <a:extLst xmlns:a="http://schemas.openxmlformats.org/drawingml/2006/main">
              <a:ext uri="{FF2B5EF4-FFF2-40B4-BE49-F238E27FC236}">
                <a16:creationId xmlns:a16="http://schemas.microsoft.com/office/drawing/2014/main" id="{32AA98A5-854F-4C3D-9FFC-856187B3F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902496"/>
            <a:ext cx="3309493" cy="163515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100000" lnSpcReduction="0"/>
          </a:bodyPr>
          <a:lstStyle xmlns:a="http://schemas.openxmlformats.org/drawingml/2006/main"/>
          <a:p xmlns:a="http://schemas.openxmlformats.org/drawingml/2006/main">
            <a:pPr>
              <a:lnSpc>
                <a:spcPct val="145000"/>
              </a:lnSpc>
              <a:buNone/>
              <a:defRPr sz="7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Strategic clinical pathway partner </a:t>
            </a:r>
            <a:r>
              <a:rPr b="0">
                <a:solidFill>
                  <a:srgbClr val="FFFFFF">
                    <a:alpha val="64999"/>
                  </a:srgbClr>
                </a:solidFill>
              </a:rPr>
              <a:t>for escalation and care routing.</a:t>
            </a:r>
          </a:p>
        </p:txBody>
      </p:sp>
      <p:sp>
        <p:nvSpPr>
          <p:cNvPr id="432" name="Shape 11">
            <a:extLst xmlns:a="http://schemas.openxmlformats.org/drawingml/2006/main">
              <a:ext uri="{FF2B5EF4-FFF2-40B4-BE49-F238E27FC236}">
                <a16:creationId xmlns:a16="http://schemas.microsoft.com/office/drawing/2014/main" id="{D934BB9F-406D-42BF-9DC8-D5412EA3E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294535"/>
            <a:ext cx="3213100" cy="127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7CC8">
              <a:alpha val="25000"/>
            </a:srgbClr>
          </a:solidFill>
          <a:ln xmlns:a="http://schemas.openxmlformats.org/drawingml/2006/main" w="12700"/>
        </p:spPr>
        <p:txBody>
          <a:bodyPr xmlns:a="http://schemas.openxmlformats.org/drawingml/2006/main" lIns="45718" tIns="45718" rIns="45718" bIns="45718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n-lt"/>
                <a:ea typeface="+mn-lt"/>
                <a:cs typeface="+mn-lt"/>
              </a:defRPr>
            </a:pPr>
          </a:p>
        </p:txBody>
      </p:sp>
      <p:sp>
        <p:nvSpPr>
          <p:cNvPr id="433" name="Text 12">
            <a:extLst xmlns:a="http://schemas.openxmlformats.org/drawingml/2006/main">
              <a:ext uri="{FF2B5EF4-FFF2-40B4-BE49-F238E27FC236}">
                <a16:creationId xmlns:a16="http://schemas.microsoft.com/office/drawing/2014/main" id="{BC30F269-B046-49EA-B4AC-DA673ADD2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418360"/>
            <a:ext cx="3309493" cy="143472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100000" lnSpcReduction="0"/>
          </a:bodyPr>
          <a:lstStyle xmlns:a="http://schemas.openxmlformats.org/drawingml/2006/main">
            <a:lvl1pPr>
              <a:lnSpc>
                <a:spcPct val="155000"/>
              </a:lnSpc>
              <a:buNone/>
              <a:defRPr sz="600" b="1" spc="100">
                <a:solidFill>
                  <a:srgbClr val="F47CC8">
                    <a:alpha val="85000"/>
                  </a:srgbClr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NETWORK WE REACH THROUGH THIS PARTNERSHIP</a:t>
            </a:r>
          </a:p>
        </p:txBody>
      </p:sp>
      <p:sp>
        <p:nvSpPr>
          <p:cNvPr id="434" name="Shape 13">
            <a:extLst xmlns:a="http://schemas.openxmlformats.org/drawingml/2006/main">
              <a:ext uri="{FF2B5EF4-FFF2-40B4-BE49-F238E27FC236}">
                <a16:creationId xmlns:a16="http://schemas.microsoft.com/office/drawing/2014/main" id="{C1C8B5B2-25ED-47B6-A21A-DA48A003B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625330"/>
            <a:ext cx="3213100" cy="355602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>
              <a:alpha val="4000"/>
            </a:srgbClr>
          </a:solidFill>
          <a:ln xmlns:a="http://schemas.openxmlformats.org/drawingml/2006/main" w="6350">
            <a:solidFill>
              <a:srgbClr val="FFFFFF">
                <a:alpha val="10000"/>
              </a:srgbClr>
            </a:solidFill>
          </a:ln>
        </p:spPr>
        <p:txBody>
          <a:bodyPr xmlns:a="http://schemas.openxmlformats.org/drawingml/2006/main" lIns="45718" tIns="45718" rIns="45718" bIns="45718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n-lt"/>
                <a:ea typeface="+mn-lt"/>
                <a:cs typeface="+mn-lt"/>
              </a:defRPr>
            </a:pPr>
          </a:p>
        </p:txBody>
      </p:sp>
      <p:sp>
        <p:nvSpPr>
          <p:cNvPr id="435" name="Text 14">
            <a:extLst xmlns:a="http://schemas.openxmlformats.org/drawingml/2006/main">
              <a:ext uri="{FF2B5EF4-FFF2-40B4-BE49-F238E27FC236}">
                <a16:creationId xmlns:a16="http://schemas.microsoft.com/office/drawing/2014/main" id="{B0E7F03A-7F59-4213-93AB-046EEDE50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707880"/>
            <a:ext cx="561777" cy="215902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100000" lnSpcReduction="0"/>
          </a:bodyPr>
          <a:lstStyle xmlns:a="http://schemas.openxmlformats.org/drawingml/2006/main"/>
          <a:p xmlns:a="http://schemas.openxmlformats.org/drawingml/2006/main">
            <a:pPr defTabSz="713230">
              <a:buNone/>
              <a:defRPr sz="1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NCAA</a:t>
            </a:r>
            <a:r>
              <a:rPr sz="400"/>
              <a:t>®</a:t>
            </a:r>
          </a:p>
        </p:txBody>
      </p:sp>
      <p:sp>
        <p:nvSpPr>
          <p:cNvPr id="436" name="Text 15">
            <a:extLst xmlns:a="http://schemas.openxmlformats.org/drawingml/2006/main">
              <a:ext uri="{FF2B5EF4-FFF2-40B4-BE49-F238E27FC236}">
                <a16:creationId xmlns:a16="http://schemas.microsoft.com/office/drawing/2014/main" id="{031536EA-3BB0-4656-9F0A-30AB78720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377" y="4749453"/>
            <a:ext cx="1353842" cy="132707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100000" lnSpcReduction="0"/>
          </a:bodyPr>
          <a:lstStyle xmlns:a="http://schemas.openxmlformats.org/drawingml/2006/main">
            <a:lvl1pPr>
              <a:lnSpc>
                <a:spcPct val="130000"/>
              </a:lnSpc>
              <a:buNone/>
              <a:defRPr sz="600">
                <a:solidFill>
                  <a:srgbClr val="FFFFFF">
                    <a:alpha val="60000"/>
                  </a:srgbClr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College athletics ecosystem access</a:t>
            </a:r>
          </a:p>
        </p:txBody>
      </p:sp>
      <p:sp>
        <p:nvSpPr>
          <p:cNvPr id="437" name="Shape 16">
            <a:extLst xmlns:a="http://schemas.openxmlformats.org/drawingml/2006/main">
              <a:ext uri="{FF2B5EF4-FFF2-40B4-BE49-F238E27FC236}">
                <a16:creationId xmlns:a16="http://schemas.microsoft.com/office/drawing/2014/main" id="{B759116E-DE33-4C3A-93BE-C1974BE05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057130"/>
            <a:ext cx="3213100" cy="444502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FFFFF">
              <a:alpha val="4000"/>
            </a:srgbClr>
          </a:solidFill>
          <a:ln xmlns:a="http://schemas.openxmlformats.org/drawingml/2006/main" w="6350">
            <a:solidFill>
              <a:srgbClr val="FFFFFF">
                <a:alpha val="10000"/>
              </a:srgbClr>
            </a:solidFill>
          </a:ln>
        </p:spPr>
        <p:txBody>
          <a:bodyPr xmlns:a="http://schemas.openxmlformats.org/drawingml/2006/main" lIns="45718" tIns="45718" rIns="45718" bIns="45718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n-lt"/>
                <a:ea typeface="+mn-lt"/>
                <a:cs typeface="+mn-lt"/>
              </a:defRPr>
            </a:pPr>
          </a:p>
        </p:txBody>
      </p:sp>
      <p:sp>
        <p:nvSpPr>
          <p:cNvPr id="438" name="Shape 17">
            <a:extLst xmlns:a="http://schemas.openxmlformats.org/drawingml/2006/main">
              <a:ext uri="{FF2B5EF4-FFF2-40B4-BE49-F238E27FC236}">
                <a16:creationId xmlns:a16="http://schemas.microsoft.com/office/drawing/2014/main" id="{58C8EAE5-9733-4E33-9BC0-CE6385FC5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139680"/>
            <a:ext cx="279400" cy="27940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4E8E"/>
          </a:solidFill>
          <a:ln xmlns:a="http://schemas.openxmlformats.org/drawingml/2006/main" w="12700"/>
        </p:spPr>
        <p:txBody>
          <a:bodyPr xmlns:a="http://schemas.openxmlformats.org/drawingml/2006/main" lIns="45718" tIns="45718" rIns="45718" bIns="45718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n-lt"/>
                <a:ea typeface="+mn-lt"/>
                <a:cs typeface="+mn-lt"/>
              </a:defRPr>
            </a:pPr>
          </a:p>
        </p:txBody>
      </p:sp>
      <p:sp>
        <p:nvSpPr>
          <p:cNvPr id="439" name="Text 18">
            <a:extLst xmlns:a="http://schemas.openxmlformats.org/drawingml/2006/main">
              <a:ext uri="{FF2B5EF4-FFF2-40B4-BE49-F238E27FC236}">
                <a16:creationId xmlns:a16="http://schemas.microsoft.com/office/drawing/2014/main" id="{D477FC1B-9C28-47CB-856C-FC75AD427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100" y="5139680"/>
            <a:ext cx="330200" cy="304802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 anchor="ctr">
            <a:normAutofit fontScale="100000" lnSpcReduction="0"/>
          </a:bodyPr>
          <a:lstStyle xmlns:a="http://schemas.openxmlformats.org/drawingml/2006/main">
            <a:lvl1pPr algn="ctr">
              <a:lnSpc>
                <a:spcPct val="155000"/>
              </a:lnSpc>
              <a:buNone/>
              <a:defRPr sz="7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NSF</a:t>
            </a:r>
          </a:p>
        </p:txBody>
      </p:sp>
      <p:sp>
        <p:nvSpPr>
          <p:cNvPr id="440" name="Text 19">
            <a:extLst xmlns:a="http://schemas.openxmlformats.org/drawingml/2006/main">
              <a:ext uri="{FF2B5EF4-FFF2-40B4-BE49-F238E27FC236}">
                <a16:creationId xmlns:a16="http://schemas.microsoft.com/office/drawing/2014/main" id="{053A2ABA-4986-4CC5-8386-53DD1480F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0800" y="5225703"/>
            <a:ext cx="1037234" cy="132707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100000" lnSpcReduction="0"/>
          </a:bodyPr>
          <a:lstStyle xmlns:a="http://schemas.openxmlformats.org/drawingml/2006/main">
            <a:lvl1pPr>
              <a:lnSpc>
                <a:spcPct val="130000"/>
              </a:lnSpc>
              <a:buNone/>
              <a:defRPr sz="600">
                <a:solidFill>
                  <a:srgbClr val="FFFFFF">
                    <a:alpha val="60000"/>
                  </a:srgbClr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Scientific research network</a:t>
            </a:r>
          </a:p>
        </p:txBody>
      </p:sp>
      <p:sp>
        <p:nvSpPr>
          <p:cNvPr id="441" name="Shape 20">
            <a:extLst xmlns:a="http://schemas.openxmlformats.org/drawingml/2006/main">
              <a:ext uri="{FF2B5EF4-FFF2-40B4-BE49-F238E27FC236}">
                <a16:creationId xmlns:a16="http://schemas.microsoft.com/office/drawing/2014/main" id="{966C44EB-5BD7-45A4-B43D-CA58F2B93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0700" y="2103683"/>
            <a:ext cx="3530600" cy="1113584"/>
          </a:xfrm>
          <a:prstGeom xmlns:a="http://schemas.openxmlformats.org/drawingml/2006/main" prst="roundRect">
            <a:avLst>
              <a:gd name="adj" fmla="val 15967"/>
            </a:avLst>
          </a:prstGeom>
          <a:solidFill xmlns:a="http://schemas.openxmlformats.org/drawingml/2006/main">
            <a:srgbClr val="FFFFFF">
              <a:alpha val="4000"/>
            </a:srgbClr>
          </a:solidFill>
          <a:ln xmlns:a="http://schemas.openxmlformats.org/drawingml/2006/main" w="6350">
            <a:solidFill>
              <a:srgbClr val="FFFFFF">
                <a:alpha val="10000"/>
              </a:srgbClr>
            </a:solidFill>
          </a:ln>
          <a:effectLst xmlns:a="http://schemas.openxmlformats.org/drawingml/2006/main">
            <a:outerShdw blurRad="571500" dist="285750" dir="5400000" sx="100000" sy="100000" kx="0" ky="0" algn="b" rotWithShape="0">
              <a:srgbClr val="3B82F6">
                <a:alpha val="10000"/>
              </a:srgbClr>
            </a:outerShdw>
          </a:effectLst>
        </p:spPr>
        <p:txBody>
          <a:bodyPr xmlns:a="http://schemas.openxmlformats.org/drawingml/2006/main" lIns="45718" tIns="45718" rIns="45718" bIns="45718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n-lt"/>
                <a:ea typeface="+mn-lt"/>
                <a:cs typeface="+mn-lt"/>
              </a:defRPr>
            </a:pPr>
          </a:p>
        </p:txBody>
      </p:sp>
      <p:sp>
        <p:nvSpPr>
          <p:cNvPr id="442" name="Text 21">
            <a:extLst xmlns:a="http://schemas.openxmlformats.org/drawingml/2006/main">
              <a:ext uri="{FF2B5EF4-FFF2-40B4-BE49-F238E27FC236}">
                <a16:creationId xmlns:a16="http://schemas.microsoft.com/office/drawing/2014/main" id="{4FC471CE-8742-4073-91AC-19DC07E95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224333"/>
            <a:ext cx="3335655" cy="173039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100000" lnSpcReduction="0"/>
          </a:bodyPr>
          <a:lstStyle xmlns:a="http://schemas.openxmlformats.org/drawingml/2006/main">
            <a:lvl1pPr>
              <a:lnSpc>
                <a:spcPct val="155000"/>
              </a:lnSpc>
              <a:buNone/>
              <a:defRPr sz="700" b="1" spc="200">
                <a:solidFill>
                  <a:srgbClr val="3B82F6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HARDWARE</a:t>
            </a:r>
          </a:p>
        </p:txBody>
      </p:sp>
      <p:sp>
        <p:nvSpPr>
          <p:cNvPr id="443" name="Text 22">
            <a:extLst xmlns:a="http://schemas.openxmlformats.org/drawingml/2006/main">
              <a:ext uri="{FF2B5EF4-FFF2-40B4-BE49-F238E27FC236}">
                <a16:creationId xmlns:a16="http://schemas.microsoft.com/office/drawing/2014/main" id="{BA39AC0C-BC66-4645-81A2-73C88D2AB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511673"/>
            <a:ext cx="3335655" cy="399407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100000" lnSpcReduction="0"/>
          </a:bodyPr>
          <a:lstStyle xmlns:a="http://schemas.openxmlformats.org/drawingml/2006/main">
            <a:lvl1pPr>
              <a:lnSpc>
                <a:spcPct val="155000"/>
              </a:lnSpc>
              <a:buNone/>
              <a:defRPr sz="1900" b="1" spc="-1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POLAR</a:t>
            </a:r>
          </a:p>
        </p:txBody>
      </p:sp>
      <p:sp>
        <p:nvSpPr>
          <p:cNvPr id="444" name="Text 23">
            <a:extLst xmlns:a="http://schemas.openxmlformats.org/drawingml/2006/main">
              <a:ext uri="{FF2B5EF4-FFF2-40B4-BE49-F238E27FC236}">
                <a16:creationId xmlns:a16="http://schemas.microsoft.com/office/drawing/2014/main" id="{08AAA9DF-E254-4E25-A2E5-404E1711D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987276"/>
            <a:ext cx="3335655" cy="149822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100000" lnSpcReduction="0"/>
          </a:bodyPr>
          <a:lstStyle xmlns:a="http://schemas.openxmlformats.org/drawingml/2006/main"/>
          <a:p xmlns:a="http://schemas.openxmlformats.org/drawingml/2006/main">
            <a:pPr>
              <a:lnSpc>
                <a:spcPct val="140000"/>
              </a:lnSpc>
              <a:buNone/>
              <a:defRPr sz="7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Wearable hardware partner </a:t>
            </a:r>
            <a:r>
              <a:rPr b="0">
                <a:solidFill>
                  <a:srgbClr val="FFFFFF">
                    <a:alpha val="64999"/>
                  </a:srgbClr>
                </a:solidFill>
              </a:rPr>
              <a:t>for biometric and recovery signals.</a:t>
            </a:r>
          </a:p>
        </p:txBody>
      </p:sp>
      <p:sp>
        <p:nvSpPr>
          <p:cNvPr id="445" name="Shape 24">
            <a:extLst xmlns:a="http://schemas.openxmlformats.org/drawingml/2006/main">
              <a:ext uri="{FF2B5EF4-FFF2-40B4-BE49-F238E27FC236}">
                <a16:creationId xmlns:a16="http://schemas.microsoft.com/office/drawing/2014/main" id="{90376B80-C3D6-4FEB-B9DE-293F953F2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103683"/>
            <a:ext cx="3530600" cy="1113584"/>
          </a:xfrm>
          <a:prstGeom xmlns:a="http://schemas.openxmlformats.org/drawingml/2006/main" prst="roundRect">
            <a:avLst>
              <a:gd name="adj" fmla="val 15967"/>
            </a:avLst>
          </a:prstGeom>
          <a:solidFill xmlns:a="http://schemas.openxmlformats.org/drawingml/2006/main">
            <a:srgbClr val="FFFFFF">
              <a:alpha val="4000"/>
            </a:srgbClr>
          </a:solidFill>
          <a:ln xmlns:a="http://schemas.openxmlformats.org/drawingml/2006/main" w="6350">
            <a:solidFill>
              <a:srgbClr val="FFFFFF">
                <a:alpha val="10000"/>
              </a:srgbClr>
            </a:solidFill>
          </a:ln>
        </p:spPr>
        <p:txBody>
          <a:bodyPr xmlns:a="http://schemas.openxmlformats.org/drawingml/2006/main" lIns="45718" tIns="45718" rIns="45718" bIns="45718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n-lt"/>
                <a:ea typeface="+mn-lt"/>
                <a:cs typeface="+mn-lt"/>
              </a:defRPr>
            </a:pPr>
          </a:p>
        </p:txBody>
      </p:sp>
      <p:sp>
        <p:nvSpPr>
          <p:cNvPr id="446" name="Text 25">
            <a:extLst xmlns:a="http://schemas.openxmlformats.org/drawingml/2006/main">
              <a:ext uri="{FF2B5EF4-FFF2-40B4-BE49-F238E27FC236}">
                <a16:creationId xmlns:a16="http://schemas.microsoft.com/office/drawing/2014/main" id="{40D93AD5-CBFE-426C-AD6B-D9300ADBE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8950" y="2224333"/>
            <a:ext cx="3335655" cy="173039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100000" lnSpcReduction="0"/>
          </a:bodyPr>
          <a:lstStyle xmlns:a="http://schemas.openxmlformats.org/drawingml/2006/main">
            <a:lvl1pPr>
              <a:lnSpc>
                <a:spcPct val="155000"/>
              </a:lnSpc>
              <a:buNone/>
              <a:defRPr sz="700" b="1" spc="200">
                <a:solidFill>
                  <a:srgbClr val="FFFFFF">
                    <a:alpha val="85000"/>
                  </a:srgbClr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LEGAL COUNSEL</a:t>
            </a:r>
          </a:p>
        </p:txBody>
      </p:sp>
      <p:sp>
        <p:nvSpPr>
          <p:cNvPr id="447" name="Text 26">
            <a:extLst xmlns:a="http://schemas.openxmlformats.org/drawingml/2006/main">
              <a:ext uri="{FF2B5EF4-FFF2-40B4-BE49-F238E27FC236}">
                <a16:creationId xmlns:a16="http://schemas.microsoft.com/office/drawing/2014/main" id="{01E99B7B-C367-4AC3-9850-2B408BA0B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8950" y="2511673"/>
            <a:ext cx="3335655" cy="438747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100000" lnSpcReduction="0"/>
          </a:bodyPr>
          <a:lstStyle xmlns:a="http://schemas.openxmlformats.org/drawingml/2006/main">
            <a:lvl1pPr>
              <a:lnSpc>
                <a:spcPct val="155000"/>
              </a:lnSpc>
              <a:buNone/>
              <a:defRPr sz="2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COOLEY</a:t>
            </a:r>
          </a:p>
        </p:txBody>
      </p:sp>
      <p:sp>
        <p:nvSpPr>
          <p:cNvPr id="448" name="Text 27">
            <a:extLst xmlns:a="http://schemas.openxmlformats.org/drawingml/2006/main">
              <a:ext uri="{FF2B5EF4-FFF2-40B4-BE49-F238E27FC236}">
                <a16:creationId xmlns:a16="http://schemas.microsoft.com/office/drawing/2014/main" id="{F82C9D1C-BD47-4385-8E86-872FD040A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8950" y="2975817"/>
            <a:ext cx="3335655" cy="153345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100000" lnSpcReduction="0"/>
          </a:bodyPr>
          <a:lstStyle xmlns:a="http://schemas.openxmlformats.org/drawingml/2006/main">
            <a:lvl1pPr>
              <a:lnSpc>
                <a:spcPct val="155000"/>
              </a:lnSpc>
              <a:buNone/>
              <a:defRPr sz="600" b="1" spc="100">
                <a:solidFill>
                  <a:srgbClr val="FFFFFF">
                    <a:alpha val="50000"/>
                  </a:srgbClr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LLP · EST. 1920</a:t>
            </a:r>
          </a:p>
        </p:txBody>
      </p:sp>
      <p:sp>
        <p:nvSpPr>
          <p:cNvPr id="449" name="Shape 28">
            <a:extLst xmlns:a="http://schemas.openxmlformats.org/drawingml/2006/main">
              <a:ext uri="{FF2B5EF4-FFF2-40B4-BE49-F238E27FC236}">
                <a16:creationId xmlns:a16="http://schemas.microsoft.com/office/drawing/2014/main" id="{D28FCBC7-DA8E-495D-952C-D2F875E13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0700" y="3318867"/>
            <a:ext cx="3530600" cy="1113633"/>
          </a:xfrm>
          <a:prstGeom xmlns:a="http://schemas.openxmlformats.org/drawingml/2006/main" prst="roundRect">
            <a:avLst>
              <a:gd name="adj" fmla="val 15966"/>
            </a:avLst>
          </a:prstGeom>
          <a:solidFill xmlns:a="http://schemas.openxmlformats.org/drawingml/2006/main">
            <a:srgbClr val="FFFFFF">
              <a:alpha val="4000"/>
            </a:srgbClr>
          </a:solidFill>
          <a:ln xmlns:a="http://schemas.openxmlformats.org/drawingml/2006/main" w="6350">
            <a:solidFill>
              <a:srgbClr val="FFFFFF">
                <a:alpha val="10000"/>
              </a:srgbClr>
            </a:solidFill>
          </a:ln>
          <a:effectLst xmlns:a="http://schemas.openxmlformats.org/drawingml/2006/main">
            <a:outerShdw blurRad="571500" dist="285750" dir="5400000" sx="100000" sy="100000" kx="0" ky="0" algn="b" rotWithShape="0">
              <a:srgbClr val="3B82F6">
                <a:alpha val="10000"/>
              </a:srgbClr>
            </a:outerShdw>
          </a:effectLst>
        </p:spPr>
        <p:txBody>
          <a:bodyPr xmlns:a="http://schemas.openxmlformats.org/drawingml/2006/main" lIns="45718" tIns="45718" rIns="45718" bIns="45718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n-lt"/>
                <a:ea typeface="+mn-lt"/>
                <a:cs typeface="+mn-lt"/>
              </a:defRPr>
            </a:pPr>
          </a:p>
        </p:txBody>
      </p:sp>
      <p:sp>
        <p:nvSpPr>
          <p:cNvPr id="450" name="Text 29">
            <a:extLst xmlns:a="http://schemas.openxmlformats.org/drawingml/2006/main">
              <a:ext uri="{FF2B5EF4-FFF2-40B4-BE49-F238E27FC236}">
                <a16:creationId xmlns:a16="http://schemas.microsoft.com/office/drawing/2014/main" id="{7622B6FE-89F7-4A16-9A0E-1A9D044D8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439517"/>
            <a:ext cx="3335655" cy="173039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100000" lnSpcReduction="0"/>
          </a:bodyPr>
          <a:lstStyle xmlns:a="http://schemas.openxmlformats.org/drawingml/2006/main">
            <a:lvl1pPr>
              <a:lnSpc>
                <a:spcPct val="155000"/>
              </a:lnSpc>
              <a:buNone/>
              <a:defRPr sz="700" b="1" spc="200">
                <a:solidFill>
                  <a:srgbClr val="3B82F6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CONFERENCE</a:t>
            </a:r>
          </a:p>
        </p:txBody>
      </p:sp>
      <p:sp>
        <p:nvSpPr>
          <p:cNvPr id="451" name="Text 30">
            <a:extLst xmlns:a="http://schemas.openxmlformats.org/drawingml/2006/main">
              <a:ext uri="{FF2B5EF4-FFF2-40B4-BE49-F238E27FC236}">
                <a16:creationId xmlns:a16="http://schemas.microsoft.com/office/drawing/2014/main" id="{2FBEB9C9-0852-4D75-9B22-95F144A69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726855"/>
            <a:ext cx="3335655" cy="49783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100000" lnSpcReduction="0"/>
          </a:bodyPr>
          <a:lstStyle xmlns:a="http://schemas.openxmlformats.org/drawingml/2006/main">
            <a:lvl1pPr>
              <a:lnSpc>
                <a:spcPct val="155000"/>
              </a:lnSpc>
              <a:buNone/>
              <a:defRPr sz="2400" b="1" i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ACC</a:t>
            </a:r>
          </a:p>
        </p:txBody>
      </p:sp>
      <p:sp>
        <p:nvSpPr>
          <p:cNvPr id="452" name="Text 31">
            <a:extLst xmlns:a="http://schemas.openxmlformats.org/drawingml/2006/main">
              <a:ext uri="{FF2B5EF4-FFF2-40B4-BE49-F238E27FC236}">
                <a16:creationId xmlns:a16="http://schemas.microsoft.com/office/drawing/2014/main" id="{6735679A-542A-4127-B021-DF15B0773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250085"/>
            <a:ext cx="3335655" cy="153345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100000" lnSpcReduction="0"/>
          </a:bodyPr>
          <a:lstStyle xmlns:a="http://schemas.openxmlformats.org/drawingml/2006/main">
            <a:lvl1pPr>
              <a:lnSpc>
                <a:spcPct val="155000"/>
              </a:lnSpc>
              <a:buNone/>
              <a:defRPr sz="600" b="1" spc="100">
                <a:solidFill>
                  <a:srgbClr val="FFFFFF">
                    <a:alpha val="50000"/>
                  </a:srgbClr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ATLANTIC COAST CONFERENCE</a:t>
            </a:r>
          </a:p>
        </p:txBody>
      </p:sp>
      <p:sp>
        <p:nvSpPr>
          <p:cNvPr id="453" name="Text 32">
            <a:extLst xmlns:a="http://schemas.openxmlformats.org/drawingml/2006/main">
              <a:ext uri="{FF2B5EF4-FFF2-40B4-BE49-F238E27FC236}">
                <a16:creationId xmlns:a16="http://schemas.microsoft.com/office/drawing/2014/main" id="{578A7427-EE4B-4E64-AE2B-AFF7287DE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428826"/>
            <a:ext cx="3335655" cy="149822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100000" lnSpcReduction="0"/>
          </a:bodyPr>
          <a:lstStyle xmlns:a="http://schemas.openxmlformats.org/drawingml/2006/main"/>
          <a:p xmlns:a="http://schemas.openxmlformats.org/drawingml/2006/main">
            <a:pPr>
              <a:lnSpc>
                <a:spcPct val="140000"/>
              </a:lnSpc>
              <a:buNone/>
              <a:defRPr sz="7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Conference-level marketing </a:t>
            </a:r>
            <a:r>
              <a:rPr b="0">
                <a:solidFill>
                  <a:srgbClr val="FFFFFF">
                    <a:alpha val="64999"/>
                  </a:srgbClr>
                </a:solidFill>
              </a:rPr>
              <a:t>and institutional access.</a:t>
            </a:r>
          </a:p>
        </p:txBody>
      </p:sp>
      <p:sp>
        <p:nvSpPr>
          <p:cNvPr id="454" name="Shape 33">
            <a:extLst xmlns:a="http://schemas.openxmlformats.org/drawingml/2006/main">
              <a:ext uri="{FF2B5EF4-FFF2-40B4-BE49-F238E27FC236}">
                <a16:creationId xmlns:a16="http://schemas.microsoft.com/office/drawing/2014/main" id="{CB10E3D7-8A99-420C-BA0A-6D52037E7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318867"/>
            <a:ext cx="3530600" cy="1113633"/>
          </a:xfrm>
          <a:prstGeom xmlns:a="http://schemas.openxmlformats.org/drawingml/2006/main" prst="roundRect">
            <a:avLst>
              <a:gd name="adj" fmla="val 15966"/>
            </a:avLst>
          </a:prstGeom>
          <a:solidFill xmlns:a="http://schemas.openxmlformats.org/drawingml/2006/main">
            <a:srgbClr val="FFFFFF">
              <a:alpha val="4000"/>
            </a:srgbClr>
          </a:solidFill>
          <a:ln xmlns:a="http://schemas.openxmlformats.org/drawingml/2006/main" w="6350">
            <a:solidFill>
              <a:srgbClr val="FFFFFF">
                <a:alpha val="10000"/>
              </a:srgbClr>
            </a:solidFill>
          </a:ln>
        </p:spPr>
        <p:txBody>
          <a:bodyPr xmlns:a="http://schemas.openxmlformats.org/drawingml/2006/main" lIns="45718" tIns="45718" rIns="45718" bIns="45718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n-lt"/>
                <a:ea typeface="+mn-lt"/>
                <a:cs typeface="+mn-lt"/>
              </a:defRPr>
            </a:pPr>
          </a:p>
        </p:txBody>
      </p:sp>
      <p:sp>
        <p:nvSpPr>
          <p:cNvPr id="455" name="Text 34">
            <a:extLst xmlns:a="http://schemas.openxmlformats.org/drawingml/2006/main">
              <a:ext uri="{FF2B5EF4-FFF2-40B4-BE49-F238E27FC236}">
                <a16:creationId xmlns:a16="http://schemas.microsoft.com/office/drawing/2014/main" id="{D132C672-E8F9-48FC-B781-52FC73113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8950" y="3439517"/>
            <a:ext cx="3335655" cy="173039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100000" lnSpcReduction="0"/>
          </a:bodyPr>
          <a:lstStyle xmlns:a="http://schemas.openxmlformats.org/drawingml/2006/main">
            <a:lvl1pPr>
              <a:lnSpc>
                <a:spcPct val="155000"/>
              </a:lnSpc>
              <a:buNone/>
              <a:defRPr sz="700" b="1" spc="200">
                <a:solidFill>
                  <a:srgbClr val="FFAD30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VENTURE NETWORK</a:t>
            </a:r>
          </a:p>
        </p:txBody>
      </p:sp>
      <p:sp>
        <p:nvSpPr>
          <p:cNvPr id="456" name="Text 35">
            <a:extLst xmlns:a="http://schemas.openxmlformats.org/drawingml/2006/main">
              <a:ext uri="{FF2B5EF4-FFF2-40B4-BE49-F238E27FC236}">
                <a16:creationId xmlns:a16="http://schemas.microsoft.com/office/drawing/2014/main" id="{4A186F5C-44F8-4895-8C27-3AA8A05BC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8950" y="3726855"/>
            <a:ext cx="3335655" cy="49783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100000" lnSpcReduction="0"/>
          </a:bodyPr>
          <a:lstStyle xmlns:a="http://schemas.openxmlformats.org/drawingml/2006/main">
            <a:lvl1pPr>
              <a:lnSpc>
                <a:spcPct val="155000"/>
              </a:lnSpc>
              <a:buNone/>
              <a:defRPr sz="2400" b="1" spc="-100">
                <a:solidFill>
                  <a:srgbClr val="FFAD30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AWS</a:t>
            </a:r>
          </a:p>
        </p:txBody>
      </p:sp>
      <p:sp>
        <p:nvSpPr>
          <p:cNvPr id="457" name="Text 36">
            <a:extLst xmlns:a="http://schemas.openxmlformats.org/drawingml/2006/main">
              <a:ext uri="{FF2B5EF4-FFF2-40B4-BE49-F238E27FC236}">
                <a16:creationId xmlns:a16="http://schemas.microsoft.com/office/drawing/2014/main" id="{E43BD03B-1964-4C7E-B081-986C0AC7C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8950" y="4250085"/>
            <a:ext cx="3335655" cy="153345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100000" lnSpcReduction="0"/>
          </a:bodyPr>
          <a:lstStyle xmlns:a="http://schemas.openxmlformats.org/drawingml/2006/main">
            <a:lvl1pPr>
              <a:lnSpc>
                <a:spcPct val="155000"/>
              </a:lnSpc>
              <a:buNone/>
              <a:defRPr sz="600" b="1" spc="100">
                <a:solidFill>
                  <a:srgbClr val="FFFFFF">
                    <a:alpha val="50000"/>
                  </a:srgbClr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STARTUPS</a:t>
            </a:r>
          </a:p>
        </p:txBody>
      </p:sp>
      <p:sp>
        <p:nvSpPr>
          <p:cNvPr id="458" name="Text 37">
            <a:extLst xmlns:a="http://schemas.openxmlformats.org/drawingml/2006/main">
              <a:ext uri="{FF2B5EF4-FFF2-40B4-BE49-F238E27FC236}">
                <a16:creationId xmlns:a16="http://schemas.microsoft.com/office/drawing/2014/main" id="{9786FC80-38AB-4F4A-884B-DF588DA02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8950" y="4428826"/>
            <a:ext cx="3335655" cy="149822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100000" lnSpcReduction="0"/>
          </a:bodyPr>
          <a:lstStyle xmlns:a="http://schemas.openxmlformats.org/drawingml/2006/main"/>
          <a:p xmlns:a="http://schemas.openxmlformats.org/drawingml/2006/main">
            <a:pPr>
              <a:lnSpc>
                <a:spcPct val="140000"/>
              </a:lnSpc>
              <a:buNone/>
              <a:defRPr sz="7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Technical backing </a:t>
            </a:r>
            <a:r>
              <a:rPr b="0">
                <a:solidFill>
                  <a:srgbClr val="FFFFFF">
                    <a:alpha val="64999"/>
                  </a:srgbClr>
                </a:solidFill>
              </a:rPr>
              <a:t>&amp; credits.</a:t>
            </a:r>
          </a:p>
        </p:txBody>
      </p:sp>
      <p:sp>
        <p:nvSpPr>
          <p:cNvPr id="459" name="Shape 38">
            <a:extLst xmlns:a="http://schemas.openxmlformats.org/drawingml/2006/main">
              <a:ext uri="{FF2B5EF4-FFF2-40B4-BE49-F238E27FC236}">
                <a16:creationId xmlns:a16="http://schemas.microsoft.com/office/drawing/2014/main" id="{27A4A5B1-B16B-4E14-8379-EC0DD67ED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0700" y="4534098"/>
            <a:ext cx="3530600" cy="1113583"/>
          </a:xfrm>
          <a:prstGeom xmlns:a="http://schemas.openxmlformats.org/drawingml/2006/main" prst="roundRect">
            <a:avLst>
              <a:gd name="adj" fmla="val 15967"/>
            </a:avLst>
          </a:prstGeom>
          <a:solidFill xmlns:a="http://schemas.openxmlformats.org/drawingml/2006/main">
            <a:srgbClr val="FFFFFF">
              <a:alpha val="4000"/>
            </a:srgbClr>
          </a:solidFill>
          <a:ln xmlns:a="http://schemas.openxmlformats.org/drawingml/2006/main" w="6350">
            <a:solidFill>
              <a:srgbClr val="FFFFFF">
                <a:alpha val="10000"/>
              </a:srgbClr>
            </a:solidFill>
          </a:ln>
        </p:spPr>
        <p:txBody>
          <a:bodyPr xmlns:a="http://schemas.openxmlformats.org/drawingml/2006/main" lIns="45718" tIns="45718" rIns="45718" bIns="45718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n-lt"/>
                <a:ea typeface="+mn-lt"/>
                <a:cs typeface="+mn-lt"/>
              </a:defRPr>
            </a:pPr>
          </a:p>
        </p:txBody>
      </p:sp>
      <p:sp>
        <p:nvSpPr>
          <p:cNvPr id="460" name="Text 39">
            <a:extLst xmlns:a="http://schemas.openxmlformats.org/drawingml/2006/main">
              <a:ext uri="{FF2B5EF4-FFF2-40B4-BE49-F238E27FC236}">
                <a16:creationId xmlns:a16="http://schemas.microsoft.com/office/drawing/2014/main" id="{FBA69021-D502-4221-A517-E5F2C1472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654748"/>
            <a:ext cx="3335655" cy="173039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100000" lnSpcReduction="0"/>
          </a:bodyPr>
          <a:lstStyle xmlns:a="http://schemas.openxmlformats.org/drawingml/2006/main">
            <a:lvl1pPr>
              <a:lnSpc>
                <a:spcPct val="155000"/>
              </a:lnSpc>
              <a:buNone/>
              <a:defRPr sz="700" b="1" spc="200">
                <a:solidFill>
                  <a:srgbClr val="32C997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VENTURE NETWORK</a:t>
            </a:r>
          </a:p>
        </p:txBody>
      </p:sp>
      <p:pic>
        <p:nvPicPr>
          <p:cNvPr id="513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08c3944af2451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476750" y="4969073"/>
            <a:ext cx="241300" cy="241302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  <p:sp>
        <p:nvSpPr>
          <p:cNvPr id="462" name="Text 40">
            <a:extLst xmlns:a="http://schemas.openxmlformats.org/drawingml/2006/main">
              <a:ext uri="{FF2B5EF4-FFF2-40B4-BE49-F238E27FC236}">
                <a16:creationId xmlns:a16="http://schemas.microsoft.com/office/drawing/2014/main" id="{2D6D6727-3678-4362-84A8-58E54FA38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942085"/>
            <a:ext cx="954930" cy="320677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100000" lnSpcReduction="0"/>
          </a:bodyPr>
          <a:lstStyle xmlns:a="http://schemas.openxmlformats.org/drawingml/2006/main">
            <a:lvl1pPr>
              <a:lnSpc>
                <a:spcPct val="155000"/>
              </a:lnSpc>
              <a:buNone/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techstars</a:t>
            </a:r>
          </a:p>
        </p:txBody>
      </p:sp>
      <p:sp>
        <p:nvSpPr>
          <p:cNvPr id="463" name="Text 41">
            <a:extLst xmlns:a="http://schemas.openxmlformats.org/drawingml/2006/main">
              <a:ext uri="{FF2B5EF4-FFF2-40B4-BE49-F238E27FC236}">
                <a16:creationId xmlns:a16="http://schemas.microsoft.com/office/drawing/2014/main" id="{756C80A1-C893-41D7-BECF-90BEFB1BE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5402610"/>
            <a:ext cx="3335655" cy="149822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100000" lnSpcReduction="0"/>
          </a:bodyPr>
          <a:lstStyle xmlns:a="http://schemas.openxmlformats.org/drawingml/2006/main"/>
          <a:p xmlns:a="http://schemas.openxmlformats.org/drawingml/2006/main">
            <a:pPr>
              <a:lnSpc>
                <a:spcPct val="140000"/>
              </a:lnSpc>
              <a:buNone/>
              <a:defRPr sz="7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Founder network </a:t>
            </a:r>
            <a:r>
              <a:rPr b="0">
                <a:solidFill>
                  <a:srgbClr val="FFFFFF">
                    <a:alpha val="64999"/>
                  </a:srgbClr>
                </a:solidFill>
              </a:rPr>
              <a:t>and support.</a:t>
            </a:r>
          </a:p>
        </p:txBody>
      </p:sp>
      <p:sp>
        <p:nvSpPr>
          <p:cNvPr id="464" name="Shape 42">
            <a:extLst xmlns:a="http://schemas.openxmlformats.org/drawingml/2006/main">
              <a:ext uri="{FF2B5EF4-FFF2-40B4-BE49-F238E27FC236}">
                <a16:creationId xmlns:a16="http://schemas.microsoft.com/office/drawing/2014/main" id="{30F4253A-99A8-4628-9E72-B644E5051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4534098"/>
            <a:ext cx="3530600" cy="1113583"/>
          </a:xfrm>
          <a:prstGeom xmlns:a="http://schemas.openxmlformats.org/drawingml/2006/main" prst="roundRect">
            <a:avLst>
              <a:gd name="adj" fmla="val 15967"/>
            </a:avLst>
          </a:prstGeom>
          <a:solidFill xmlns:a="http://schemas.openxmlformats.org/drawingml/2006/main">
            <a:srgbClr val="FFFFFF">
              <a:alpha val="4000"/>
            </a:srgbClr>
          </a:solidFill>
          <a:ln xmlns:a="http://schemas.openxmlformats.org/drawingml/2006/main" w="6350">
            <a:solidFill>
              <a:srgbClr val="FFFFFF">
                <a:alpha val="10000"/>
              </a:srgbClr>
            </a:solidFill>
          </a:ln>
          <a:effectLst xmlns:a="http://schemas.openxmlformats.org/drawingml/2006/main">
            <a:outerShdw blurRad="571500" dist="285750" dir="5400000" sx="100000" sy="100000" kx="0" ky="0" algn="b" rotWithShape="0">
              <a:srgbClr val="E0FE10">
                <a:alpha val="10000"/>
              </a:srgbClr>
            </a:outerShdw>
          </a:effectLst>
        </p:spPr>
        <p:txBody>
          <a:bodyPr xmlns:a="http://schemas.openxmlformats.org/drawingml/2006/main" lIns="45718" tIns="45718" rIns="45718" bIns="45718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n-lt"/>
                <a:ea typeface="+mn-lt"/>
                <a:cs typeface="+mn-lt"/>
              </a:defRPr>
            </a:pPr>
          </a:p>
        </p:txBody>
      </p:sp>
      <p:sp>
        <p:nvSpPr>
          <p:cNvPr id="465" name="Text 43">
            <a:extLst xmlns:a="http://schemas.openxmlformats.org/drawingml/2006/main">
              <a:ext uri="{FF2B5EF4-FFF2-40B4-BE49-F238E27FC236}">
                <a16:creationId xmlns:a16="http://schemas.microsoft.com/office/drawing/2014/main" id="{12B44EB9-3B5D-4A50-B78D-0CA1445D5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8950" y="4654748"/>
            <a:ext cx="3335655" cy="163167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100000" lnSpcReduction="0"/>
          </a:bodyPr>
          <a:lstStyle xmlns:a="http://schemas.openxmlformats.org/drawingml/2006/main">
            <a:lvl1pPr>
              <a:lnSpc>
                <a:spcPct val="155000"/>
              </a:lnSpc>
              <a:buNone/>
              <a:defRPr sz="700" b="1" spc="200">
                <a:solidFill>
                  <a:srgbClr val="E0FE10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LEAD INVESTOR</a:t>
            </a:r>
          </a:p>
        </p:txBody>
      </p:sp>
      <p:sp>
        <p:nvSpPr>
          <p:cNvPr id="466" name="Text 44">
            <a:extLst xmlns:a="http://schemas.openxmlformats.org/drawingml/2006/main">
              <a:ext uri="{FF2B5EF4-FFF2-40B4-BE49-F238E27FC236}">
                <a16:creationId xmlns:a16="http://schemas.microsoft.com/office/drawing/2014/main" id="{4C623977-0E72-45AF-B905-E02FA9570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8950" y="4932214"/>
            <a:ext cx="3335655" cy="399407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100000" lnSpcReduction="0"/>
          </a:bodyPr>
          <a:lstStyle xmlns:a="http://schemas.openxmlformats.org/drawingml/2006/main"/>
          <a:p xmlns:a="http://schemas.openxmlformats.org/drawingml/2006/main">
            <a:pPr>
              <a:lnSpc>
                <a:spcPct val="155000"/>
              </a:lnSpc>
              <a:buNone/>
              <a:defRPr sz="19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LAUNCH</a:t>
            </a:r>
            <a:r>
              <a:rPr>
                <a:solidFill>
                  <a:srgbClr val="E0FE10"/>
                </a:solidFill>
              </a:rPr>
              <a:t>▲</a:t>
            </a:r>
          </a:p>
        </p:txBody>
      </p:sp>
      <p:sp>
        <p:nvSpPr>
          <p:cNvPr id="467" name="Text 45">
            <a:extLst xmlns:a="http://schemas.openxmlformats.org/drawingml/2006/main">
              <a:ext uri="{FF2B5EF4-FFF2-40B4-BE49-F238E27FC236}">
                <a16:creationId xmlns:a16="http://schemas.microsoft.com/office/drawing/2014/main" id="{382B36E8-BFBA-4F16-9B0D-EA4A406F8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8950" y="5357019"/>
            <a:ext cx="3335655" cy="153345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100000" lnSpcReduction="0"/>
          </a:bodyPr>
          <a:lstStyle xmlns:a="http://schemas.openxmlformats.org/drawingml/2006/main">
            <a:lvl1pPr>
              <a:lnSpc>
                <a:spcPct val="155000"/>
              </a:lnSpc>
              <a:buNone/>
              <a:defRPr sz="600" b="1" spc="100">
                <a:solidFill>
                  <a:srgbClr val="FFFFFF">
                    <a:alpha val="50000"/>
                  </a:srgbClr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FOUNDER UNIVERSITY</a:t>
            </a:r>
          </a:p>
        </p:txBody>
      </p:sp>
      <p:sp>
        <p:nvSpPr>
          <p:cNvPr id="468" name="Text 46">
            <a:extLst xmlns:a="http://schemas.openxmlformats.org/drawingml/2006/main">
              <a:ext uri="{FF2B5EF4-FFF2-40B4-BE49-F238E27FC236}">
                <a16:creationId xmlns:a16="http://schemas.microsoft.com/office/drawing/2014/main" id="{1F9E8D57-0B9B-4B03-96EB-69607405E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8950" y="5535760"/>
            <a:ext cx="3335655" cy="149822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100000" lnSpcReduction="0"/>
          </a:bodyPr>
          <a:lstStyle xmlns:a="http://schemas.openxmlformats.org/drawingml/2006/main"/>
          <a:p xmlns:a="http://schemas.openxmlformats.org/drawingml/2006/main">
            <a:pPr>
              <a:lnSpc>
                <a:spcPct val="140000"/>
              </a:lnSpc>
              <a:buNone/>
              <a:defRPr sz="7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Investor backing </a:t>
            </a:r>
            <a:r>
              <a:rPr b="0">
                <a:solidFill>
                  <a:srgbClr val="FFFFFF">
                    <a:alpha val="64999"/>
                  </a:srgbClr>
                </a:solidFill>
              </a:rPr>
              <a:t>and Founder University network.</a:t>
            </a:r>
          </a:p>
        </p:txBody>
      </p:sp>
      <p:sp>
        <p:nvSpPr>
          <p:cNvPr id="469" name="Shape 47">
            <a:extLst xmlns:a="http://schemas.openxmlformats.org/drawingml/2006/main">
              <a:ext uri="{FF2B5EF4-FFF2-40B4-BE49-F238E27FC236}">
                <a16:creationId xmlns:a16="http://schemas.microsoft.com/office/drawing/2014/main" id="{C7DBD70F-7B78-4A8D-872F-DA485FDF7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500" y="5800130"/>
            <a:ext cx="10795000" cy="486372"/>
          </a:xfrm>
          <a:prstGeom xmlns:a="http://schemas.openxmlformats.org/drawingml/2006/main" prst="roundRect">
            <a:avLst>
              <a:gd name="adj" fmla="val 18278"/>
            </a:avLst>
          </a:prstGeom>
          <a:solidFill xmlns:a="http://schemas.openxmlformats.org/drawingml/2006/main">
            <a:srgbClr val="E0FE10">
              <a:alpha val="6000"/>
            </a:srgbClr>
          </a:solidFill>
          <a:ln xmlns:a="http://schemas.openxmlformats.org/drawingml/2006/main" w="6350">
            <a:solidFill>
              <a:srgbClr val="E0FE10">
                <a:alpha val="25000"/>
              </a:srgbClr>
            </a:solidFill>
          </a:ln>
        </p:spPr>
        <p:txBody>
          <a:bodyPr xmlns:a="http://schemas.openxmlformats.org/drawingml/2006/main" lIns="45718" tIns="45718" rIns="45718" bIns="45718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n-lt"/>
                <a:ea typeface="+mn-lt"/>
                <a:cs typeface="+mn-lt"/>
              </a:defRPr>
            </a:pPr>
          </a:p>
        </p:txBody>
      </p:sp>
      <p:sp>
        <p:nvSpPr>
          <p:cNvPr id="470" name="Text 48">
            <a:extLst xmlns:a="http://schemas.openxmlformats.org/drawingml/2006/main">
              <a:ext uri="{FF2B5EF4-FFF2-40B4-BE49-F238E27FC236}">
                <a16:creationId xmlns:a16="http://schemas.microsoft.com/office/drawing/2014/main" id="{3F00E1E7-5967-40BB-9984-6D03929FD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650" y="5935067"/>
            <a:ext cx="190500" cy="24189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100000" lnSpcReduction="0"/>
          </a:bodyPr>
          <a:lstStyle xmlns:a="http://schemas.openxmlformats.org/drawingml/2006/main">
            <a:lvl1pPr defTabSz="758951">
              <a:lnSpc>
                <a:spcPct val="155000"/>
              </a:lnSpc>
              <a:buNone/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⚡</a:t>
            </a:r>
          </a:p>
        </p:txBody>
      </p:sp>
      <p:sp>
        <p:nvSpPr>
          <p:cNvPr id="471" name="Text 49">
            <a:extLst xmlns:a="http://schemas.openxmlformats.org/drawingml/2006/main">
              <a:ext uri="{FF2B5EF4-FFF2-40B4-BE49-F238E27FC236}">
                <a16:creationId xmlns:a16="http://schemas.microsoft.com/office/drawing/2014/main" id="{4A81FEE6-2236-4C76-9E21-BC1B7308A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6649" y="5933480"/>
            <a:ext cx="8050591" cy="24507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100000" lnSpcReduction="0"/>
          </a:bodyPr>
          <a:lstStyle xmlns:a="http://schemas.openxmlformats.org/drawingml/2006/main"/>
          <a:p xmlns:a="http://schemas.openxmlformats.org/drawingml/2006/main">
            <a:pPr>
              <a:lnSpc>
                <a:spcPct val="155000"/>
              </a:lnSpc>
              <a:buNone/>
              <a:defRPr sz="1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Clinical, hardware, legal, capital, and institutional infrastructure. </a:t>
            </a:r>
            <a:r>
              <a:rPr b="0">
                <a:solidFill>
                  <a:srgbClr val="FFFFFF">
                    <a:alpha val="64999"/>
                  </a:srgbClr>
                </a:solidFill>
              </a:rPr>
              <a:t>The support around us is real — and already in motion.</a:t>
            </a:r>
          </a:p>
        </p:txBody>
      </p:sp>
    </p:spTree>
    <p:extLst>
      <p:ext uri="{BB962C8B-B14F-4D97-AF65-F5344CB8AC3E}">
        <p14:creationId xmlns:p14="http://schemas.microsoft.com/office/powerpoint/2010/main" val="1042760643"/>
      </p:ext>
    </p:extLst>
  </p:cSld>
</p:sld>
</file>

<file path=ppt/slides/slide19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0A0B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73" name="Shape 0">
            <a:extLst xmlns:a="http://schemas.openxmlformats.org/drawingml/2006/main">
              <a:ext uri="{FF2B5EF4-FFF2-40B4-BE49-F238E27FC236}">
                <a16:creationId xmlns:a16="http://schemas.microsoft.com/office/drawing/2014/main" id="{5653FF33-3D31-46F8-8D10-96AFF9442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66927"/>
            <a:ext cx="1828802" cy="384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41619"/>
          </a:solidFill>
          <a:ln xmlns:a="http://schemas.openxmlformats.org/drawingml/2006/main" w="12700">
            <a:solidFill>
              <a:srgbClr val="2A2E33"/>
            </a:solidFill>
          </a:ln>
        </p:spPr>
        <p:txBody>
          <a:bodyPr xmlns:a="http://schemas.openxmlformats.org/drawingml/2006/main" lIns="45718" tIns="45718" rIns="45718" bIns="45718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n-lt"/>
                <a:ea typeface="+mn-lt"/>
                <a:cs typeface="+mn-lt"/>
              </a:defRPr>
            </a:pPr>
          </a:p>
        </p:txBody>
      </p:sp>
      <p:sp>
        <p:nvSpPr>
          <p:cNvPr id="474" name="Shape 1">
            <a:extLst xmlns:a="http://schemas.openxmlformats.org/drawingml/2006/main">
              <a:ext uri="{FF2B5EF4-FFF2-40B4-BE49-F238E27FC236}">
                <a16:creationId xmlns:a16="http://schemas.microsoft.com/office/drawing/2014/main" id="{0C02DA53-309E-41F4-ADCE-95EA22BAF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38" y="722376"/>
            <a:ext cx="73155" cy="731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FF00"/>
          </a:solidFill>
          <a:ln xmlns:a="http://schemas.openxmlformats.org/drawingml/2006/main" w="12700"/>
        </p:spPr>
        <p:txBody>
          <a:bodyPr xmlns:a="http://schemas.openxmlformats.org/drawingml/2006/main" lIns="45718" tIns="45718" rIns="45718" bIns="45718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n-lt"/>
                <a:ea typeface="+mn-lt"/>
                <a:cs typeface="+mn-lt"/>
              </a:defRPr>
            </a:pPr>
          </a:p>
        </p:txBody>
      </p:sp>
      <p:sp>
        <p:nvSpPr>
          <p:cNvPr id="475" name="Text 2">
            <a:extLst xmlns:a="http://schemas.openxmlformats.org/drawingml/2006/main">
              <a:ext uri="{FF2B5EF4-FFF2-40B4-BE49-F238E27FC236}">
                <a16:creationId xmlns:a16="http://schemas.microsoft.com/office/drawing/2014/main" id="{4E69EFB8-C9EE-4E4F-8C01-747495F83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" y="691178"/>
            <a:ext cx="1463042" cy="135547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1000" b="1" spc="200">
                <a:solidFill>
                  <a:srgbClr val="F4F6F2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THE ASK</a:t>
            </a:r>
          </a:p>
        </p:txBody>
      </p:sp>
      <p:sp>
        <p:nvSpPr>
          <p:cNvPr id="476" name="Text 3">
            <a:extLst xmlns:a="http://schemas.openxmlformats.org/drawingml/2006/main">
              <a:ext uri="{FF2B5EF4-FFF2-40B4-BE49-F238E27FC236}">
                <a16:creationId xmlns:a16="http://schemas.microsoft.com/office/drawing/2014/main" id="{CA6EFF18-877D-4DEA-9ED9-1162ED256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599865"/>
            <a:ext cx="10515601" cy="54931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ts val="4400"/>
              </a:lnSpc>
              <a:buNone/>
              <a:defRPr sz="3800" b="1">
                <a:solidFill>
                  <a:srgbClr val="F4F6F2"/>
                </a:solidFill>
                <a:latin typeface="Arial"/>
                <a:ea typeface="Arial"/>
                <a:cs typeface="Arial"/>
              </a:defRPr>
            </a:pPr>
            <a:r>
              <a:t>Raising </a:t>
            </a:r>
            <a:r>
              <a:rPr>
                <a:solidFill>
                  <a:srgbClr val="C8FF00"/>
                </a:solidFill>
              </a:rPr>
              <a:t>$1.4M</a:t>
            </a:r>
            <a:r>
              <a:t> to own the mandate.</a:t>
            </a:r>
          </a:p>
        </p:txBody>
      </p:sp>
      <p:sp>
        <p:nvSpPr>
          <p:cNvPr id="477" name="Text 4">
            <a:extLst xmlns:a="http://schemas.openxmlformats.org/drawingml/2006/main">
              <a:ext uri="{FF2B5EF4-FFF2-40B4-BE49-F238E27FC236}">
                <a16:creationId xmlns:a16="http://schemas.microsoft.com/office/drawing/2014/main" id="{2381451D-A9C3-44A6-AD2A-CD18AF510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7" y="2220742"/>
            <a:ext cx="10058401" cy="221954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1600">
                <a:solidFill>
                  <a:srgbClr val="8A9099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Pre-seed on a $10M pre-money. Capital funds the team and product velocity to convert the visible beachhead.</a:t>
            </a:r>
          </a:p>
        </p:txBody>
      </p:sp>
      <p:sp>
        <p:nvSpPr>
          <p:cNvPr id="478" name="Shape 5">
            <a:extLst xmlns:a="http://schemas.openxmlformats.org/drawingml/2006/main">
              <a:ext uri="{FF2B5EF4-FFF2-40B4-BE49-F238E27FC236}">
                <a16:creationId xmlns:a16="http://schemas.microsoft.com/office/drawing/2014/main" id="{DE43686D-A4CB-4074-884F-DC5BC2711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788920"/>
            <a:ext cx="4206241" cy="3246122"/>
          </a:xfrm>
          <a:prstGeom xmlns:a="http://schemas.openxmlformats.org/drawingml/2006/main" prst="roundRect">
            <a:avLst>
              <a:gd name="adj" fmla="val 3380"/>
            </a:avLst>
          </a:prstGeom>
          <a:solidFill xmlns:a="http://schemas.openxmlformats.org/drawingml/2006/main">
            <a:srgbClr val="141619"/>
          </a:solidFill>
          <a:ln xmlns:a="http://schemas.openxmlformats.org/drawingml/2006/main" w="12700">
            <a:solidFill>
              <a:srgbClr val="C8FF00"/>
            </a:solidFill>
          </a:ln>
          <a:effectLst xmlns:a="http://schemas.openxmlformats.org/drawingml/2006/main">
            <a:outerShdw blurRad="177800" dist="50800" dir="5400000" sx="100000" sy="100000" kx="0" ky="0" algn="b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 lIns="45718" tIns="45718" rIns="45718" bIns="45718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n-lt"/>
                <a:ea typeface="+mn-lt"/>
                <a:cs typeface="+mn-lt"/>
              </a:defRPr>
            </a:pPr>
          </a:p>
        </p:txBody>
      </p:sp>
      <p:sp>
        <p:nvSpPr>
          <p:cNvPr id="479" name="Text 6">
            <a:extLst xmlns:a="http://schemas.openxmlformats.org/drawingml/2006/main">
              <a:ext uri="{FF2B5EF4-FFF2-40B4-BE49-F238E27FC236}">
                <a16:creationId xmlns:a16="http://schemas.microsoft.com/office/drawing/2014/main" id="{38CACAB9-9186-41B7-95CA-4596B28D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126484"/>
            <a:ext cx="3657600" cy="14783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1100" b="1" spc="200">
                <a:solidFill>
                  <a:srgbClr val="C8FF00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CURRENT RAISE</a:t>
            </a:r>
          </a:p>
        </p:txBody>
      </p:sp>
      <p:sp>
        <p:nvSpPr>
          <p:cNvPr id="480" name="Text 7">
            <a:extLst xmlns:a="http://schemas.openxmlformats.org/drawingml/2006/main">
              <a:ext uri="{FF2B5EF4-FFF2-40B4-BE49-F238E27FC236}">
                <a16:creationId xmlns:a16="http://schemas.microsoft.com/office/drawing/2014/main" id="{2595E993-C918-4DB0-A66F-72B35D00A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79" y="3414793"/>
            <a:ext cx="3657603" cy="851373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6000" b="1">
                <a:solidFill>
                  <a:srgbClr val="F4F6F2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$1.4M</a:t>
            </a:r>
          </a:p>
        </p:txBody>
      </p:sp>
      <p:sp>
        <p:nvSpPr>
          <p:cNvPr id="481" name="Text 8">
            <a:extLst xmlns:a="http://schemas.openxmlformats.org/drawingml/2006/main">
              <a:ext uri="{FF2B5EF4-FFF2-40B4-BE49-F238E27FC236}">
                <a16:creationId xmlns:a16="http://schemas.microsoft.com/office/drawing/2014/main" id="{126B890E-A829-4220-98E0-93CCCEA50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512886"/>
            <a:ext cx="3657600" cy="209668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1500">
                <a:solidFill>
                  <a:srgbClr val="C3C8CE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$10M pre-money</a:t>
            </a:r>
          </a:p>
        </p:txBody>
      </p:sp>
      <p:sp>
        <p:nvSpPr>
          <p:cNvPr id="482" name="Text 9">
            <a:extLst xmlns:a="http://schemas.openxmlformats.org/drawingml/2006/main">
              <a:ext uri="{FF2B5EF4-FFF2-40B4-BE49-F238E27FC236}">
                <a16:creationId xmlns:a16="http://schemas.microsoft.com/office/drawing/2014/main" id="{DCCB9045-B8C9-4727-B1D2-B93ACFAAD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217445"/>
            <a:ext cx="3657600" cy="446468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lnSpc>
                <a:spcPts val="1800"/>
              </a:lnSpc>
              <a:buNone/>
              <a:defRPr sz="1300" i="1">
                <a:solidFill>
                  <a:srgbClr val="8A9099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Ladder: $1.4M → $5M → $12M → $25M, pre-seed through Series B.</a:t>
            </a:r>
          </a:p>
        </p:txBody>
      </p:sp>
      <p:sp>
        <p:nvSpPr>
          <p:cNvPr id="483" name="Text 10">
            <a:extLst xmlns:a="http://schemas.openxmlformats.org/drawingml/2006/main">
              <a:ext uri="{FF2B5EF4-FFF2-40B4-BE49-F238E27FC236}">
                <a16:creationId xmlns:a16="http://schemas.microsoft.com/office/drawing/2014/main" id="{FA4F70DB-B002-4C07-B525-50BD84DBF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852165"/>
            <a:ext cx="4572000" cy="14783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1100" b="1" spc="200">
                <a:solidFill>
                  <a:srgbClr val="C8FF00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USE OF FUNDS</a:t>
            </a:r>
          </a:p>
        </p:txBody>
      </p:sp>
      <p:sp>
        <p:nvSpPr>
          <p:cNvPr id="484" name="Shape 11">
            <a:extLst xmlns:a="http://schemas.openxmlformats.org/drawingml/2006/main">
              <a:ext uri="{FF2B5EF4-FFF2-40B4-BE49-F238E27FC236}">
                <a16:creationId xmlns:a16="http://schemas.microsoft.com/office/drawing/2014/main" id="{B171B24E-FB27-4F34-807E-EA3BF664F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399" y="3255264"/>
            <a:ext cx="146308" cy="14630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9DFF"/>
          </a:solidFill>
          <a:ln xmlns:a="http://schemas.openxmlformats.org/drawingml/2006/main" w="12700"/>
        </p:spPr>
        <p:txBody>
          <a:bodyPr xmlns:a="http://schemas.openxmlformats.org/drawingml/2006/main" lIns="45718" tIns="45718" rIns="45718" bIns="45718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n-lt"/>
                <a:ea typeface="+mn-lt"/>
                <a:cs typeface="+mn-lt"/>
              </a:defRPr>
            </a:pPr>
          </a:p>
        </p:txBody>
      </p:sp>
      <p:sp>
        <p:nvSpPr>
          <p:cNvPr id="485" name="Text 12">
            <a:extLst xmlns:a="http://schemas.openxmlformats.org/drawingml/2006/main">
              <a:ext uri="{FF2B5EF4-FFF2-40B4-BE49-F238E27FC236}">
                <a16:creationId xmlns:a16="http://schemas.microsoft.com/office/drawing/2014/main" id="{D91B6BC8-872D-4EEB-8F58-48D2A7FBD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719" y="3248012"/>
            <a:ext cx="4114803" cy="197384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1400">
                <a:solidFill>
                  <a:srgbClr val="F4F6F2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Engineering</a:t>
            </a:r>
          </a:p>
        </p:txBody>
      </p:sp>
      <p:sp>
        <p:nvSpPr>
          <p:cNvPr id="486" name="Text 13">
            <a:extLst xmlns:a="http://schemas.openxmlformats.org/drawingml/2006/main">
              <a:ext uri="{FF2B5EF4-FFF2-40B4-BE49-F238E27FC236}">
                <a16:creationId xmlns:a16="http://schemas.microsoft.com/office/drawing/2014/main" id="{FCE1A463-0AB8-4389-A77D-2D4B8B455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3235726"/>
            <a:ext cx="1691641" cy="221954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 algn="r">
              <a:buNone/>
              <a:defRPr sz="1600" b="1">
                <a:solidFill>
                  <a:srgbClr val="5B9DFF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$450K</a:t>
            </a:r>
          </a:p>
        </p:txBody>
      </p:sp>
      <p:sp>
        <p:nvSpPr>
          <p:cNvPr id="487" name="Shape 14">
            <a:extLst xmlns:a="http://schemas.openxmlformats.org/drawingml/2006/main">
              <a:ext uri="{FF2B5EF4-FFF2-40B4-BE49-F238E27FC236}">
                <a16:creationId xmlns:a16="http://schemas.microsoft.com/office/drawing/2014/main" id="{DD492BD8-C239-4002-85FD-375BFD146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399" y="3730752"/>
            <a:ext cx="146308" cy="14630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8BFF"/>
          </a:solidFill>
          <a:ln xmlns:a="http://schemas.openxmlformats.org/drawingml/2006/main" w="12700"/>
        </p:spPr>
        <p:txBody>
          <a:bodyPr xmlns:a="http://schemas.openxmlformats.org/drawingml/2006/main" lIns="45718" tIns="45718" rIns="45718" bIns="45718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n-lt"/>
                <a:ea typeface="+mn-lt"/>
                <a:cs typeface="+mn-lt"/>
              </a:defRPr>
            </a:pPr>
          </a:p>
        </p:txBody>
      </p:sp>
      <p:sp>
        <p:nvSpPr>
          <p:cNvPr id="488" name="Text 15">
            <a:extLst xmlns:a="http://schemas.openxmlformats.org/drawingml/2006/main">
              <a:ext uri="{FF2B5EF4-FFF2-40B4-BE49-F238E27FC236}">
                <a16:creationId xmlns:a16="http://schemas.microsoft.com/office/drawing/2014/main" id="{BDB56730-67DF-4601-9997-1BE306433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719" y="3723499"/>
            <a:ext cx="4114803" cy="197385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1400">
                <a:solidFill>
                  <a:srgbClr val="F4F6F2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Partnerships</a:t>
            </a:r>
          </a:p>
        </p:txBody>
      </p:sp>
      <p:sp>
        <p:nvSpPr>
          <p:cNvPr id="489" name="Text 16">
            <a:extLst xmlns:a="http://schemas.openxmlformats.org/drawingml/2006/main">
              <a:ext uri="{FF2B5EF4-FFF2-40B4-BE49-F238E27FC236}">
                <a16:creationId xmlns:a16="http://schemas.microsoft.com/office/drawing/2014/main" id="{58ECD027-A1DD-4B00-8038-CC357DF69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3711214"/>
            <a:ext cx="1691641" cy="221954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 algn="r">
              <a:buNone/>
              <a:defRPr sz="1600" b="1">
                <a:solidFill>
                  <a:srgbClr val="A98BFF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$150K</a:t>
            </a:r>
          </a:p>
        </p:txBody>
      </p:sp>
      <p:sp>
        <p:nvSpPr>
          <p:cNvPr id="490" name="Shape 17">
            <a:extLst xmlns:a="http://schemas.openxmlformats.org/drawingml/2006/main">
              <a:ext uri="{FF2B5EF4-FFF2-40B4-BE49-F238E27FC236}">
                <a16:creationId xmlns:a16="http://schemas.microsoft.com/office/drawing/2014/main" id="{BD784AAF-19D9-41BD-8019-594F843FC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399" y="4206240"/>
            <a:ext cx="146308" cy="14630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FB5"/>
          </a:solidFill>
          <a:ln xmlns:a="http://schemas.openxmlformats.org/drawingml/2006/main" w="12700"/>
        </p:spPr>
        <p:txBody>
          <a:bodyPr xmlns:a="http://schemas.openxmlformats.org/drawingml/2006/main" lIns="45718" tIns="45718" rIns="45718" bIns="45718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n-lt"/>
                <a:ea typeface="+mn-lt"/>
                <a:cs typeface="+mn-lt"/>
              </a:defRPr>
            </a:pPr>
          </a:p>
        </p:txBody>
      </p:sp>
      <p:sp>
        <p:nvSpPr>
          <p:cNvPr id="491" name="Text 18">
            <a:extLst xmlns:a="http://schemas.openxmlformats.org/drawingml/2006/main">
              <a:ext uri="{FF2B5EF4-FFF2-40B4-BE49-F238E27FC236}">
                <a16:creationId xmlns:a16="http://schemas.microsoft.com/office/drawing/2014/main" id="{DA33FB0F-CE40-4799-98F2-B4E66D01B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719" y="4198987"/>
            <a:ext cx="4114803" cy="197385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1400">
                <a:solidFill>
                  <a:srgbClr val="F4F6F2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Athlete performance science</a:t>
            </a:r>
          </a:p>
        </p:txBody>
      </p:sp>
      <p:sp>
        <p:nvSpPr>
          <p:cNvPr id="492" name="Text 19">
            <a:extLst xmlns:a="http://schemas.openxmlformats.org/drawingml/2006/main">
              <a:ext uri="{FF2B5EF4-FFF2-40B4-BE49-F238E27FC236}">
                <a16:creationId xmlns:a16="http://schemas.microsoft.com/office/drawing/2014/main" id="{01D11D0B-241C-424A-A2CA-DA7416EFE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4186702"/>
            <a:ext cx="1691641" cy="221954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 algn="r">
              <a:buNone/>
              <a:defRPr sz="1600" b="1">
                <a:solidFill>
                  <a:srgbClr val="FF6FB5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$150K</a:t>
            </a:r>
          </a:p>
        </p:txBody>
      </p:sp>
      <p:sp>
        <p:nvSpPr>
          <p:cNvPr id="493" name="Shape 20">
            <a:extLst xmlns:a="http://schemas.openxmlformats.org/drawingml/2006/main">
              <a:ext uri="{FF2B5EF4-FFF2-40B4-BE49-F238E27FC236}">
                <a16:creationId xmlns:a16="http://schemas.microsoft.com/office/drawing/2014/main" id="{5AA7EC0A-3D39-473B-8DD0-5EB386C66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399" y="4681728"/>
            <a:ext cx="146308" cy="14630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FF00"/>
          </a:solidFill>
          <a:ln xmlns:a="http://schemas.openxmlformats.org/drawingml/2006/main" w="12700"/>
        </p:spPr>
        <p:txBody>
          <a:bodyPr xmlns:a="http://schemas.openxmlformats.org/drawingml/2006/main" lIns="45718" tIns="45718" rIns="45718" bIns="45718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n-lt"/>
                <a:ea typeface="+mn-lt"/>
                <a:cs typeface="+mn-lt"/>
              </a:defRPr>
            </a:pPr>
          </a:p>
        </p:txBody>
      </p:sp>
      <p:sp>
        <p:nvSpPr>
          <p:cNvPr id="494" name="Text 21">
            <a:extLst xmlns:a="http://schemas.openxmlformats.org/drawingml/2006/main">
              <a:ext uri="{FF2B5EF4-FFF2-40B4-BE49-F238E27FC236}">
                <a16:creationId xmlns:a16="http://schemas.microsoft.com/office/drawing/2014/main" id="{84376C1A-B6D0-4BD6-9F11-F51ED2625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719" y="4674475"/>
            <a:ext cx="4114803" cy="197385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1400">
                <a:solidFill>
                  <a:srgbClr val="F4F6F2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Product R&amp;D</a:t>
            </a:r>
          </a:p>
        </p:txBody>
      </p:sp>
      <p:sp>
        <p:nvSpPr>
          <p:cNvPr id="495" name="Text 22">
            <a:extLst xmlns:a="http://schemas.openxmlformats.org/drawingml/2006/main">
              <a:ext uri="{FF2B5EF4-FFF2-40B4-BE49-F238E27FC236}">
                <a16:creationId xmlns:a16="http://schemas.microsoft.com/office/drawing/2014/main" id="{7B009B75-9D1B-4E02-912E-3ADA89727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4662191"/>
            <a:ext cx="1691641" cy="221953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 algn="r">
              <a:buNone/>
              <a:defRPr sz="1600" b="1">
                <a:solidFill>
                  <a:srgbClr val="C8FF00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$100K</a:t>
            </a:r>
          </a:p>
        </p:txBody>
      </p:sp>
      <p:sp>
        <p:nvSpPr>
          <p:cNvPr id="496" name="Shape 23">
            <a:extLst xmlns:a="http://schemas.openxmlformats.org/drawingml/2006/main">
              <a:ext uri="{FF2B5EF4-FFF2-40B4-BE49-F238E27FC236}">
                <a16:creationId xmlns:a16="http://schemas.microsoft.com/office/drawing/2014/main" id="{A32FC98D-1EBC-42F1-987C-8AAB81078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399" y="5157215"/>
            <a:ext cx="146308" cy="14630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9D4D"/>
          </a:solidFill>
          <a:ln xmlns:a="http://schemas.openxmlformats.org/drawingml/2006/main" w="12700"/>
        </p:spPr>
        <p:txBody>
          <a:bodyPr xmlns:a="http://schemas.openxmlformats.org/drawingml/2006/main" lIns="45718" tIns="45718" rIns="45718" bIns="45718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n-lt"/>
                <a:ea typeface="+mn-lt"/>
                <a:cs typeface="+mn-lt"/>
              </a:defRPr>
            </a:pPr>
          </a:p>
        </p:txBody>
      </p:sp>
      <p:sp>
        <p:nvSpPr>
          <p:cNvPr id="497" name="Text 24">
            <a:extLst xmlns:a="http://schemas.openxmlformats.org/drawingml/2006/main">
              <a:ext uri="{FF2B5EF4-FFF2-40B4-BE49-F238E27FC236}">
                <a16:creationId xmlns:a16="http://schemas.microsoft.com/office/drawing/2014/main" id="{DABE0316-BDB9-41D3-A2D7-5F8A6B271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719" y="5149963"/>
            <a:ext cx="4114803" cy="197385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1400">
                <a:solidFill>
                  <a:srgbClr val="F4F6F2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GTM and marketing</a:t>
            </a:r>
          </a:p>
        </p:txBody>
      </p:sp>
      <p:sp>
        <p:nvSpPr>
          <p:cNvPr id="498" name="Text 25">
            <a:extLst xmlns:a="http://schemas.openxmlformats.org/drawingml/2006/main">
              <a:ext uri="{FF2B5EF4-FFF2-40B4-BE49-F238E27FC236}">
                <a16:creationId xmlns:a16="http://schemas.microsoft.com/office/drawing/2014/main" id="{8B4D75CD-C8DF-4FB0-A466-4FDD00FCD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137679"/>
            <a:ext cx="1691641" cy="221953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 algn="r">
              <a:buNone/>
              <a:defRPr sz="1600" b="1">
                <a:solidFill>
                  <a:srgbClr val="FF9D4D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$300K</a:t>
            </a:r>
          </a:p>
        </p:txBody>
      </p:sp>
      <p:sp>
        <p:nvSpPr>
          <p:cNvPr id="499" name="Shape 26">
            <a:extLst xmlns:a="http://schemas.openxmlformats.org/drawingml/2006/main">
              <a:ext uri="{FF2B5EF4-FFF2-40B4-BE49-F238E27FC236}">
                <a16:creationId xmlns:a16="http://schemas.microsoft.com/office/drawing/2014/main" id="{2D9ADD48-4FFB-4027-A25B-8FBE380F6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399" y="5632703"/>
            <a:ext cx="146308" cy="14630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A9099"/>
          </a:solidFill>
          <a:ln xmlns:a="http://schemas.openxmlformats.org/drawingml/2006/main" w="12700"/>
        </p:spPr>
        <p:txBody>
          <a:bodyPr xmlns:a="http://schemas.openxmlformats.org/drawingml/2006/main" lIns="45718" tIns="45718" rIns="45718" bIns="45718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n-lt"/>
                <a:ea typeface="+mn-lt"/>
                <a:cs typeface="+mn-lt"/>
              </a:defRPr>
            </a:pPr>
          </a:p>
        </p:txBody>
      </p:sp>
      <p:sp>
        <p:nvSpPr>
          <p:cNvPr id="500" name="Text 27">
            <a:extLst xmlns:a="http://schemas.openxmlformats.org/drawingml/2006/main">
              <a:ext uri="{FF2B5EF4-FFF2-40B4-BE49-F238E27FC236}">
                <a16:creationId xmlns:a16="http://schemas.microsoft.com/office/drawing/2014/main" id="{07CB4DB1-26A1-47F4-B479-3FE5C49F4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719" y="5625451"/>
            <a:ext cx="4114803" cy="197385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1400">
                <a:solidFill>
                  <a:srgbClr val="F4F6F2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Operating runway</a:t>
            </a:r>
          </a:p>
        </p:txBody>
      </p:sp>
      <p:sp>
        <p:nvSpPr>
          <p:cNvPr id="501" name="Text 28">
            <a:extLst xmlns:a="http://schemas.openxmlformats.org/drawingml/2006/main">
              <a:ext uri="{FF2B5EF4-FFF2-40B4-BE49-F238E27FC236}">
                <a16:creationId xmlns:a16="http://schemas.microsoft.com/office/drawing/2014/main" id="{07CD783B-EBA6-4E0E-98AC-E7F8D5C73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613167"/>
            <a:ext cx="1691641" cy="221953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 algn="r">
              <a:buNone/>
              <a:defRPr sz="1600" b="1">
                <a:solidFill>
                  <a:srgbClr val="8A9099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$250K</a:t>
            </a:r>
          </a:p>
        </p:txBody>
      </p:sp>
    </p:spTree>
    <p:extLst>
      <p:ext uri="{BB962C8B-B14F-4D97-AF65-F5344CB8AC3E}">
        <p14:creationId xmlns:p14="http://schemas.microsoft.com/office/powerpoint/2010/main" val="1582123674"/>
      </p:ext>
    </p:extLst>
  </p:cSld>
</p:sld>
</file>

<file path=ppt/slides/slide20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0A0B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3" name="Text 0">
            <a:extLst xmlns:a="http://schemas.openxmlformats.org/drawingml/2006/main">
              <a:ext uri="{FF2B5EF4-FFF2-40B4-BE49-F238E27FC236}">
                <a16:creationId xmlns:a16="http://schemas.microsoft.com/office/drawing/2014/main" id="{FCE6732A-EB14-4756-8FD6-AA74BBEF8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816812"/>
            <a:ext cx="10515601" cy="481175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3400" b="1" spc="100">
                <a:solidFill>
                  <a:srgbClr val="F4F6F2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PULSE CHECK MAKES ATHLETES</a:t>
            </a:r>
          </a:p>
        </p:txBody>
      </p:sp>
      <p:sp>
        <p:nvSpPr>
          <p:cNvPr id="504" name="Text 1">
            <a:extLst xmlns:a="http://schemas.openxmlformats.org/drawingml/2006/main">
              <a:ext uri="{FF2B5EF4-FFF2-40B4-BE49-F238E27FC236}">
                <a16:creationId xmlns:a16="http://schemas.microsoft.com/office/drawing/2014/main" id="{72406466-703F-4495-9D30-5389BBC05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502612"/>
            <a:ext cx="10515601" cy="481175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3400" b="1">
                <a:solidFill>
                  <a:srgbClr val="C8FF00"/>
                </a:solidFill>
                <a:latin typeface="Arial"/>
                <a:ea typeface="Arial"/>
                <a:cs typeface="Arial"/>
              </a:defRPr>
            </a:pPr>
            <a:r>
              <a:t>HIGHER-PERFORMING</a:t>
            </a:r>
            <a:r>
              <a:rPr>
                <a:solidFill>
                  <a:srgbClr val="F4F6F2"/>
                </a:solidFill>
              </a:rPr>
              <a:t> WITHOUT</a:t>
            </a:r>
          </a:p>
        </p:txBody>
      </p:sp>
      <p:sp>
        <p:nvSpPr>
          <p:cNvPr id="505" name="Text 2">
            <a:extLst xmlns:a="http://schemas.openxmlformats.org/drawingml/2006/main">
              <a:ext uri="{FF2B5EF4-FFF2-40B4-BE49-F238E27FC236}">
                <a16:creationId xmlns:a16="http://schemas.microsoft.com/office/drawing/2014/main" id="{EA7BBA2C-01DA-4F0F-9D51-DF6AE0739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188412"/>
            <a:ext cx="10515601" cy="481175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3400" b="1">
                <a:solidFill>
                  <a:srgbClr val="F4F6F2"/>
                </a:solidFill>
                <a:latin typeface="Arial"/>
                <a:ea typeface="Arial"/>
                <a:cs typeface="Arial"/>
              </a:defRPr>
            </a:pPr>
            <a:r>
              <a:t>BEING </a:t>
            </a:r>
            <a:r>
              <a:rPr>
                <a:solidFill>
                  <a:srgbClr val="FF6FB5"/>
                </a:solidFill>
              </a:rPr>
              <a:t>HOLLOWED OUT.</a:t>
            </a:r>
          </a:p>
        </p:txBody>
      </p:sp>
      <p:sp>
        <p:nvSpPr>
          <p:cNvPr id="506" name="Text 3">
            <a:extLst xmlns:a="http://schemas.openxmlformats.org/drawingml/2006/main">
              <a:ext uri="{FF2B5EF4-FFF2-40B4-BE49-F238E27FC236}">
                <a16:creationId xmlns:a16="http://schemas.microsoft.com/office/drawing/2014/main" id="{32334F57-0BC6-406B-9EE0-27EFDE0D6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150419"/>
            <a:ext cx="9601201" cy="568842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lnSpc>
                <a:spcPts val="2300"/>
              </a:lnSpc>
              <a:buNone/>
              <a:defRPr sz="1600">
                <a:solidFill>
                  <a:srgbClr val="C3C8CE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The compliance-required platform for college athlete mental performance, with a visible path from the first school to $100M ARR.</a:t>
            </a:r>
          </a:p>
        </p:txBody>
      </p:sp>
      <p:sp>
        <p:nvSpPr>
          <p:cNvPr id="507" name="Text 4">
            <a:extLst xmlns:a="http://schemas.openxmlformats.org/drawingml/2006/main">
              <a:ext uri="{FF2B5EF4-FFF2-40B4-BE49-F238E27FC236}">
                <a16:creationId xmlns:a16="http://schemas.microsoft.com/office/drawing/2014/main" id="{5CA6C0DE-DCB7-4900-9D62-CF37C3691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125672"/>
            <a:ext cx="10515601" cy="172815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1200" b="1" spc="300">
                <a:solidFill>
                  <a:srgbClr val="8A9099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DETECT   →   TRAIN   →   ROUTE   →   MEASURE</a:t>
            </a:r>
          </a:p>
        </p:txBody>
      </p:sp>
      <p:sp>
        <p:nvSpPr>
          <p:cNvPr id="508" name="Shape 5">
            <a:extLst xmlns:a="http://schemas.openxmlformats.org/drawingml/2006/main">
              <a:ext uri="{FF2B5EF4-FFF2-40B4-BE49-F238E27FC236}">
                <a16:creationId xmlns:a16="http://schemas.microsoft.com/office/drawing/2014/main" id="{0A9F27D9-D08A-4B44-AD1A-9A796D398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58" y="5669279"/>
            <a:ext cx="10561324" cy="2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rgbClr val="2A2E33"/>
            </a:solidFill>
          </a:ln>
        </p:spPr>
        <p:txBody>
          <a:bodyPr xmlns:a="http://schemas.openxmlformats.org/drawingml/2006/main" lIns="45718" tIns="45718" rIns="45718" bIns="45718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509" name="Text 6">
            <a:extLst xmlns:a="http://schemas.openxmlformats.org/drawingml/2006/main">
              <a:ext uri="{FF2B5EF4-FFF2-40B4-BE49-F238E27FC236}">
                <a16:creationId xmlns:a16="http://schemas.microsoft.com/office/drawing/2014/main" id="{C78817B6-B1C3-4C42-964F-136645A6F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942489"/>
            <a:ext cx="7315201" cy="1851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300" b="1">
                <a:solidFill>
                  <a:srgbClr val="F4F6F2"/>
                </a:solidFill>
                <a:latin typeface="Arial"/>
                <a:ea typeface="Arial"/>
                <a:cs typeface="Arial"/>
              </a:defRPr>
            </a:pPr>
            <a:r>
              <a:t>Tremaine Grant</a:t>
            </a:r>
            <a:r>
              <a:rPr b="0">
                <a:solidFill>
                  <a:srgbClr val="C8FF00"/>
                </a:solidFill>
              </a:rPr>
              <a:t>   tre@fitwithpulse.ai</a:t>
            </a:r>
          </a:p>
        </p:txBody>
      </p:sp>
      <p:sp>
        <p:nvSpPr>
          <p:cNvPr id="510" name="Text 7">
            <a:extLst xmlns:a="http://schemas.openxmlformats.org/drawingml/2006/main">
              <a:ext uri="{FF2B5EF4-FFF2-40B4-BE49-F238E27FC236}">
                <a16:creationId xmlns:a16="http://schemas.microsoft.com/office/drawing/2014/main" id="{04652899-3910-4456-BAB7-13D056014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5948631"/>
            <a:ext cx="5440680" cy="17281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 algn="r">
              <a:buNone/>
              <a:defRPr sz="1200" b="1" spc="100">
                <a:solidFill>
                  <a:srgbClr val="FF6FB5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$1.4M PRE-SEED  ·  $10M PRE-MONEY</a:t>
            </a:r>
          </a:p>
        </p:txBody>
      </p:sp>
    </p:spTree>
    <p:extLst>
      <p:ext uri="{BB962C8B-B14F-4D97-AF65-F5344CB8AC3E}">
        <p14:creationId xmlns:p14="http://schemas.microsoft.com/office/powerpoint/2010/main" val="781118109"/>
      </p:ext>
    </p:extLst>
  </p:cSld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4999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2026-07-21T16:22:05.6840000Z</dcterms:created>
  <dcterms:modified xsi:type="dcterms:W3CDTF">2026-07-21T16:22:05.6840000Z</dcterms:modified>
</coreProperties>
</file>