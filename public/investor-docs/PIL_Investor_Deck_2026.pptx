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slides/slide2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75" r:id="rId27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  <Relationship Id="rId27" Type="http://schemas.openxmlformats.org/officeDocument/2006/relationships/slide" Target="slides/slide20.xml"/>
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69877" y="6232199"/>
            <a:ext cx="258622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5.jpeg"/><Relationship Id="rId6" Type="http://schemas.openxmlformats.org/officeDocument/2006/relationships/image" Target="../media/image6.jpe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822960" y="1285187"/>
            <a:ext cx="10515601" cy="76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5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PULSE INTELLIGENCE LABS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841247" y="2460311"/>
            <a:ext cx="1051560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26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HUMAN PERFORMANCE COMPANY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841247" y="3303253"/>
            <a:ext cx="8778242" cy="61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2500"/>
              </a:lnSpc>
              <a:defRPr sz="17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 build AI systems that measure and train human performance. </a:t>
            </a:r>
            <a:r>
              <a:rPr b="1">
                <a:solidFill>
                  <a:srgbClr val="A48CF8"/>
                </a:solidFill>
              </a:rPr>
              <a:t>Pulse Check is our flagship platform for college athletics.</a:t>
            </a:r>
          </a:p>
        </p:txBody>
      </p:sp>
      <p:sp>
        <p:nvSpPr>
          <p:cNvPr id="23" name="Shape 3"/>
          <p:cNvSpPr/>
          <p:nvPr/>
        </p:nvSpPr>
        <p:spPr>
          <a:xfrm>
            <a:off x="822960" y="4434840"/>
            <a:ext cx="3383280" cy="1463042"/>
          </a:xfrm>
          <a:prstGeom prst="roundRect">
            <a:avLst>
              <a:gd name="adj" fmla="val 75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" name="Text 4"/>
          <p:cNvSpPr txBox="1"/>
          <p:nvPr/>
        </p:nvSpPr>
        <p:spPr>
          <a:xfrm>
            <a:off x="1097278" y="4687106"/>
            <a:ext cx="292608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PRE-SEED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1097278" y="4981745"/>
            <a:ext cx="2926083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1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$1.4M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1097278" y="5499353"/>
            <a:ext cx="292608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$10M pre-money</a:t>
            </a:r>
          </a:p>
        </p:txBody>
      </p:sp>
      <p:sp>
        <p:nvSpPr>
          <p:cNvPr id="27" name="Shape 7"/>
          <p:cNvSpPr/>
          <p:nvPr/>
        </p:nvSpPr>
        <p:spPr>
          <a:xfrm>
            <a:off x="4407408" y="4434840"/>
            <a:ext cx="3383282" cy="1463042"/>
          </a:xfrm>
          <a:prstGeom prst="roundRect">
            <a:avLst>
              <a:gd name="adj" fmla="val 75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" name="Text 8"/>
          <p:cNvSpPr txBox="1"/>
          <p:nvPr/>
        </p:nvSpPr>
        <p:spPr>
          <a:xfrm>
            <a:off x="4681728" y="4687106"/>
            <a:ext cx="292608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FOUNDER</a:t>
            </a:r>
          </a:p>
        </p:txBody>
      </p:sp>
      <p:sp>
        <p:nvSpPr>
          <p:cNvPr id="29" name="Text 9"/>
          <p:cNvSpPr txBox="1"/>
          <p:nvPr/>
        </p:nvSpPr>
        <p:spPr>
          <a:xfrm>
            <a:off x="4681728" y="4981745"/>
            <a:ext cx="2926082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1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Tremaine Grant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4681728" y="5499353"/>
            <a:ext cx="29260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Founder &amp; CEO</a:t>
            </a:r>
          </a:p>
        </p:txBody>
      </p:sp>
      <p:sp>
        <p:nvSpPr>
          <p:cNvPr id="31" name="Shape 11"/>
          <p:cNvSpPr/>
          <p:nvPr/>
        </p:nvSpPr>
        <p:spPr>
          <a:xfrm>
            <a:off x="7991856" y="4434840"/>
            <a:ext cx="3383282" cy="1463042"/>
          </a:xfrm>
          <a:prstGeom prst="roundRect">
            <a:avLst>
              <a:gd name="adj" fmla="val 75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" name="Text 12"/>
          <p:cNvSpPr txBox="1"/>
          <p:nvPr/>
        </p:nvSpPr>
        <p:spPr>
          <a:xfrm>
            <a:off x="8266176" y="4687106"/>
            <a:ext cx="292608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</a:t>
            </a:r>
          </a:p>
        </p:txBody>
      </p:sp>
      <p:sp>
        <p:nvSpPr>
          <p:cNvPr id="33" name="Text 14"/>
          <p:cNvSpPr txBox="1"/>
          <p:nvPr/>
        </p:nvSpPr>
        <p:spPr>
          <a:xfrm>
            <a:off x="8266176" y="5499353"/>
            <a:ext cx="292608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Mental performance OS</a:t>
            </a:r>
          </a:p>
        </p:txBody>
      </p:sp>
      <p:sp>
        <p:nvSpPr>
          <p:cNvPr id="34" name="Text 15"/>
          <p:cNvSpPr txBox="1"/>
          <p:nvPr/>
        </p:nvSpPr>
        <p:spPr>
          <a:xfrm>
            <a:off x="822960" y="6268672"/>
            <a:ext cx="105156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300" sz="12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DETECT   →   TRAIN   →   ROUTE   →   MEASURE</a:t>
            </a:r>
          </a:p>
        </p:txBody>
      </p:sp>
      <p:pic>
        <p:nvPicPr>
          <p:cNvPr id="35" name="PulseCheckLogo.png" descr="PulseCheck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66176" y="4897237"/>
            <a:ext cx="2224604" cy="465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ulse-logo-white.svg" descr="pulse-logo-white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4356" y="409936"/>
            <a:ext cx="1618527" cy="4650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41" name="Text 3"/>
          <p:cNvSpPr txBox="1"/>
          <p:nvPr/>
        </p:nvSpPr>
        <p:spPr>
          <a:xfrm>
            <a:off x="822960" y="1597172"/>
            <a:ext cx="10515601" cy="554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4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Pressure gets seen </a:t>
            </a:r>
            <a:r>
              <a:rPr>
                <a:solidFill>
                  <a:srgbClr val="FF6FB5"/>
                </a:solidFill>
              </a:rPr>
              <a:t>too late.</a:t>
            </a:r>
          </a:p>
        </p:txBody>
      </p:sp>
      <p:sp>
        <p:nvSpPr>
          <p:cNvPr id="42" name="Text 4"/>
          <p:cNvSpPr txBox="1"/>
          <p:nvPr/>
        </p:nvSpPr>
        <p:spPr>
          <a:xfrm>
            <a:off x="841247" y="2266463"/>
            <a:ext cx="100584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Athlete pressure rises before any support system responds.</a:t>
            </a:r>
          </a:p>
        </p:txBody>
      </p:sp>
      <p:sp>
        <p:nvSpPr>
          <p:cNvPr id="43" name="Text 5"/>
          <p:cNvSpPr txBox="1"/>
          <p:nvPr/>
        </p:nvSpPr>
        <p:spPr>
          <a:xfrm>
            <a:off x="822960" y="3196258"/>
            <a:ext cx="3383281" cy="119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4x</a:t>
            </a:r>
          </a:p>
        </p:txBody>
      </p:sp>
      <p:sp>
        <p:nvSpPr>
          <p:cNvPr id="44" name="Text 6"/>
          <p:cNvSpPr txBox="1"/>
          <p:nvPr/>
        </p:nvSpPr>
        <p:spPr>
          <a:xfrm>
            <a:off x="868678" y="4599892"/>
            <a:ext cx="329184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200">
                <a:solidFill>
                  <a:srgbClr val="FF6FB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CRISIS RISK</a:t>
            </a:r>
          </a:p>
        </p:txBody>
      </p:sp>
      <p:sp>
        <p:nvSpPr>
          <p:cNvPr id="45" name="Text 7"/>
          <p:cNvSpPr txBox="1"/>
          <p:nvPr/>
        </p:nvSpPr>
        <p:spPr>
          <a:xfrm>
            <a:off x="868680" y="5194586"/>
            <a:ext cx="3200402" cy="217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more likely to face a mental health crisis.</a:t>
            </a:r>
          </a:p>
        </p:txBody>
      </p:sp>
      <p:sp>
        <p:nvSpPr>
          <p:cNvPr id="46" name="Text 8"/>
          <p:cNvSpPr txBox="1"/>
          <p:nvPr/>
        </p:nvSpPr>
        <p:spPr>
          <a:xfrm>
            <a:off x="4535423" y="3196258"/>
            <a:ext cx="3383282" cy="119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60%</a:t>
            </a:r>
          </a:p>
        </p:txBody>
      </p:sp>
      <p:sp>
        <p:nvSpPr>
          <p:cNvPr id="47" name="Text 9"/>
          <p:cNvSpPr txBox="1"/>
          <p:nvPr/>
        </p:nvSpPr>
        <p:spPr>
          <a:xfrm>
            <a:off x="4581144" y="4599892"/>
            <a:ext cx="329184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2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COMPETITION ANXIETY</a:t>
            </a:r>
          </a:p>
        </p:txBody>
      </p:sp>
      <p:sp>
        <p:nvSpPr>
          <p:cNvPr id="48" name="Text 10"/>
          <p:cNvSpPr txBox="1"/>
          <p:nvPr/>
        </p:nvSpPr>
        <p:spPr>
          <a:xfrm>
            <a:off x="4581144" y="5080286"/>
            <a:ext cx="3200401" cy="446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 athletes experience anxiety leading up to competition. </a:t>
            </a:r>
          </a:p>
        </p:txBody>
      </p:sp>
      <p:sp>
        <p:nvSpPr>
          <p:cNvPr id="49" name="Text 11"/>
          <p:cNvSpPr txBox="1"/>
          <p:nvPr/>
        </p:nvSpPr>
        <p:spPr>
          <a:xfrm>
            <a:off x="8247888" y="3196258"/>
            <a:ext cx="3383280" cy="119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50" name="Text 12"/>
          <p:cNvSpPr txBox="1"/>
          <p:nvPr/>
        </p:nvSpPr>
        <p:spPr>
          <a:xfrm>
            <a:off x="8293606" y="4599892"/>
            <a:ext cx="32918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2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COACH VISIBILITY</a:t>
            </a:r>
          </a:p>
        </p:txBody>
      </p:sp>
      <p:sp>
        <p:nvSpPr>
          <p:cNvPr id="51" name="Text 13"/>
          <p:cNvSpPr txBox="1"/>
          <p:nvPr/>
        </p:nvSpPr>
        <p:spPr>
          <a:xfrm>
            <a:off x="8293606" y="5194586"/>
            <a:ext cx="3200402" cy="217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reach out to a coach before crisis hits.</a:t>
            </a:r>
          </a:p>
        </p:txBody>
      </p:sp>
      <p:sp>
        <p:nvSpPr>
          <p:cNvPr id="52" name="Text 14"/>
          <p:cNvSpPr txBox="1"/>
          <p:nvPr/>
        </p:nvSpPr>
        <p:spPr>
          <a:xfrm>
            <a:off x="822960" y="6337298"/>
            <a:ext cx="10058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Sources: NCAA Student-Athlete Well-Being Study (n=23,000+); Center on Sport Policy &amp; Conduct, 2024.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822960" y="566927"/>
            <a:ext cx="256032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5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6" name="Text 2"/>
          <p:cNvSpPr txBox="1"/>
          <p:nvPr/>
        </p:nvSpPr>
        <p:spPr>
          <a:xfrm>
            <a:off x="1152144" y="691178"/>
            <a:ext cx="219456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SCHOOLS MUST ACT</a:t>
            </a:r>
          </a:p>
        </p:txBody>
      </p:sp>
      <p:sp>
        <p:nvSpPr>
          <p:cNvPr id="57" name="Text 3"/>
          <p:cNvSpPr txBox="1"/>
          <p:nvPr/>
        </p:nvSpPr>
        <p:spPr>
          <a:xfrm>
            <a:off x="822960" y="1599865"/>
            <a:ext cx="10515601" cy="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38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Mental health support is now </a:t>
            </a:r>
            <a:r>
              <a:rPr>
                <a:solidFill>
                  <a:srgbClr val="C8FF00"/>
                </a:solidFill>
              </a:rPr>
              <a:t>required.</a:t>
            </a:r>
          </a:p>
        </p:txBody>
      </p:sp>
      <p:sp>
        <p:nvSpPr>
          <p:cNvPr id="58" name="Text 4"/>
          <p:cNvSpPr txBox="1"/>
          <p:nvPr/>
        </p:nvSpPr>
        <p:spPr>
          <a:xfrm>
            <a:off x="841246" y="2294186"/>
            <a:ext cx="6400803" cy="568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300"/>
              </a:lnSpc>
              <a:defRPr sz="16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NCAA mandates that every member school provide student-athlete mental health support. Pulse Check is how schools meet it.</a:t>
            </a:r>
          </a:p>
        </p:txBody>
      </p:sp>
      <p:sp>
        <p:nvSpPr>
          <p:cNvPr id="59" name="Shape 5"/>
          <p:cNvSpPr/>
          <p:nvPr/>
        </p:nvSpPr>
        <p:spPr>
          <a:xfrm>
            <a:off x="868680" y="3282696"/>
            <a:ext cx="164595" cy="16459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0" name="Shape 6"/>
          <p:cNvSpPr/>
          <p:nvPr/>
        </p:nvSpPr>
        <p:spPr>
          <a:xfrm>
            <a:off x="941832" y="3447288"/>
            <a:ext cx="18290" cy="603506"/>
          </a:xfrm>
          <a:prstGeom prst="rect">
            <a:avLst/>
          </a:prstGeom>
          <a:solidFill>
            <a:srgbClr val="2A2E3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1" name="Text 7"/>
          <p:cNvSpPr txBox="1"/>
          <p:nvPr/>
        </p:nvSpPr>
        <p:spPr>
          <a:xfrm>
            <a:off x="1234439" y="3240298"/>
            <a:ext cx="18288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2022</a:t>
            </a:r>
          </a:p>
        </p:txBody>
      </p:sp>
      <p:sp>
        <p:nvSpPr>
          <p:cNvPr id="62" name="Text 8"/>
          <p:cNvSpPr txBox="1"/>
          <p:nvPr/>
        </p:nvSpPr>
        <p:spPr>
          <a:xfrm>
            <a:off x="3017520" y="3368071"/>
            <a:ext cx="4206242" cy="42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NCAA Constitution requires mental health access for every member school.</a:t>
            </a:r>
          </a:p>
        </p:txBody>
      </p:sp>
      <p:sp>
        <p:nvSpPr>
          <p:cNvPr id="63" name="Shape 9"/>
          <p:cNvSpPr/>
          <p:nvPr/>
        </p:nvSpPr>
        <p:spPr>
          <a:xfrm>
            <a:off x="868680" y="4151376"/>
            <a:ext cx="164595" cy="16459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4" name="Shape 10"/>
          <p:cNvSpPr/>
          <p:nvPr/>
        </p:nvSpPr>
        <p:spPr>
          <a:xfrm>
            <a:off x="941832" y="4315967"/>
            <a:ext cx="18290" cy="603506"/>
          </a:xfrm>
          <a:prstGeom prst="rect">
            <a:avLst/>
          </a:prstGeom>
          <a:solidFill>
            <a:srgbClr val="2A2E3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5" name="Text 11"/>
          <p:cNvSpPr txBox="1"/>
          <p:nvPr/>
        </p:nvSpPr>
        <p:spPr>
          <a:xfrm>
            <a:off x="1234439" y="4108979"/>
            <a:ext cx="18288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Aug 2024</a:t>
            </a:r>
          </a:p>
        </p:txBody>
      </p:sp>
      <p:sp>
        <p:nvSpPr>
          <p:cNvPr id="66" name="Text 12"/>
          <p:cNvSpPr txBox="1"/>
          <p:nvPr/>
        </p:nvSpPr>
        <p:spPr>
          <a:xfrm>
            <a:off x="3017520" y="4236751"/>
            <a:ext cx="4206242" cy="42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Best Practices became legislatively effective across all divisions.</a:t>
            </a:r>
          </a:p>
        </p:txBody>
      </p:sp>
      <p:sp>
        <p:nvSpPr>
          <p:cNvPr id="67" name="Shape 13"/>
          <p:cNvSpPr/>
          <p:nvPr/>
        </p:nvSpPr>
        <p:spPr>
          <a:xfrm>
            <a:off x="868680" y="5020054"/>
            <a:ext cx="164595" cy="16459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68" name="Text 14"/>
          <p:cNvSpPr txBox="1"/>
          <p:nvPr/>
        </p:nvSpPr>
        <p:spPr>
          <a:xfrm>
            <a:off x="1234439" y="4977658"/>
            <a:ext cx="18288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Nov 2025</a:t>
            </a:r>
          </a:p>
        </p:txBody>
      </p:sp>
      <p:sp>
        <p:nvSpPr>
          <p:cNvPr id="69" name="Text 15"/>
          <p:cNvSpPr txBox="1"/>
          <p:nvPr/>
        </p:nvSpPr>
        <p:spPr>
          <a:xfrm>
            <a:off x="3017520" y="5105432"/>
            <a:ext cx="4206242" cy="42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First Division I attestation deadline. Compliance is now reported.</a:t>
            </a:r>
          </a:p>
        </p:txBody>
      </p:sp>
      <p:sp>
        <p:nvSpPr>
          <p:cNvPr id="70" name="Shape 16"/>
          <p:cNvSpPr/>
          <p:nvPr/>
        </p:nvSpPr>
        <p:spPr>
          <a:xfrm>
            <a:off x="7635240" y="2121406"/>
            <a:ext cx="3749042" cy="3977644"/>
          </a:xfrm>
          <a:prstGeom prst="roundRect">
            <a:avLst>
              <a:gd name="adj" fmla="val 2927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1" name="Text 17"/>
          <p:cNvSpPr txBox="1"/>
          <p:nvPr/>
        </p:nvSpPr>
        <p:spPr>
          <a:xfrm>
            <a:off x="7955280" y="2440684"/>
            <a:ext cx="320040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4 REQUIRED COMPETENCIES</a:t>
            </a:r>
          </a:p>
        </p:txBody>
      </p:sp>
      <p:sp>
        <p:nvSpPr>
          <p:cNvPr id="72" name="Shape 18"/>
          <p:cNvSpPr/>
          <p:nvPr/>
        </p:nvSpPr>
        <p:spPr>
          <a:xfrm>
            <a:off x="7955280" y="2788920"/>
            <a:ext cx="566931" cy="566931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7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08350" y="2941989"/>
            <a:ext cx="260789" cy="260790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ext 19"/>
          <p:cNvSpPr txBox="1"/>
          <p:nvPr/>
        </p:nvSpPr>
        <p:spPr>
          <a:xfrm>
            <a:off x="8686800" y="2981407"/>
            <a:ext cx="2606040" cy="20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600"/>
              </a:lnSpc>
              <a:defRPr sz="14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Healthy environment</a:t>
            </a:r>
          </a:p>
        </p:txBody>
      </p:sp>
      <p:sp>
        <p:nvSpPr>
          <p:cNvPr id="75" name="Shape 20"/>
          <p:cNvSpPr/>
          <p:nvPr/>
        </p:nvSpPr>
        <p:spPr>
          <a:xfrm>
            <a:off x="7955280" y="3538728"/>
            <a:ext cx="566931" cy="566931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7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08350" y="3691799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Text 21"/>
          <p:cNvSpPr txBox="1"/>
          <p:nvPr/>
        </p:nvSpPr>
        <p:spPr>
          <a:xfrm>
            <a:off x="8686800" y="3731216"/>
            <a:ext cx="2606040" cy="20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600"/>
              </a:lnSpc>
              <a:defRPr sz="14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Screening for distress</a:t>
            </a:r>
          </a:p>
        </p:txBody>
      </p:sp>
      <p:sp>
        <p:nvSpPr>
          <p:cNvPr id="78" name="Shape 22"/>
          <p:cNvSpPr/>
          <p:nvPr/>
        </p:nvSpPr>
        <p:spPr>
          <a:xfrm>
            <a:off x="7955280" y="4288535"/>
            <a:ext cx="566931" cy="566931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7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08350" y="4441607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ext 23"/>
          <p:cNvSpPr txBox="1"/>
          <p:nvPr/>
        </p:nvSpPr>
        <p:spPr>
          <a:xfrm>
            <a:off x="8686800" y="4481024"/>
            <a:ext cx="2606040" cy="20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600"/>
              </a:lnSpc>
              <a:defRPr sz="14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 plans</a:t>
            </a:r>
          </a:p>
        </p:txBody>
      </p:sp>
      <p:sp>
        <p:nvSpPr>
          <p:cNvPr id="81" name="Shape 24"/>
          <p:cNvSpPr/>
          <p:nvPr/>
        </p:nvSpPr>
        <p:spPr>
          <a:xfrm>
            <a:off x="7955280" y="5038344"/>
            <a:ext cx="566931" cy="566931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8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08350" y="5191414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Text 25"/>
          <p:cNvSpPr txBox="1"/>
          <p:nvPr/>
        </p:nvSpPr>
        <p:spPr>
          <a:xfrm>
            <a:off x="8686800" y="5230831"/>
            <a:ext cx="2606040" cy="20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Care from licensed providers</a:t>
            </a:r>
          </a:p>
        </p:txBody>
      </p:sp>
      <p:sp>
        <p:nvSpPr>
          <p:cNvPr id="84" name="Text 26"/>
          <p:cNvSpPr txBox="1"/>
          <p:nvPr/>
        </p:nvSpPr>
        <p:spPr>
          <a:xfrm>
            <a:off x="7955280" y="5753467"/>
            <a:ext cx="320040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4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Pulse Check delivers all four.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822960" y="566927"/>
            <a:ext cx="2656334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7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88" name="Text 2"/>
          <p:cNvSpPr txBox="1"/>
          <p:nvPr/>
        </p:nvSpPr>
        <p:spPr>
          <a:xfrm>
            <a:off x="1152144" y="691178"/>
            <a:ext cx="2290574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THIS IS DIFFERENT</a:t>
            </a:r>
          </a:p>
        </p:txBody>
      </p:sp>
      <p:sp>
        <p:nvSpPr>
          <p:cNvPr id="89" name="Text 3"/>
          <p:cNvSpPr txBox="1"/>
          <p:nvPr/>
        </p:nvSpPr>
        <p:spPr>
          <a:xfrm>
            <a:off x="822960" y="1597172"/>
            <a:ext cx="10515601" cy="554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4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 a vitamin. A </a:t>
            </a:r>
            <a:r>
              <a:rPr>
                <a:solidFill>
                  <a:srgbClr val="C8FF00"/>
                </a:solidFill>
              </a:rPr>
              <a:t>prescription.</a:t>
            </a:r>
          </a:p>
        </p:txBody>
      </p:sp>
      <p:sp>
        <p:nvSpPr>
          <p:cNvPr id="90" name="Text 4"/>
          <p:cNvSpPr txBox="1"/>
          <p:nvPr/>
        </p:nvSpPr>
        <p:spPr>
          <a:xfrm>
            <a:off x="841247" y="2195889"/>
            <a:ext cx="10058401" cy="545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Most performance tools are optional upgrades. Compliance makes Pulse Check a line item schools already have to fund.</a:t>
            </a:r>
          </a:p>
        </p:txBody>
      </p:sp>
      <p:sp>
        <p:nvSpPr>
          <p:cNvPr id="91" name="Shape 5"/>
          <p:cNvSpPr/>
          <p:nvPr/>
        </p:nvSpPr>
        <p:spPr>
          <a:xfrm>
            <a:off x="822960" y="2971800"/>
            <a:ext cx="5074921" cy="2834640"/>
          </a:xfrm>
          <a:prstGeom prst="roundRect">
            <a:avLst>
              <a:gd name="adj" fmla="val 3871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2" name="Text 6"/>
          <p:cNvSpPr txBox="1"/>
          <p:nvPr/>
        </p:nvSpPr>
        <p:spPr>
          <a:xfrm>
            <a:off x="1143000" y="3309365"/>
            <a:ext cx="43891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OLD WAY</a:t>
            </a:r>
          </a:p>
        </p:txBody>
      </p:sp>
      <p:sp>
        <p:nvSpPr>
          <p:cNvPr id="93" name="Text 7"/>
          <p:cNvSpPr txBox="1"/>
          <p:nvPr/>
        </p:nvSpPr>
        <p:spPr>
          <a:xfrm>
            <a:off x="1143000" y="3585092"/>
            <a:ext cx="438912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vitamin</a:t>
            </a:r>
          </a:p>
        </p:txBody>
      </p:sp>
      <p:pic>
        <p:nvPicPr>
          <p:cNvPr id="9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4297679"/>
            <a:ext cx="237744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 8"/>
          <p:cNvSpPr txBox="1"/>
          <p:nvPr/>
        </p:nvSpPr>
        <p:spPr>
          <a:xfrm>
            <a:off x="1508759" y="4351434"/>
            <a:ext cx="411480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Nice to have, easy to cut</a:t>
            </a:r>
          </a:p>
        </p:txBody>
      </p:sp>
      <p:pic>
        <p:nvPicPr>
          <p:cNvPr id="96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4754879"/>
            <a:ext cx="237744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9"/>
          <p:cNvSpPr txBox="1"/>
          <p:nvPr/>
        </p:nvSpPr>
        <p:spPr>
          <a:xfrm>
            <a:off x="1508759" y="4808634"/>
            <a:ext cx="411480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Sold on motivation</a:t>
            </a:r>
          </a:p>
        </p:txBody>
      </p:sp>
      <p:pic>
        <p:nvPicPr>
          <p:cNvPr id="98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5212079"/>
            <a:ext cx="237744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 10"/>
          <p:cNvSpPr txBox="1"/>
          <p:nvPr/>
        </p:nvSpPr>
        <p:spPr>
          <a:xfrm>
            <a:off x="1508759" y="5265834"/>
            <a:ext cx="411480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Competes for discretionary budget</a:t>
            </a:r>
          </a:p>
        </p:txBody>
      </p:sp>
      <p:sp>
        <p:nvSpPr>
          <p:cNvPr id="100" name="Shape 11"/>
          <p:cNvSpPr/>
          <p:nvPr/>
        </p:nvSpPr>
        <p:spPr>
          <a:xfrm>
            <a:off x="6309359" y="2971800"/>
            <a:ext cx="5074921" cy="2834640"/>
          </a:xfrm>
          <a:prstGeom prst="roundRect">
            <a:avLst>
              <a:gd name="adj" fmla="val 3871"/>
            </a:avLst>
          </a:prstGeom>
          <a:solidFill>
            <a:srgbClr val="141619"/>
          </a:solidFill>
          <a:ln w="12700">
            <a:solidFill>
              <a:srgbClr val="C8FF00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" name="Text 12"/>
          <p:cNvSpPr txBox="1"/>
          <p:nvPr/>
        </p:nvSpPr>
        <p:spPr>
          <a:xfrm>
            <a:off x="6629400" y="3309365"/>
            <a:ext cx="43891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PULSE CHECK</a:t>
            </a:r>
          </a:p>
        </p:txBody>
      </p:sp>
      <p:sp>
        <p:nvSpPr>
          <p:cNvPr id="102" name="Text 13"/>
          <p:cNvSpPr txBox="1"/>
          <p:nvPr/>
        </p:nvSpPr>
        <p:spPr>
          <a:xfrm>
            <a:off x="6629400" y="3585092"/>
            <a:ext cx="438912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prescription</a:t>
            </a:r>
          </a:p>
        </p:txBody>
      </p:sp>
      <p:pic>
        <p:nvPicPr>
          <p:cNvPr id="103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9400" y="4297679"/>
            <a:ext cx="237744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 14"/>
          <p:cNvSpPr txBox="1"/>
          <p:nvPr/>
        </p:nvSpPr>
        <p:spPr>
          <a:xfrm>
            <a:off x="6995158" y="4351434"/>
            <a:ext cx="411480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Required, already in the budget</a:t>
            </a:r>
          </a:p>
        </p:txBody>
      </p:sp>
      <p:pic>
        <p:nvPicPr>
          <p:cNvPr id="105" name="Image 4" descr="Imag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9400" y="4754879"/>
            <a:ext cx="237744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 15"/>
          <p:cNvSpPr txBox="1"/>
          <p:nvPr/>
        </p:nvSpPr>
        <p:spPr>
          <a:xfrm>
            <a:off x="6995158" y="4808634"/>
            <a:ext cx="411480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Sold on compliance</a:t>
            </a:r>
          </a:p>
        </p:txBody>
      </p:sp>
      <p:pic>
        <p:nvPicPr>
          <p:cNvPr id="107" name="Image 5" descr="Imag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9400" y="5212079"/>
            <a:ext cx="237744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 16"/>
          <p:cNvSpPr txBox="1"/>
          <p:nvPr/>
        </p:nvSpPr>
        <p:spPr>
          <a:xfrm>
            <a:off x="6995158" y="5265834"/>
            <a:ext cx="4114803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Funded as a mandate line item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1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2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113" name="Text 3"/>
          <p:cNvSpPr txBox="1"/>
          <p:nvPr/>
        </p:nvSpPr>
        <p:spPr>
          <a:xfrm>
            <a:off x="822960" y="1597172"/>
            <a:ext cx="10515601" cy="554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4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Train the mind </a:t>
            </a:r>
            <a:r>
              <a:rPr>
                <a:solidFill>
                  <a:srgbClr val="C8FF00"/>
                </a:solidFill>
              </a:rPr>
              <a:t>before the moment.</a:t>
            </a:r>
          </a:p>
        </p:txBody>
      </p:sp>
      <p:sp>
        <p:nvSpPr>
          <p:cNvPr id="114" name="Text 4"/>
          <p:cNvSpPr txBox="1"/>
          <p:nvPr/>
        </p:nvSpPr>
        <p:spPr>
          <a:xfrm>
            <a:off x="841247" y="2197883"/>
            <a:ext cx="10058401" cy="450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Pulse Check builds composure ahead of competition, supports the athlete in the moment, and routes to real care when needed.</a:t>
            </a:r>
          </a:p>
        </p:txBody>
      </p:sp>
      <p:sp>
        <p:nvSpPr>
          <p:cNvPr id="115" name="Shape 5"/>
          <p:cNvSpPr/>
          <p:nvPr/>
        </p:nvSpPr>
        <p:spPr>
          <a:xfrm>
            <a:off x="822960" y="2834638"/>
            <a:ext cx="3429002" cy="2743202"/>
          </a:xfrm>
          <a:prstGeom prst="roundRect">
            <a:avLst>
              <a:gd name="adj" fmla="val 4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6" name="Shape 6"/>
          <p:cNvSpPr/>
          <p:nvPr/>
        </p:nvSpPr>
        <p:spPr>
          <a:xfrm>
            <a:off x="1142999" y="3154678"/>
            <a:ext cx="731524" cy="731523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1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0510" y="3352189"/>
            <a:ext cx="336501" cy="33650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Text 7"/>
          <p:cNvSpPr txBox="1"/>
          <p:nvPr/>
        </p:nvSpPr>
        <p:spPr>
          <a:xfrm>
            <a:off x="2057399" y="3378544"/>
            <a:ext cx="210312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TRAIN</a:t>
            </a:r>
          </a:p>
        </p:txBody>
      </p:sp>
      <p:sp>
        <p:nvSpPr>
          <p:cNvPr id="119" name="Text 8"/>
          <p:cNvSpPr txBox="1"/>
          <p:nvPr/>
        </p:nvSpPr>
        <p:spPr>
          <a:xfrm>
            <a:off x="1142999" y="4097306"/>
            <a:ext cx="2788923" cy="1360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b="1" sz="1300">
                <a:solidFill>
                  <a:srgbClr val="D3FD5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Athletes chat with Nora,</a:t>
            </a:r>
            <a:r>
              <a:rPr b="0">
                <a:solidFill>
                  <a:srgbClr val="C3C8CE"/>
                </a:solidFill>
              </a:rPr>
              <a:t> their AI coach, through a personalized curriculum of cognitive simulations on their phones, rehearsing composure, focus, and decisioning before they reach competition</a:t>
            </a:r>
          </a:p>
        </p:txBody>
      </p:sp>
      <p:pic>
        <p:nvPicPr>
          <p:cNvPr id="12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79391" y="4023359"/>
            <a:ext cx="274322" cy="274322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Shape 9"/>
          <p:cNvSpPr/>
          <p:nvPr/>
        </p:nvSpPr>
        <p:spPr>
          <a:xfrm>
            <a:off x="4535423" y="2834638"/>
            <a:ext cx="3429002" cy="2743202"/>
          </a:xfrm>
          <a:prstGeom prst="roundRect">
            <a:avLst>
              <a:gd name="adj" fmla="val 4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2" name="Shape 10"/>
          <p:cNvSpPr/>
          <p:nvPr/>
        </p:nvSpPr>
        <p:spPr>
          <a:xfrm>
            <a:off x="4855464" y="3154678"/>
            <a:ext cx="731523" cy="731523"/>
          </a:xfrm>
          <a:prstGeom prst="ellipse">
            <a:avLst/>
          </a:prstGeom>
          <a:solidFill>
            <a:srgbClr val="5B9D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2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52974" y="3352189"/>
            <a:ext cx="336501" cy="336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ext 11"/>
          <p:cNvSpPr txBox="1"/>
          <p:nvPr/>
        </p:nvSpPr>
        <p:spPr>
          <a:xfrm>
            <a:off x="5769864" y="3378544"/>
            <a:ext cx="2103122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SUPPORT</a:t>
            </a:r>
          </a:p>
        </p:txBody>
      </p:sp>
      <p:sp>
        <p:nvSpPr>
          <p:cNvPr id="125" name="Text 12"/>
          <p:cNvSpPr txBox="1"/>
          <p:nvPr/>
        </p:nvSpPr>
        <p:spPr>
          <a:xfrm>
            <a:off x="4855464" y="4325906"/>
            <a:ext cx="2788922" cy="903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 game day, passive </a:t>
            </a:r>
            <a:r>
              <a:rPr b="1">
                <a:solidFill>
                  <a:srgbClr val="6B9BF8"/>
                </a:solidFill>
              </a:rPr>
              <a:t>biometrics catch the signal early</a:t>
            </a:r>
            <a:r>
              <a:t> and Nora reinforces the trained skills in real time.</a:t>
            </a:r>
          </a:p>
        </p:txBody>
      </p:sp>
      <p:pic>
        <p:nvPicPr>
          <p:cNvPr id="126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91856" y="4023359"/>
            <a:ext cx="274322" cy="274322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Shape 13"/>
          <p:cNvSpPr/>
          <p:nvPr/>
        </p:nvSpPr>
        <p:spPr>
          <a:xfrm>
            <a:off x="8247888" y="2834638"/>
            <a:ext cx="3429002" cy="2743202"/>
          </a:xfrm>
          <a:prstGeom prst="roundRect">
            <a:avLst>
              <a:gd name="adj" fmla="val 4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8" name="Shape 14"/>
          <p:cNvSpPr/>
          <p:nvPr/>
        </p:nvSpPr>
        <p:spPr>
          <a:xfrm>
            <a:off x="8567928" y="3154678"/>
            <a:ext cx="731523" cy="731523"/>
          </a:xfrm>
          <a:prstGeom prst="ellipse">
            <a:avLst/>
          </a:prstGeom>
          <a:solidFill>
            <a:srgbClr val="FF6FB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29" name="Image 4" descr="Imag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765437" y="3352189"/>
            <a:ext cx="336501" cy="336501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 15"/>
          <p:cNvSpPr txBox="1"/>
          <p:nvPr/>
        </p:nvSpPr>
        <p:spPr>
          <a:xfrm>
            <a:off x="9482328" y="3378544"/>
            <a:ext cx="2103122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6FB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ROUTE</a:t>
            </a:r>
          </a:p>
        </p:txBody>
      </p:sp>
      <p:sp>
        <p:nvSpPr>
          <p:cNvPr id="131" name="Text 16"/>
          <p:cNvSpPr txBox="1"/>
          <p:nvPr/>
        </p:nvSpPr>
        <p:spPr>
          <a:xfrm>
            <a:off x="8567928" y="4211606"/>
            <a:ext cx="2788922" cy="1132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When Nora </a:t>
            </a:r>
            <a:r>
              <a:rPr b="1">
                <a:solidFill>
                  <a:srgbClr val="ED78B3"/>
                </a:solidFill>
              </a:rPr>
              <a:t>detects symptoms of a mental crisis brewing</a:t>
            </a:r>
            <a:r>
              <a:t>, Pulse Check </a:t>
            </a:r>
            <a:r>
              <a:rPr b="1">
                <a:solidFill>
                  <a:srgbClr val="ED78B3"/>
                </a:solidFill>
              </a:rPr>
              <a:t>connects the athlete to a human clinician through AuntEDNA.ai's </a:t>
            </a:r>
            <a:r>
              <a:t>HIPAA-compliant clinical pathway.</a:t>
            </a:r>
          </a:p>
        </p:txBody>
      </p:sp>
      <p:sp>
        <p:nvSpPr>
          <p:cNvPr id="132" name="Text 17"/>
          <p:cNvSpPr txBox="1"/>
          <p:nvPr/>
        </p:nvSpPr>
        <p:spPr>
          <a:xfrm>
            <a:off x="822960" y="6021646"/>
            <a:ext cx="105156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5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Athletes train the response before competition, so the body remembers how to perform under pressure.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5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6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137" name="Text 3"/>
          <p:cNvSpPr txBox="1"/>
          <p:nvPr/>
        </p:nvSpPr>
        <p:spPr>
          <a:xfrm>
            <a:off x="831849" y="1159607"/>
            <a:ext cx="10515602" cy="554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4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What the athlete </a:t>
            </a:r>
            <a:r>
              <a:rPr>
                <a:solidFill>
                  <a:srgbClr val="C8FF00"/>
                </a:solidFill>
              </a:rPr>
              <a:t>actually sees.</a:t>
            </a:r>
          </a:p>
        </p:txBody>
      </p:sp>
      <p:sp>
        <p:nvSpPr>
          <p:cNvPr id="138" name="Text 4"/>
          <p:cNvSpPr txBox="1"/>
          <p:nvPr/>
        </p:nvSpPr>
        <p:spPr>
          <a:xfrm>
            <a:off x="905961" y="2078378"/>
            <a:ext cx="3391297" cy="113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Passive biometrics detect the signal, Nora trains and settles the response, and Sports Intel reads each athlete in context — inside the app they already open.</a:t>
            </a:r>
          </a:p>
        </p:txBody>
      </p:sp>
      <p:sp>
        <p:nvSpPr>
          <p:cNvPr id="139" name="t800"/>
          <p:cNvSpPr txBox="1"/>
          <p:nvPr/>
        </p:nvSpPr>
        <p:spPr>
          <a:xfrm>
            <a:off x="4845177" y="1871284"/>
            <a:ext cx="142105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5BA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DETECT</a:t>
            </a:r>
          </a:p>
        </p:txBody>
      </p:sp>
      <p:pic>
        <p:nvPicPr>
          <p:cNvPr id="140" name="phone801" descr="phone801"/>
          <p:cNvPicPr>
            <a:picLocks noChangeAspect="1"/>
          </p:cNvPicPr>
          <p:nvPr/>
        </p:nvPicPr>
        <p:blipFill>
          <a:blip r:embed="rId2">
            <a:extLst/>
          </a:blip>
          <a:srcRect l="0" t="0" r="7" b="0"/>
          <a:stretch>
            <a:fillRect/>
          </a:stretch>
        </p:blipFill>
        <p:spPr>
          <a:xfrm>
            <a:off x="4641303" y="2083233"/>
            <a:ext cx="1828801" cy="3861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86" y="0"/>
                </a:moveTo>
                <a:cubicBezTo>
                  <a:pt x="530" y="0"/>
                  <a:pt x="0" y="251"/>
                  <a:pt x="0" y="562"/>
                </a:cubicBezTo>
                <a:lnTo>
                  <a:pt x="0" y="21036"/>
                </a:lnTo>
                <a:cubicBezTo>
                  <a:pt x="0" y="21347"/>
                  <a:pt x="530" y="21600"/>
                  <a:pt x="1186" y="21600"/>
                </a:cubicBezTo>
                <a:lnTo>
                  <a:pt x="20414" y="21600"/>
                </a:lnTo>
                <a:cubicBezTo>
                  <a:pt x="21070" y="21600"/>
                  <a:pt x="21600" y="21347"/>
                  <a:pt x="21600" y="21036"/>
                </a:cubicBezTo>
                <a:lnTo>
                  <a:pt x="21600" y="562"/>
                </a:lnTo>
                <a:cubicBezTo>
                  <a:pt x="21600" y="251"/>
                  <a:pt x="21070" y="0"/>
                  <a:pt x="20414" y="0"/>
                </a:cubicBezTo>
                <a:lnTo>
                  <a:pt x="1186" y="0"/>
                </a:lnTo>
                <a:close/>
              </a:path>
            </a:pathLst>
          </a:custGeom>
          <a:ln w="12700">
            <a:solidFill>
              <a:srgbClr val="3A3F47"/>
            </a:solidFill>
          </a:ln>
        </p:spPr>
      </p:pic>
      <p:sp>
        <p:nvSpPr>
          <p:cNvPr id="141" name="t802"/>
          <p:cNvSpPr txBox="1"/>
          <p:nvPr/>
        </p:nvSpPr>
        <p:spPr>
          <a:xfrm>
            <a:off x="4705704" y="6056183"/>
            <a:ext cx="1700000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A8AE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Passive biometrics read each athlete in context.</a:t>
            </a:r>
          </a:p>
        </p:txBody>
      </p:sp>
      <p:sp>
        <p:nvSpPr>
          <p:cNvPr id="142" name="t803"/>
          <p:cNvSpPr txBox="1"/>
          <p:nvPr/>
        </p:nvSpPr>
        <p:spPr>
          <a:xfrm>
            <a:off x="7018817" y="1869543"/>
            <a:ext cx="142105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E0FE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TRAIN</a:t>
            </a:r>
          </a:p>
        </p:txBody>
      </p:sp>
      <p:pic>
        <p:nvPicPr>
          <p:cNvPr id="143" name="phone804" descr="phone804"/>
          <p:cNvPicPr>
            <a:picLocks noChangeAspect="1"/>
          </p:cNvPicPr>
          <p:nvPr/>
        </p:nvPicPr>
        <p:blipFill>
          <a:blip r:embed="rId3">
            <a:extLst/>
          </a:blip>
          <a:srcRect l="0" t="0" r="0" b="2"/>
          <a:stretch>
            <a:fillRect/>
          </a:stretch>
        </p:blipFill>
        <p:spPr>
          <a:xfrm>
            <a:off x="6820500" y="2119084"/>
            <a:ext cx="1817574" cy="3836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88" y="0"/>
                </a:moveTo>
                <a:cubicBezTo>
                  <a:pt x="532" y="0"/>
                  <a:pt x="0" y="252"/>
                  <a:pt x="0" y="563"/>
                </a:cubicBezTo>
                <a:lnTo>
                  <a:pt x="0" y="21037"/>
                </a:lnTo>
                <a:cubicBezTo>
                  <a:pt x="0" y="21348"/>
                  <a:pt x="532" y="21600"/>
                  <a:pt x="1188" y="21600"/>
                </a:cubicBezTo>
                <a:lnTo>
                  <a:pt x="20412" y="21600"/>
                </a:lnTo>
                <a:cubicBezTo>
                  <a:pt x="21068" y="21600"/>
                  <a:pt x="21600" y="21348"/>
                  <a:pt x="21600" y="21037"/>
                </a:cubicBezTo>
                <a:lnTo>
                  <a:pt x="21600" y="563"/>
                </a:lnTo>
                <a:cubicBezTo>
                  <a:pt x="21600" y="252"/>
                  <a:pt x="21068" y="0"/>
                  <a:pt x="20412" y="0"/>
                </a:cubicBezTo>
                <a:lnTo>
                  <a:pt x="1188" y="0"/>
                </a:lnTo>
                <a:close/>
              </a:path>
            </a:pathLst>
          </a:custGeom>
          <a:ln w="12700">
            <a:solidFill>
              <a:srgbClr val="3A3F47"/>
            </a:solidFill>
          </a:ln>
        </p:spPr>
      </p:pic>
      <p:sp>
        <p:nvSpPr>
          <p:cNvPr id="144" name="t805"/>
          <p:cNvSpPr txBox="1"/>
          <p:nvPr/>
        </p:nvSpPr>
        <p:spPr>
          <a:xfrm>
            <a:off x="6879344" y="6056183"/>
            <a:ext cx="1700000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A8AE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Guided box-breathing trains the body to settle.</a:t>
            </a:r>
          </a:p>
        </p:txBody>
      </p:sp>
      <p:sp>
        <p:nvSpPr>
          <p:cNvPr id="145" name="t806"/>
          <p:cNvSpPr txBox="1"/>
          <p:nvPr/>
        </p:nvSpPr>
        <p:spPr>
          <a:xfrm>
            <a:off x="9132647" y="1869543"/>
            <a:ext cx="142105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SUPPORT</a:t>
            </a:r>
          </a:p>
        </p:txBody>
      </p:sp>
      <p:pic>
        <p:nvPicPr>
          <p:cNvPr id="146" name="phone807" descr="phone807"/>
          <p:cNvPicPr>
            <a:picLocks noChangeAspect="1"/>
          </p:cNvPicPr>
          <p:nvPr/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8928774" y="2119172"/>
            <a:ext cx="1828801" cy="3860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86" y="0"/>
                </a:moveTo>
                <a:cubicBezTo>
                  <a:pt x="530" y="0"/>
                  <a:pt x="0" y="251"/>
                  <a:pt x="0" y="562"/>
                </a:cubicBezTo>
                <a:lnTo>
                  <a:pt x="0" y="21038"/>
                </a:lnTo>
                <a:cubicBezTo>
                  <a:pt x="0" y="21349"/>
                  <a:pt x="530" y="21600"/>
                  <a:pt x="1186" y="21600"/>
                </a:cubicBezTo>
                <a:lnTo>
                  <a:pt x="20414" y="21600"/>
                </a:lnTo>
                <a:cubicBezTo>
                  <a:pt x="21070" y="21600"/>
                  <a:pt x="21600" y="21349"/>
                  <a:pt x="21600" y="21038"/>
                </a:cubicBezTo>
                <a:lnTo>
                  <a:pt x="21600" y="562"/>
                </a:lnTo>
                <a:cubicBezTo>
                  <a:pt x="21600" y="251"/>
                  <a:pt x="21070" y="0"/>
                  <a:pt x="20414" y="0"/>
                </a:cubicBezTo>
                <a:lnTo>
                  <a:pt x="1186" y="0"/>
                </a:lnTo>
                <a:close/>
              </a:path>
            </a:pathLst>
          </a:custGeom>
          <a:ln w="12700">
            <a:solidFill>
              <a:srgbClr val="3A3F47"/>
            </a:solidFill>
          </a:ln>
        </p:spPr>
      </p:pic>
      <p:sp>
        <p:nvSpPr>
          <p:cNvPr id="147" name="t808"/>
          <p:cNvSpPr txBox="1"/>
          <p:nvPr/>
        </p:nvSpPr>
        <p:spPr>
          <a:xfrm>
            <a:off x="8993174" y="6081684"/>
            <a:ext cx="1700000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A8AE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 the moment, Nora settles the trained response.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0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1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ROUTE</a:t>
            </a:r>
          </a:p>
        </p:txBody>
      </p:sp>
      <p:sp>
        <p:nvSpPr>
          <p:cNvPr id="152" name="Text 3"/>
          <p:cNvSpPr txBox="1"/>
          <p:nvPr/>
        </p:nvSpPr>
        <p:spPr>
          <a:xfrm>
            <a:off x="831849" y="1300257"/>
            <a:ext cx="10515602" cy="554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4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 a chatbot. </a:t>
            </a:r>
            <a:r>
              <a:rPr>
                <a:solidFill>
                  <a:srgbClr val="C8FF00"/>
                </a:solidFill>
              </a:rPr>
              <a:t>A real human.</a:t>
            </a:r>
          </a:p>
        </p:txBody>
      </p:sp>
      <p:sp>
        <p:nvSpPr>
          <p:cNvPr id="153" name="Text 4"/>
          <p:cNvSpPr txBox="1"/>
          <p:nvPr/>
        </p:nvSpPr>
        <p:spPr>
          <a:xfrm>
            <a:off x="828304" y="1964445"/>
            <a:ext cx="10058401" cy="450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catch the moment, package the context, and hand off to a licensed human through AuntEDNA.ai — including a same-day welfare check.</a:t>
            </a:r>
          </a:p>
        </p:txBody>
      </p:sp>
      <p:sp>
        <p:nvSpPr>
          <p:cNvPr id="154" name="t820"/>
          <p:cNvSpPr txBox="1"/>
          <p:nvPr/>
        </p:nvSpPr>
        <p:spPr>
          <a:xfrm>
            <a:off x="1213108" y="2524493"/>
            <a:ext cx="1373685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FF7A9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NORA FLAGS IT</a:t>
            </a:r>
          </a:p>
        </p:txBody>
      </p:sp>
      <p:sp>
        <p:nvSpPr>
          <p:cNvPr id="155" name="t821"/>
          <p:cNvSpPr txBox="1"/>
          <p:nvPr/>
        </p:nvSpPr>
        <p:spPr>
          <a:xfrm>
            <a:off x="9592408" y="2524493"/>
            <a:ext cx="1373685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HUMAN ANSWERS</a:t>
            </a:r>
          </a:p>
        </p:txBody>
      </p:sp>
      <p:pic>
        <p:nvPicPr>
          <p:cNvPr id="156" name="phone822" descr="phone822"/>
          <p:cNvPicPr>
            <a:picLocks noChangeAspect="1"/>
          </p:cNvPicPr>
          <p:nvPr/>
        </p:nvPicPr>
        <p:blipFill>
          <a:blip r:embed="rId2">
            <a:extLst/>
          </a:blip>
          <a:srcRect l="0" t="0" r="0" b="6"/>
          <a:stretch>
            <a:fillRect/>
          </a:stretch>
        </p:blipFill>
        <p:spPr>
          <a:xfrm>
            <a:off x="1127829" y="2708275"/>
            <a:ext cx="1544084" cy="32595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88" y="0"/>
                </a:moveTo>
                <a:cubicBezTo>
                  <a:pt x="532" y="0"/>
                  <a:pt x="0" y="252"/>
                  <a:pt x="0" y="563"/>
                </a:cubicBezTo>
                <a:lnTo>
                  <a:pt x="0" y="21040"/>
                </a:lnTo>
                <a:cubicBezTo>
                  <a:pt x="0" y="21351"/>
                  <a:pt x="532" y="21600"/>
                  <a:pt x="1188" y="21600"/>
                </a:cubicBezTo>
                <a:lnTo>
                  <a:pt x="20412" y="21600"/>
                </a:lnTo>
                <a:cubicBezTo>
                  <a:pt x="21068" y="21600"/>
                  <a:pt x="21600" y="21351"/>
                  <a:pt x="21600" y="21040"/>
                </a:cubicBezTo>
                <a:lnTo>
                  <a:pt x="21600" y="563"/>
                </a:lnTo>
                <a:cubicBezTo>
                  <a:pt x="21600" y="252"/>
                  <a:pt x="21068" y="0"/>
                  <a:pt x="20412" y="0"/>
                </a:cubicBezTo>
                <a:lnTo>
                  <a:pt x="1188" y="0"/>
                </a:lnTo>
                <a:close/>
              </a:path>
            </a:pathLst>
          </a:custGeom>
          <a:ln w="12700">
            <a:solidFill>
              <a:srgbClr val="3A3F47"/>
            </a:solidFill>
          </a:ln>
        </p:spPr>
      </p:pic>
      <p:pic>
        <p:nvPicPr>
          <p:cNvPr id="157" name="phone823" descr="phone8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491247" y="2716349"/>
            <a:ext cx="1530208" cy="32304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88" y="0"/>
                </a:moveTo>
                <a:cubicBezTo>
                  <a:pt x="531" y="0"/>
                  <a:pt x="0" y="252"/>
                  <a:pt x="0" y="563"/>
                </a:cubicBezTo>
                <a:lnTo>
                  <a:pt x="0" y="21037"/>
                </a:lnTo>
                <a:cubicBezTo>
                  <a:pt x="0" y="21348"/>
                  <a:pt x="531" y="21600"/>
                  <a:pt x="1188" y="21600"/>
                </a:cubicBezTo>
                <a:lnTo>
                  <a:pt x="20412" y="21600"/>
                </a:lnTo>
                <a:cubicBezTo>
                  <a:pt x="21069" y="21600"/>
                  <a:pt x="21600" y="21348"/>
                  <a:pt x="21600" y="21037"/>
                </a:cubicBezTo>
                <a:lnTo>
                  <a:pt x="21600" y="563"/>
                </a:lnTo>
                <a:cubicBezTo>
                  <a:pt x="21600" y="252"/>
                  <a:pt x="21069" y="0"/>
                  <a:pt x="20412" y="0"/>
                </a:cubicBezTo>
                <a:lnTo>
                  <a:pt x="1188" y="0"/>
                </a:lnTo>
                <a:close/>
              </a:path>
            </a:pathLst>
          </a:custGeom>
          <a:ln w="12700">
            <a:solidFill>
              <a:srgbClr val="3A3F47"/>
            </a:solidFill>
          </a:ln>
        </p:spPr>
      </p:pic>
      <p:sp>
        <p:nvSpPr>
          <p:cNvPr id="158" name="r824"/>
          <p:cNvSpPr/>
          <p:nvPr/>
        </p:nvSpPr>
        <p:spPr>
          <a:xfrm>
            <a:off x="3060000" y="2959999"/>
            <a:ext cx="6060000" cy="880001"/>
          </a:xfrm>
          <a:prstGeom prst="roundRect">
            <a:avLst>
              <a:gd name="adj" fmla="val 9000"/>
            </a:avLst>
          </a:prstGeom>
          <a:solidFill>
            <a:srgbClr val="141518"/>
          </a:solidFill>
          <a:ln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61" name="b825"/>
          <p:cNvGrpSpPr/>
          <p:nvPr/>
        </p:nvGrpSpPr>
        <p:grpSpPr>
          <a:xfrm>
            <a:off x="3209999" y="3169999"/>
            <a:ext cx="460002" cy="460001"/>
            <a:chOff x="0" y="0"/>
            <a:chExt cx="460000" cy="460000"/>
          </a:xfrm>
        </p:grpSpPr>
        <p:sp>
          <p:nvSpPr>
            <p:cNvPr id="159" name="Circle"/>
            <p:cNvSpPr/>
            <p:nvPr/>
          </p:nvSpPr>
          <p:spPr>
            <a:xfrm>
              <a:off x="-1" y="-1"/>
              <a:ext cx="460002" cy="460002"/>
            </a:xfrm>
            <a:prstGeom prst="ellipse">
              <a:avLst/>
            </a:prstGeom>
            <a:solidFill>
              <a:srgbClr val="FF7A9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0" name="1"/>
            <p:cNvSpPr txBox="1"/>
            <p:nvPr/>
          </p:nvSpPr>
          <p:spPr>
            <a:xfrm>
              <a:off x="113085" y="91730"/>
              <a:ext cx="233830" cy="276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0A0A0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62" name="t826"/>
          <p:cNvSpPr txBox="1"/>
          <p:nvPr/>
        </p:nvSpPr>
        <p:spPr>
          <a:xfrm>
            <a:off x="3820000" y="3110000"/>
            <a:ext cx="51500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Trigger</a:t>
            </a:r>
          </a:p>
        </p:txBody>
      </p:sp>
      <p:sp>
        <p:nvSpPr>
          <p:cNvPr id="163" name="t827"/>
          <p:cNvSpPr txBox="1"/>
          <p:nvPr/>
        </p:nvSpPr>
        <p:spPr>
          <a:xfrm>
            <a:off x="3820000" y="3404999"/>
            <a:ext cx="515000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8AE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Flagged chat + biometric snapshot the instant Nora detects a critical signal.</a:t>
            </a:r>
          </a:p>
        </p:txBody>
      </p:sp>
      <p:sp>
        <p:nvSpPr>
          <p:cNvPr id="164" name="r828"/>
          <p:cNvSpPr/>
          <p:nvPr/>
        </p:nvSpPr>
        <p:spPr>
          <a:xfrm>
            <a:off x="3060000" y="3939999"/>
            <a:ext cx="6060000" cy="880001"/>
          </a:xfrm>
          <a:prstGeom prst="roundRect">
            <a:avLst>
              <a:gd name="adj" fmla="val 9000"/>
            </a:avLst>
          </a:prstGeom>
          <a:solidFill>
            <a:srgbClr val="141518"/>
          </a:solidFill>
          <a:ln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67" name="b829"/>
          <p:cNvGrpSpPr/>
          <p:nvPr/>
        </p:nvGrpSpPr>
        <p:grpSpPr>
          <a:xfrm>
            <a:off x="3209999" y="4150000"/>
            <a:ext cx="460002" cy="460001"/>
            <a:chOff x="0" y="0"/>
            <a:chExt cx="460000" cy="460000"/>
          </a:xfrm>
        </p:grpSpPr>
        <p:sp>
          <p:nvSpPr>
            <p:cNvPr id="165" name="Circle"/>
            <p:cNvSpPr/>
            <p:nvPr/>
          </p:nvSpPr>
          <p:spPr>
            <a:xfrm>
              <a:off x="-1" y="-1"/>
              <a:ext cx="460002" cy="460002"/>
            </a:xfrm>
            <a:prstGeom prst="ellipse">
              <a:avLst/>
            </a:prstGeom>
            <a:solidFill>
              <a:srgbClr val="22D3E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66" name="2"/>
            <p:cNvSpPr txBox="1"/>
            <p:nvPr/>
          </p:nvSpPr>
          <p:spPr>
            <a:xfrm>
              <a:off x="113085" y="91730"/>
              <a:ext cx="233830" cy="276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0A0A0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68" name="t830"/>
          <p:cNvSpPr txBox="1"/>
          <p:nvPr/>
        </p:nvSpPr>
        <p:spPr>
          <a:xfrm>
            <a:off x="3820000" y="4089999"/>
            <a:ext cx="51500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Route</a:t>
            </a:r>
          </a:p>
        </p:txBody>
      </p:sp>
      <p:sp>
        <p:nvSpPr>
          <p:cNvPr id="169" name="t831"/>
          <p:cNvSpPr txBox="1"/>
          <p:nvPr/>
        </p:nvSpPr>
        <p:spPr>
          <a:xfrm>
            <a:off x="3820000" y="4385000"/>
            <a:ext cx="5150001" cy="27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8AE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signal layer packages the full context and hands off to AuntEDNA.ai over a HIPAA-secure pathway.</a:t>
            </a:r>
          </a:p>
        </p:txBody>
      </p:sp>
      <p:sp>
        <p:nvSpPr>
          <p:cNvPr id="170" name="r832"/>
          <p:cNvSpPr/>
          <p:nvPr/>
        </p:nvSpPr>
        <p:spPr>
          <a:xfrm>
            <a:off x="3060000" y="4920000"/>
            <a:ext cx="6060000" cy="880001"/>
          </a:xfrm>
          <a:prstGeom prst="roundRect">
            <a:avLst>
              <a:gd name="adj" fmla="val 9000"/>
            </a:avLst>
          </a:prstGeom>
          <a:solidFill>
            <a:srgbClr val="141518"/>
          </a:solidFill>
          <a:ln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grpSp>
        <p:nvGrpSpPr>
          <p:cNvPr id="173" name="b833"/>
          <p:cNvGrpSpPr/>
          <p:nvPr/>
        </p:nvGrpSpPr>
        <p:grpSpPr>
          <a:xfrm>
            <a:off x="3209999" y="5130000"/>
            <a:ext cx="460002" cy="460001"/>
            <a:chOff x="0" y="0"/>
            <a:chExt cx="460000" cy="460000"/>
          </a:xfrm>
        </p:grpSpPr>
        <p:sp>
          <p:nvSpPr>
            <p:cNvPr id="171" name="Circle"/>
            <p:cNvSpPr/>
            <p:nvPr/>
          </p:nvSpPr>
          <p:spPr>
            <a:xfrm>
              <a:off x="-1" y="-1"/>
              <a:ext cx="460002" cy="460002"/>
            </a:xfrm>
            <a:prstGeom prst="ellipse">
              <a:avLst/>
            </a:prstGeom>
            <a:solidFill>
              <a:srgbClr val="34D399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n-lt"/>
                  <a:ea typeface="+mn-ea"/>
                  <a:cs typeface="+mn-cs"/>
                  <a:sym typeface="Calibri"/>
                </a:defRPr>
              </a:pPr>
            </a:p>
          </p:txBody>
        </p:sp>
        <p:sp>
          <p:nvSpPr>
            <p:cNvPr id="172" name="3"/>
            <p:cNvSpPr txBox="1"/>
            <p:nvPr/>
          </p:nvSpPr>
          <p:spPr>
            <a:xfrm>
              <a:off x="113085" y="91730"/>
              <a:ext cx="233830" cy="276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300">
                  <a:solidFill>
                    <a:srgbClr val="0A0A0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74" name="t834"/>
          <p:cNvSpPr txBox="1"/>
          <p:nvPr/>
        </p:nvSpPr>
        <p:spPr>
          <a:xfrm>
            <a:off x="3820000" y="5069999"/>
            <a:ext cx="51500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</a:t>
            </a:r>
          </a:p>
        </p:txBody>
      </p:sp>
      <p:sp>
        <p:nvSpPr>
          <p:cNvPr id="175" name="t835"/>
          <p:cNvSpPr txBox="1"/>
          <p:nvPr/>
        </p:nvSpPr>
        <p:spPr>
          <a:xfrm>
            <a:off x="3820000" y="5365000"/>
            <a:ext cx="5150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8AE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licensed clinician runs a same-day welfare check — a real person, not a bot.</a:t>
            </a:r>
          </a:p>
        </p:txBody>
      </p:sp>
      <p:sp>
        <p:nvSpPr>
          <p:cNvPr id="176" name="r836"/>
          <p:cNvSpPr/>
          <p:nvPr/>
        </p:nvSpPr>
        <p:spPr>
          <a:xfrm>
            <a:off x="822960" y="6030000"/>
            <a:ext cx="10533381" cy="560001"/>
          </a:xfrm>
          <a:prstGeom prst="roundRect">
            <a:avLst>
              <a:gd name="adj" fmla="val 14000"/>
            </a:avLst>
          </a:prstGeom>
          <a:solidFill>
            <a:srgbClr val="12140C"/>
          </a:solidFill>
          <a:ln>
            <a:solidFill>
              <a:srgbClr val="3A4A1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7" name="t837"/>
          <p:cNvSpPr txBox="1"/>
          <p:nvPr/>
        </p:nvSpPr>
        <p:spPr>
          <a:xfrm>
            <a:off x="1060000" y="6261085"/>
            <a:ext cx="1010000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E0FE1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difference: </a:t>
            </a:r>
            <a:r>
              <a:rPr b="0">
                <a:solidFill>
                  <a:srgbClr val="C7CBD1"/>
                </a:solidFill>
              </a:rPr>
              <a:t>chatbot “therapy” stops at the AI. Pulse Check never pretends to be the clinician — it routes to one, with the context already packaged.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0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1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MOAT</a:t>
            </a:r>
          </a:p>
        </p:txBody>
      </p:sp>
      <p:sp>
        <p:nvSpPr>
          <p:cNvPr id="182" name="Text 3"/>
          <p:cNvSpPr txBox="1"/>
          <p:nvPr/>
        </p:nvSpPr>
        <p:spPr>
          <a:xfrm>
            <a:off x="822960" y="1599865"/>
            <a:ext cx="10515601" cy="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400"/>
              </a:lnSpc>
              <a:defRPr b="1" sz="38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Sports Intelligence Layer.</a:t>
            </a:r>
          </a:p>
        </p:txBody>
      </p:sp>
      <p:sp>
        <p:nvSpPr>
          <p:cNvPr id="183" name="Text 4"/>
          <p:cNvSpPr txBox="1"/>
          <p:nvPr/>
        </p:nvSpPr>
        <p:spPr>
          <a:xfrm>
            <a:off x="841247" y="2220742"/>
            <a:ext cx="100584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Competitors own one slice. Pulse Check ties the whole workflow into one institutional system.</a:t>
            </a:r>
          </a:p>
        </p:txBody>
      </p:sp>
      <p:sp>
        <p:nvSpPr>
          <p:cNvPr id="184" name="Shape 5"/>
          <p:cNvSpPr/>
          <p:nvPr/>
        </p:nvSpPr>
        <p:spPr>
          <a:xfrm>
            <a:off x="822960" y="2788920"/>
            <a:ext cx="5074921" cy="1554482"/>
          </a:xfrm>
          <a:prstGeom prst="roundRect">
            <a:avLst>
              <a:gd name="adj" fmla="val 7059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5" name="Shape 6"/>
          <p:cNvSpPr/>
          <p:nvPr/>
        </p:nvSpPr>
        <p:spPr>
          <a:xfrm>
            <a:off x="1115566" y="3108960"/>
            <a:ext cx="822963" cy="822963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8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7766" y="3331159"/>
            <a:ext cx="378564" cy="378564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 7"/>
          <p:cNvSpPr txBox="1"/>
          <p:nvPr/>
        </p:nvSpPr>
        <p:spPr>
          <a:xfrm>
            <a:off x="2148838" y="3162229"/>
            <a:ext cx="356616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Athlete biometrics</a:t>
            </a:r>
          </a:p>
        </p:txBody>
      </p:sp>
      <p:sp>
        <p:nvSpPr>
          <p:cNvPr id="188" name="Text 8"/>
          <p:cNvSpPr txBox="1"/>
          <p:nvPr/>
        </p:nvSpPr>
        <p:spPr>
          <a:xfrm>
            <a:off x="2148838" y="3646963"/>
            <a:ext cx="3611883" cy="42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700"/>
              </a:lnSpc>
              <a:defRPr b="1" sz="1300">
                <a:solidFill>
                  <a:srgbClr val="D2FB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Sport-specific signal,</a:t>
            </a:r>
            <a:r>
              <a:rPr b="0"/>
              <a:t> </a:t>
            </a:r>
            <a:r>
              <a:rPr b="0">
                <a:solidFill>
                  <a:srgbClr val="C3C8CE"/>
                </a:solidFill>
              </a:rPr>
              <a:t>not a generic wellness score.</a:t>
            </a:r>
          </a:p>
        </p:txBody>
      </p:sp>
      <p:sp>
        <p:nvSpPr>
          <p:cNvPr id="189" name="Shape 9"/>
          <p:cNvSpPr/>
          <p:nvPr/>
        </p:nvSpPr>
        <p:spPr>
          <a:xfrm>
            <a:off x="6309359" y="2788920"/>
            <a:ext cx="5074921" cy="1554482"/>
          </a:xfrm>
          <a:prstGeom prst="roundRect">
            <a:avLst>
              <a:gd name="adj" fmla="val 7059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0" name="Shape 10"/>
          <p:cNvSpPr/>
          <p:nvPr/>
        </p:nvSpPr>
        <p:spPr>
          <a:xfrm>
            <a:off x="6601968" y="3108960"/>
            <a:ext cx="822963" cy="822963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9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24167" y="3331159"/>
            <a:ext cx="378564" cy="378564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 11"/>
          <p:cNvSpPr txBox="1"/>
          <p:nvPr/>
        </p:nvSpPr>
        <p:spPr>
          <a:xfrm>
            <a:off x="7635240" y="3162229"/>
            <a:ext cx="356616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Cognitive game library</a:t>
            </a:r>
          </a:p>
        </p:txBody>
      </p:sp>
      <p:sp>
        <p:nvSpPr>
          <p:cNvPr id="193" name="Text 12"/>
          <p:cNvSpPr txBox="1"/>
          <p:nvPr/>
        </p:nvSpPr>
        <p:spPr>
          <a:xfrm>
            <a:off x="7635240" y="3646963"/>
            <a:ext cx="3611882" cy="42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7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Proprietary sims that </a:t>
            </a:r>
            <a:r>
              <a:rPr b="1">
                <a:solidFill>
                  <a:srgbClr val="D3FD51"/>
                </a:solidFill>
              </a:rPr>
              <a:t>train focus, composure, decisioning.</a:t>
            </a:r>
          </a:p>
        </p:txBody>
      </p:sp>
      <p:sp>
        <p:nvSpPr>
          <p:cNvPr id="194" name="Shape 13"/>
          <p:cNvSpPr/>
          <p:nvPr/>
        </p:nvSpPr>
        <p:spPr>
          <a:xfrm>
            <a:off x="822960" y="4526279"/>
            <a:ext cx="5074921" cy="1554482"/>
          </a:xfrm>
          <a:prstGeom prst="roundRect">
            <a:avLst>
              <a:gd name="adj" fmla="val 7059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5" name="Shape 14"/>
          <p:cNvSpPr/>
          <p:nvPr/>
        </p:nvSpPr>
        <p:spPr>
          <a:xfrm>
            <a:off x="1115566" y="4846320"/>
            <a:ext cx="822963" cy="822963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9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7766" y="5068518"/>
            <a:ext cx="378564" cy="378564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 15"/>
          <p:cNvSpPr txBox="1"/>
          <p:nvPr/>
        </p:nvSpPr>
        <p:spPr>
          <a:xfrm>
            <a:off x="2148838" y="4899588"/>
            <a:ext cx="356616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Clinical partner routing</a:t>
            </a:r>
          </a:p>
        </p:txBody>
      </p:sp>
      <p:sp>
        <p:nvSpPr>
          <p:cNvPr id="198" name="Text 16"/>
          <p:cNvSpPr txBox="1"/>
          <p:nvPr/>
        </p:nvSpPr>
        <p:spPr>
          <a:xfrm>
            <a:off x="2148838" y="5492274"/>
            <a:ext cx="3611883" cy="20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7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real </a:t>
            </a:r>
            <a:r>
              <a:rPr b="1">
                <a:solidFill>
                  <a:srgbClr val="D2FC51"/>
                </a:solidFill>
              </a:rPr>
              <a:t>care pathway through AuntEDNA.ai.</a:t>
            </a:r>
          </a:p>
        </p:txBody>
      </p:sp>
      <p:sp>
        <p:nvSpPr>
          <p:cNvPr id="199" name="Shape 17"/>
          <p:cNvSpPr/>
          <p:nvPr/>
        </p:nvSpPr>
        <p:spPr>
          <a:xfrm>
            <a:off x="6309359" y="4526279"/>
            <a:ext cx="5074921" cy="1554482"/>
          </a:xfrm>
          <a:prstGeom prst="roundRect">
            <a:avLst>
              <a:gd name="adj" fmla="val 7059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0" name="Shape 18"/>
          <p:cNvSpPr/>
          <p:nvPr/>
        </p:nvSpPr>
        <p:spPr>
          <a:xfrm>
            <a:off x="6601968" y="4846320"/>
            <a:ext cx="822963" cy="822963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201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24167" y="5068518"/>
            <a:ext cx="378564" cy="378564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Text 19"/>
          <p:cNvSpPr txBox="1"/>
          <p:nvPr/>
        </p:nvSpPr>
        <p:spPr>
          <a:xfrm>
            <a:off x="7635240" y="4899588"/>
            <a:ext cx="3566160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Institutional workflow</a:t>
            </a:r>
          </a:p>
        </p:txBody>
      </p:sp>
      <p:sp>
        <p:nvSpPr>
          <p:cNvPr id="203" name="Text 20"/>
          <p:cNvSpPr txBox="1"/>
          <p:nvPr/>
        </p:nvSpPr>
        <p:spPr>
          <a:xfrm>
            <a:off x="7635240" y="5384324"/>
            <a:ext cx="3611882" cy="42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7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Built for how athletic departments actually </a:t>
            </a:r>
            <a:r>
              <a:rPr b="1">
                <a:solidFill>
                  <a:srgbClr val="D3FD51"/>
                </a:solidFill>
              </a:rPr>
              <a:t>buy and run.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822960" y="566927"/>
            <a:ext cx="208026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6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7" name="Text 2"/>
          <p:cNvSpPr txBox="1"/>
          <p:nvPr/>
        </p:nvSpPr>
        <p:spPr>
          <a:xfrm>
            <a:off x="1152144" y="691178"/>
            <a:ext cx="171450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PROOF IN MOTION</a:t>
            </a:r>
          </a:p>
        </p:txBody>
      </p:sp>
      <p:sp>
        <p:nvSpPr>
          <p:cNvPr id="208" name="Text 3"/>
          <p:cNvSpPr txBox="1"/>
          <p:nvPr/>
        </p:nvSpPr>
        <p:spPr>
          <a:xfrm>
            <a:off x="822960" y="1599865"/>
            <a:ext cx="10515601" cy="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400"/>
              </a:lnSpc>
              <a:defRPr b="1" sz="38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Three paid pilots, on real campuses.</a:t>
            </a:r>
          </a:p>
        </p:txBody>
      </p:sp>
      <p:pic>
        <p:nvPicPr>
          <p:cNvPr id="20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2148838"/>
            <a:ext cx="2743202" cy="3703324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Shape 4"/>
          <p:cNvSpPr/>
          <p:nvPr/>
        </p:nvSpPr>
        <p:spPr>
          <a:xfrm>
            <a:off x="822960" y="5440679"/>
            <a:ext cx="2743202" cy="411482"/>
          </a:xfrm>
          <a:prstGeom prst="roundRect">
            <a:avLst>
              <a:gd name="adj" fmla="val 13333"/>
            </a:avLst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1" name="Text 5"/>
          <p:cNvSpPr txBox="1"/>
          <p:nvPr/>
        </p:nvSpPr>
        <p:spPr>
          <a:xfrm>
            <a:off x="960119" y="5578647"/>
            <a:ext cx="256032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0A0B0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NAKYALA  ·  CLARK ATLANTA</a:t>
            </a:r>
          </a:p>
        </p:txBody>
      </p:sp>
      <p:sp>
        <p:nvSpPr>
          <p:cNvPr id="212" name="Text 6"/>
          <p:cNvSpPr txBox="1"/>
          <p:nvPr/>
        </p:nvSpPr>
        <p:spPr>
          <a:xfrm>
            <a:off x="3886199" y="2367339"/>
            <a:ext cx="7498083" cy="56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2300"/>
              </a:lnSpc>
              <a:defRPr sz="16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Three approved paid pilots — </a:t>
            </a:r>
            <a:r>
              <a:rPr b="1">
                <a:solidFill>
                  <a:srgbClr val="D3FD51"/>
                </a:solidFill>
              </a:rPr>
              <a:t>Clark Atlanta</a:t>
            </a:r>
            <a:r>
              <a:rPr>
                <a:solidFill>
                  <a:srgbClr val="D3FD51"/>
                </a:solidFill>
              </a:rPr>
              <a:t>, </a:t>
            </a:r>
            <a:r>
              <a:rPr b="1">
                <a:solidFill>
                  <a:srgbClr val="D3FD51"/>
                </a:solidFill>
              </a:rPr>
              <a:t>DePaul, and UMES. Worcester State </a:t>
            </a:r>
            <a:r>
              <a:t>and the </a:t>
            </a:r>
            <a:r>
              <a:rPr b="1">
                <a:solidFill>
                  <a:srgbClr val="D3FD51"/>
                </a:solidFill>
              </a:rPr>
              <a:t>New England Patriots </a:t>
            </a:r>
            <a:r>
              <a:t>are in active conversation.</a:t>
            </a:r>
          </a:p>
        </p:txBody>
      </p:sp>
      <p:sp>
        <p:nvSpPr>
          <p:cNvPr id="213" name="Shape 7"/>
          <p:cNvSpPr/>
          <p:nvPr/>
        </p:nvSpPr>
        <p:spPr>
          <a:xfrm>
            <a:off x="3886200" y="3246120"/>
            <a:ext cx="2395728" cy="1371602"/>
          </a:xfrm>
          <a:prstGeom prst="roundRect">
            <a:avLst>
              <a:gd name="adj" fmla="val 8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4" name="Text 8"/>
          <p:cNvSpPr txBox="1"/>
          <p:nvPr/>
        </p:nvSpPr>
        <p:spPr>
          <a:xfrm>
            <a:off x="4142232" y="3486355"/>
            <a:ext cx="2011680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15" name="Text 9"/>
          <p:cNvSpPr txBox="1"/>
          <p:nvPr/>
        </p:nvSpPr>
        <p:spPr>
          <a:xfrm>
            <a:off x="4142232" y="4115237"/>
            <a:ext cx="2057402" cy="18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approved paid pilots</a:t>
            </a:r>
          </a:p>
        </p:txBody>
      </p:sp>
      <p:sp>
        <p:nvSpPr>
          <p:cNvPr id="216" name="Shape 10"/>
          <p:cNvSpPr/>
          <p:nvPr/>
        </p:nvSpPr>
        <p:spPr>
          <a:xfrm>
            <a:off x="6428232" y="3246120"/>
            <a:ext cx="2395730" cy="1371602"/>
          </a:xfrm>
          <a:prstGeom prst="roundRect">
            <a:avLst>
              <a:gd name="adj" fmla="val 8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7" name="Text 11"/>
          <p:cNvSpPr txBox="1"/>
          <p:nvPr/>
        </p:nvSpPr>
        <p:spPr>
          <a:xfrm>
            <a:off x="6684264" y="3486355"/>
            <a:ext cx="2011680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$355</a:t>
            </a:r>
          </a:p>
        </p:txBody>
      </p:sp>
      <p:sp>
        <p:nvSpPr>
          <p:cNvPr id="218" name="Text 12"/>
          <p:cNvSpPr txBox="1"/>
          <p:nvPr/>
        </p:nvSpPr>
        <p:spPr>
          <a:xfrm>
            <a:off x="6684264" y="4115237"/>
            <a:ext cx="2057402" cy="18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 athlete · first 90 days</a:t>
            </a:r>
          </a:p>
        </p:txBody>
      </p:sp>
      <p:sp>
        <p:nvSpPr>
          <p:cNvPr id="219" name="Shape 13"/>
          <p:cNvSpPr/>
          <p:nvPr/>
        </p:nvSpPr>
        <p:spPr>
          <a:xfrm>
            <a:off x="8970264" y="3246120"/>
            <a:ext cx="2395730" cy="1371602"/>
          </a:xfrm>
          <a:prstGeom prst="roundRect">
            <a:avLst>
              <a:gd name="adj" fmla="val 8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0" name="Text 14"/>
          <p:cNvSpPr txBox="1"/>
          <p:nvPr/>
        </p:nvSpPr>
        <p:spPr>
          <a:xfrm>
            <a:off x="9226295" y="3486355"/>
            <a:ext cx="2011679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$229</a:t>
            </a:r>
          </a:p>
        </p:txBody>
      </p:sp>
      <p:sp>
        <p:nvSpPr>
          <p:cNvPr id="221" name="Text 15"/>
          <p:cNvSpPr txBox="1"/>
          <p:nvPr/>
        </p:nvSpPr>
        <p:spPr>
          <a:xfrm>
            <a:off x="9226294" y="4115237"/>
            <a:ext cx="2057402" cy="18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 athlete · annual continuation</a:t>
            </a:r>
          </a:p>
        </p:txBody>
      </p:sp>
      <p:sp>
        <p:nvSpPr>
          <p:cNvPr id="222" name="Shape 16"/>
          <p:cNvSpPr/>
          <p:nvPr/>
        </p:nvSpPr>
        <p:spPr>
          <a:xfrm>
            <a:off x="3886200" y="4800600"/>
            <a:ext cx="7498082" cy="1051562"/>
          </a:xfrm>
          <a:prstGeom prst="roundRect">
            <a:avLst>
              <a:gd name="adj" fmla="val 10435"/>
            </a:avLst>
          </a:prstGeom>
          <a:solidFill>
            <a:srgbClr val="141619"/>
          </a:solidFill>
          <a:ln w="12700">
            <a:solidFill>
              <a:srgbClr val="C8FF00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22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06240" y="5074920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Text 17"/>
          <p:cNvSpPr txBox="1"/>
          <p:nvPr/>
        </p:nvSpPr>
        <p:spPr>
          <a:xfrm>
            <a:off x="4892040" y="5103145"/>
            <a:ext cx="6309362" cy="446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b="1" sz="1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Why it matters.  </a:t>
            </a:r>
            <a:r>
              <a:rPr b="0">
                <a:solidFill>
                  <a:srgbClr val="C3C8CE"/>
                </a:solidFill>
              </a:rPr>
              <a:t>Three approved pilots prove the product, compliance, and commercial story at once.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7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8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MARKET</a:t>
            </a:r>
          </a:p>
        </p:txBody>
      </p:sp>
      <p:sp>
        <p:nvSpPr>
          <p:cNvPr id="229" name="Text 3"/>
          <p:cNvSpPr txBox="1"/>
          <p:nvPr/>
        </p:nvSpPr>
        <p:spPr>
          <a:xfrm>
            <a:off x="822960" y="1602555"/>
            <a:ext cx="10515601" cy="54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3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 start where compliance is </a:t>
            </a:r>
            <a:r>
              <a:rPr>
                <a:solidFill>
                  <a:srgbClr val="C8FF00"/>
                </a:solidFill>
              </a:rPr>
              <a:t>mandatory.</a:t>
            </a:r>
          </a:p>
        </p:txBody>
      </p:sp>
      <p:sp>
        <p:nvSpPr>
          <p:cNvPr id="230" name="Text 4"/>
          <p:cNvSpPr txBox="1"/>
          <p:nvPr/>
        </p:nvSpPr>
        <p:spPr>
          <a:xfrm>
            <a:off x="841247" y="2220742"/>
            <a:ext cx="100584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Every NCAA school is a required buyer. We land schools first, then expand to the pro and federation tiers.</a:t>
            </a:r>
          </a:p>
        </p:txBody>
      </p:sp>
      <p:sp>
        <p:nvSpPr>
          <p:cNvPr id="231" name="Shape 5"/>
          <p:cNvSpPr/>
          <p:nvPr/>
        </p:nvSpPr>
        <p:spPr>
          <a:xfrm>
            <a:off x="822960" y="2788920"/>
            <a:ext cx="10561320" cy="1691642"/>
          </a:xfrm>
          <a:prstGeom prst="roundRect">
            <a:avLst>
              <a:gd name="adj" fmla="val 6486"/>
            </a:avLst>
          </a:prstGeom>
          <a:solidFill>
            <a:srgbClr val="141619"/>
          </a:solidFill>
          <a:ln w="12700">
            <a:solidFill>
              <a:srgbClr val="C8FF00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2" name="Text 6"/>
          <p:cNvSpPr txBox="1"/>
          <p:nvPr/>
        </p:nvSpPr>
        <p:spPr>
          <a:xfrm>
            <a:off x="1143000" y="3080765"/>
            <a:ext cx="548640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FOCUS  ·  NCAA INSTITUTIONS</a:t>
            </a:r>
          </a:p>
        </p:txBody>
      </p:sp>
      <p:sp>
        <p:nvSpPr>
          <p:cNvPr id="233" name="Text 7"/>
          <p:cNvSpPr txBox="1"/>
          <p:nvPr/>
        </p:nvSpPr>
        <p:spPr>
          <a:xfrm>
            <a:off x="1143000" y="3425878"/>
            <a:ext cx="3200400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1,100+</a:t>
            </a:r>
          </a:p>
        </p:txBody>
      </p:sp>
      <p:sp>
        <p:nvSpPr>
          <p:cNvPr id="234" name="Text 8"/>
          <p:cNvSpPr txBox="1"/>
          <p:nvPr/>
        </p:nvSpPr>
        <p:spPr>
          <a:xfrm>
            <a:off x="1188719" y="4142692"/>
            <a:ext cx="310896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NCAA member schools</a:t>
            </a:r>
          </a:p>
        </p:txBody>
      </p:sp>
      <p:sp>
        <p:nvSpPr>
          <p:cNvPr id="235" name="Text 9"/>
          <p:cNvSpPr txBox="1"/>
          <p:nvPr/>
        </p:nvSpPr>
        <p:spPr>
          <a:xfrm>
            <a:off x="4572000" y="3425878"/>
            <a:ext cx="3200400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520K+</a:t>
            </a:r>
          </a:p>
        </p:txBody>
      </p:sp>
      <p:sp>
        <p:nvSpPr>
          <p:cNvPr id="236" name="Text 10"/>
          <p:cNvSpPr txBox="1"/>
          <p:nvPr/>
        </p:nvSpPr>
        <p:spPr>
          <a:xfrm>
            <a:off x="4617720" y="4142692"/>
            <a:ext cx="310896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student-athletes</a:t>
            </a:r>
          </a:p>
        </p:txBody>
      </p:sp>
      <p:sp>
        <p:nvSpPr>
          <p:cNvPr id="237" name="Text 11"/>
          <p:cNvSpPr txBox="1"/>
          <p:nvPr/>
        </p:nvSpPr>
        <p:spPr>
          <a:xfrm>
            <a:off x="8001000" y="3425878"/>
            <a:ext cx="3200400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238" name="Text 12"/>
          <p:cNvSpPr txBox="1"/>
          <p:nvPr/>
        </p:nvSpPr>
        <p:spPr>
          <a:xfrm>
            <a:off x="8046718" y="4142692"/>
            <a:ext cx="310896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require mental health support</a:t>
            </a:r>
          </a:p>
        </p:txBody>
      </p:sp>
      <p:sp>
        <p:nvSpPr>
          <p:cNvPr id="239" name="Text 13"/>
          <p:cNvSpPr txBox="1"/>
          <p:nvPr/>
        </p:nvSpPr>
        <p:spPr>
          <a:xfrm>
            <a:off x="841246" y="4772404"/>
            <a:ext cx="5486403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LATER EXPANSION</a:t>
            </a:r>
          </a:p>
        </p:txBody>
      </p:sp>
      <p:sp>
        <p:nvSpPr>
          <p:cNvPr id="240" name="Shape 14"/>
          <p:cNvSpPr/>
          <p:nvPr/>
        </p:nvSpPr>
        <p:spPr>
          <a:xfrm>
            <a:off x="822960" y="5029200"/>
            <a:ext cx="3429002" cy="914400"/>
          </a:xfrm>
          <a:prstGeom prst="roundRect">
            <a:avLst>
              <a:gd name="adj" fmla="val 12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1" name="Shape 15"/>
          <p:cNvSpPr/>
          <p:nvPr/>
        </p:nvSpPr>
        <p:spPr>
          <a:xfrm>
            <a:off x="1078991" y="5230367"/>
            <a:ext cx="502923" cy="502923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24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14780" y="5366156"/>
            <a:ext cx="231345" cy="231345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Text 16"/>
          <p:cNvSpPr txBox="1"/>
          <p:nvPr/>
        </p:nvSpPr>
        <p:spPr>
          <a:xfrm>
            <a:off x="1737360" y="5236831"/>
            <a:ext cx="237744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Professional teams</a:t>
            </a:r>
          </a:p>
        </p:txBody>
      </p:sp>
      <p:sp>
        <p:nvSpPr>
          <p:cNvPr id="244" name="Text 17"/>
          <p:cNvSpPr txBox="1"/>
          <p:nvPr/>
        </p:nvSpPr>
        <p:spPr>
          <a:xfrm>
            <a:off x="1737360" y="5572504"/>
            <a:ext cx="242316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After NCAA proof</a:t>
            </a:r>
          </a:p>
        </p:txBody>
      </p:sp>
      <p:sp>
        <p:nvSpPr>
          <p:cNvPr id="245" name="Shape 18"/>
          <p:cNvSpPr/>
          <p:nvPr/>
        </p:nvSpPr>
        <p:spPr>
          <a:xfrm>
            <a:off x="4535423" y="5029200"/>
            <a:ext cx="3429002" cy="914400"/>
          </a:xfrm>
          <a:prstGeom prst="roundRect">
            <a:avLst>
              <a:gd name="adj" fmla="val 12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6" name="Shape 19"/>
          <p:cNvSpPr/>
          <p:nvPr/>
        </p:nvSpPr>
        <p:spPr>
          <a:xfrm>
            <a:off x="4791454" y="5230367"/>
            <a:ext cx="502923" cy="502923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24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27243" y="5366156"/>
            <a:ext cx="231345" cy="231345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Text 20"/>
          <p:cNvSpPr txBox="1"/>
          <p:nvPr/>
        </p:nvSpPr>
        <p:spPr>
          <a:xfrm>
            <a:off x="5449823" y="5236831"/>
            <a:ext cx="237744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Federations &amp; NGBs</a:t>
            </a:r>
          </a:p>
        </p:txBody>
      </p:sp>
      <p:sp>
        <p:nvSpPr>
          <p:cNvPr id="249" name="Text 21"/>
          <p:cNvSpPr txBox="1"/>
          <p:nvPr/>
        </p:nvSpPr>
        <p:spPr>
          <a:xfrm>
            <a:off x="5449823" y="5572504"/>
            <a:ext cx="242316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National team pipelines</a:t>
            </a:r>
          </a:p>
        </p:txBody>
      </p:sp>
      <p:sp>
        <p:nvSpPr>
          <p:cNvPr id="250" name="Shape 22"/>
          <p:cNvSpPr/>
          <p:nvPr/>
        </p:nvSpPr>
        <p:spPr>
          <a:xfrm>
            <a:off x="8247888" y="5029200"/>
            <a:ext cx="3429002" cy="914400"/>
          </a:xfrm>
          <a:prstGeom prst="roundRect">
            <a:avLst>
              <a:gd name="adj" fmla="val 12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1" name="Shape 23"/>
          <p:cNvSpPr/>
          <p:nvPr/>
        </p:nvSpPr>
        <p:spPr>
          <a:xfrm>
            <a:off x="8503918" y="5230367"/>
            <a:ext cx="502923" cy="502923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25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39708" y="5366156"/>
            <a:ext cx="231345" cy="231345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Text 24"/>
          <p:cNvSpPr txBox="1"/>
          <p:nvPr/>
        </p:nvSpPr>
        <p:spPr>
          <a:xfrm>
            <a:off x="9162288" y="5236831"/>
            <a:ext cx="237744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Leagues</a:t>
            </a:r>
          </a:p>
        </p:txBody>
      </p:sp>
      <p:sp>
        <p:nvSpPr>
          <p:cNvPr id="254" name="Text 25"/>
          <p:cNvSpPr txBox="1"/>
          <p:nvPr/>
        </p:nvSpPr>
        <p:spPr>
          <a:xfrm>
            <a:off x="9162288" y="5572504"/>
            <a:ext cx="242316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League-wide deals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7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8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GO-TO-MARKET</a:t>
            </a:r>
          </a:p>
        </p:txBody>
      </p:sp>
      <p:sp>
        <p:nvSpPr>
          <p:cNvPr id="259" name="Text 3"/>
          <p:cNvSpPr txBox="1"/>
          <p:nvPr/>
        </p:nvSpPr>
        <p:spPr>
          <a:xfrm>
            <a:off x="822960" y="1605246"/>
            <a:ext cx="10515601" cy="538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400"/>
              </a:lnSpc>
              <a:defRPr b="1" sz="3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clear path into every athletic department.</a:t>
            </a:r>
          </a:p>
        </p:txBody>
      </p:sp>
      <p:sp>
        <p:nvSpPr>
          <p:cNvPr id="260" name="Text 4"/>
          <p:cNvSpPr txBox="1"/>
          <p:nvPr/>
        </p:nvSpPr>
        <p:spPr>
          <a:xfrm>
            <a:off x="841247" y="2175023"/>
            <a:ext cx="100584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Pilots are paid contracts. We conform the platform to each school, then convert to a continuation contract.</a:t>
            </a:r>
          </a:p>
        </p:txBody>
      </p:sp>
      <p:sp>
        <p:nvSpPr>
          <p:cNvPr id="261" name="Shape 5"/>
          <p:cNvSpPr/>
          <p:nvPr/>
        </p:nvSpPr>
        <p:spPr>
          <a:xfrm>
            <a:off x="822960" y="2788920"/>
            <a:ext cx="2542034" cy="2743202"/>
          </a:xfrm>
          <a:prstGeom prst="roundRect">
            <a:avLst>
              <a:gd name="adj" fmla="val 4317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2" name="Text 6"/>
          <p:cNvSpPr txBox="1"/>
          <p:nvPr/>
        </p:nvSpPr>
        <p:spPr>
          <a:xfrm>
            <a:off x="1097280" y="3059310"/>
            <a:ext cx="91440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63" name="Text 7"/>
          <p:cNvSpPr txBox="1"/>
          <p:nvPr/>
        </p:nvSpPr>
        <p:spPr>
          <a:xfrm>
            <a:off x="1097280" y="3739870"/>
            <a:ext cx="2011679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Paid pilot</a:t>
            </a:r>
          </a:p>
        </p:txBody>
      </p:sp>
      <p:sp>
        <p:nvSpPr>
          <p:cNvPr id="264" name="Text 8"/>
          <p:cNvSpPr txBox="1"/>
          <p:nvPr/>
        </p:nvSpPr>
        <p:spPr>
          <a:xfrm>
            <a:off x="1097280" y="4544421"/>
            <a:ext cx="2057402" cy="420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$355 per athlete for the first 90-day pilot.</a:t>
            </a:r>
          </a:p>
        </p:txBody>
      </p:sp>
      <p:pic>
        <p:nvPicPr>
          <p:cNvPr id="26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83279" y="4023359"/>
            <a:ext cx="237746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Shape 9"/>
          <p:cNvSpPr/>
          <p:nvPr/>
        </p:nvSpPr>
        <p:spPr>
          <a:xfrm>
            <a:off x="3493008" y="2788920"/>
            <a:ext cx="2542034" cy="2743202"/>
          </a:xfrm>
          <a:prstGeom prst="roundRect">
            <a:avLst>
              <a:gd name="adj" fmla="val 4317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7" name="Text 10"/>
          <p:cNvSpPr txBox="1"/>
          <p:nvPr/>
        </p:nvSpPr>
        <p:spPr>
          <a:xfrm>
            <a:off x="3767328" y="3059310"/>
            <a:ext cx="91440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68" name="Text 11"/>
          <p:cNvSpPr txBox="1"/>
          <p:nvPr/>
        </p:nvSpPr>
        <p:spPr>
          <a:xfrm>
            <a:off x="3767328" y="3739870"/>
            <a:ext cx="2011680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Conform</a:t>
            </a:r>
          </a:p>
        </p:txBody>
      </p:sp>
      <p:sp>
        <p:nvSpPr>
          <p:cNvPr id="269" name="Text 12"/>
          <p:cNvSpPr txBox="1"/>
          <p:nvPr/>
        </p:nvSpPr>
        <p:spPr>
          <a:xfrm>
            <a:off x="3767328" y="4544421"/>
            <a:ext cx="2057402" cy="420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Tune Pulse Check to the school's sport and workflow.</a:t>
            </a:r>
          </a:p>
        </p:txBody>
      </p:sp>
      <p:pic>
        <p:nvPicPr>
          <p:cNvPr id="270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53328" y="4023359"/>
            <a:ext cx="237746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Shape 13"/>
          <p:cNvSpPr/>
          <p:nvPr/>
        </p:nvSpPr>
        <p:spPr>
          <a:xfrm>
            <a:off x="6163054" y="2788920"/>
            <a:ext cx="2542035" cy="2743202"/>
          </a:xfrm>
          <a:prstGeom prst="roundRect">
            <a:avLst>
              <a:gd name="adj" fmla="val 4317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2" name="Text 14"/>
          <p:cNvSpPr txBox="1"/>
          <p:nvPr/>
        </p:nvSpPr>
        <p:spPr>
          <a:xfrm>
            <a:off x="6437376" y="3059310"/>
            <a:ext cx="91440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73" name="Text 15"/>
          <p:cNvSpPr txBox="1"/>
          <p:nvPr/>
        </p:nvSpPr>
        <p:spPr>
          <a:xfrm>
            <a:off x="6437376" y="3739870"/>
            <a:ext cx="2011680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Prove</a:t>
            </a:r>
          </a:p>
        </p:txBody>
      </p:sp>
      <p:sp>
        <p:nvSpPr>
          <p:cNvPr id="274" name="Text 16"/>
          <p:cNvSpPr txBox="1"/>
          <p:nvPr/>
        </p:nvSpPr>
        <p:spPr>
          <a:xfrm>
            <a:off x="6437376" y="4544421"/>
            <a:ext cx="2057402" cy="420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90 days of adherence and compliance evidence.</a:t>
            </a:r>
          </a:p>
        </p:txBody>
      </p:sp>
      <p:pic>
        <p:nvPicPr>
          <p:cNvPr id="275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23376" y="4023359"/>
            <a:ext cx="237746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Shape 17"/>
          <p:cNvSpPr/>
          <p:nvPr/>
        </p:nvSpPr>
        <p:spPr>
          <a:xfrm>
            <a:off x="8833104" y="2788920"/>
            <a:ext cx="2542034" cy="2743202"/>
          </a:xfrm>
          <a:prstGeom prst="roundRect">
            <a:avLst>
              <a:gd name="adj" fmla="val 4317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77" name="Text 18"/>
          <p:cNvSpPr txBox="1"/>
          <p:nvPr/>
        </p:nvSpPr>
        <p:spPr>
          <a:xfrm>
            <a:off x="9107423" y="3059310"/>
            <a:ext cx="91440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6FB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78" name="Text 19"/>
          <p:cNvSpPr txBox="1"/>
          <p:nvPr/>
        </p:nvSpPr>
        <p:spPr>
          <a:xfrm>
            <a:off x="9107423" y="3739870"/>
            <a:ext cx="2011680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Convert</a:t>
            </a:r>
          </a:p>
        </p:txBody>
      </p:sp>
      <p:sp>
        <p:nvSpPr>
          <p:cNvPr id="279" name="Text 20"/>
          <p:cNvSpPr txBox="1"/>
          <p:nvPr/>
        </p:nvSpPr>
        <p:spPr>
          <a:xfrm>
            <a:off x="9107423" y="4544421"/>
            <a:ext cx="2057402" cy="420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$229 per athlete annually, department-wide.</a:t>
            </a:r>
          </a:p>
        </p:txBody>
      </p:sp>
      <p:sp>
        <p:nvSpPr>
          <p:cNvPr id="280" name="Text 21"/>
          <p:cNvSpPr txBox="1"/>
          <p:nvPr/>
        </p:nvSpPr>
        <p:spPr>
          <a:xfrm>
            <a:off x="822960" y="5834748"/>
            <a:ext cx="10515601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4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Three approved pilots — Clark Atlanta, DePaul, and UMES — with Worcester State and the New England Patriots in conversation.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822960" y="566927"/>
            <a:ext cx="2368296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3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4" name="Text 2"/>
          <p:cNvSpPr txBox="1"/>
          <p:nvPr/>
        </p:nvSpPr>
        <p:spPr>
          <a:xfrm>
            <a:off x="1152144" y="691178"/>
            <a:ext cx="2002535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CONTRACT ECONOMICS</a:t>
            </a:r>
          </a:p>
        </p:txBody>
      </p:sp>
      <p:sp>
        <p:nvSpPr>
          <p:cNvPr id="285" name="Text 3"/>
          <p:cNvSpPr txBox="1"/>
          <p:nvPr/>
        </p:nvSpPr>
        <p:spPr>
          <a:xfrm>
            <a:off x="822960" y="1599865"/>
            <a:ext cx="10515601" cy="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400"/>
              </a:lnSpc>
              <a:defRPr b="1" sz="38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units that compound.</a:t>
            </a:r>
          </a:p>
        </p:txBody>
      </p:sp>
      <p:sp>
        <p:nvSpPr>
          <p:cNvPr id="286" name="Text 4"/>
          <p:cNvSpPr txBox="1"/>
          <p:nvPr/>
        </p:nvSpPr>
        <p:spPr>
          <a:xfrm>
            <a:off x="841247" y="2220742"/>
            <a:ext cx="100584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Average annual contract value across the NCAA buyer tiers, with pro and federation deals above.</a:t>
            </a:r>
          </a:p>
        </p:txBody>
      </p:sp>
      <p:sp>
        <p:nvSpPr>
          <p:cNvPr id="287" name="Shape 5"/>
          <p:cNvSpPr/>
          <p:nvPr/>
        </p:nvSpPr>
        <p:spPr>
          <a:xfrm>
            <a:off x="822960" y="2834638"/>
            <a:ext cx="2075690" cy="3017524"/>
          </a:xfrm>
          <a:prstGeom prst="roundRect">
            <a:avLst>
              <a:gd name="adj" fmla="val 5286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88" name="Text 6"/>
          <p:cNvSpPr txBox="1"/>
          <p:nvPr/>
        </p:nvSpPr>
        <p:spPr>
          <a:xfrm>
            <a:off x="1024127" y="3100322"/>
            <a:ext cx="1709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9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TIER 1</a:t>
            </a:r>
          </a:p>
        </p:txBody>
      </p:sp>
      <p:sp>
        <p:nvSpPr>
          <p:cNvPr id="289" name="Text 7"/>
          <p:cNvSpPr txBox="1"/>
          <p:nvPr/>
        </p:nvSpPr>
        <p:spPr>
          <a:xfrm>
            <a:off x="1024127" y="3517196"/>
            <a:ext cx="1709930" cy="225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D2 / D3</a:t>
            </a:r>
          </a:p>
        </p:txBody>
      </p:sp>
      <p:sp>
        <p:nvSpPr>
          <p:cNvPr id="290" name="Text 8"/>
          <p:cNvSpPr txBox="1"/>
          <p:nvPr/>
        </p:nvSpPr>
        <p:spPr>
          <a:xfrm>
            <a:off x="1024128" y="4679648"/>
            <a:ext cx="1755648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$5–10K</a:t>
            </a:r>
          </a:p>
        </p:txBody>
      </p:sp>
      <p:sp>
        <p:nvSpPr>
          <p:cNvPr id="291" name="Text 9"/>
          <p:cNvSpPr txBox="1"/>
          <p:nvPr/>
        </p:nvSpPr>
        <p:spPr>
          <a:xfrm>
            <a:off x="1024127" y="5374390"/>
            <a:ext cx="1728219" cy="16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Fastest close, highest volume</a:t>
            </a:r>
          </a:p>
        </p:txBody>
      </p:sp>
      <p:sp>
        <p:nvSpPr>
          <p:cNvPr id="292" name="Shape 10"/>
          <p:cNvSpPr/>
          <p:nvPr/>
        </p:nvSpPr>
        <p:spPr>
          <a:xfrm>
            <a:off x="3081527" y="2834638"/>
            <a:ext cx="2075690" cy="3017524"/>
          </a:xfrm>
          <a:prstGeom prst="roundRect">
            <a:avLst>
              <a:gd name="adj" fmla="val 5286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3" name="Text 11"/>
          <p:cNvSpPr txBox="1"/>
          <p:nvPr/>
        </p:nvSpPr>
        <p:spPr>
          <a:xfrm>
            <a:off x="3282696" y="3100322"/>
            <a:ext cx="1709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9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TIER 2</a:t>
            </a:r>
          </a:p>
        </p:txBody>
      </p:sp>
      <p:sp>
        <p:nvSpPr>
          <p:cNvPr id="294" name="Text 12"/>
          <p:cNvSpPr txBox="1"/>
          <p:nvPr/>
        </p:nvSpPr>
        <p:spPr>
          <a:xfrm>
            <a:off x="3282696" y="3517196"/>
            <a:ext cx="1709930" cy="225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Mid-Major</a:t>
            </a:r>
          </a:p>
        </p:txBody>
      </p:sp>
      <p:sp>
        <p:nvSpPr>
          <p:cNvPr id="295" name="Text 13"/>
          <p:cNvSpPr txBox="1"/>
          <p:nvPr/>
        </p:nvSpPr>
        <p:spPr>
          <a:xfrm>
            <a:off x="3282696" y="4679648"/>
            <a:ext cx="1755650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$10–20K</a:t>
            </a:r>
          </a:p>
        </p:txBody>
      </p:sp>
      <p:sp>
        <p:nvSpPr>
          <p:cNvPr id="296" name="Text 14"/>
          <p:cNvSpPr txBox="1"/>
          <p:nvPr/>
        </p:nvSpPr>
        <p:spPr>
          <a:xfrm>
            <a:off x="3282696" y="5374390"/>
            <a:ext cx="1728218" cy="16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~350–450 athletes</a:t>
            </a:r>
          </a:p>
        </p:txBody>
      </p:sp>
      <p:sp>
        <p:nvSpPr>
          <p:cNvPr id="297" name="Shape 15"/>
          <p:cNvSpPr/>
          <p:nvPr/>
        </p:nvSpPr>
        <p:spPr>
          <a:xfrm>
            <a:off x="5340096" y="2834638"/>
            <a:ext cx="2075690" cy="3017524"/>
          </a:xfrm>
          <a:prstGeom prst="roundRect">
            <a:avLst>
              <a:gd name="adj" fmla="val 5286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98" name="Text 16"/>
          <p:cNvSpPr txBox="1"/>
          <p:nvPr/>
        </p:nvSpPr>
        <p:spPr>
          <a:xfrm>
            <a:off x="5541264" y="3100322"/>
            <a:ext cx="1709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9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TIER 3</a:t>
            </a:r>
          </a:p>
        </p:txBody>
      </p:sp>
      <p:sp>
        <p:nvSpPr>
          <p:cNvPr id="299" name="Text 17"/>
          <p:cNvSpPr txBox="1"/>
          <p:nvPr/>
        </p:nvSpPr>
        <p:spPr>
          <a:xfrm>
            <a:off x="5541264" y="3517196"/>
            <a:ext cx="1709930" cy="225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Power Four</a:t>
            </a:r>
          </a:p>
        </p:txBody>
      </p:sp>
      <p:sp>
        <p:nvSpPr>
          <p:cNvPr id="300" name="Text 18"/>
          <p:cNvSpPr txBox="1"/>
          <p:nvPr/>
        </p:nvSpPr>
        <p:spPr>
          <a:xfrm>
            <a:off x="5541264" y="4679648"/>
            <a:ext cx="1755649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$40–80K</a:t>
            </a:r>
          </a:p>
        </p:txBody>
      </p:sp>
      <p:sp>
        <p:nvSpPr>
          <p:cNvPr id="301" name="Text 19"/>
          <p:cNvSpPr txBox="1"/>
          <p:nvPr/>
        </p:nvSpPr>
        <p:spPr>
          <a:xfrm>
            <a:off x="5541264" y="5374390"/>
            <a:ext cx="1728218" cy="16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~600–700 athletes</a:t>
            </a:r>
          </a:p>
        </p:txBody>
      </p:sp>
      <p:sp>
        <p:nvSpPr>
          <p:cNvPr id="302" name="Shape 20"/>
          <p:cNvSpPr/>
          <p:nvPr/>
        </p:nvSpPr>
        <p:spPr>
          <a:xfrm>
            <a:off x="7598664" y="2834638"/>
            <a:ext cx="2075690" cy="3017524"/>
          </a:xfrm>
          <a:prstGeom prst="roundRect">
            <a:avLst>
              <a:gd name="adj" fmla="val 5286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3" name="Text 21"/>
          <p:cNvSpPr txBox="1"/>
          <p:nvPr/>
        </p:nvSpPr>
        <p:spPr>
          <a:xfrm>
            <a:off x="7799830" y="3100322"/>
            <a:ext cx="1709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900">
                <a:solidFill>
                  <a:srgbClr val="FF9D4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TIER 4</a:t>
            </a:r>
          </a:p>
        </p:txBody>
      </p:sp>
      <p:sp>
        <p:nvSpPr>
          <p:cNvPr id="304" name="Text 22"/>
          <p:cNvSpPr txBox="1"/>
          <p:nvPr/>
        </p:nvSpPr>
        <p:spPr>
          <a:xfrm>
            <a:off x="7799830" y="3517196"/>
            <a:ext cx="1709930" cy="225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 Team</a:t>
            </a:r>
          </a:p>
        </p:txBody>
      </p:sp>
      <p:sp>
        <p:nvSpPr>
          <p:cNvPr id="305" name="Text 23"/>
          <p:cNvSpPr txBox="1"/>
          <p:nvPr/>
        </p:nvSpPr>
        <p:spPr>
          <a:xfrm>
            <a:off x="7799830" y="4679648"/>
            <a:ext cx="1755650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FF9D4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$100K</a:t>
            </a:r>
          </a:p>
        </p:txBody>
      </p:sp>
      <p:sp>
        <p:nvSpPr>
          <p:cNvPr id="306" name="Text 24"/>
          <p:cNvSpPr txBox="1"/>
          <p:nvPr/>
        </p:nvSpPr>
        <p:spPr>
          <a:xfrm>
            <a:off x="7799830" y="5374390"/>
            <a:ext cx="1728218" cy="16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Roster + practice squad</a:t>
            </a:r>
          </a:p>
        </p:txBody>
      </p:sp>
      <p:sp>
        <p:nvSpPr>
          <p:cNvPr id="307" name="Shape 25"/>
          <p:cNvSpPr/>
          <p:nvPr/>
        </p:nvSpPr>
        <p:spPr>
          <a:xfrm>
            <a:off x="9857230" y="2834638"/>
            <a:ext cx="2075690" cy="3017524"/>
          </a:xfrm>
          <a:prstGeom prst="roundRect">
            <a:avLst>
              <a:gd name="adj" fmla="val 5286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08" name="Text 26"/>
          <p:cNvSpPr txBox="1"/>
          <p:nvPr/>
        </p:nvSpPr>
        <p:spPr>
          <a:xfrm>
            <a:off x="10058400" y="3100322"/>
            <a:ext cx="170992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900">
                <a:solidFill>
                  <a:srgbClr val="FF6FB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TIER 5</a:t>
            </a:r>
          </a:p>
        </p:txBody>
      </p:sp>
      <p:sp>
        <p:nvSpPr>
          <p:cNvPr id="309" name="Text 27"/>
          <p:cNvSpPr txBox="1"/>
          <p:nvPr/>
        </p:nvSpPr>
        <p:spPr>
          <a:xfrm>
            <a:off x="10058400" y="3517196"/>
            <a:ext cx="1709928" cy="225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Federation</a:t>
            </a:r>
          </a:p>
        </p:txBody>
      </p:sp>
      <p:sp>
        <p:nvSpPr>
          <p:cNvPr id="310" name="Text 28"/>
          <p:cNvSpPr txBox="1"/>
          <p:nvPr/>
        </p:nvSpPr>
        <p:spPr>
          <a:xfrm>
            <a:off x="10058400" y="4679648"/>
            <a:ext cx="1755648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FF6FB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$100–250K</a:t>
            </a:r>
          </a:p>
        </p:txBody>
      </p:sp>
      <p:sp>
        <p:nvSpPr>
          <p:cNvPr id="311" name="Text 29"/>
          <p:cNvSpPr txBox="1"/>
          <p:nvPr/>
        </p:nvSpPr>
        <p:spPr>
          <a:xfrm>
            <a:off x="10058400" y="5374390"/>
            <a:ext cx="1728217" cy="16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Scales with athlete pool</a:t>
            </a:r>
          </a:p>
        </p:txBody>
      </p:sp>
      <p:sp>
        <p:nvSpPr>
          <p:cNvPr id="312" name="Text 30"/>
          <p:cNvSpPr txBox="1"/>
          <p:nvPr/>
        </p:nvSpPr>
        <p:spPr>
          <a:xfrm>
            <a:off x="822960" y="6079649"/>
            <a:ext cx="105156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3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NCAA schools are the beachhead. Pro and federation tiers carry the path to scale.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5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16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BEACHHEAD</a:t>
            </a:r>
          </a:p>
        </p:txBody>
      </p:sp>
      <p:sp>
        <p:nvSpPr>
          <p:cNvPr id="317" name="Text 3"/>
          <p:cNvSpPr txBox="1"/>
          <p:nvPr/>
        </p:nvSpPr>
        <p:spPr>
          <a:xfrm>
            <a:off x="822960" y="1599865"/>
            <a:ext cx="10515601" cy="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38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first </a:t>
            </a:r>
            <a:r>
              <a:rPr>
                <a:solidFill>
                  <a:srgbClr val="C8FF00"/>
                </a:solidFill>
              </a:rPr>
              <a:t>$1M</a:t>
            </a:r>
            <a:r>
              <a:t> is already visible.</a:t>
            </a:r>
          </a:p>
        </p:txBody>
      </p:sp>
      <p:sp>
        <p:nvSpPr>
          <p:cNvPr id="318" name="Text 4"/>
          <p:cNvSpPr txBox="1"/>
          <p:nvPr/>
        </p:nvSpPr>
        <p:spPr>
          <a:xfrm>
            <a:off x="841247" y="2220742"/>
            <a:ext cx="100584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Our 12–24 month beachhead is the set of collegiate contracts already in motion, all required buyers.</a:t>
            </a:r>
          </a:p>
        </p:txBody>
      </p:sp>
      <p:sp>
        <p:nvSpPr>
          <p:cNvPr id="319" name="Shape 5"/>
          <p:cNvSpPr/>
          <p:nvPr/>
        </p:nvSpPr>
        <p:spPr>
          <a:xfrm>
            <a:off x="822960" y="2788920"/>
            <a:ext cx="3337560" cy="2377442"/>
          </a:xfrm>
          <a:prstGeom prst="roundRect">
            <a:avLst>
              <a:gd name="adj" fmla="val 4615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0" name="Text 6"/>
          <p:cNvSpPr txBox="1"/>
          <p:nvPr/>
        </p:nvSpPr>
        <p:spPr>
          <a:xfrm>
            <a:off x="1115566" y="3149943"/>
            <a:ext cx="2788923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D2 / D3</a:t>
            </a:r>
          </a:p>
        </p:txBody>
      </p:sp>
      <p:sp>
        <p:nvSpPr>
          <p:cNvPr id="321" name="Text 7"/>
          <p:cNvSpPr txBox="1"/>
          <p:nvPr/>
        </p:nvSpPr>
        <p:spPr>
          <a:xfrm>
            <a:off x="1115566" y="3696067"/>
            <a:ext cx="278892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 × $10K</a:t>
            </a:r>
          </a:p>
        </p:txBody>
      </p:sp>
      <p:sp>
        <p:nvSpPr>
          <p:cNvPr id="322" name="Text 8"/>
          <p:cNvSpPr txBox="1"/>
          <p:nvPr/>
        </p:nvSpPr>
        <p:spPr>
          <a:xfrm>
            <a:off x="1115566" y="4169683"/>
            <a:ext cx="2788923" cy="53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$300K</a:t>
            </a:r>
          </a:p>
        </p:txBody>
      </p:sp>
      <p:sp>
        <p:nvSpPr>
          <p:cNvPr id="323" name="Text 9"/>
          <p:cNvSpPr txBox="1"/>
          <p:nvPr/>
        </p:nvSpPr>
        <p:spPr>
          <a:xfrm>
            <a:off x="1115566" y="4851398"/>
            <a:ext cx="27889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SEGMENT TOTAL</a:t>
            </a:r>
          </a:p>
        </p:txBody>
      </p:sp>
      <p:sp>
        <p:nvSpPr>
          <p:cNvPr id="324" name="Shape 10"/>
          <p:cNvSpPr/>
          <p:nvPr/>
        </p:nvSpPr>
        <p:spPr>
          <a:xfrm>
            <a:off x="4434840" y="2788920"/>
            <a:ext cx="3337560" cy="2377442"/>
          </a:xfrm>
          <a:prstGeom prst="roundRect">
            <a:avLst>
              <a:gd name="adj" fmla="val 4615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25" name="Text 11"/>
          <p:cNvSpPr txBox="1"/>
          <p:nvPr/>
        </p:nvSpPr>
        <p:spPr>
          <a:xfrm>
            <a:off x="4727447" y="3149943"/>
            <a:ext cx="278892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Mid-Major</a:t>
            </a:r>
          </a:p>
        </p:txBody>
      </p:sp>
      <p:sp>
        <p:nvSpPr>
          <p:cNvPr id="326" name="Text 12"/>
          <p:cNvSpPr txBox="1"/>
          <p:nvPr/>
        </p:nvSpPr>
        <p:spPr>
          <a:xfrm>
            <a:off x="4727447" y="3696067"/>
            <a:ext cx="278892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 × $20K</a:t>
            </a:r>
          </a:p>
        </p:txBody>
      </p:sp>
      <p:sp>
        <p:nvSpPr>
          <p:cNvPr id="327" name="Text 13"/>
          <p:cNvSpPr txBox="1"/>
          <p:nvPr/>
        </p:nvSpPr>
        <p:spPr>
          <a:xfrm>
            <a:off x="4727447" y="4169683"/>
            <a:ext cx="2788922" cy="53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$400K</a:t>
            </a:r>
          </a:p>
        </p:txBody>
      </p:sp>
      <p:sp>
        <p:nvSpPr>
          <p:cNvPr id="328" name="Text 14"/>
          <p:cNvSpPr txBox="1"/>
          <p:nvPr/>
        </p:nvSpPr>
        <p:spPr>
          <a:xfrm>
            <a:off x="4727447" y="4851398"/>
            <a:ext cx="2788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SEGMENT TOTAL</a:t>
            </a:r>
          </a:p>
        </p:txBody>
      </p:sp>
      <p:sp>
        <p:nvSpPr>
          <p:cNvPr id="329" name="Shape 15"/>
          <p:cNvSpPr/>
          <p:nvPr/>
        </p:nvSpPr>
        <p:spPr>
          <a:xfrm>
            <a:off x="8046718" y="2788920"/>
            <a:ext cx="3337562" cy="2377442"/>
          </a:xfrm>
          <a:prstGeom prst="roundRect">
            <a:avLst>
              <a:gd name="adj" fmla="val 4615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0" name="Text 16"/>
          <p:cNvSpPr txBox="1"/>
          <p:nvPr/>
        </p:nvSpPr>
        <p:spPr>
          <a:xfrm>
            <a:off x="8339328" y="3149943"/>
            <a:ext cx="278892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Power Four</a:t>
            </a:r>
          </a:p>
        </p:txBody>
      </p:sp>
      <p:sp>
        <p:nvSpPr>
          <p:cNvPr id="331" name="Text 17"/>
          <p:cNvSpPr txBox="1"/>
          <p:nvPr/>
        </p:nvSpPr>
        <p:spPr>
          <a:xfrm>
            <a:off x="8339328" y="3696067"/>
            <a:ext cx="278892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 × $75K</a:t>
            </a:r>
          </a:p>
        </p:txBody>
      </p:sp>
      <p:sp>
        <p:nvSpPr>
          <p:cNvPr id="332" name="Text 18"/>
          <p:cNvSpPr txBox="1"/>
          <p:nvPr/>
        </p:nvSpPr>
        <p:spPr>
          <a:xfrm>
            <a:off x="8339328" y="4169683"/>
            <a:ext cx="2788922" cy="53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$300K</a:t>
            </a:r>
          </a:p>
        </p:txBody>
      </p:sp>
      <p:sp>
        <p:nvSpPr>
          <p:cNvPr id="333" name="Text 19"/>
          <p:cNvSpPr txBox="1"/>
          <p:nvPr/>
        </p:nvSpPr>
        <p:spPr>
          <a:xfrm>
            <a:off x="8339328" y="4851398"/>
            <a:ext cx="2788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SEGMENT TOTAL</a:t>
            </a:r>
          </a:p>
        </p:txBody>
      </p:sp>
      <p:sp>
        <p:nvSpPr>
          <p:cNvPr id="334" name="Shape 20"/>
          <p:cNvSpPr/>
          <p:nvPr/>
        </p:nvSpPr>
        <p:spPr>
          <a:xfrm>
            <a:off x="822960" y="5349240"/>
            <a:ext cx="10561320" cy="914402"/>
          </a:xfrm>
          <a:prstGeom prst="roundRect">
            <a:avLst>
              <a:gd name="adj" fmla="val 12000"/>
            </a:avLst>
          </a:prstGeom>
          <a:solidFill>
            <a:srgbClr val="141619"/>
          </a:solidFill>
          <a:ln w="12700">
            <a:solidFill>
              <a:srgbClr val="C8FF00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5" name="Text 21"/>
          <p:cNvSpPr txBox="1"/>
          <p:nvPr/>
        </p:nvSpPr>
        <p:spPr>
          <a:xfrm>
            <a:off x="1143000" y="5713889"/>
            <a:ext cx="640080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54 CONTRACTS  ·  12–24 MONTH BEACHHEAD</a:t>
            </a:r>
          </a:p>
        </p:txBody>
      </p:sp>
      <p:sp>
        <p:nvSpPr>
          <p:cNvPr id="336" name="Text 22"/>
          <p:cNvSpPr txBox="1"/>
          <p:nvPr/>
        </p:nvSpPr>
        <p:spPr>
          <a:xfrm>
            <a:off x="8229600" y="5541283"/>
            <a:ext cx="2834640" cy="53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8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$1.0M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822960" y="566927"/>
            <a:ext cx="208026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39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0" name="Text 2"/>
          <p:cNvSpPr txBox="1"/>
          <p:nvPr/>
        </p:nvSpPr>
        <p:spPr>
          <a:xfrm>
            <a:off x="1152144" y="691178"/>
            <a:ext cx="171450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REVENUE ROADMAP</a:t>
            </a:r>
          </a:p>
        </p:txBody>
      </p:sp>
      <p:sp>
        <p:nvSpPr>
          <p:cNvPr id="341" name="Text 3"/>
          <p:cNvSpPr txBox="1"/>
          <p:nvPr/>
        </p:nvSpPr>
        <p:spPr>
          <a:xfrm>
            <a:off x="822960" y="1599865"/>
            <a:ext cx="10515601" cy="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38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visible path to </a:t>
            </a:r>
            <a:r>
              <a:rPr>
                <a:solidFill>
                  <a:srgbClr val="C8FF00"/>
                </a:solidFill>
              </a:rPr>
              <a:t>$100M ARR.</a:t>
            </a:r>
          </a:p>
        </p:txBody>
      </p:sp>
      <p:sp>
        <p:nvSpPr>
          <p:cNvPr id="342" name="Text 4"/>
          <p:cNvSpPr txBox="1"/>
          <p:nvPr/>
        </p:nvSpPr>
        <p:spPr>
          <a:xfrm>
            <a:off x="841247" y="2220742"/>
            <a:ext cx="100584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Prove Pulse Check in every NCAA tier in Years 1–2, then scale through pro, federation, and league deals.</a:t>
            </a:r>
          </a:p>
        </p:txBody>
      </p:sp>
      <p:sp>
        <p:nvSpPr>
          <p:cNvPr id="343" name="Shape 5"/>
          <p:cNvSpPr/>
          <p:nvPr/>
        </p:nvSpPr>
        <p:spPr>
          <a:xfrm>
            <a:off x="822960" y="2788920"/>
            <a:ext cx="5074921" cy="3246122"/>
          </a:xfrm>
          <a:prstGeom prst="roundRect">
            <a:avLst>
              <a:gd name="adj" fmla="val 338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4" name="Text 6"/>
          <p:cNvSpPr txBox="1"/>
          <p:nvPr/>
        </p:nvSpPr>
        <p:spPr>
          <a:xfrm>
            <a:off x="1143000" y="3080765"/>
            <a:ext cx="365760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YEARS 1–2  ·  PROVE IT</a:t>
            </a:r>
          </a:p>
        </p:txBody>
      </p:sp>
      <p:sp>
        <p:nvSpPr>
          <p:cNvPr id="345" name="Text 7"/>
          <p:cNvSpPr txBox="1"/>
          <p:nvPr/>
        </p:nvSpPr>
        <p:spPr>
          <a:xfrm>
            <a:off x="1143000" y="3356492"/>
            <a:ext cx="438912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~$1.0M ARR</a:t>
            </a:r>
          </a:p>
        </p:txBody>
      </p:sp>
      <p:sp>
        <p:nvSpPr>
          <p:cNvPr id="346" name="Text 8"/>
          <p:cNvSpPr txBox="1"/>
          <p:nvPr/>
        </p:nvSpPr>
        <p:spPr>
          <a:xfrm>
            <a:off x="1142998" y="4154456"/>
            <a:ext cx="4434844" cy="4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Land anchor contracts across every NCAA tier. Validate the product, build case studies, establish compliance credibility.</a:t>
            </a:r>
          </a:p>
        </p:txBody>
      </p:sp>
      <p:sp>
        <p:nvSpPr>
          <p:cNvPr id="347" name="Text 9"/>
          <p:cNvSpPr txBox="1"/>
          <p:nvPr/>
        </p:nvSpPr>
        <p:spPr>
          <a:xfrm>
            <a:off x="1143000" y="5516809"/>
            <a:ext cx="43891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54 contracts</a:t>
            </a:r>
          </a:p>
        </p:txBody>
      </p:sp>
      <p:sp>
        <p:nvSpPr>
          <p:cNvPr id="348" name="Shape 10"/>
          <p:cNvSpPr/>
          <p:nvPr/>
        </p:nvSpPr>
        <p:spPr>
          <a:xfrm>
            <a:off x="6309359" y="2788920"/>
            <a:ext cx="5074921" cy="3246122"/>
          </a:xfrm>
          <a:prstGeom prst="roundRect">
            <a:avLst>
              <a:gd name="adj" fmla="val 3380"/>
            </a:avLst>
          </a:prstGeom>
          <a:solidFill>
            <a:srgbClr val="141619"/>
          </a:solidFill>
          <a:ln w="12700">
            <a:solidFill>
              <a:srgbClr val="C8FF00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49" name="Text 11"/>
          <p:cNvSpPr txBox="1"/>
          <p:nvPr/>
        </p:nvSpPr>
        <p:spPr>
          <a:xfrm>
            <a:off x="6629400" y="3080765"/>
            <a:ext cx="365760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YEARS 3–5  ·  SCALE</a:t>
            </a:r>
          </a:p>
        </p:txBody>
      </p:sp>
      <p:sp>
        <p:nvSpPr>
          <p:cNvPr id="350" name="Text 12"/>
          <p:cNvSpPr txBox="1"/>
          <p:nvPr/>
        </p:nvSpPr>
        <p:spPr>
          <a:xfrm>
            <a:off x="6629400" y="3356492"/>
            <a:ext cx="4389121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$100M+ ARR</a:t>
            </a:r>
          </a:p>
        </p:txBody>
      </p:sp>
      <p:sp>
        <p:nvSpPr>
          <p:cNvPr id="351" name="Text 13"/>
          <p:cNvSpPr txBox="1"/>
          <p:nvPr/>
        </p:nvSpPr>
        <p:spPr>
          <a:xfrm>
            <a:off x="6629400" y="4033806"/>
            <a:ext cx="4434841" cy="71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Saturate the NCAA (~1,000 schools, ~$15M ARR), then layer the high-ACV tiers — ~150 pro teams, ~80 federations, and league-wide platform deals — to clear $100M+.</a:t>
            </a:r>
          </a:p>
        </p:txBody>
      </p:sp>
      <p:sp>
        <p:nvSpPr>
          <p:cNvPr id="352" name="Text 14"/>
          <p:cNvSpPr txBox="1"/>
          <p:nvPr/>
        </p:nvSpPr>
        <p:spPr>
          <a:xfrm>
            <a:off x="6629400" y="5383458"/>
            <a:ext cx="4389121" cy="525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NCAA ~$15M  ·  pro + federation + league ~$85M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5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6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TEAM</a:t>
            </a:r>
          </a:p>
        </p:txBody>
      </p:sp>
      <p:sp>
        <p:nvSpPr>
          <p:cNvPr id="357" name="Text 3"/>
          <p:cNvSpPr txBox="1"/>
          <p:nvPr/>
        </p:nvSpPr>
        <p:spPr>
          <a:xfrm>
            <a:off x="822960" y="1397118"/>
            <a:ext cx="10515601" cy="954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3800"/>
              </a:lnSpc>
              <a:defRPr b="1" sz="32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Operators who know </a:t>
            </a:r>
            <a:r>
              <a:rPr>
                <a:solidFill>
                  <a:srgbClr val="C8FF00"/>
                </a:solidFill>
              </a:rPr>
              <a:t>software, athletes, and clinical trust.</a:t>
            </a:r>
          </a:p>
        </p:txBody>
      </p:sp>
      <p:sp>
        <p:nvSpPr>
          <p:cNvPr id="358" name="Shape 4"/>
          <p:cNvSpPr/>
          <p:nvPr/>
        </p:nvSpPr>
        <p:spPr>
          <a:xfrm>
            <a:off x="822960" y="2331720"/>
            <a:ext cx="3429002" cy="2468880"/>
          </a:xfrm>
          <a:prstGeom prst="roundRect">
            <a:avLst>
              <a:gd name="adj" fmla="val 4444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59" name="Text 5"/>
          <p:cNvSpPr txBox="1"/>
          <p:nvPr/>
        </p:nvSpPr>
        <p:spPr>
          <a:xfrm>
            <a:off x="1097278" y="3456128"/>
            <a:ext cx="2926083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Tremaine Grant</a:t>
            </a:r>
          </a:p>
        </p:txBody>
      </p:sp>
      <p:sp>
        <p:nvSpPr>
          <p:cNvPr id="360" name="Text 6"/>
          <p:cNvSpPr txBox="1"/>
          <p:nvPr/>
        </p:nvSpPr>
        <p:spPr>
          <a:xfrm>
            <a:off x="1097278" y="3829387"/>
            <a:ext cx="292608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FOUNDER &amp; CEO</a:t>
            </a:r>
          </a:p>
        </p:txBody>
      </p:sp>
      <p:sp>
        <p:nvSpPr>
          <p:cNvPr id="361" name="Text 7"/>
          <p:cNvSpPr txBox="1"/>
          <p:nvPr/>
        </p:nvSpPr>
        <p:spPr>
          <a:xfrm>
            <a:off x="1097280" y="4064112"/>
            <a:ext cx="2971802" cy="672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Principal full-stack engineer, deep in AI, with a decade in clinical research. D1 athlete at FSU. </a:t>
            </a:r>
          </a:p>
        </p:txBody>
      </p:sp>
      <p:sp>
        <p:nvSpPr>
          <p:cNvPr id="362" name="Shape 8"/>
          <p:cNvSpPr/>
          <p:nvPr/>
        </p:nvSpPr>
        <p:spPr>
          <a:xfrm>
            <a:off x="4535423" y="2331720"/>
            <a:ext cx="3429002" cy="2468880"/>
          </a:xfrm>
          <a:prstGeom prst="roundRect">
            <a:avLst>
              <a:gd name="adj" fmla="val 4444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3" name="Text 9"/>
          <p:cNvSpPr txBox="1"/>
          <p:nvPr/>
        </p:nvSpPr>
        <p:spPr>
          <a:xfrm>
            <a:off x="4809743" y="3456128"/>
            <a:ext cx="2926083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Bobby Nweke</a:t>
            </a:r>
          </a:p>
        </p:txBody>
      </p:sp>
      <p:sp>
        <p:nvSpPr>
          <p:cNvPr id="364" name="Text 10"/>
          <p:cNvSpPr txBox="1"/>
          <p:nvPr/>
        </p:nvSpPr>
        <p:spPr>
          <a:xfrm>
            <a:off x="4809743" y="3829387"/>
            <a:ext cx="2926083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CHIEF OF STAFF</a:t>
            </a:r>
          </a:p>
        </p:txBody>
      </p:sp>
      <p:sp>
        <p:nvSpPr>
          <p:cNvPr id="365" name="Text 11"/>
          <p:cNvSpPr txBox="1"/>
          <p:nvPr/>
        </p:nvSpPr>
        <p:spPr>
          <a:xfrm>
            <a:off x="4809744" y="4178412"/>
            <a:ext cx="2971801" cy="443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 years in human performance across training, athletics, and education.</a:t>
            </a:r>
          </a:p>
        </p:txBody>
      </p:sp>
      <p:sp>
        <p:nvSpPr>
          <p:cNvPr id="366" name="Shape 12"/>
          <p:cNvSpPr/>
          <p:nvPr/>
        </p:nvSpPr>
        <p:spPr>
          <a:xfrm>
            <a:off x="8247888" y="2331720"/>
            <a:ext cx="3429002" cy="2468880"/>
          </a:xfrm>
          <a:prstGeom prst="roundRect">
            <a:avLst>
              <a:gd name="adj" fmla="val 4444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67" name="Text 13"/>
          <p:cNvSpPr txBox="1"/>
          <p:nvPr/>
        </p:nvSpPr>
        <p:spPr>
          <a:xfrm>
            <a:off x="8522206" y="3456128"/>
            <a:ext cx="2926082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Lola Oluwaladun</a:t>
            </a:r>
          </a:p>
        </p:txBody>
      </p:sp>
      <p:sp>
        <p:nvSpPr>
          <p:cNvPr id="368" name="Text 14"/>
          <p:cNvSpPr txBox="1"/>
          <p:nvPr/>
        </p:nvSpPr>
        <p:spPr>
          <a:xfrm>
            <a:off x="8522206" y="3829387"/>
            <a:ext cx="292608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HEAD OF DESIGN</a:t>
            </a:r>
          </a:p>
        </p:txBody>
      </p:sp>
      <p:sp>
        <p:nvSpPr>
          <p:cNvPr id="369" name="Text 15"/>
          <p:cNvSpPr txBox="1"/>
          <p:nvPr/>
        </p:nvSpPr>
        <p:spPr>
          <a:xfrm>
            <a:off x="8522206" y="4178412"/>
            <a:ext cx="2971802" cy="443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Owns product experience and athlete-facing UX across Pulse.</a:t>
            </a:r>
          </a:p>
        </p:txBody>
      </p:sp>
      <p:sp>
        <p:nvSpPr>
          <p:cNvPr id="370" name="Shape 16"/>
          <p:cNvSpPr/>
          <p:nvPr/>
        </p:nvSpPr>
        <p:spPr>
          <a:xfrm>
            <a:off x="822960" y="4983479"/>
            <a:ext cx="10561320" cy="1188722"/>
          </a:xfrm>
          <a:prstGeom prst="roundRect">
            <a:avLst>
              <a:gd name="adj" fmla="val 9231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71" name="Text 17"/>
          <p:cNvSpPr txBox="1"/>
          <p:nvPr/>
        </p:nvSpPr>
        <p:spPr>
          <a:xfrm>
            <a:off x="1143000" y="5235747"/>
            <a:ext cx="36576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ADVISORS &amp; BACKING</a:t>
            </a:r>
          </a:p>
        </p:txBody>
      </p:sp>
      <p:pic>
        <p:nvPicPr>
          <p:cNvPr id="372" name="Tremaine photo" descr="Tremaine phot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37459" y="2531433"/>
            <a:ext cx="800002" cy="800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7" y="0"/>
                  <a:pt x="0" y="4837"/>
                  <a:pt x="0" y="10800"/>
                </a:cubicBezTo>
                <a:cubicBezTo>
                  <a:pt x="0" y="16763"/>
                  <a:pt x="4837" y="21600"/>
                  <a:pt x="10800" y="21600"/>
                </a:cubicBezTo>
                <a:cubicBezTo>
                  <a:pt x="16763" y="21600"/>
                  <a:pt x="21600" y="16763"/>
                  <a:pt x="21600" y="10800"/>
                </a:cubicBezTo>
                <a:cubicBezTo>
                  <a:pt x="21600" y="4837"/>
                  <a:pt x="16763" y="0"/>
                  <a:pt x="10800" y="0"/>
                </a:cubicBezTo>
                <a:close/>
              </a:path>
            </a:pathLst>
          </a:custGeom>
          <a:ln w="12700">
            <a:solidFill>
              <a:srgbClr val="2A2E33"/>
            </a:solidFill>
          </a:ln>
        </p:spPr>
      </p:pic>
      <p:pic>
        <p:nvPicPr>
          <p:cNvPr id="373" name="Bobby photo" descr="Bobby photo"/>
          <p:cNvPicPr>
            <a:picLocks noChangeAspect="1"/>
          </p:cNvPicPr>
          <p:nvPr/>
        </p:nvPicPr>
        <p:blipFill>
          <a:blip r:embed="rId3">
            <a:extLst/>
          </a:blip>
          <a:srcRect l="0" t="7900" r="0" b="7889"/>
          <a:stretch>
            <a:fillRect/>
          </a:stretch>
        </p:blipFill>
        <p:spPr>
          <a:xfrm>
            <a:off x="5849923" y="2539999"/>
            <a:ext cx="800002" cy="800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7" y="0"/>
                  <a:pt x="0" y="4836"/>
                  <a:pt x="0" y="10800"/>
                </a:cubicBezTo>
                <a:cubicBezTo>
                  <a:pt x="0" y="16764"/>
                  <a:pt x="4837" y="21600"/>
                  <a:pt x="10800" y="21600"/>
                </a:cubicBezTo>
                <a:cubicBezTo>
                  <a:pt x="16763" y="21600"/>
                  <a:pt x="21600" y="16764"/>
                  <a:pt x="21600" y="10800"/>
                </a:cubicBezTo>
                <a:cubicBezTo>
                  <a:pt x="21600" y="4836"/>
                  <a:pt x="16763" y="0"/>
                  <a:pt x="10800" y="0"/>
                </a:cubicBezTo>
                <a:close/>
              </a:path>
            </a:pathLst>
          </a:custGeom>
          <a:ln w="12700">
            <a:solidFill>
              <a:srgbClr val="2A2E33"/>
            </a:solidFill>
          </a:ln>
        </p:spPr>
      </p:pic>
      <p:pic>
        <p:nvPicPr>
          <p:cNvPr id="374" name="Lola photo" descr="Lola photo"/>
          <p:cNvPicPr>
            <a:picLocks noChangeAspect="1"/>
          </p:cNvPicPr>
          <p:nvPr/>
        </p:nvPicPr>
        <p:blipFill>
          <a:blip r:embed="rId4">
            <a:extLst/>
          </a:blip>
          <a:srcRect l="0" t="3900" r="0" b="3888"/>
          <a:stretch>
            <a:fillRect/>
          </a:stretch>
        </p:blipFill>
        <p:spPr>
          <a:xfrm>
            <a:off x="9562386" y="2539999"/>
            <a:ext cx="800002" cy="800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7" y="0"/>
                  <a:pt x="0" y="4836"/>
                  <a:pt x="0" y="10800"/>
                </a:cubicBezTo>
                <a:cubicBezTo>
                  <a:pt x="0" y="16764"/>
                  <a:pt x="4837" y="21600"/>
                  <a:pt x="10800" y="21600"/>
                </a:cubicBezTo>
                <a:cubicBezTo>
                  <a:pt x="16763" y="21600"/>
                  <a:pt x="21600" y="16764"/>
                  <a:pt x="21600" y="10800"/>
                </a:cubicBezTo>
                <a:cubicBezTo>
                  <a:pt x="21600" y="4836"/>
                  <a:pt x="16763" y="0"/>
                  <a:pt x="10800" y="0"/>
                </a:cubicBezTo>
                <a:close/>
              </a:path>
            </a:pathLst>
          </a:custGeom>
          <a:ln w="12700">
            <a:solidFill>
              <a:srgbClr val="2A2E33"/>
            </a:solidFill>
          </a:ln>
        </p:spPr>
      </p:pic>
      <p:pic>
        <p:nvPicPr>
          <p:cNvPr id="375" name="Marques Zak photo" descr="Marques Zak photo"/>
          <p:cNvPicPr>
            <a:picLocks noChangeAspect="1"/>
          </p:cNvPicPr>
          <p:nvPr/>
        </p:nvPicPr>
        <p:blipFill>
          <a:blip r:embed="rId5">
            <a:extLst/>
          </a:blip>
          <a:srcRect l="0" t="6667" r="4" b="6671"/>
          <a:stretch>
            <a:fillRect/>
          </a:stretch>
        </p:blipFill>
        <p:spPr>
          <a:xfrm>
            <a:off x="1142999" y="5429999"/>
            <a:ext cx="459980" cy="4599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9" y="0"/>
                </a:moveTo>
                <a:cubicBezTo>
                  <a:pt x="4844" y="0"/>
                  <a:pt x="0" y="4844"/>
                  <a:pt x="0" y="10809"/>
                </a:cubicBezTo>
                <a:cubicBezTo>
                  <a:pt x="0" y="16774"/>
                  <a:pt x="4844" y="21600"/>
                  <a:pt x="10809" y="21600"/>
                </a:cubicBezTo>
                <a:cubicBezTo>
                  <a:pt x="16774" y="21600"/>
                  <a:pt x="21600" y="16774"/>
                  <a:pt x="21600" y="10809"/>
                </a:cubicBezTo>
                <a:cubicBezTo>
                  <a:pt x="21600" y="4844"/>
                  <a:pt x="16774" y="0"/>
                  <a:pt x="10809" y="0"/>
                </a:cubicBezTo>
                <a:close/>
              </a:path>
            </a:pathLst>
          </a:custGeom>
          <a:ln w="12700">
            <a:solidFill>
              <a:srgbClr val="2A2E33"/>
            </a:solidFill>
          </a:ln>
        </p:spPr>
      </p:pic>
      <p:sp>
        <p:nvSpPr>
          <p:cNvPr id="376" name="t111"/>
          <p:cNvSpPr txBox="1"/>
          <p:nvPr/>
        </p:nvSpPr>
        <p:spPr>
          <a:xfrm>
            <a:off x="1702998" y="5544453"/>
            <a:ext cx="196032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Marques Zak</a:t>
            </a:r>
          </a:p>
        </p:txBody>
      </p:sp>
      <p:sp>
        <p:nvSpPr>
          <p:cNvPr id="377" name="t112"/>
          <p:cNvSpPr txBox="1"/>
          <p:nvPr/>
        </p:nvSpPr>
        <p:spPr>
          <a:xfrm>
            <a:off x="1702998" y="5689998"/>
            <a:ext cx="19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CMO, ACC</a:t>
            </a:r>
          </a:p>
        </p:txBody>
      </p:sp>
      <p:pic>
        <p:nvPicPr>
          <p:cNvPr id="378" name="Valerie Alexander photo" descr="Valerie Alexander photo"/>
          <p:cNvPicPr>
            <a:picLocks noChangeAspect="1"/>
          </p:cNvPicPr>
          <p:nvPr/>
        </p:nvPicPr>
        <p:blipFill>
          <a:blip r:embed="rId6">
            <a:extLst/>
          </a:blip>
          <a:srcRect l="0" t="0" r="4" b="4"/>
          <a:stretch>
            <a:fillRect/>
          </a:stretch>
        </p:blipFill>
        <p:spPr>
          <a:xfrm>
            <a:off x="3703320" y="5429999"/>
            <a:ext cx="459979" cy="4599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9" y="0"/>
                </a:moveTo>
                <a:cubicBezTo>
                  <a:pt x="4844" y="0"/>
                  <a:pt x="0" y="4844"/>
                  <a:pt x="0" y="10809"/>
                </a:cubicBezTo>
                <a:cubicBezTo>
                  <a:pt x="0" y="16774"/>
                  <a:pt x="4844" y="21600"/>
                  <a:pt x="10809" y="21600"/>
                </a:cubicBezTo>
                <a:cubicBezTo>
                  <a:pt x="16774" y="21600"/>
                  <a:pt x="21600" y="16774"/>
                  <a:pt x="21600" y="10809"/>
                </a:cubicBezTo>
                <a:cubicBezTo>
                  <a:pt x="21600" y="4844"/>
                  <a:pt x="16774" y="0"/>
                  <a:pt x="10809" y="0"/>
                </a:cubicBezTo>
                <a:close/>
              </a:path>
            </a:pathLst>
          </a:custGeom>
          <a:ln w="12700">
            <a:solidFill>
              <a:srgbClr val="2A2E33"/>
            </a:solidFill>
          </a:ln>
        </p:spPr>
      </p:pic>
      <p:sp>
        <p:nvSpPr>
          <p:cNvPr id="379" name="t114"/>
          <p:cNvSpPr txBox="1"/>
          <p:nvPr/>
        </p:nvSpPr>
        <p:spPr>
          <a:xfrm>
            <a:off x="4263319" y="5544453"/>
            <a:ext cx="196032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Valerie Alexander</a:t>
            </a:r>
          </a:p>
        </p:txBody>
      </p:sp>
      <p:sp>
        <p:nvSpPr>
          <p:cNvPr id="380" name="t115"/>
          <p:cNvSpPr txBox="1"/>
          <p:nvPr/>
        </p:nvSpPr>
        <p:spPr>
          <a:xfrm>
            <a:off x="4263319" y="5689998"/>
            <a:ext cx="19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Enterprise &amp; IPO Attorney</a:t>
            </a:r>
          </a:p>
        </p:txBody>
      </p:sp>
      <p:pic>
        <p:nvPicPr>
          <p:cNvPr id="381" name="DeRay Mckesson photo" descr="DeRay Mckesson photo"/>
          <p:cNvPicPr>
            <a:picLocks noChangeAspect="1"/>
          </p:cNvPicPr>
          <p:nvPr/>
        </p:nvPicPr>
        <p:blipFill>
          <a:blip r:embed="rId7">
            <a:extLst/>
          </a:blip>
          <a:srcRect l="4583" t="0" r="4587" b="4"/>
          <a:stretch>
            <a:fillRect/>
          </a:stretch>
        </p:blipFill>
        <p:spPr>
          <a:xfrm>
            <a:off x="6263640" y="5429999"/>
            <a:ext cx="459979" cy="4599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9" y="0"/>
                </a:moveTo>
                <a:cubicBezTo>
                  <a:pt x="4844" y="0"/>
                  <a:pt x="0" y="4844"/>
                  <a:pt x="0" y="10809"/>
                </a:cubicBezTo>
                <a:cubicBezTo>
                  <a:pt x="0" y="16774"/>
                  <a:pt x="4844" y="21600"/>
                  <a:pt x="10809" y="21600"/>
                </a:cubicBezTo>
                <a:cubicBezTo>
                  <a:pt x="16774" y="21600"/>
                  <a:pt x="21600" y="16774"/>
                  <a:pt x="21600" y="10809"/>
                </a:cubicBezTo>
                <a:cubicBezTo>
                  <a:pt x="21600" y="4844"/>
                  <a:pt x="16774" y="0"/>
                  <a:pt x="10809" y="0"/>
                </a:cubicBezTo>
                <a:close/>
              </a:path>
            </a:pathLst>
          </a:custGeom>
          <a:ln w="12700">
            <a:solidFill>
              <a:srgbClr val="2A2E33"/>
            </a:solidFill>
          </a:ln>
        </p:spPr>
      </p:pic>
      <p:sp>
        <p:nvSpPr>
          <p:cNvPr id="382" name="t117"/>
          <p:cNvSpPr txBox="1"/>
          <p:nvPr/>
        </p:nvSpPr>
        <p:spPr>
          <a:xfrm>
            <a:off x="6823640" y="5544453"/>
            <a:ext cx="196032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DeRay Mckesson</a:t>
            </a:r>
          </a:p>
        </p:txBody>
      </p:sp>
      <p:sp>
        <p:nvSpPr>
          <p:cNvPr id="383" name="t118"/>
          <p:cNvSpPr txBox="1"/>
          <p:nvPr/>
        </p:nvSpPr>
        <p:spPr>
          <a:xfrm>
            <a:off x="6823640" y="5689998"/>
            <a:ext cx="19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Organizing · HBCU reach</a:t>
            </a:r>
          </a:p>
        </p:txBody>
      </p:sp>
      <p:pic>
        <p:nvPicPr>
          <p:cNvPr id="384" name="Erik Edwards photo" descr="Erik Edwards photo"/>
          <p:cNvPicPr>
            <a:picLocks noChangeAspect="1"/>
          </p:cNvPicPr>
          <p:nvPr/>
        </p:nvPicPr>
        <p:blipFill>
          <a:blip r:embed="rId8">
            <a:extLst/>
          </a:blip>
          <a:srcRect l="0" t="6042" r="4" b="6046"/>
          <a:stretch>
            <a:fillRect/>
          </a:stretch>
        </p:blipFill>
        <p:spPr>
          <a:xfrm>
            <a:off x="8823959" y="5429999"/>
            <a:ext cx="459979" cy="4599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9" y="0"/>
                </a:moveTo>
                <a:cubicBezTo>
                  <a:pt x="4844" y="0"/>
                  <a:pt x="0" y="4844"/>
                  <a:pt x="0" y="10809"/>
                </a:cubicBezTo>
                <a:cubicBezTo>
                  <a:pt x="0" y="16774"/>
                  <a:pt x="4844" y="21600"/>
                  <a:pt x="10809" y="21600"/>
                </a:cubicBezTo>
                <a:cubicBezTo>
                  <a:pt x="16774" y="21600"/>
                  <a:pt x="21600" y="16774"/>
                  <a:pt x="21600" y="10809"/>
                </a:cubicBezTo>
                <a:cubicBezTo>
                  <a:pt x="21600" y="4844"/>
                  <a:pt x="16774" y="0"/>
                  <a:pt x="10809" y="0"/>
                </a:cubicBezTo>
                <a:close/>
              </a:path>
            </a:pathLst>
          </a:custGeom>
          <a:ln w="12700">
            <a:solidFill>
              <a:srgbClr val="2A2E33"/>
            </a:solidFill>
          </a:ln>
        </p:spPr>
      </p:pic>
      <p:sp>
        <p:nvSpPr>
          <p:cNvPr id="385" name="t120"/>
          <p:cNvSpPr txBox="1"/>
          <p:nvPr/>
        </p:nvSpPr>
        <p:spPr>
          <a:xfrm>
            <a:off x="9383958" y="5544453"/>
            <a:ext cx="196032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Erik Edwards</a:t>
            </a:r>
          </a:p>
        </p:txBody>
      </p:sp>
      <p:sp>
        <p:nvSpPr>
          <p:cNvPr id="386" name="t121"/>
          <p:cNvSpPr txBox="1"/>
          <p:nvPr/>
        </p:nvSpPr>
        <p:spPr>
          <a:xfrm>
            <a:off x="9383958" y="5689998"/>
            <a:ext cx="19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Partner, Cooley</a:t>
            </a:r>
          </a:p>
        </p:txBody>
      </p:sp>
      <p:sp>
        <p:nvSpPr>
          <p:cNvPr id="387" name="t140"/>
          <p:cNvSpPr txBox="1"/>
          <p:nvPr/>
        </p:nvSpPr>
        <p:spPr>
          <a:xfrm>
            <a:off x="6799998" y="5232858"/>
            <a:ext cx="4584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9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Lead investor — </a:t>
            </a:r>
            <a:r>
              <a:rPr b="1">
                <a:solidFill>
                  <a:srgbClr val="F4F6F2"/>
                </a:solidFill>
              </a:rPr>
              <a:t>LAUNCH ▲</a:t>
            </a:r>
          </a:p>
        </p:txBody>
      </p:sp>
      <p:sp>
        <p:nvSpPr>
          <p:cNvPr id="388" name="FSU bg"/>
          <p:cNvSpPr/>
          <p:nvPr/>
        </p:nvSpPr>
        <p:spPr>
          <a:xfrm>
            <a:off x="2617459" y="2980000"/>
            <a:ext cx="380001" cy="380001"/>
          </a:xfrm>
          <a:prstGeom prst="ellipse">
            <a:avLst/>
          </a:prstGeom>
          <a:solidFill>
            <a:srgbClr val="FFFFFF"/>
          </a:solidFill>
          <a:ln>
            <a:solidFill>
              <a:srgbClr val="D9DCE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389" name="FSU logo" descr="FSU logo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667459" y="3018000"/>
            <a:ext cx="280001" cy="304001"/>
          </a:xfrm>
          <a:prstGeom prst="rect">
            <a:avLst/>
          </a:prstGeom>
          <a:ln w="12700">
            <a:miter lim="400000"/>
          </a:ln>
        </p:spPr>
      </p:pic>
      <p:sp>
        <p:nvSpPr>
          <p:cNvPr id="390" name="Harvard bg"/>
          <p:cNvSpPr/>
          <p:nvPr/>
        </p:nvSpPr>
        <p:spPr>
          <a:xfrm>
            <a:off x="6329922" y="2974999"/>
            <a:ext cx="380001" cy="380002"/>
          </a:xfrm>
          <a:prstGeom prst="ellipse">
            <a:avLst/>
          </a:prstGeom>
          <a:solidFill>
            <a:srgbClr val="FFFFFF"/>
          </a:solidFill>
          <a:ln>
            <a:solidFill>
              <a:srgbClr val="D9DCE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391" name="Harvard logo" descr="Harvard logo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384923" y="3006000"/>
            <a:ext cx="270001" cy="31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822960" y="566927"/>
            <a:ext cx="2176274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4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5" name="Text 2"/>
          <p:cNvSpPr txBox="1"/>
          <p:nvPr/>
        </p:nvSpPr>
        <p:spPr>
          <a:xfrm>
            <a:off x="1152144" y="691178"/>
            <a:ext cx="181051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CLINICAL PATHWAY</a:t>
            </a:r>
          </a:p>
        </p:txBody>
      </p:sp>
      <p:sp>
        <p:nvSpPr>
          <p:cNvPr id="396" name="Text 3"/>
          <p:cNvSpPr txBox="1"/>
          <p:nvPr/>
        </p:nvSpPr>
        <p:spPr>
          <a:xfrm>
            <a:off x="822960" y="1602555"/>
            <a:ext cx="10515601" cy="54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36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AuntEDNA.ai validates the </a:t>
            </a:r>
            <a:r>
              <a:rPr>
                <a:solidFill>
                  <a:srgbClr val="FF6FB5"/>
                </a:solidFill>
              </a:rPr>
              <a:t>care layer.</a:t>
            </a:r>
          </a:p>
        </p:txBody>
      </p:sp>
      <p:sp>
        <p:nvSpPr>
          <p:cNvPr id="397" name="Text 4"/>
          <p:cNvSpPr txBox="1"/>
          <p:nvPr/>
        </p:nvSpPr>
        <p:spPr>
          <a:xfrm>
            <a:off x="841247" y="2220742"/>
            <a:ext cx="100584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Pulse Check owns the detection, scoring, and routing. AuntEDNA.ai handles the clinical handoff.</a:t>
            </a:r>
          </a:p>
        </p:txBody>
      </p:sp>
      <p:sp>
        <p:nvSpPr>
          <p:cNvPr id="398" name="Shape 5"/>
          <p:cNvSpPr/>
          <p:nvPr/>
        </p:nvSpPr>
        <p:spPr>
          <a:xfrm>
            <a:off x="822960" y="3420000"/>
            <a:ext cx="10561320" cy="960122"/>
          </a:xfrm>
          <a:prstGeom prst="roundRect">
            <a:avLst>
              <a:gd name="adj" fmla="val 11429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399" name="Shape 6"/>
          <p:cNvSpPr/>
          <p:nvPr/>
        </p:nvSpPr>
        <p:spPr>
          <a:xfrm>
            <a:off x="1097280" y="3621168"/>
            <a:ext cx="548642" cy="548643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40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5413" y="3766122"/>
            <a:ext cx="252376" cy="252376"/>
          </a:xfrm>
          <a:prstGeom prst="rect">
            <a:avLst/>
          </a:prstGeom>
          <a:ln w="12700">
            <a:miter lim="400000"/>
          </a:ln>
        </p:spPr>
      </p:pic>
      <p:sp>
        <p:nvSpPr>
          <p:cNvPr id="401" name="Text 7"/>
          <p:cNvSpPr txBox="1"/>
          <p:nvPr/>
        </p:nvSpPr>
        <p:spPr>
          <a:xfrm>
            <a:off x="1874519" y="3735442"/>
            <a:ext cx="365760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NSF Phase I grant</a:t>
            </a:r>
          </a:p>
        </p:txBody>
      </p:sp>
      <p:sp>
        <p:nvSpPr>
          <p:cNvPr id="402" name="Text 8"/>
          <p:cNvSpPr txBox="1"/>
          <p:nvPr/>
        </p:nvSpPr>
        <p:spPr>
          <a:xfrm>
            <a:off x="5486400" y="3755057"/>
            <a:ext cx="5669280" cy="207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Independent validation through scientific peer review.</a:t>
            </a:r>
          </a:p>
        </p:txBody>
      </p:sp>
      <p:sp>
        <p:nvSpPr>
          <p:cNvPr id="403" name="Shape 9"/>
          <p:cNvSpPr/>
          <p:nvPr/>
        </p:nvSpPr>
        <p:spPr>
          <a:xfrm>
            <a:off x="822960" y="4439999"/>
            <a:ext cx="10561320" cy="960122"/>
          </a:xfrm>
          <a:prstGeom prst="roundRect">
            <a:avLst>
              <a:gd name="adj" fmla="val 11429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4" name="Shape 10"/>
          <p:cNvSpPr/>
          <p:nvPr/>
        </p:nvSpPr>
        <p:spPr>
          <a:xfrm>
            <a:off x="1097280" y="4641167"/>
            <a:ext cx="548642" cy="548643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40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5413" y="4793872"/>
            <a:ext cx="252376" cy="252376"/>
          </a:xfrm>
          <a:prstGeom prst="rect">
            <a:avLst/>
          </a:prstGeom>
          <a:ln w="12700">
            <a:miter lim="400000"/>
          </a:ln>
        </p:spPr>
      </p:pic>
      <p:sp>
        <p:nvSpPr>
          <p:cNvPr id="406" name="Text 11"/>
          <p:cNvSpPr txBox="1"/>
          <p:nvPr/>
        </p:nvSpPr>
        <p:spPr>
          <a:xfrm>
            <a:off x="1874519" y="4755443"/>
            <a:ext cx="3657603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80% adherence</a:t>
            </a:r>
          </a:p>
        </p:txBody>
      </p:sp>
      <p:sp>
        <p:nvSpPr>
          <p:cNvPr id="407" name="Text 12"/>
          <p:cNvSpPr txBox="1"/>
          <p:nvPr/>
        </p:nvSpPr>
        <p:spPr>
          <a:xfrm>
            <a:off x="5486400" y="4775058"/>
            <a:ext cx="5669280" cy="20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AuntEDNA.ai evidence across 1,000+ student-athletes.</a:t>
            </a:r>
          </a:p>
        </p:txBody>
      </p:sp>
      <p:sp>
        <p:nvSpPr>
          <p:cNvPr id="408" name="Shape 13"/>
          <p:cNvSpPr/>
          <p:nvPr/>
        </p:nvSpPr>
        <p:spPr>
          <a:xfrm>
            <a:off x="822960" y="5460000"/>
            <a:ext cx="10561320" cy="960122"/>
          </a:xfrm>
          <a:prstGeom prst="roundRect">
            <a:avLst>
              <a:gd name="adj" fmla="val 11429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09" name="Shape 14"/>
          <p:cNvSpPr/>
          <p:nvPr/>
        </p:nvSpPr>
        <p:spPr>
          <a:xfrm>
            <a:off x="1097280" y="5661168"/>
            <a:ext cx="548642" cy="548642"/>
          </a:xfrm>
          <a:prstGeom prst="ellipse">
            <a:avLst/>
          </a:prstGeom>
          <a:solidFill>
            <a:srgbClr val="1B1E2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41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45413" y="5809300"/>
            <a:ext cx="252376" cy="252376"/>
          </a:xfrm>
          <a:prstGeom prst="rect">
            <a:avLst/>
          </a:prstGeom>
          <a:ln w="12700">
            <a:miter lim="400000"/>
          </a:ln>
        </p:spPr>
      </p:pic>
      <p:sp>
        <p:nvSpPr>
          <p:cNvPr id="411" name="Text 15"/>
          <p:cNvSpPr txBox="1"/>
          <p:nvPr/>
        </p:nvSpPr>
        <p:spPr>
          <a:xfrm>
            <a:off x="1874519" y="5775442"/>
            <a:ext cx="365760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Shared research layer</a:t>
            </a:r>
          </a:p>
        </p:txBody>
      </p:sp>
      <p:sp>
        <p:nvSpPr>
          <p:cNvPr id="412" name="Text 16"/>
          <p:cNvSpPr txBox="1"/>
          <p:nvPr/>
        </p:nvSpPr>
        <p:spPr>
          <a:xfrm>
            <a:off x="5486400" y="5795057"/>
            <a:ext cx="5669280" cy="207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Models trained on a validated, peer-reviewed athlete dataset.</a:t>
            </a:r>
          </a:p>
        </p:txBody>
      </p:sp>
      <p:sp>
        <p:nvSpPr>
          <p:cNvPr id="413" name="t150"/>
          <p:cNvSpPr txBox="1"/>
          <p:nvPr/>
        </p:nvSpPr>
        <p:spPr>
          <a:xfrm>
            <a:off x="1097278" y="2600000"/>
            <a:ext cx="50000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E15B9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AUNTEDNA.AI CO-CEOS</a:t>
            </a:r>
          </a:p>
        </p:txBody>
      </p:sp>
      <p:pic>
        <p:nvPicPr>
          <p:cNvPr id="414" name="Jelanna photo" descr="Jelanna photo"/>
          <p:cNvPicPr>
            <a:picLocks noChangeAspect="1"/>
          </p:cNvPicPr>
          <p:nvPr/>
        </p:nvPicPr>
        <p:blipFill>
          <a:blip r:embed="rId5">
            <a:extLst/>
          </a:blip>
          <a:srcRect l="0" t="0" r="21" b="21"/>
          <a:stretch>
            <a:fillRect/>
          </a:stretch>
        </p:blipFill>
        <p:spPr>
          <a:xfrm>
            <a:off x="1097280" y="2819999"/>
            <a:ext cx="469901" cy="469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4" y="0"/>
                  <a:pt x="0" y="4834"/>
                  <a:pt x="0" y="10800"/>
                </a:cubicBezTo>
                <a:cubicBezTo>
                  <a:pt x="0" y="16766"/>
                  <a:pt x="4834" y="21600"/>
                  <a:pt x="10800" y="21600"/>
                </a:cubicBezTo>
                <a:cubicBezTo>
                  <a:pt x="16766" y="21600"/>
                  <a:pt x="21600" y="16766"/>
                  <a:pt x="21600" y="10800"/>
                </a:cubicBezTo>
                <a:cubicBezTo>
                  <a:pt x="21600" y="4834"/>
                  <a:pt x="16766" y="0"/>
                  <a:pt x="10800" y="0"/>
                </a:cubicBezTo>
                <a:close/>
              </a:path>
            </a:pathLst>
          </a:custGeom>
          <a:ln w="12700">
            <a:solidFill>
              <a:srgbClr val="2A2E33"/>
            </a:solidFill>
          </a:ln>
        </p:spPr>
      </p:pic>
      <p:sp>
        <p:nvSpPr>
          <p:cNvPr id="415" name="t152"/>
          <p:cNvSpPr txBox="1"/>
          <p:nvPr/>
        </p:nvSpPr>
        <p:spPr>
          <a:xfrm>
            <a:off x="1660000" y="2850000"/>
            <a:ext cx="32000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Jelanna Salas Olivera</a:t>
            </a:r>
          </a:p>
        </p:txBody>
      </p:sp>
      <p:sp>
        <p:nvSpPr>
          <p:cNvPr id="416" name="t153"/>
          <p:cNvSpPr txBox="1"/>
          <p:nvPr/>
        </p:nvSpPr>
        <p:spPr>
          <a:xfrm>
            <a:off x="1660000" y="3089998"/>
            <a:ext cx="320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Co-CEO</a:t>
            </a:r>
          </a:p>
        </p:txBody>
      </p:sp>
      <p:pic>
        <p:nvPicPr>
          <p:cNvPr id="417" name="Tracey photo" descr="Tracey photo"/>
          <p:cNvPicPr>
            <a:picLocks noChangeAspect="1"/>
          </p:cNvPicPr>
          <p:nvPr/>
        </p:nvPicPr>
        <p:blipFill>
          <a:blip r:embed="rId6">
            <a:extLst/>
          </a:blip>
          <a:srcRect l="0" t="0" r="21" b="21"/>
          <a:stretch>
            <a:fillRect/>
          </a:stretch>
        </p:blipFill>
        <p:spPr>
          <a:xfrm>
            <a:off x="4999999" y="2819999"/>
            <a:ext cx="469901" cy="469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4" y="0"/>
                  <a:pt x="0" y="4834"/>
                  <a:pt x="0" y="10800"/>
                </a:cubicBezTo>
                <a:cubicBezTo>
                  <a:pt x="0" y="16766"/>
                  <a:pt x="4834" y="21600"/>
                  <a:pt x="10800" y="21600"/>
                </a:cubicBezTo>
                <a:cubicBezTo>
                  <a:pt x="16766" y="21600"/>
                  <a:pt x="21600" y="16766"/>
                  <a:pt x="21600" y="10800"/>
                </a:cubicBezTo>
                <a:cubicBezTo>
                  <a:pt x="21600" y="4834"/>
                  <a:pt x="16766" y="0"/>
                  <a:pt x="10800" y="0"/>
                </a:cubicBezTo>
                <a:close/>
              </a:path>
            </a:pathLst>
          </a:custGeom>
          <a:ln w="12700">
            <a:solidFill>
              <a:srgbClr val="2A2E33"/>
            </a:solidFill>
          </a:ln>
        </p:spPr>
      </p:pic>
      <p:sp>
        <p:nvSpPr>
          <p:cNvPr id="418" name="t155"/>
          <p:cNvSpPr txBox="1"/>
          <p:nvPr/>
        </p:nvSpPr>
        <p:spPr>
          <a:xfrm>
            <a:off x="5562998" y="2850000"/>
            <a:ext cx="32000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Dr. Tracey Hathaway</a:t>
            </a:r>
          </a:p>
        </p:txBody>
      </p:sp>
      <p:sp>
        <p:nvSpPr>
          <p:cNvPr id="419" name="t156"/>
          <p:cNvSpPr txBox="1"/>
          <p:nvPr/>
        </p:nvSpPr>
        <p:spPr>
          <a:xfrm>
            <a:off x="5562998" y="3089998"/>
            <a:ext cx="320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Co-CEO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80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2" name="Shape 1"/>
          <p:cNvSpPr/>
          <p:nvPr/>
        </p:nvSpPr>
        <p:spPr>
          <a:xfrm>
            <a:off x="-889000" y="-889001"/>
            <a:ext cx="3048000" cy="3048001"/>
          </a:xfrm>
          <a:prstGeom prst="ellipse">
            <a:avLst/>
          </a:prstGeom>
          <a:solidFill>
            <a:srgbClr val="E0FE10">
              <a:alpha val="8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3" name="Shape 2"/>
          <p:cNvSpPr/>
          <p:nvPr/>
        </p:nvSpPr>
        <p:spPr>
          <a:xfrm>
            <a:off x="9525000" y="4571999"/>
            <a:ext cx="3302000" cy="3302001"/>
          </a:xfrm>
          <a:prstGeom prst="ellipse">
            <a:avLst/>
          </a:prstGeom>
          <a:solidFill>
            <a:srgbClr val="3B82F6">
              <a:alpha val="7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4" name="Shape 3"/>
          <p:cNvSpPr/>
          <p:nvPr/>
        </p:nvSpPr>
        <p:spPr>
          <a:xfrm>
            <a:off x="698500" y="571500"/>
            <a:ext cx="2419945" cy="37589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5" name="Text 4"/>
          <p:cNvSpPr txBox="1"/>
          <p:nvPr/>
        </p:nvSpPr>
        <p:spPr>
          <a:xfrm>
            <a:off x="844550" y="641350"/>
            <a:ext cx="2200444" cy="261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lnSpc>
                <a:spcPct val="155000"/>
              </a:lnSpc>
              <a:defRPr b="1" spc="300" sz="1200">
                <a:solidFill>
                  <a:srgbClr val="E0FE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WHO SUPPORTS US</a:t>
            </a:r>
          </a:p>
        </p:txBody>
      </p:sp>
      <p:sp>
        <p:nvSpPr>
          <p:cNvPr id="426" name="Text 5"/>
          <p:cNvSpPr txBox="1"/>
          <p:nvPr/>
        </p:nvSpPr>
        <p:spPr>
          <a:xfrm>
            <a:off x="698500" y="1036290"/>
            <a:ext cx="11118850" cy="608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14000"/>
              </a:lnSpc>
              <a:defRPr b="1" spc="-2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 are not building </a:t>
            </a:r>
            <a:r>
              <a:rPr>
                <a:solidFill>
                  <a:srgbClr val="E0FE10"/>
                </a:solidFill>
              </a:rPr>
              <a:t>in isolation.</a:t>
            </a:r>
          </a:p>
        </p:txBody>
      </p:sp>
      <p:sp>
        <p:nvSpPr>
          <p:cNvPr id="427" name="Text 6"/>
          <p:cNvSpPr txBox="1"/>
          <p:nvPr/>
        </p:nvSpPr>
        <p:spPr>
          <a:xfrm>
            <a:off x="698500" y="1704281"/>
            <a:ext cx="11118850" cy="234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35000"/>
              </a:lnSpc>
              <a:defRPr sz="1200">
                <a:solidFill>
                  <a:srgbClr val="FFFFFF">
                    <a:alpha val="66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Strategic support already spans </a:t>
            </a:r>
            <a:r>
              <a:rPr b="1">
                <a:solidFill>
                  <a:srgbClr val="FFFFFF"/>
                </a:solidFill>
              </a:rPr>
              <a:t>clinical pathway, hardware, legal, capital, institutional access, infrastructure, and research.</a:t>
            </a:r>
          </a:p>
        </p:txBody>
      </p:sp>
      <p:sp>
        <p:nvSpPr>
          <p:cNvPr id="428" name="Shape 7"/>
          <p:cNvSpPr/>
          <p:nvPr/>
        </p:nvSpPr>
        <p:spPr>
          <a:xfrm>
            <a:off x="698500" y="2103683"/>
            <a:ext cx="3530600" cy="3543998"/>
          </a:xfrm>
          <a:prstGeom prst="roundRect">
            <a:avLst>
              <a:gd name="adj" fmla="val 5036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  <a:effectLst>
            <a:outerShdw sx="100000" sy="100000" kx="0" ky="0" algn="b" rotWithShape="0" blurRad="571500" dist="285750" dir="5400000">
              <a:srgbClr val="F47CC8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29" name="Text 8"/>
          <p:cNvSpPr txBox="1"/>
          <p:nvPr/>
        </p:nvSpPr>
        <p:spPr>
          <a:xfrm>
            <a:off x="857250" y="2249733"/>
            <a:ext cx="3309493" cy="182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200" sz="800">
                <a:solidFill>
                  <a:srgbClr val="F47CC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CLINICAL PATHWAY</a:t>
            </a:r>
          </a:p>
        </p:txBody>
      </p:sp>
      <p:sp>
        <p:nvSpPr>
          <p:cNvPr id="430" name="Text 9"/>
          <p:cNvSpPr txBox="1"/>
          <p:nvPr/>
        </p:nvSpPr>
        <p:spPr>
          <a:xfrm>
            <a:off x="857250" y="2559596"/>
            <a:ext cx="3309493" cy="304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704087">
              <a:defRPr b="1" spc="-10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Aunt</a:t>
            </a:r>
            <a:r>
              <a:rPr>
                <a:solidFill>
                  <a:srgbClr val="F47CC8"/>
                </a:solidFill>
              </a:rPr>
              <a:t>EDNA</a:t>
            </a:r>
            <a:r>
              <a:rPr sz="1000"/>
              <a:t>.ai</a:t>
            </a:r>
          </a:p>
        </p:txBody>
      </p:sp>
      <p:sp>
        <p:nvSpPr>
          <p:cNvPr id="431" name="Text 10"/>
          <p:cNvSpPr txBox="1"/>
          <p:nvPr/>
        </p:nvSpPr>
        <p:spPr>
          <a:xfrm>
            <a:off x="857250" y="2902496"/>
            <a:ext cx="3309493" cy="163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5000"/>
              </a:lnSpc>
              <a:def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Strategic clinical pathway partner </a:t>
            </a:r>
            <a:r>
              <a:rPr b="0">
                <a:solidFill>
                  <a:srgbClr val="FFFFFF">
                    <a:alpha val="64999"/>
                  </a:srgbClr>
                </a:solidFill>
              </a:rPr>
              <a:t>for escalation and care routing.</a:t>
            </a:r>
          </a:p>
        </p:txBody>
      </p:sp>
      <p:sp>
        <p:nvSpPr>
          <p:cNvPr id="432" name="Shape 11"/>
          <p:cNvSpPr/>
          <p:nvPr/>
        </p:nvSpPr>
        <p:spPr>
          <a:xfrm>
            <a:off x="857250" y="4294535"/>
            <a:ext cx="3213100" cy="12702"/>
          </a:xfrm>
          <a:prstGeom prst="rect">
            <a:avLst/>
          </a:prstGeom>
          <a:solidFill>
            <a:srgbClr val="F47CC8">
              <a:alpha val="2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3" name="Text 12"/>
          <p:cNvSpPr txBox="1"/>
          <p:nvPr/>
        </p:nvSpPr>
        <p:spPr>
          <a:xfrm>
            <a:off x="857250" y="4418360"/>
            <a:ext cx="3309493" cy="143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100" sz="600">
                <a:solidFill>
                  <a:srgbClr val="F47CC8">
                    <a:alpha val="8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NETWORK WE REACH THROUGH THIS PARTNERSHIP</a:t>
            </a:r>
          </a:p>
        </p:txBody>
      </p:sp>
      <p:sp>
        <p:nvSpPr>
          <p:cNvPr id="434" name="Shape 13"/>
          <p:cNvSpPr/>
          <p:nvPr/>
        </p:nvSpPr>
        <p:spPr>
          <a:xfrm>
            <a:off x="857250" y="4625330"/>
            <a:ext cx="3213100" cy="355602"/>
          </a:xfrm>
          <a:prstGeom prst="roundRect">
            <a:avLst>
              <a:gd name="adj" fmla="val 2142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5" name="Text 14"/>
          <p:cNvSpPr txBox="1"/>
          <p:nvPr/>
        </p:nvSpPr>
        <p:spPr>
          <a:xfrm>
            <a:off x="952500" y="4707880"/>
            <a:ext cx="561777" cy="215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713230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NCAA</a:t>
            </a:r>
            <a:r>
              <a:rPr baseline="29434" sz="400"/>
              <a:t>®</a:t>
            </a:r>
          </a:p>
        </p:txBody>
      </p:sp>
      <p:sp>
        <p:nvSpPr>
          <p:cNvPr id="436" name="Text 15"/>
          <p:cNvSpPr txBox="1"/>
          <p:nvPr/>
        </p:nvSpPr>
        <p:spPr>
          <a:xfrm>
            <a:off x="1552377" y="4749453"/>
            <a:ext cx="1353842" cy="132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0000"/>
              </a:lnSpc>
              <a:defRPr sz="60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College athletics ecosystem access</a:t>
            </a:r>
          </a:p>
        </p:txBody>
      </p:sp>
      <p:sp>
        <p:nvSpPr>
          <p:cNvPr id="437" name="Shape 16"/>
          <p:cNvSpPr/>
          <p:nvPr/>
        </p:nvSpPr>
        <p:spPr>
          <a:xfrm>
            <a:off x="857250" y="5057130"/>
            <a:ext cx="3213100" cy="444502"/>
          </a:xfrm>
          <a:prstGeom prst="roundRect">
            <a:avLst>
              <a:gd name="adj" fmla="val 1714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8" name="Shape 17"/>
          <p:cNvSpPr/>
          <p:nvPr/>
        </p:nvSpPr>
        <p:spPr>
          <a:xfrm>
            <a:off x="952500" y="5139680"/>
            <a:ext cx="279400" cy="279403"/>
          </a:xfrm>
          <a:prstGeom prst="ellipse">
            <a:avLst/>
          </a:prstGeom>
          <a:solidFill>
            <a:srgbClr val="1F4E8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39" name="Text 18"/>
          <p:cNvSpPr txBox="1"/>
          <p:nvPr/>
        </p:nvSpPr>
        <p:spPr>
          <a:xfrm>
            <a:off x="927100" y="5139680"/>
            <a:ext cx="330200" cy="304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lnSpc>
                <a:spcPct val="155000"/>
              </a:lnSpc>
              <a:def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NSF</a:t>
            </a:r>
          </a:p>
        </p:txBody>
      </p:sp>
      <p:sp>
        <p:nvSpPr>
          <p:cNvPr id="440" name="Text 19"/>
          <p:cNvSpPr txBox="1"/>
          <p:nvPr/>
        </p:nvSpPr>
        <p:spPr>
          <a:xfrm>
            <a:off x="1320800" y="5225703"/>
            <a:ext cx="1037234" cy="132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0000"/>
              </a:lnSpc>
              <a:defRPr sz="60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Scientific research network</a:t>
            </a:r>
          </a:p>
        </p:txBody>
      </p:sp>
      <p:sp>
        <p:nvSpPr>
          <p:cNvPr id="441" name="Shape 20"/>
          <p:cNvSpPr/>
          <p:nvPr/>
        </p:nvSpPr>
        <p:spPr>
          <a:xfrm>
            <a:off x="4330700" y="2103683"/>
            <a:ext cx="3530600" cy="1113584"/>
          </a:xfrm>
          <a:prstGeom prst="roundRect">
            <a:avLst>
              <a:gd name="adj" fmla="val 1596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  <a:effectLst>
            <a:outerShdw sx="100000" sy="100000" kx="0" ky="0" algn="b" rotWithShape="0" blurRad="571500" dist="285750" dir="5400000">
              <a:srgbClr val="3B82F6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2" name="Text 21"/>
          <p:cNvSpPr txBox="1"/>
          <p:nvPr/>
        </p:nvSpPr>
        <p:spPr>
          <a:xfrm>
            <a:off x="4476750" y="2224333"/>
            <a:ext cx="3335655" cy="173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200" sz="7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HARDWARE</a:t>
            </a:r>
          </a:p>
        </p:txBody>
      </p:sp>
      <p:sp>
        <p:nvSpPr>
          <p:cNvPr id="443" name="Text 22"/>
          <p:cNvSpPr txBox="1"/>
          <p:nvPr/>
        </p:nvSpPr>
        <p:spPr>
          <a:xfrm>
            <a:off x="4476750" y="2511673"/>
            <a:ext cx="3335655" cy="399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-100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POLAR</a:t>
            </a:r>
          </a:p>
        </p:txBody>
      </p:sp>
      <p:sp>
        <p:nvSpPr>
          <p:cNvPr id="444" name="Text 23"/>
          <p:cNvSpPr txBox="1"/>
          <p:nvPr/>
        </p:nvSpPr>
        <p:spPr>
          <a:xfrm>
            <a:off x="4476750" y="2987276"/>
            <a:ext cx="3335655" cy="14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Wearable hardware partner </a:t>
            </a:r>
            <a:r>
              <a:rPr b="0">
                <a:solidFill>
                  <a:srgbClr val="FFFFFF">
                    <a:alpha val="64999"/>
                  </a:srgbClr>
                </a:solidFill>
              </a:rPr>
              <a:t>for biometric and recovery signals.</a:t>
            </a:r>
          </a:p>
        </p:txBody>
      </p:sp>
      <p:sp>
        <p:nvSpPr>
          <p:cNvPr id="445" name="Shape 24"/>
          <p:cNvSpPr/>
          <p:nvPr/>
        </p:nvSpPr>
        <p:spPr>
          <a:xfrm>
            <a:off x="7962900" y="2103683"/>
            <a:ext cx="3530600" cy="1113584"/>
          </a:xfrm>
          <a:prstGeom prst="roundRect">
            <a:avLst>
              <a:gd name="adj" fmla="val 1596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46" name="Text 25"/>
          <p:cNvSpPr txBox="1"/>
          <p:nvPr/>
        </p:nvSpPr>
        <p:spPr>
          <a:xfrm>
            <a:off x="8108950" y="2224333"/>
            <a:ext cx="3335655" cy="173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200" sz="700">
                <a:solidFill>
                  <a:srgbClr val="FFFFFF">
                    <a:alpha val="8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LEGAL COUNSEL</a:t>
            </a:r>
          </a:p>
        </p:txBody>
      </p:sp>
      <p:sp>
        <p:nvSpPr>
          <p:cNvPr id="447" name="Text 26"/>
          <p:cNvSpPr txBox="1"/>
          <p:nvPr/>
        </p:nvSpPr>
        <p:spPr>
          <a:xfrm>
            <a:off x="8108950" y="2511673"/>
            <a:ext cx="3335655" cy="438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COOLEY</a:t>
            </a:r>
          </a:p>
        </p:txBody>
      </p:sp>
      <p:sp>
        <p:nvSpPr>
          <p:cNvPr id="448" name="Text 27"/>
          <p:cNvSpPr txBox="1"/>
          <p:nvPr/>
        </p:nvSpPr>
        <p:spPr>
          <a:xfrm>
            <a:off x="8108950" y="2975817"/>
            <a:ext cx="3335655" cy="15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100" sz="600">
                <a:solidFill>
                  <a:srgbClr val="FFFFFF">
                    <a:alpha val="5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LLP · EST. 1920</a:t>
            </a:r>
          </a:p>
        </p:txBody>
      </p:sp>
      <p:sp>
        <p:nvSpPr>
          <p:cNvPr id="449" name="Shape 28"/>
          <p:cNvSpPr/>
          <p:nvPr/>
        </p:nvSpPr>
        <p:spPr>
          <a:xfrm>
            <a:off x="4330700" y="3318867"/>
            <a:ext cx="3530600" cy="1113633"/>
          </a:xfrm>
          <a:prstGeom prst="roundRect">
            <a:avLst>
              <a:gd name="adj" fmla="val 15966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  <a:effectLst>
            <a:outerShdw sx="100000" sy="100000" kx="0" ky="0" algn="b" rotWithShape="0" blurRad="571500" dist="285750" dir="5400000">
              <a:srgbClr val="3B82F6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0" name="Text 29"/>
          <p:cNvSpPr txBox="1"/>
          <p:nvPr/>
        </p:nvSpPr>
        <p:spPr>
          <a:xfrm>
            <a:off x="4476750" y="3439517"/>
            <a:ext cx="3335655" cy="173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200" sz="7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CONFERENCE</a:t>
            </a:r>
          </a:p>
        </p:txBody>
      </p:sp>
      <p:sp>
        <p:nvSpPr>
          <p:cNvPr id="451" name="Text 30"/>
          <p:cNvSpPr txBox="1"/>
          <p:nvPr/>
        </p:nvSpPr>
        <p:spPr>
          <a:xfrm>
            <a:off x="4476750" y="3726855"/>
            <a:ext cx="3335655" cy="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i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</a:t>
            </a:r>
          </a:p>
        </p:txBody>
      </p:sp>
      <p:sp>
        <p:nvSpPr>
          <p:cNvPr id="452" name="Text 31"/>
          <p:cNvSpPr txBox="1"/>
          <p:nvPr/>
        </p:nvSpPr>
        <p:spPr>
          <a:xfrm>
            <a:off x="4476750" y="4250085"/>
            <a:ext cx="3335655" cy="15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100" sz="600">
                <a:solidFill>
                  <a:srgbClr val="FFFFFF">
                    <a:alpha val="5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ATLANTIC COAST CONFERENCE</a:t>
            </a:r>
          </a:p>
        </p:txBody>
      </p:sp>
      <p:sp>
        <p:nvSpPr>
          <p:cNvPr id="453" name="Text 32"/>
          <p:cNvSpPr txBox="1"/>
          <p:nvPr/>
        </p:nvSpPr>
        <p:spPr>
          <a:xfrm>
            <a:off x="4476750" y="4428826"/>
            <a:ext cx="3335655" cy="14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Conference-level marketing </a:t>
            </a:r>
            <a:r>
              <a:rPr b="0">
                <a:solidFill>
                  <a:srgbClr val="FFFFFF">
                    <a:alpha val="64999"/>
                  </a:srgbClr>
                </a:solidFill>
              </a:rPr>
              <a:t>and institutional access.</a:t>
            </a:r>
          </a:p>
        </p:txBody>
      </p:sp>
      <p:sp>
        <p:nvSpPr>
          <p:cNvPr id="454" name="Shape 33"/>
          <p:cNvSpPr/>
          <p:nvPr/>
        </p:nvSpPr>
        <p:spPr>
          <a:xfrm>
            <a:off x="7962900" y="3318867"/>
            <a:ext cx="3530600" cy="1113633"/>
          </a:xfrm>
          <a:prstGeom prst="roundRect">
            <a:avLst>
              <a:gd name="adj" fmla="val 15966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55" name="Text 34"/>
          <p:cNvSpPr txBox="1"/>
          <p:nvPr/>
        </p:nvSpPr>
        <p:spPr>
          <a:xfrm>
            <a:off x="8108950" y="3439517"/>
            <a:ext cx="3335655" cy="173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200" sz="700">
                <a:solidFill>
                  <a:srgbClr val="FFAD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VENTURE NETWORK</a:t>
            </a:r>
          </a:p>
        </p:txBody>
      </p:sp>
      <p:sp>
        <p:nvSpPr>
          <p:cNvPr id="456" name="Text 35"/>
          <p:cNvSpPr txBox="1"/>
          <p:nvPr/>
        </p:nvSpPr>
        <p:spPr>
          <a:xfrm>
            <a:off x="8108950" y="3726855"/>
            <a:ext cx="3335655" cy="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-100" sz="2400">
                <a:solidFill>
                  <a:srgbClr val="FFAD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AWS</a:t>
            </a:r>
          </a:p>
        </p:txBody>
      </p:sp>
      <p:sp>
        <p:nvSpPr>
          <p:cNvPr id="457" name="Text 36"/>
          <p:cNvSpPr txBox="1"/>
          <p:nvPr/>
        </p:nvSpPr>
        <p:spPr>
          <a:xfrm>
            <a:off x="8108950" y="4250085"/>
            <a:ext cx="3335655" cy="15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100" sz="600">
                <a:solidFill>
                  <a:srgbClr val="FFFFFF">
                    <a:alpha val="5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STARTUPS</a:t>
            </a:r>
          </a:p>
        </p:txBody>
      </p:sp>
      <p:sp>
        <p:nvSpPr>
          <p:cNvPr id="458" name="Text 37"/>
          <p:cNvSpPr txBox="1"/>
          <p:nvPr/>
        </p:nvSpPr>
        <p:spPr>
          <a:xfrm>
            <a:off x="8108950" y="4428826"/>
            <a:ext cx="3335655" cy="14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Technical backing </a:t>
            </a:r>
            <a:r>
              <a:rPr b="0">
                <a:solidFill>
                  <a:srgbClr val="FFFFFF">
                    <a:alpha val="64999"/>
                  </a:srgbClr>
                </a:solidFill>
              </a:rPr>
              <a:t>&amp; credits.</a:t>
            </a:r>
          </a:p>
        </p:txBody>
      </p:sp>
      <p:sp>
        <p:nvSpPr>
          <p:cNvPr id="459" name="Shape 38"/>
          <p:cNvSpPr/>
          <p:nvPr/>
        </p:nvSpPr>
        <p:spPr>
          <a:xfrm>
            <a:off x="4330700" y="4534098"/>
            <a:ext cx="3530600" cy="1113583"/>
          </a:xfrm>
          <a:prstGeom prst="roundRect">
            <a:avLst>
              <a:gd name="adj" fmla="val 1596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0" name="Text 39"/>
          <p:cNvSpPr txBox="1"/>
          <p:nvPr/>
        </p:nvSpPr>
        <p:spPr>
          <a:xfrm>
            <a:off x="4476750" y="4654748"/>
            <a:ext cx="3335655" cy="173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200" sz="700">
                <a:solidFill>
                  <a:srgbClr val="32C99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VENTURE NETWORK</a:t>
            </a:r>
          </a:p>
        </p:txBody>
      </p:sp>
      <p:pic>
        <p:nvPicPr>
          <p:cNvPr id="4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76750" y="4969073"/>
            <a:ext cx="241300" cy="241302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Text 40"/>
          <p:cNvSpPr txBox="1"/>
          <p:nvPr/>
        </p:nvSpPr>
        <p:spPr>
          <a:xfrm>
            <a:off x="4781550" y="4942085"/>
            <a:ext cx="954930" cy="320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techstars</a:t>
            </a:r>
          </a:p>
        </p:txBody>
      </p:sp>
      <p:sp>
        <p:nvSpPr>
          <p:cNvPr id="463" name="Text 41"/>
          <p:cNvSpPr txBox="1"/>
          <p:nvPr/>
        </p:nvSpPr>
        <p:spPr>
          <a:xfrm>
            <a:off x="4476750" y="5402610"/>
            <a:ext cx="3335655" cy="14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Founder network </a:t>
            </a:r>
            <a:r>
              <a:rPr b="0">
                <a:solidFill>
                  <a:srgbClr val="FFFFFF">
                    <a:alpha val="64999"/>
                  </a:srgbClr>
                </a:solidFill>
              </a:rPr>
              <a:t>and support.</a:t>
            </a:r>
          </a:p>
        </p:txBody>
      </p:sp>
      <p:sp>
        <p:nvSpPr>
          <p:cNvPr id="464" name="Shape 42"/>
          <p:cNvSpPr/>
          <p:nvPr/>
        </p:nvSpPr>
        <p:spPr>
          <a:xfrm>
            <a:off x="7962900" y="4534098"/>
            <a:ext cx="3530600" cy="1113583"/>
          </a:xfrm>
          <a:prstGeom prst="roundRect">
            <a:avLst>
              <a:gd name="adj" fmla="val 1596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  <a:effectLst>
            <a:outerShdw sx="100000" sy="100000" kx="0" ky="0" algn="b" rotWithShape="0" blurRad="571500" dist="285750" dir="5400000">
              <a:srgbClr val="E0FE1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65" name="Text 43"/>
          <p:cNvSpPr txBox="1"/>
          <p:nvPr/>
        </p:nvSpPr>
        <p:spPr>
          <a:xfrm>
            <a:off x="8108950" y="4654748"/>
            <a:ext cx="3335655" cy="163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200" sz="700">
                <a:solidFill>
                  <a:srgbClr val="E0FE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LEAD INVESTOR</a:t>
            </a:r>
          </a:p>
        </p:txBody>
      </p:sp>
      <p:sp>
        <p:nvSpPr>
          <p:cNvPr id="466" name="Text 44"/>
          <p:cNvSpPr txBox="1"/>
          <p:nvPr/>
        </p:nvSpPr>
        <p:spPr>
          <a:xfrm>
            <a:off x="8108950" y="4932214"/>
            <a:ext cx="3335655" cy="399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50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LAUNCH</a:t>
            </a:r>
            <a:r>
              <a:rPr>
                <a:solidFill>
                  <a:srgbClr val="E0FE10"/>
                </a:solidFill>
              </a:rPr>
              <a:t>▲</a:t>
            </a:r>
          </a:p>
        </p:txBody>
      </p:sp>
      <p:sp>
        <p:nvSpPr>
          <p:cNvPr id="467" name="Text 45"/>
          <p:cNvSpPr txBox="1"/>
          <p:nvPr/>
        </p:nvSpPr>
        <p:spPr>
          <a:xfrm>
            <a:off x="8108950" y="5357019"/>
            <a:ext cx="3335655" cy="15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55000"/>
              </a:lnSpc>
              <a:defRPr b="1" spc="100" sz="600">
                <a:solidFill>
                  <a:srgbClr val="FFFFFF">
                    <a:alpha val="5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FOUNDER UNIVERSITY</a:t>
            </a:r>
          </a:p>
        </p:txBody>
      </p:sp>
      <p:sp>
        <p:nvSpPr>
          <p:cNvPr id="468" name="Text 46"/>
          <p:cNvSpPr txBox="1"/>
          <p:nvPr/>
        </p:nvSpPr>
        <p:spPr>
          <a:xfrm>
            <a:off x="8108950" y="5535760"/>
            <a:ext cx="3335655" cy="14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Investor backing </a:t>
            </a:r>
            <a:r>
              <a:rPr b="0">
                <a:solidFill>
                  <a:srgbClr val="FFFFFF">
                    <a:alpha val="64999"/>
                  </a:srgbClr>
                </a:solidFill>
              </a:rPr>
              <a:t>and Founder University network.</a:t>
            </a:r>
          </a:p>
        </p:txBody>
      </p:sp>
      <p:sp>
        <p:nvSpPr>
          <p:cNvPr id="469" name="Shape 47"/>
          <p:cNvSpPr/>
          <p:nvPr/>
        </p:nvSpPr>
        <p:spPr>
          <a:xfrm>
            <a:off x="698500" y="5800130"/>
            <a:ext cx="10795000" cy="486372"/>
          </a:xfrm>
          <a:prstGeom prst="roundRect">
            <a:avLst>
              <a:gd name="adj" fmla="val 18278"/>
            </a:avLst>
          </a:prstGeom>
          <a:solidFill>
            <a:srgbClr val="E0FE10">
              <a:alpha val="6000"/>
            </a:srgbClr>
          </a:solidFill>
          <a:ln w="6350">
            <a:solidFill>
              <a:srgbClr val="E0FE10">
                <a:alpha val="25000"/>
              </a:srgbClr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0" name="Text 48"/>
          <p:cNvSpPr txBox="1"/>
          <p:nvPr/>
        </p:nvSpPr>
        <p:spPr>
          <a:xfrm>
            <a:off x="882650" y="5935067"/>
            <a:ext cx="190500" cy="241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58951">
              <a:lnSpc>
                <a:spcPct val="155000"/>
              </a:lnSpc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⚡</a:t>
            </a:r>
          </a:p>
        </p:txBody>
      </p:sp>
      <p:sp>
        <p:nvSpPr>
          <p:cNvPr id="471" name="Text 49"/>
          <p:cNvSpPr txBox="1"/>
          <p:nvPr/>
        </p:nvSpPr>
        <p:spPr>
          <a:xfrm>
            <a:off x="1136649" y="5933480"/>
            <a:ext cx="8050591" cy="245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5000"/>
              </a:lnSpc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Clinical, hardware, legal, capital, and institutional infrastructure. </a:t>
            </a:r>
            <a:r>
              <a:rPr b="0">
                <a:solidFill>
                  <a:srgbClr val="FFFFFF">
                    <a:alpha val="64999"/>
                  </a:srgbClr>
                </a:solidFill>
              </a:rPr>
              <a:t>The support around us is real — and already in motion.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822960" y="566927"/>
            <a:ext cx="1828802" cy="384050"/>
          </a:xfrm>
          <a:prstGeom prst="roundRect">
            <a:avLst>
              <a:gd name="adj" fmla="val 50000"/>
            </a:avLst>
          </a:prstGeom>
          <a:solidFill>
            <a:srgbClr val="141619"/>
          </a:solidFill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4" name="Shape 1"/>
          <p:cNvSpPr/>
          <p:nvPr/>
        </p:nvSpPr>
        <p:spPr>
          <a:xfrm>
            <a:off x="1005838" y="722376"/>
            <a:ext cx="73155" cy="73155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5" name="Text 2"/>
          <p:cNvSpPr txBox="1"/>
          <p:nvPr/>
        </p:nvSpPr>
        <p:spPr>
          <a:xfrm>
            <a:off x="1152144" y="691178"/>
            <a:ext cx="1463042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ASK</a:t>
            </a:r>
          </a:p>
        </p:txBody>
      </p:sp>
      <p:sp>
        <p:nvSpPr>
          <p:cNvPr id="476" name="Text 3"/>
          <p:cNvSpPr txBox="1"/>
          <p:nvPr/>
        </p:nvSpPr>
        <p:spPr>
          <a:xfrm>
            <a:off x="822960" y="1599865"/>
            <a:ext cx="10515601" cy="5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400"/>
              </a:lnSpc>
              <a:defRPr b="1" sz="38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Raising </a:t>
            </a:r>
            <a:r>
              <a:rPr>
                <a:solidFill>
                  <a:srgbClr val="C8FF00"/>
                </a:solidFill>
              </a:rPr>
              <a:t>$1.4M</a:t>
            </a:r>
            <a:r>
              <a:t> to own the mandate.</a:t>
            </a:r>
          </a:p>
        </p:txBody>
      </p:sp>
      <p:sp>
        <p:nvSpPr>
          <p:cNvPr id="477" name="Text 4"/>
          <p:cNvSpPr txBox="1"/>
          <p:nvPr/>
        </p:nvSpPr>
        <p:spPr>
          <a:xfrm>
            <a:off x="841247" y="2220742"/>
            <a:ext cx="100584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Pre-seed on a $10M pre-money. Capital funds the team and product velocity to convert the visible beachhead.</a:t>
            </a:r>
          </a:p>
        </p:txBody>
      </p:sp>
      <p:sp>
        <p:nvSpPr>
          <p:cNvPr id="478" name="Shape 5"/>
          <p:cNvSpPr/>
          <p:nvPr/>
        </p:nvSpPr>
        <p:spPr>
          <a:xfrm>
            <a:off x="822960" y="2788920"/>
            <a:ext cx="4206241" cy="3246122"/>
          </a:xfrm>
          <a:prstGeom prst="roundRect">
            <a:avLst>
              <a:gd name="adj" fmla="val 3380"/>
            </a:avLst>
          </a:prstGeom>
          <a:solidFill>
            <a:srgbClr val="141619"/>
          </a:solidFill>
          <a:ln w="12700">
            <a:solidFill>
              <a:srgbClr val="C8FF00"/>
            </a:solidFill>
          </a:ln>
          <a:effectLst>
            <a:outerShdw sx="100000" sy="100000" kx="0" ky="0" algn="b" rotWithShape="0" blurRad="177800" dist="50800" dir="5400000">
              <a:srgbClr val="000000">
                <a:alpha val="4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79" name="Text 6"/>
          <p:cNvSpPr txBox="1"/>
          <p:nvPr/>
        </p:nvSpPr>
        <p:spPr>
          <a:xfrm>
            <a:off x="1143000" y="3126484"/>
            <a:ext cx="3657600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CURRENT RAISE</a:t>
            </a:r>
          </a:p>
        </p:txBody>
      </p:sp>
      <p:sp>
        <p:nvSpPr>
          <p:cNvPr id="480" name="Text 7"/>
          <p:cNvSpPr txBox="1"/>
          <p:nvPr/>
        </p:nvSpPr>
        <p:spPr>
          <a:xfrm>
            <a:off x="1097279" y="3414793"/>
            <a:ext cx="3657603" cy="851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60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$1.4M</a:t>
            </a:r>
          </a:p>
        </p:txBody>
      </p:sp>
      <p:sp>
        <p:nvSpPr>
          <p:cNvPr id="481" name="Text 8"/>
          <p:cNvSpPr txBox="1"/>
          <p:nvPr/>
        </p:nvSpPr>
        <p:spPr>
          <a:xfrm>
            <a:off x="1143000" y="4512886"/>
            <a:ext cx="365760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$10M pre-money</a:t>
            </a:r>
          </a:p>
        </p:txBody>
      </p:sp>
      <p:sp>
        <p:nvSpPr>
          <p:cNvPr id="482" name="Text 9"/>
          <p:cNvSpPr txBox="1"/>
          <p:nvPr/>
        </p:nvSpPr>
        <p:spPr>
          <a:xfrm>
            <a:off x="1143000" y="5217445"/>
            <a:ext cx="3657600" cy="446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i="1" sz="13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Ladder: $1.4M → $5M → $12M → $25M, pre-seed through Series B.</a:t>
            </a:r>
          </a:p>
        </p:txBody>
      </p:sp>
      <p:sp>
        <p:nvSpPr>
          <p:cNvPr id="483" name="Text 10"/>
          <p:cNvSpPr txBox="1"/>
          <p:nvPr/>
        </p:nvSpPr>
        <p:spPr>
          <a:xfrm>
            <a:off x="5486400" y="2852165"/>
            <a:ext cx="457200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USE OF FUNDS</a:t>
            </a:r>
          </a:p>
        </p:txBody>
      </p:sp>
      <p:sp>
        <p:nvSpPr>
          <p:cNvPr id="484" name="Shape 11"/>
          <p:cNvSpPr/>
          <p:nvPr/>
        </p:nvSpPr>
        <p:spPr>
          <a:xfrm>
            <a:off x="5486399" y="3255264"/>
            <a:ext cx="146308" cy="146307"/>
          </a:xfrm>
          <a:prstGeom prst="ellipse">
            <a:avLst/>
          </a:prstGeom>
          <a:solidFill>
            <a:srgbClr val="5B9D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5" name="Text 12"/>
          <p:cNvSpPr txBox="1"/>
          <p:nvPr/>
        </p:nvSpPr>
        <p:spPr>
          <a:xfrm>
            <a:off x="5760719" y="3248012"/>
            <a:ext cx="411480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Engineering</a:t>
            </a:r>
          </a:p>
        </p:txBody>
      </p:sp>
      <p:sp>
        <p:nvSpPr>
          <p:cNvPr id="486" name="Text 13"/>
          <p:cNvSpPr txBox="1"/>
          <p:nvPr/>
        </p:nvSpPr>
        <p:spPr>
          <a:xfrm>
            <a:off x="9692640" y="3235726"/>
            <a:ext cx="169164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600">
                <a:solidFill>
                  <a:srgbClr val="5B9D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$450K</a:t>
            </a:r>
          </a:p>
        </p:txBody>
      </p:sp>
      <p:sp>
        <p:nvSpPr>
          <p:cNvPr id="487" name="Shape 14"/>
          <p:cNvSpPr/>
          <p:nvPr/>
        </p:nvSpPr>
        <p:spPr>
          <a:xfrm>
            <a:off x="5486399" y="3730752"/>
            <a:ext cx="146308" cy="146307"/>
          </a:xfrm>
          <a:prstGeom prst="ellipse">
            <a:avLst/>
          </a:prstGeom>
          <a:solidFill>
            <a:srgbClr val="A98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88" name="Text 15"/>
          <p:cNvSpPr txBox="1"/>
          <p:nvPr/>
        </p:nvSpPr>
        <p:spPr>
          <a:xfrm>
            <a:off x="5760719" y="3723499"/>
            <a:ext cx="411480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Partnerships</a:t>
            </a:r>
          </a:p>
        </p:txBody>
      </p:sp>
      <p:sp>
        <p:nvSpPr>
          <p:cNvPr id="489" name="Text 16"/>
          <p:cNvSpPr txBox="1"/>
          <p:nvPr/>
        </p:nvSpPr>
        <p:spPr>
          <a:xfrm>
            <a:off x="9692640" y="3711214"/>
            <a:ext cx="169164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600">
                <a:solidFill>
                  <a:srgbClr val="A98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$150K</a:t>
            </a:r>
          </a:p>
        </p:txBody>
      </p:sp>
      <p:sp>
        <p:nvSpPr>
          <p:cNvPr id="490" name="Shape 17"/>
          <p:cNvSpPr/>
          <p:nvPr/>
        </p:nvSpPr>
        <p:spPr>
          <a:xfrm>
            <a:off x="5486399" y="4206240"/>
            <a:ext cx="146308" cy="146307"/>
          </a:xfrm>
          <a:prstGeom prst="ellipse">
            <a:avLst/>
          </a:prstGeom>
          <a:solidFill>
            <a:srgbClr val="FF6FB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1" name="Text 18"/>
          <p:cNvSpPr txBox="1"/>
          <p:nvPr/>
        </p:nvSpPr>
        <p:spPr>
          <a:xfrm>
            <a:off x="5760719" y="4198987"/>
            <a:ext cx="411480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Athlete performance science</a:t>
            </a:r>
          </a:p>
        </p:txBody>
      </p:sp>
      <p:sp>
        <p:nvSpPr>
          <p:cNvPr id="492" name="Text 19"/>
          <p:cNvSpPr txBox="1"/>
          <p:nvPr/>
        </p:nvSpPr>
        <p:spPr>
          <a:xfrm>
            <a:off x="9692640" y="4186702"/>
            <a:ext cx="169164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600">
                <a:solidFill>
                  <a:srgbClr val="FF6FB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$150K</a:t>
            </a:r>
          </a:p>
        </p:txBody>
      </p:sp>
      <p:sp>
        <p:nvSpPr>
          <p:cNvPr id="493" name="Shape 20"/>
          <p:cNvSpPr/>
          <p:nvPr/>
        </p:nvSpPr>
        <p:spPr>
          <a:xfrm>
            <a:off x="5486399" y="4681728"/>
            <a:ext cx="146308" cy="146307"/>
          </a:xfrm>
          <a:prstGeom prst="ellipse">
            <a:avLst/>
          </a:prstGeom>
          <a:solidFill>
            <a:srgbClr val="C8FF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4" name="Text 21"/>
          <p:cNvSpPr txBox="1"/>
          <p:nvPr/>
        </p:nvSpPr>
        <p:spPr>
          <a:xfrm>
            <a:off x="5760719" y="4674475"/>
            <a:ext cx="411480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 R&amp;D</a:t>
            </a:r>
          </a:p>
        </p:txBody>
      </p:sp>
      <p:sp>
        <p:nvSpPr>
          <p:cNvPr id="495" name="Text 22"/>
          <p:cNvSpPr txBox="1"/>
          <p:nvPr/>
        </p:nvSpPr>
        <p:spPr>
          <a:xfrm>
            <a:off x="9692640" y="4662191"/>
            <a:ext cx="169164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6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$100K</a:t>
            </a:r>
          </a:p>
        </p:txBody>
      </p:sp>
      <p:sp>
        <p:nvSpPr>
          <p:cNvPr id="496" name="Shape 23"/>
          <p:cNvSpPr/>
          <p:nvPr/>
        </p:nvSpPr>
        <p:spPr>
          <a:xfrm>
            <a:off x="5486399" y="5157215"/>
            <a:ext cx="146308" cy="146307"/>
          </a:xfrm>
          <a:prstGeom prst="ellipse">
            <a:avLst/>
          </a:prstGeom>
          <a:solidFill>
            <a:srgbClr val="FF9D4D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497" name="Text 24"/>
          <p:cNvSpPr txBox="1"/>
          <p:nvPr/>
        </p:nvSpPr>
        <p:spPr>
          <a:xfrm>
            <a:off x="5760719" y="5149963"/>
            <a:ext cx="411480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GTM and marketing</a:t>
            </a:r>
          </a:p>
        </p:txBody>
      </p:sp>
      <p:sp>
        <p:nvSpPr>
          <p:cNvPr id="498" name="Text 25"/>
          <p:cNvSpPr txBox="1"/>
          <p:nvPr/>
        </p:nvSpPr>
        <p:spPr>
          <a:xfrm>
            <a:off x="9692640" y="5137679"/>
            <a:ext cx="169164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600">
                <a:solidFill>
                  <a:srgbClr val="FF9D4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$300K</a:t>
            </a:r>
          </a:p>
        </p:txBody>
      </p:sp>
      <p:sp>
        <p:nvSpPr>
          <p:cNvPr id="499" name="Shape 26"/>
          <p:cNvSpPr/>
          <p:nvPr/>
        </p:nvSpPr>
        <p:spPr>
          <a:xfrm>
            <a:off x="5486399" y="5632703"/>
            <a:ext cx="146308" cy="146307"/>
          </a:xfrm>
          <a:prstGeom prst="ellipse">
            <a:avLst/>
          </a:prstGeom>
          <a:solidFill>
            <a:srgbClr val="8A909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500" name="Text 27"/>
          <p:cNvSpPr txBox="1"/>
          <p:nvPr/>
        </p:nvSpPr>
        <p:spPr>
          <a:xfrm>
            <a:off x="5760719" y="5625451"/>
            <a:ext cx="411480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Operating runway</a:t>
            </a:r>
          </a:p>
        </p:txBody>
      </p:sp>
      <p:sp>
        <p:nvSpPr>
          <p:cNvPr id="501" name="Text 28"/>
          <p:cNvSpPr txBox="1"/>
          <p:nvPr/>
        </p:nvSpPr>
        <p:spPr>
          <a:xfrm>
            <a:off x="9692640" y="5613167"/>
            <a:ext cx="169164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6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$250K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ext 0"/>
          <p:cNvSpPr txBox="1"/>
          <p:nvPr/>
        </p:nvSpPr>
        <p:spPr>
          <a:xfrm>
            <a:off x="822960" y="1816812"/>
            <a:ext cx="10515601" cy="481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3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PULSE CHECK MAKES ATHLETES</a:t>
            </a:r>
          </a:p>
        </p:txBody>
      </p:sp>
      <p:sp>
        <p:nvSpPr>
          <p:cNvPr id="504" name="Text 1"/>
          <p:cNvSpPr txBox="1"/>
          <p:nvPr/>
        </p:nvSpPr>
        <p:spPr>
          <a:xfrm>
            <a:off x="822960" y="2502612"/>
            <a:ext cx="10515601" cy="481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3400">
                <a:solidFill>
                  <a:srgbClr val="C8FF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HIGHER-PERFORMING</a:t>
            </a:r>
            <a:r>
              <a:rPr>
                <a:solidFill>
                  <a:srgbClr val="F4F6F2"/>
                </a:solidFill>
              </a:rPr>
              <a:t> WITHOUT</a:t>
            </a:r>
          </a:p>
        </p:txBody>
      </p:sp>
      <p:sp>
        <p:nvSpPr>
          <p:cNvPr id="505" name="Text 2"/>
          <p:cNvSpPr txBox="1"/>
          <p:nvPr/>
        </p:nvSpPr>
        <p:spPr>
          <a:xfrm>
            <a:off x="822960" y="3188412"/>
            <a:ext cx="10515601" cy="481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34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BEING </a:t>
            </a:r>
            <a:r>
              <a:rPr>
                <a:solidFill>
                  <a:srgbClr val="FF6FB5"/>
                </a:solidFill>
              </a:rPr>
              <a:t>HOLLOWED OUT.</a:t>
            </a:r>
          </a:p>
        </p:txBody>
      </p:sp>
      <p:sp>
        <p:nvSpPr>
          <p:cNvPr id="506" name="Text 3"/>
          <p:cNvSpPr txBox="1"/>
          <p:nvPr/>
        </p:nvSpPr>
        <p:spPr>
          <a:xfrm>
            <a:off x="822960" y="4150419"/>
            <a:ext cx="9601201" cy="568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300"/>
              </a:lnSpc>
              <a:defRPr sz="1600">
                <a:solidFill>
                  <a:srgbClr val="C3C8C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compliance-required platform for college athlete mental performance, with a visible path from the first school to $100M ARR.</a:t>
            </a:r>
          </a:p>
        </p:txBody>
      </p:sp>
      <p:sp>
        <p:nvSpPr>
          <p:cNvPr id="507" name="Text 4"/>
          <p:cNvSpPr txBox="1"/>
          <p:nvPr/>
        </p:nvSpPr>
        <p:spPr>
          <a:xfrm>
            <a:off x="822960" y="5125672"/>
            <a:ext cx="105156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A90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DETECT   →   TRAIN   →   ROUTE   →   MEASURE</a:t>
            </a:r>
          </a:p>
        </p:txBody>
      </p:sp>
      <p:sp>
        <p:nvSpPr>
          <p:cNvPr id="508" name="Shape 5"/>
          <p:cNvSpPr/>
          <p:nvPr/>
        </p:nvSpPr>
        <p:spPr>
          <a:xfrm>
            <a:off x="822958" y="5669279"/>
            <a:ext cx="10561324" cy="2"/>
          </a:xfrm>
          <a:prstGeom prst="line">
            <a:avLst/>
          </a:prstGeom>
          <a:ln w="12700">
            <a:solidFill>
              <a:srgbClr val="2A2E33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9" name="Text 6"/>
          <p:cNvSpPr txBox="1"/>
          <p:nvPr/>
        </p:nvSpPr>
        <p:spPr>
          <a:xfrm>
            <a:off x="822960" y="5942489"/>
            <a:ext cx="73152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4F6F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Tremaine Grant</a:t>
            </a:r>
            <a:r>
              <a:rPr b="0">
                <a:solidFill>
                  <a:srgbClr val="C8FF00"/>
                </a:solidFill>
              </a:rPr>
              <a:t>   tre@fitwithpulse.ai</a:t>
            </a:r>
          </a:p>
        </p:txBody>
      </p:sp>
      <p:sp>
        <p:nvSpPr>
          <p:cNvPr id="510" name="Text 7"/>
          <p:cNvSpPr txBox="1"/>
          <p:nvPr/>
        </p:nvSpPr>
        <p:spPr>
          <a:xfrm>
            <a:off x="5943600" y="5948631"/>
            <a:ext cx="544068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pc="100" sz="1200">
                <a:solidFill>
                  <a:srgbClr val="FF6FB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$1.4M PRE-SEED  ·  $10M PRE-MONEY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673706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26737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ECONOMICS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department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250 athletes.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athletic department fields roughly 250 student-athletes — and one contract covers the full roster.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61488"/>
            <a:ext cx="4206240" cy="3017520"/>
          </a:xfrm>
          <a:prstGeom prst="roundRect">
            <a:avLst>
              <a:gd name="adj" fmla="val 3939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UNIT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4015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143000" y="4480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per athletic department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every varsity roster on campus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0" y="2834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DEPARTMENT MEANS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0" y="3200400"/>
            <a:ext cx="5897880" cy="1207008"/>
          </a:xfrm>
          <a:prstGeom prst="roundRect">
            <a:avLst>
              <a:gd name="adj" fmla="val 9848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3502152"/>
            <a:ext cx="603504" cy="603504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14" name="Image 0" descr="/tmp/claude-0/-home-user-QuickLifts-Web/26b019cd-7888-5ab3-ba1c-caeae67de894/scratchpad/assets/p08-i0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4456" y="365760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2940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contract, every team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2940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spans the whole department — football to track — not per-sport seats or team-by-team sales.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0" y="4553712"/>
            <a:ext cx="5897880" cy="1207008"/>
          </a:xfrm>
          <a:prstGeom prst="roundRect">
            <a:avLst>
              <a:gd name="adj" fmla="val 9848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79008" y="4855464"/>
            <a:ext cx="603504" cy="603504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19" name="Image 1" descr="/tmp/claude-0/-home-user-QuickLifts-Web/26b019cd-7888-5ab3-ba1c-caeae67de894/scratchpad/assets/p08-i07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56" y="501091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294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scales with the roster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629400" y="51023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 athletes × $300 per athlete ≈ $75K per department, per year at full price.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22960" y="6053328"/>
            <a:ext cx="10561320" cy="530352"/>
          </a:xfrm>
          <a:prstGeom prst="roundRect">
            <a:avLst>
              <a:gd name="adj" fmla="val 22414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51560" y="6053328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</a:t>
            </a:r>
            <a:pPr indent="0" marL="0">
              <a:buNone/>
            </a:pPr>
            <a:r>
              <a:rPr lang="en-US" sz="11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athlete count is the pricing engine. </a:t>
            </a:r>
            <a:pPr indent="0" marL="0">
              <a:buNone/>
            </a:pPr>
            <a:r>
              <a:rPr lang="en-US" sz="11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size × flat rate — bigger departments compound the contract.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