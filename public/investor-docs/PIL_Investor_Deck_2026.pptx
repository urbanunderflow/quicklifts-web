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media/image1.jpeg" ContentType="image/jpeg"/>
  <Override PartName="/ppt/media/image2.jpeg" ContentType="image/jpeg"/>
  <Override PartName="/ppt/media/image3.jpeg" ContentType="image/jpeg"/>
  <Override PartName="/ppt/media/image4.jpeg" ContentType="image/jpeg"/>
  <Override PartName="/ppt/media/image5.jpeg" ContentType="image/jpeg"/>
  <Override PartName="/ppt/media/image6.jpeg" ContentType="image/jpe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793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 b="def" i="def"/>
      <a:tcStyle>
        <a:tcBdr/>
        <a:fill>
          <a:solidFill>
            <a:srgbClr val="F0F0F0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 b="def" i="def"/>
      <a:tcStyle>
        <a:tcBdr/>
        <a:fill>
          <a:solidFill>
            <a:srgbClr val="EBF1E8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17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8" name="Shape 18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n-lt"/>
        <a:ea typeface="+mn-ea"/>
        <a:cs typeface="+mn-cs"/>
        <a:sym typeface="Calibri"/>
      </a:defRPr>
    </a:lvl1pPr>
    <a:lvl2pPr indent="228600" latinLnBrk="0">
      <a:defRPr sz="1200">
        <a:latin typeface="+mn-lt"/>
        <a:ea typeface="+mn-ea"/>
        <a:cs typeface="+mn-cs"/>
        <a:sym typeface="Calibri"/>
      </a:defRPr>
    </a:lvl2pPr>
    <a:lvl3pPr indent="457200" latinLnBrk="0">
      <a:defRPr sz="1200">
        <a:latin typeface="+mn-lt"/>
        <a:ea typeface="+mn-ea"/>
        <a:cs typeface="+mn-cs"/>
        <a:sym typeface="Calibri"/>
      </a:defRPr>
    </a:lvl3pPr>
    <a:lvl4pPr indent="685800" latinLnBrk="0">
      <a:defRPr sz="1200">
        <a:latin typeface="+mn-lt"/>
        <a:ea typeface="+mn-ea"/>
        <a:cs typeface="+mn-cs"/>
        <a:sym typeface="Calibri"/>
      </a:defRPr>
    </a:lvl4pPr>
    <a:lvl5pPr indent="914400" latinLnBrk="0">
      <a:defRPr sz="1200">
        <a:latin typeface="+mn-lt"/>
        <a:ea typeface="+mn-ea"/>
        <a:cs typeface="+mn-cs"/>
        <a:sym typeface="Calibri"/>
      </a:defRPr>
    </a:lvl5pPr>
    <a:lvl6pPr indent="1143000" latinLnBrk="0">
      <a:defRPr sz="1200">
        <a:latin typeface="+mn-lt"/>
        <a:ea typeface="+mn-ea"/>
        <a:cs typeface="+mn-cs"/>
        <a:sym typeface="Calibri"/>
      </a:defRPr>
    </a:lvl6pPr>
    <a:lvl7pPr indent="1371600" latinLnBrk="0">
      <a:defRPr sz="1200">
        <a:latin typeface="+mn-lt"/>
        <a:ea typeface="+mn-ea"/>
        <a:cs typeface="+mn-cs"/>
        <a:sym typeface="Calibri"/>
      </a:defRPr>
    </a:lvl7pPr>
    <a:lvl8pPr indent="1600200" latinLnBrk="0">
      <a:defRPr sz="1200">
        <a:latin typeface="+mn-lt"/>
        <a:ea typeface="+mn-ea"/>
        <a:cs typeface="+mn-cs"/>
        <a:sym typeface="Calibri"/>
      </a:defRPr>
    </a:lvl8pPr>
    <a:lvl9pPr indent="18288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1824780" y="769937"/>
            <a:ext cx="9743441" cy="16684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/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6797994" y="2438400"/>
            <a:ext cx="4770227" cy="4419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8469877" y="6232199"/>
            <a:ext cx="258622" cy="248303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  <p:transition xmlns:p14="http://schemas.microsoft.com/office/powerpoint/2010/main" spd="med" advClick="1"/>
  <p:txStyles>
    <p:titleStyle>
      <a:lvl1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1pPr>
      <a:lvl2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2pPr>
      <a:lvl3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3pPr>
      <a:lvl4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4pPr>
      <a:lvl5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5pPr>
      <a:lvl6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6pPr>
      <a:lvl7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7pPr>
      <a:lvl8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8pPr>
      <a:lvl9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9pPr>
    </p:titleStyle>
    <p:bodyStyle>
      <a:lvl1pPr marL="342900" marR="0" indent="-3429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783771" marR="0" indent="-326571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1219200" marR="0" indent="-3048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17373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21945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26517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31089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35661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40233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5.png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Relationship Id="rId3" Type="http://schemas.openxmlformats.org/officeDocument/2006/relationships/image" Target="../media/image3.jpeg"/><Relationship Id="rId4" Type="http://schemas.openxmlformats.org/officeDocument/2006/relationships/image" Target="../media/image4.jpeg"/><Relationship Id="rId5" Type="http://schemas.openxmlformats.org/officeDocument/2006/relationships/image" Target="../media/image24.png"/><Relationship Id="rId6" Type="http://schemas.openxmlformats.org/officeDocument/2006/relationships/image" Target="../media/image25.png"/><Relationship Id="rId7" Type="http://schemas.openxmlformats.org/officeDocument/2006/relationships/image" Target="../media/image26.png"/><Relationship Id="rId8" Type="http://schemas.openxmlformats.org/officeDocument/2006/relationships/image" Target="../media/image27.png"/><Relationship Id="rId9" Type="http://schemas.openxmlformats.org/officeDocument/2006/relationships/image" Target="../media/image28.png"/><Relationship Id="rId10" Type="http://schemas.openxmlformats.org/officeDocument/2006/relationships/image" Target="../media/image29.png"/></Relationships>
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8.png"/><Relationship Id="rId4" Type="http://schemas.openxmlformats.org/officeDocument/2006/relationships/image" Target="../media/image18.png"/><Relationship Id="rId5" Type="http://schemas.openxmlformats.org/officeDocument/2006/relationships/image" Target="../media/image5.jpeg"/><Relationship Id="rId6" Type="http://schemas.openxmlformats.org/officeDocument/2006/relationships/image" Target="../media/image6.jpeg"/></Relationships>
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0.png"/></Relationships>
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0"/>
          <p:cNvSpPr txBox="1"/>
          <p:nvPr/>
        </p:nvSpPr>
        <p:spPr>
          <a:xfrm>
            <a:off x="822960" y="1285187"/>
            <a:ext cx="10515601" cy="7649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100" sz="5400">
                <a:solidFill>
                  <a:srgbClr val="F4F6F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PULSE INTELLIGENCE LABS</a:t>
            </a:r>
          </a:p>
        </p:txBody>
      </p:sp>
      <p:sp>
        <p:nvSpPr>
          <p:cNvPr id="21" name="Text 1"/>
          <p:cNvSpPr txBox="1"/>
          <p:nvPr/>
        </p:nvSpPr>
        <p:spPr>
          <a:xfrm>
            <a:off x="841247" y="2460311"/>
            <a:ext cx="10515601" cy="3828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100" sz="2600">
                <a:solidFill>
                  <a:srgbClr val="C8FF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THE HUMAN PERFORMANCE COMPANY</a:t>
            </a:r>
          </a:p>
        </p:txBody>
      </p:sp>
      <p:sp>
        <p:nvSpPr>
          <p:cNvPr id="22" name="Text 2"/>
          <p:cNvSpPr txBox="1"/>
          <p:nvPr/>
        </p:nvSpPr>
        <p:spPr>
          <a:xfrm>
            <a:off x="841247" y="3303253"/>
            <a:ext cx="8778242" cy="6172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ts val="2500"/>
              </a:lnSpc>
              <a:defRPr sz="1700">
                <a:solidFill>
                  <a:srgbClr val="C3C8CE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We build AI systems that measure and train human performance. </a:t>
            </a:r>
            <a:r>
              <a:rPr b="1">
                <a:solidFill>
                  <a:srgbClr val="A48CF8"/>
                </a:solidFill>
              </a:rPr>
              <a:t>Pulse Check is our flagship platform for college athletics.</a:t>
            </a:r>
          </a:p>
        </p:txBody>
      </p:sp>
      <p:sp>
        <p:nvSpPr>
          <p:cNvPr id="23" name="Shape 3"/>
          <p:cNvSpPr/>
          <p:nvPr/>
        </p:nvSpPr>
        <p:spPr>
          <a:xfrm>
            <a:off x="822960" y="4434840"/>
            <a:ext cx="3383280" cy="1463042"/>
          </a:xfrm>
          <a:prstGeom prst="roundRect">
            <a:avLst>
              <a:gd name="adj" fmla="val 7500"/>
            </a:avLst>
          </a:prstGeom>
          <a:solidFill>
            <a:srgbClr val="141619"/>
          </a:solidFill>
          <a:ln w="12700">
            <a:solidFill>
              <a:srgbClr val="2A2E33"/>
            </a:solidFill>
          </a:ln>
          <a:effectLst>
            <a:outerShdw sx="100000" sy="100000" kx="0" ky="0" algn="b" rotWithShape="0" blurRad="177800" dist="50800" dir="5400000">
              <a:srgbClr val="000000">
                <a:alpha val="45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4" name="Text 4"/>
          <p:cNvSpPr txBox="1"/>
          <p:nvPr/>
        </p:nvSpPr>
        <p:spPr>
          <a:xfrm>
            <a:off x="1097278" y="4687106"/>
            <a:ext cx="2926083" cy="1355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200" sz="1000">
                <a:solidFill>
                  <a:srgbClr val="C8FF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PRE-SEED</a:t>
            </a:r>
          </a:p>
        </p:txBody>
      </p:sp>
      <p:sp>
        <p:nvSpPr>
          <p:cNvPr id="25" name="Text 5"/>
          <p:cNvSpPr txBox="1"/>
          <p:nvPr/>
        </p:nvSpPr>
        <p:spPr>
          <a:xfrm>
            <a:off x="1097278" y="4981745"/>
            <a:ext cx="2926083" cy="2960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100">
                <a:solidFill>
                  <a:srgbClr val="F4F6F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$1.4M</a:t>
            </a:r>
          </a:p>
        </p:txBody>
      </p:sp>
      <p:sp>
        <p:nvSpPr>
          <p:cNvPr id="26" name="Text 6"/>
          <p:cNvSpPr txBox="1"/>
          <p:nvPr/>
        </p:nvSpPr>
        <p:spPr>
          <a:xfrm>
            <a:off x="1097278" y="5499353"/>
            <a:ext cx="2926083" cy="1478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100">
                <a:solidFill>
                  <a:srgbClr val="8A9099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$10M pre-money</a:t>
            </a:r>
          </a:p>
        </p:txBody>
      </p:sp>
      <p:sp>
        <p:nvSpPr>
          <p:cNvPr id="27" name="Shape 7"/>
          <p:cNvSpPr/>
          <p:nvPr/>
        </p:nvSpPr>
        <p:spPr>
          <a:xfrm>
            <a:off x="4407408" y="4434840"/>
            <a:ext cx="3383282" cy="1463042"/>
          </a:xfrm>
          <a:prstGeom prst="roundRect">
            <a:avLst>
              <a:gd name="adj" fmla="val 7500"/>
            </a:avLst>
          </a:prstGeom>
          <a:solidFill>
            <a:srgbClr val="141619"/>
          </a:solidFill>
          <a:ln w="12700">
            <a:solidFill>
              <a:srgbClr val="2A2E33"/>
            </a:solidFill>
          </a:ln>
          <a:effectLst>
            <a:outerShdw sx="100000" sy="100000" kx="0" ky="0" algn="b" rotWithShape="0" blurRad="177800" dist="50800" dir="5400000">
              <a:srgbClr val="000000">
                <a:alpha val="45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8" name="Text 8"/>
          <p:cNvSpPr txBox="1"/>
          <p:nvPr/>
        </p:nvSpPr>
        <p:spPr>
          <a:xfrm>
            <a:off x="4681728" y="4687106"/>
            <a:ext cx="2926082" cy="1355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200" sz="1000">
                <a:solidFill>
                  <a:srgbClr val="5B9D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FOUNDER</a:t>
            </a:r>
          </a:p>
        </p:txBody>
      </p:sp>
      <p:sp>
        <p:nvSpPr>
          <p:cNvPr id="29" name="Text 9"/>
          <p:cNvSpPr txBox="1"/>
          <p:nvPr/>
        </p:nvSpPr>
        <p:spPr>
          <a:xfrm>
            <a:off x="4681728" y="4981745"/>
            <a:ext cx="2926082" cy="2960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100">
                <a:solidFill>
                  <a:srgbClr val="F4F6F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Tremaine Grant</a:t>
            </a:r>
          </a:p>
        </p:txBody>
      </p:sp>
      <p:sp>
        <p:nvSpPr>
          <p:cNvPr id="30" name="Text 10"/>
          <p:cNvSpPr txBox="1"/>
          <p:nvPr/>
        </p:nvSpPr>
        <p:spPr>
          <a:xfrm>
            <a:off x="4681728" y="5499353"/>
            <a:ext cx="2926082" cy="1478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100">
                <a:solidFill>
                  <a:srgbClr val="8A9099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Founder &amp; CEO</a:t>
            </a:r>
          </a:p>
        </p:txBody>
      </p:sp>
      <p:sp>
        <p:nvSpPr>
          <p:cNvPr id="31" name="Shape 11"/>
          <p:cNvSpPr/>
          <p:nvPr/>
        </p:nvSpPr>
        <p:spPr>
          <a:xfrm>
            <a:off x="7991856" y="4434840"/>
            <a:ext cx="3383282" cy="1463042"/>
          </a:xfrm>
          <a:prstGeom prst="roundRect">
            <a:avLst>
              <a:gd name="adj" fmla="val 7500"/>
            </a:avLst>
          </a:prstGeom>
          <a:solidFill>
            <a:srgbClr val="141619"/>
          </a:solidFill>
          <a:ln w="12700">
            <a:solidFill>
              <a:srgbClr val="2A2E33"/>
            </a:solidFill>
          </a:ln>
          <a:effectLst>
            <a:outerShdw sx="100000" sy="100000" kx="0" ky="0" algn="b" rotWithShape="0" blurRad="177800" dist="50800" dir="5400000">
              <a:srgbClr val="000000">
                <a:alpha val="45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2" name="Text 12"/>
          <p:cNvSpPr txBox="1"/>
          <p:nvPr/>
        </p:nvSpPr>
        <p:spPr>
          <a:xfrm>
            <a:off x="8266176" y="4687106"/>
            <a:ext cx="2926082" cy="1355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200" sz="1000">
                <a:solidFill>
                  <a:srgbClr val="A98B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PRODUCT</a:t>
            </a:r>
          </a:p>
        </p:txBody>
      </p:sp>
      <p:sp>
        <p:nvSpPr>
          <p:cNvPr id="33" name="Text 14"/>
          <p:cNvSpPr txBox="1"/>
          <p:nvPr/>
        </p:nvSpPr>
        <p:spPr>
          <a:xfrm>
            <a:off x="8266176" y="5499353"/>
            <a:ext cx="2926082" cy="1478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100">
                <a:solidFill>
                  <a:srgbClr val="8A9099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Mental performance OS</a:t>
            </a:r>
          </a:p>
        </p:txBody>
      </p:sp>
      <p:sp>
        <p:nvSpPr>
          <p:cNvPr id="34" name="Text 15"/>
          <p:cNvSpPr txBox="1"/>
          <p:nvPr/>
        </p:nvSpPr>
        <p:spPr>
          <a:xfrm>
            <a:off x="822960" y="6268672"/>
            <a:ext cx="10515601" cy="1728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pc="300" sz="1200">
                <a:solidFill>
                  <a:srgbClr val="8A9099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DETECT   →   TRAIN   →   ROUTE   →   MEASURE</a:t>
            </a:r>
          </a:p>
        </p:txBody>
      </p:sp>
      <p:pic>
        <p:nvPicPr>
          <p:cNvPr id="35" name="PulseCheckLogo.png" descr="PulseCheckLogo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266176" y="4897237"/>
            <a:ext cx="2224604" cy="465094"/>
          </a:xfrm>
          <a:prstGeom prst="rect">
            <a:avLst/>
          </a:prstGeom>
          <a:ln w="12700">
            <a:miter lim="400000"/>
          </a:ln>
        </p:spPr>
      </p:pic>
      <p:pic>
        <p:nvPicPr>
          <p:cNvPr id="36" name="pulse-logo-white.svg" descr="pulse-logo-white.sv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754356" y="409936"/>
            <a:ext cx="1618527" cy="465094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A0B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Shape 0"/>
          <p:cNvSpPr/>
          <p:nvPr/>
        </p:nvSpPr>
        <p:spPr>
          <a:xfrm>
            <a:off x="822960" y="566927"/>
            <a:ext cx="1828802" cy="384050"/>
          </a:xfrm>
          <a:prstGeom prst="roundRect">
            <a:avLst>
              <a:gd name="adj" fmla="val 50000"/>
            </a:avLst>
          </a:prstGeom>
          <a:solidFill>
            <a:srgbClr val="141619"/>
          </a:solidFill>
          <a:ln w="12700">
            <a:solidFill>
              <a:srgbClr val="2A2E33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9" name="Shape 1"/>
          <p:cNvSpPr/>
          <p:nvPr/>
        </p:nvSpPr>
        <p:spPr>
          <a:xfrm>
            <a:off x="1005838" y="722376"/>
            <a:ext cx="73155" cy="73155"/>
          </a:xfrm>
          <a:prstGeom prst="ellipse">
            <a:avLst/>
          </a:prstGeom>
          <a:solidFill>
            <a:srgbClr val="C8FF00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0" name="Text 2"/>
          <p:cNvSpPr txBox="1"/>
          <p:nvPr/>
        </p:nvSpPr>
        <p:spPr>
          <a:xfrm>
            <a:off x="1152144" y="691178"/>
            <a:ext cx="1463042" cy="1355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200" sz="1000">
                <a:solidFill>
                  <a:srgbClr val="F4F6F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THE PROBLEM</a:t>
            </a:r>
          </a:p>
        </p:txBody>
      </p:sp>
      <p:sp>
        <p:nvSpPr>
          <p:cNvPr id="41" name="Text 3"/>
          <p:cNvSpPr txBox="1"/>
          <p:nvPr/>
        </p:nvSpPr>
        <p:spPr>
          <a:xfrm>
            <a:off x="822960" y="1597172"/>
            <a:ext cx="10515601" cy="5546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ts val="4400"/>
              </a:lnSpc>
              <a:defRPr b="1" sz="4000">
                <a:solidFill>
                  <a:srgbClr val="F4F6F2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Pressure gets seen </a:t>
            </a:r>
            <a:r>
              <a:rPr>
                <a:solidFill>
                  <a:srgbClr val="FF6FB5"/>
                </a:solidFill>
              </a:rPr>
              <a:t>too late.</a:t>
            </a:r>
          </a:p>
        </p:txBody>
      </p:sp>
      <p:sp>
        <p:nvSpPr>
          <p:cNvPr id="42" name="Text 4"/>
          <p:cNvSpPr txBox="1"/>
          <p:nvPr/>
        </p:nvSpPr>
        <p:spPr>
          <a:xfrm>
            <a:off x="841247" y="2266463"/>
            <a:ext cx="10058401" cy="2219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600">
                <a:solidFill>
                  <a:srgbClr val="8A9099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Athlete pressure rises before any support system responds.</a:t>
            </a:r>
          </a:p>
        </p:txBody>
      </p:sp>
      <p:sp>
        <p:nvSpPr>
          <p:cNvPr id="43" name="Text 5"/>
          <p:cNvSpPr txBox="1"/>
          <p:nvPr/>
        </p:nvSpPr>
        <p:spPr>
          <a:xfrm>
            <a:off x="822960" y="3196258"/>
            <a:ext cx="3383281" cy="119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8400">
                <a:solidFill>
                  <a:srgbClr val="F4F6F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4x</a:t>
            </a:r>
          </a:p>
        </p:txBody>
      </p:sp>
      <p:sp>
        <p:nvSpPr>
          <p:cNvPr id="44" name="Text 6"/>
          <p:cNvSpPr txBox="1"/>
          <p:nvPr/>
        </p:nvSpPr>
        <p:spPr>
          <a:xfrm>
            <a:off x="868678" y="4599892"/>
            <a:ext cx="3291843" cy="1728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150" sz="1200">
                <a:solidFill>
                  <a:srgbClr val="FF6FB5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CRISIS RISK</a:t>
            </a:r>
          </a:p>
        </p:txBody>
      </p:sp>
      <p:sp>
        <p:nvSpPr>
          <p:cNvPr id="45" name="Text 7"/>
          <p:cNvSpPr txBox="1"/>
          <p:nvPr/>
        </p:nvSpPr>
        <p:spPr>
          <a:xfrm>
            <a:off x="868680" y="5194586"/>
            <a:ext cx="3200402" cy="2178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800"/>
              </a:lnSpc>
              <a:defRPr sz="1300">
                <a:solidFill>
                  <a:srgbClr val="C3C8CE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more likely to face a mental health crisis.</a:t>
            </a:r>
          </a:p>
        </p:txBody>
      </p:sp>
      <p:sp>
        <p:nvSpPr>
          <p:cNvPr id="46" name="Text 8"/>
          <p:cNvSpPr txBox="1"/>
          <p:nvPr/>
        </p:nvSpPr>
        <p:spPr>
          <a:xfrm>
            <a:off x="4535423" y="3196258"/>
            <a:ext cx="3383282" cy="119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8400">
                <a:solidFill>
                  <a:srgbClr val="F4F6F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60%</a:t>
            </a:r>
          </a:p>
        </p:txBody>
      </p:sp>
      <p:sp>
        <p:nvSpPr>
          <p:cNvPr id="47" name="Text 9"/>
          <p:cNvSpPr txBox="1"/>
          <p:nvPr/>
        </p:nvSpPr>
        <p:spPr>
          <a:xfrm>
            <a:off x="4581144" y="4599892"/>
            <a:ext cx="3291841" cy="1728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150" sz="1200">
                <a:solidFill>
                  <a:srgbClr val="5B9D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COMPETITION ANXIETY</a:t>
            </a:r>
          </a:p>
        </p:txBody>
      </p:sp>
      <p:sp>
        <p:nvSpPr>
          <p:cNvPr id="48" name="Text 10"/>
          <p:cNvSpPr txBox="1"/>
          <p:nvPr/>
        </p:nvSpPr>
        <p:spPr>
          <a:xfrm>
            <a:off x="4581144" y="5080286"/>
            <a:ext cx="3200401" cy="4464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800"/>
              </a:lnSpc>
              <a:defRPr sz="1300">
                <a:solidFill>
                  <a:srgbClr val="C3C8CE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of athletes experience anxiety leading up to competition. </a:t>
            </a:r>
          </a:p>
        </p:txBody>
      </p:sp>
      <p:sp>
        <p:nvSpPr>
          <p:cNvPr id="49" name="Text 11"/>
          <p:cNvSpPr txBox="1"/>
          <p:nvPr/>
        </p:nvSpPr>
        <p:spPr>
          <a:xfrm>
            <a:off x="8247888" y="3196258"/>
            <a:ext cx="3383280" cy="119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8400">
                <a:solidFill>
                  <a:srgbClr val="F4F6F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10%</a:t>
            </a:r>
          </a:p>
        </p:txBody>
      </p:sp>
      <p:sp>
        <p:nvSpPr>
          <p:cNvPr id="50" name="Text 12"/>
          <p:cNvSpPr txBox="1"/>
          <p:nvPr/>
        </p:nvSpPr>
        <p:spPr>
          <a:xfrm>
            <a:off x="8293606" y="4599892"/>
            <a:ext cx="3291842" cy="1728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150" sz="1200">
                <a:solidFill>
                  <a:srgbClr val="C8FF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COACH VISIBILITY</a:t>
            </a:r>
          </a:p>
        </p:txBody>
      </p:sp>
      <p:sp>
        <p:nvSpPr>
          <p:cNvPr id="51" name="Text 13"/>
          <p:cNvSpPr txBox="1"/>
          <p:nvPr/>
        </p:nvSpPr>
        <p:spPr>
          <a:xfrm>
            <a:off x="8293606" y="5194586"/>
            <a:ext cx="3200402" cy="2178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800"/>
              </a:lnSpc>
              <a:defRPr sz="1300">
                <a:solidFill>
                  <a:srgbClr val="C3C8CE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reach out to a coach before crisis hits.</a:t>
            </a:r>
          </a:p>
        </p:txBody>
      </p:sp>
      <p:sp>
        <p:nvSpPr>
          <p:cNvPr id="52" name="Text 14"/>
          <p:cNvSpPr txBox="1"/>
          <p:nvPr/>
        </p:nvSpPr>
        <p:spPr>
          <a:xfrm>
            <a:off x="822960" y="6337298"/>
            <a:ext cx="100584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i="1" sz="900">
                <a:solidFill>
                  <a:srgbClr val="8A9099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Sources: NCAA Student-Athlete Well-Being Study (n=23,000+); Center on Sport Policy &amp; Conduct, 2024.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A0B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Shape 0"/>
          <p:cNvSpPr/>
          <p:nvPr/>
        </p:nvSpPr>
        <p:spPr>
          <a:xfrm>
            <a:off x="822960" y="566927"/>
            <a:ext cx="2560322" cy="384050"/>
          </a:xfrm>
          <a:prstGeom prst="roundRect">
            <a:avLst>
              <a:gd name="adj" fmla="val 50000"/>
            </a:avLst>
          </a:prstGeom>
          <a:solidFill>
            <a:srgbClr val="141619"/>
          </a:solidFill>
          <a:ln w="12700">
            <a:solidFill>
              <a:srgbClr val="2A2E33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55" name="Shape 1"/>
          <p:cNvSpPr/>
          <p:nvPr/>
        </p:nvSpPr>
        <p:spPr>
          <a:xfrm>
            <a:off x="1005838" y="722376"/>
            <a:ext cx="73155" cy="73155"/>
          </a:xfrm>
          <a:prstGeom prst="ellipse">
            <a:avLst/>
          </a:prstGeom>
          <a:solidFill>
            <a:srgbClr val="C8FF00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56" name="Text 2"/>
          <p:cNvSpPr txBox="1"/>
          <p:nvPr/>
        </p:nvSpPr>
        <p:spPr>
          <a:xfrm>
            <a:off x="1152144" y="691178"/>
            <a:ext cx="2194562" cy="1355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200" sz="1000">
                <a:solidFill>
                  <a:srgbClr val="F4F6F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WHY SCHOOLS MUST ACT</a:t>
            </a:r>
          </a:p>
        </p:txBody>
      </p:sp>
      <p:sp>
        <p:nvSpPr>
          <p:cNvPr id="57" name="Text 3"/>
          <p:cNvSpPr txBox="1"/>
          <p:nvPr/>
        </p:nvSpPr>
        <p:spPr>
          <a:xfrm>
            <a:off x="822960" y="1599865"/>
            <a:ext cx="10515601" cy="5493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ts val="4400"/>
              </a:lnSpc>
              <a:defRPr b="1" sz="3800">
                <a:solidFill>
                  <a:srgbClr val="F4F6F2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Mental health support is now </a:t>
            </a:r>
            <a:r>
              <a:rPr>
                <a:solidFill>
                  <a:srgbClr val="C8FF00"/>
                </a:solidFill>
              </a:rPr>
              <a:t>required.</a:t>
            </a:r>
          </a:p>
        </p:txBody>
      </p:sp>
      <p:sp>
        <p:nvSpPr>
          <p:cNvPr id="58" name="Text 4"/>
          <p:cNvSpPr txBox="1"/>
          <p:nvPr/>
        </p:nvSpPr>
        <p:spPr>
          <a:xfrm>
            <a:off x="841246" y="2294186"/>
            <a:ext cx="6400803" cy="5688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2300"/>
              </a:lnSpc>
              <a:defRPr sz="1600">
                <a:solidFill>
                  <a:srgbClr val="C3C8CE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The NCAA mandates that every member school provide student-athlete mental health support. Pulse Check is how schools meet it.</a:t>
            </a:r>
          </a:p>
        </p:txBody>
      </p:sp>
      <p:sp>
        <p:nvSpPr>
          <p:cNvPr id="59" name="Shape 5"/>
          <p:cNvSpPr/>
          <p:nvPr/>
        </p:nvSpPr>
        <p:spPr>
          <a:xfrm>
            <a:off x="868680" y="3282696"/>
            <a:ext cx="164595" cy="164595"/>
          </a:xfrm>
          <a:prstGeom prst="ellipse">
            <a:avLst/>
          </a:prstGeom>
          <a:solidFill>
            <a:srgbClr val="C8FF00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60" name="Shape 6"/>
          <p:cNvSpPr/>
          <p:nvPr/>
        </p:nvSpPr>
        <p:spPr>
          <a:xfrm>
            <a:off x="941832" y="3447288"/>
            <a:ext cx="18290" cy="603506"/>
          </a:xfrm>
          <a:prstGeom prst="rect">
            <a:avLst/>
          </a:prstGeom>
          <a:solidFill>
            <a:srgbClr val="2A2E33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61" name="Text 7"/>
          <p:cNvSpPr txBox="1"/>
          <p:nvPr/>
        </p:nvSpPr>
        <p:spPr>
          <a:xfrm>
            <a:off x="1234439" y="3240298"/>
            <a:ext cx="1828801" cy="2219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600">
                <a:solidFill>
                  <a:srgbClr val="C8FF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2022</a:t>
            </a:r>
          </a:p>
        </p:txBody>
      </p:sp>
      <p:sp>
        <p:nvSpPr>
          <p:cNvPr id="62" name="Text 8"/>
          <p:cNvSpPr txBox="1"/>
          <p:nvPr/>
        </p:nvSpPr>
        <p:spPr>
          <a:xfrm>
            <a:off x="3017520" y="3368071"/>
            <a:ext cx="4206242" cy="4236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700"/>
              </a:lnSpc>
              <a:defRPr sz="1300">
                <a:solidFill>
                  <a:srgbClr val="C3C8CE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NCAA Constitution requires mental health access for every member school.</a:t>
            </a:r>
          </a:p>
        </p:txBody>
      </p:sp>
      <p:sp>
        <p:nvSpPr>
          <p:cNvPr id="63" name="Shape 9"/>
          <p:cNvSpPr/>
          <p:nvPr/>
        </p:nvSpPr>
        <p:spPr>
          <a:xfrm>
            <a:off x="868680" y="4151376"/>
            <a:ext cx="164595" cy="164595"/>
          </a:xfrm>
          <a:prstGeom prst="ellipse">
            <a:avLst/>
          </a:prstGeom>
          <a:solidFill>
            <a:srgbClr val="C8FF00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64" name="Shape 10"/>
          <p:cNvSpPr/>
          <p:nvPr/>
        </p:nvSpPr>
        <p:spPr>
          <a:xfrm>
            <a:off x="941832" y="4315967"/>
            <a:ext cx="18290" cy="603506"/>
          </a:xfrm>
          <a:prstGeom prst="rect">
            <a:avLst/>
          </a:prstGeom>
          <a:solidFill>
            <a:srgbClr val="2A2E33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65" name="Text 11"/>
          <p:cNvSpPr txBox="1"/>
          <p:nvPr/>
        </p:nvSpPr>
        <p:spPr>
          <a:xfrm>
            <a:off x="1234439" y="4108979"/>
            <a:ext cx="1828801" cy="2219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600">
                <a:solidFill>
                  <a:srgbClr val="C8FF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Aug 2024</a:t>
            </a:r>
          </a:p>
        </p:txBody>
      </p:sp>
      <p:sp>
        <p:nvSpPr>
          <p:cNvPr id="66" name="Text 12"/>
          <p:cNvSpPr txBox="1"/>
          <p:nvPr/>
        </p:nvSpPr>
        <p:spPr>
          <a:xfrm>
            <a:off x="3017520" y="4236751"/>
            <a:ext cx="4206242" cy="4236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700"/>
              </a:lnSpc>
              <a:defRPr sz="1300">
                <a:solidFill>
                  <a:srgbClr val="C3C8CE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Best Practices became legislatively effective across all divisions.</a:t>
            </a:r>
          </a:p>
        </p:txBody>
      </p:sp>
      <p:sp>
        <p:nvSpPr>
          <p:cNvPr id="67" name="Shape 13"/>
          <p:cNvSpPr/>
          <p:nvPr/>
        </p:nvSpPr>
        <p:spPr>
          <a:xfrm>
            <a:off x="868680" y="5020054"/>
            <a:ext cx="164595" cy="164595"/>
          </a:xfrm>
          <a:prstGeom prst="ellipse">
            <a:avLst/>
          </a:prstGeom>
          <a:solidFill>
            <a:srgbClr val="C8FF00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68" name="Text 14"/>
          <p:cNvSpPr txBox="1"/>
          <p:nvPr/>
        </p:nvSpPr>
        <p:spPr>
          <a:xfrm>
            <a:off x="1234439" y="4977658"/>
            <a:ext cx="1828801" cy="2219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600">
                <a:solidFill>
                  <a:srgbClr val="C8FF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Nov 2025</a:t>
            </a:r>
          </a:p>
        </p:txBody>
      </p:sp>
      <p:sp>
        <p:nvSpPr>
          <p:cNvPr id="69" name="Text 15"/>
          <p:cNvSpPr txBox="1"/>
          <p:nvPr/>
        </p:nvSpPr>
        <p:spPr>
          <a:xfrm>
            <a:off x="3017520" y="5105432"/>
            <a:ext cx="4206242" cy="4236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700"/>
              </a:lnSpc>
              <a:defRPr sz="1300">
                <a:solidFill>
                  <a:srgbClr val="C3C8CE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First Division I attestation deadline. Compliance is now reported.</a:t>
            </a:r>
          </a:p>
        </p:txBody>
      </p:sp>
      <p:sp>
        <p:nvSpPr>
          <p:cNvPr id="70" name="Shape 16"/>
          <p:cNvSpPr/>
          <p:nvPr/>
        </p:nvSpPr>
        <p:spPr>
          <a:xfrm>
            <a:off x="7635240" y="2121406"/>
            <a:ext cx="3749042" cy="3977644"/>
          </a:xfrm>
          <a:prstGeom prst="roundRect">
            <a:avLst>
              <a:gd name="adj" fmla="val 2927"/>
            </a:avLst>
          </a:prstGeom>
          <a:solidFill>
            <a:srgbClr val="141619"/>
          </a:solidFill>
          <a:ln w="12700">
            <a:solidFill>
              <a:srgbClr val="2A2E33"/>
            </a:solidFill>
          </a:ln>
          <a:effectLst>
            <a:outerShdw sx="100000" sy="100000" kx="0" ky="0" algn="b" rotWithShape="0" blurRad="177800" dist="50800" dir="5400000">
              <a:srgbClr val="000000">
                <a:alpha val="45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71" name="Text 17"/>
          <p:cNvSpPr txBox="1"/>
          <p:nvPr/>
        </p:nvSpPr>
        <p:spPr>
          <a:xfrm>
            <a:off x="7955280" y="2440684"/>
            <a:ext cx="3200402" cy="1478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150" sz="1100">
                <a:solidFill>
                  <a:srgbClr val="C8FF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THE 4 REQUIRED COMPETENCIES</a:t>
            </a:r>
          </a:p>
        </p:txBody>
      </p:sp>
      <p:sp>
        <p:nvSpPr>
          <p:cNvPr id="72" name="Shape 18"/>
          <p:cNvSpPr/>
          <p:nvPr/>
        </p:nvSpPr>
        <p:spPr>
          <a:xfrm>
            <a:off x="7955280" y="2788920"/>
            <a:ext cx="566931" cy="566931"/>
          </a:xfrm>
          <a:prstGeom prst="ellipse">
            <a:avLst/>
          </a:prstGeom>
          <a:solidFill>
            <a:srgbClr val="1B1E22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pic>
        <p:nvPicPr>
          <p:cNvPr id="73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108350" y="2941989"/>
            <a:ext cx="260789" cy="260790"/>
          </a:xfrm>
          <a:prstGeom prst="rect">
            <a:avLst/>
          </a:prstGeom>
          <a:ln w="12700">
            <a:miter lim="400000"/>
          </a:ln>
        </p:spPr>
      </p:pic>
      <p:sp>
        <p:nvSpPr>
          <p:cNvPr id="74" name="Text 19"/>
          <p:cNvSpPr txBox="1"/>
          <p:nvPr/>
        </p:nvSpPr>
        <p:spPr>
          <a:xfrm>
            <a:off x="8686800" y="2981407"/>
            <a:ext cx="2606040" cy="2002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600"/>
              </a:lnSpc>
              <a:defRPr sz="1400">
                <a:solidFill>
                  <a:srgbClr val="C3C8CE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Healthy environment</a:t>
            </a:r>
          </a:p>
        </p:txBody>
      </p:sp>
      <p:sp>
        <p:nvSpPr>
          <p:cNvPr id="75" name="Shape 20"/>
          <p:cNvSpPr/>
          <p:nvPr/>
        </p:nvSpPr>
        <p:spPr>
          <a:xfrm>
            <a:off x="7955280" y="3538728"/>
            <a:ext cx="566931" cy="566931"/>
          </a:xfrm>
          <a:prstGeom prst="ellipse">
            <a:avLst/>
          </a:prstGeom>
          <a:solidFill>
            <a:srgbClr val="1B1E22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pic>
        <p:nvPicPr>
          <p:cNvPr id="76" name="Image 1" descr="Image 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8108350" y="3691799"/>
            <a:ext cx="260789" cy="260789"/>
          </a:xfrm>
          <a:prstGeom prst="rect">
            <a:avLst/>
          </a:prstGeom>
          <a:ln w="12700">
            <a:miter lim="400000"/>
          </a:ln>
        </p:spPr>
      </p:pic>
      <p:sp>
        <p:nvSpPr>
          <p:cNvPr id="77" name="Text 21"/>
          <p:cNvSpPr txBox="1"/>
          <p:nvPr/>
        </p:nvSpPr>
        <p:spPr>
          <a:xfrm>
            <a:off x="8686800" y="3731216"/>
            <a:ext cx="2606040" cy="200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600"/>
              </a:lnSpc>
              <a:defRPr sz="1400">
                <a:solidFill>
                  <a:srgbClr val="C3C8CE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Screening for distress</a:t>
            </a:r>
          </a:p>
        </p:txBody>
      </p:sp>
      <p:sp>
        <p:nvSpPr>
          <p:cNvPr id="78" name="Shape 22"/>
          <p:cNvSpPr/>
          <p:nvPr/>
        </p:nvSpPr>
        <p:spPr>
          <a:xfrm>
            <a:off x="7955280" y="4288535"/>
            <a:ext cx="566931" cy="566931"/>
          </a:xfrm>
          <a:prstGeom prst="ellipse">
            <a:avLst/>
          </a:prstGeom>
          <a:solidFill>
            <a:srgbClr val="1B1E22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pic>
        <p:nvPicPr>
          <p:cNvPr id="79" name="Image 2" descr="Image 2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8108350" y="4441607"/>
            <a:ext cx="260789" cy="260789"/>
          </a:xfrm>
          <a:prstGeom prst="rect">
            <a:avLst/>
          </a:prstGeom>
          <a:ln w="12700">
            <a:miter lim="400000"/>
          </a:ln>
        </p:spPr>
      </p:pic>
      <p:sp>
        <p:nvSpPr>
          <p:cNvPr id="80" name="Text 23"/>
          <p:cNvSpPr txBox="1"/>
          <p:nvPr/>
        </p:nvSpPr>
        <p:spPr>
          <a:xfrm>
            <a:off x="8686800" y="4481024"/>
            <a:ext cx="2606040" cy="200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600"/>
              </a:lnSpc>
              <a:defRPr sz="1400">
                <a:solidFill>
                  <a:srgbClr val="C3C8CE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Action plans</a:t>
            </a:r>
          </a:p>
        </p:txBody>
      </p:sp>
      <p:sp>
        <p:nvSpPr>
          <p:cNvPr id="81" name="Shape 24"/>
          <p:cNvSpPr/>
          <p:nvPr/>
        </p:nvSpPr>
        <p:spPr>
          <a:xfrm>
            <a:off x="7955280" y="5038344"/>
            <a:ext cx="566931" cy="566931"/>
          </a:xfrm>
          <a:prstGeom prst="ellipse">
            <a:avLst/>
          </a:prstGeom>
          <a:solidFill>
            <a:srgbClr val="C8FF00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pic>
        <p:nvPicPr>
          <p:cNvPr id="82" name="Image 3" descr="Image 3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8108350" y="5191414"/>
            <a:ext cx="260789" cy="260789"/>
          </a:xfrm>
          <a:prstGeom prst="rect">
            <a:avLst/>
          </a:prstGeom>
          <a:ln w="12700">
            <a:miter lim="400000"/>
          </a:ln>
        </p:spPr>
      </p:pic>
      <p:sp>
        <p:nvSpPr>
          <p:cNvPr id="83" name="Text 25"/>
          <p:cNvSpPr txBox="1"/>
          <p:nvPr/>
        </p:nvSpPr>
        <p:spPr>
          <a:xfrm>
            <a:off x="8686800" y="5230831"/>
            <a:ext cx="2606040" cy="2002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600"/>
              </a:lnSpc>
              <a:defRPr b="1" sz="1400">
                <a:solidFill>
                  <a:srgbClr val="F4F6F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Care from licensed providers</a:t>
            </a:r>
          </a:p>
        </p:txBody>
      </p:sp>
      <p:sp>
        <p:nvSpPr>
          <p:cNvPr id="84" name="Text 26"/>
          <p:cNvSpPr txBox="1"/>
          <p:nvPr/>
        </p:nvSpPr>
        <p:spPr>
          <a:xfrm>
            <a:off x="7955280" y="5753467"/>
            <a:ext cx="3200402" cy="1973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i="1" sz="1400">
                <a:solidFill>
                  <a:srgbClr val="C8FF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Pulse Check delivers all four.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A0B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Shape 0"/>
          <p:cNvSpPr/>
          <p:nvPr/>
        </p:nvSpPr>
        <p:spPr>
          <a:xfrm>
            <a:off x="822960" y="566927"/>
            <a:ext cx="2656334" cy="384050"/>
          </a:xfrm>
          <a:prstGeom prst="roundRect">
            <a:avLst>
              <a:gd name="adj" fmla="val 50000"/>
            </a:avLst>
          </a:prstGeom>
          <a:solidFill>
            <a:srgbClr val="141619"/>
          </a:solidFill>
          <a:ln w="12700">
            <a:solidFill>
              <a:srgbClr val="2A2E33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87" name="Shape 1"/>
          <p:cNvSpPr/>
          <p:nvPr/>
        </p:nvSpPr>
        <p:spPr>
          <a:xfrm>
            <a:off x="1005838" y="722376"/>
            <a:ext cx="73155" cy="73155"/>
          </a:xfrm>
          <a:prstGeom prst="ellipse">
            <a:avLst/>
          </a:prstGeom>
          <a:solidFill>
            <a:srgbClr val="C8FF00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88" name="Text 2"/>
          <p:cNvSpPr txBox="1"/>
          <p:nvPr/>
        </p:nvSpPr>
        <p:spPr>
          <a:xfrm>
            <a:off x="1152144" y="691178"/>
            <a:ext cx="2290574" cy="1355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200" sz="1000">
                <a:solidFill>
                  <a:srgbClr val="F4F6F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WHY THIS IS DIFFERENT</a:t>
            </a:r>
          </a:p>
        </p:txBody>
      </p:sp>
      <p:sp>
        <p:nvSpPr>
          <p:cNvPr id="89" name="Text 3"/>
          <p:cNvSpPr txBox="1"/>
          <p:nvPr/>
        </p:nvSpPr>
        <p:spPr>
          <a:xfrm>
            <a:off x="822960" y="1597172"/>
            <a:ext cx="10515601" cy="5546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ts val="4400"/>
              </a:lnSpc>
              <a:defRPr b="1" sz="4000">
                <a:solidFill>
                  <a:srgbClr val="F4F6F2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Not a vitamin. A </a:t>
            </a:r>
            <a:r>
              <a:rPr>
                <a:solidFill>
                  <a:srgbClr val="C8FF00"/>
                </a:solidFill>
              </a:rPr>
              <a:t>prescription.</a:t>
            </a:r>
          </a:p>
        </p:txBody>
      </p:sp>
      <p:sp>
        <p:nvSpPr>
          <p:cNvPr id="90" name="Text 4"/>
          <p:cNvSpPr txBox="1"/>
          <p:nvPr/>
        </p:nvSpPr>
        <p:spPr>
          <a:xfrm>
            <a:off x="841247" y="2195889"/>
            <a:ext cx="10058401" cy="5459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2200"/>
              </a:lnSpc>
              <a:defRPr sz="1600">
                <a:solidFill>
                  <a:srgbClr val="8A9099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Most performance tools are optional upgrades. Compliance makes Pulse Check a line item schools already have to fund.</a:t>
            </a:r>
          </a:p>
        </p:txBody>
      </p:sp>
      <p:sp>
        <p:nvSpPr>
          <p:cNvPr id="91" name="Shape 5"/>
          <p:cNvSpPr/>
          <p:nvPr/>
        </p:nvSpPr>
        <p:spPr>
          <a:xfrm>
            <a:off x="822960" y="2971800"/>
            <a:ext cx="5074921" cy="2834640"/>
          </a:xfrm>
          <a:prstGeom prst="roundRect">
            <a:avLst>
              <a:gd name="adj" fmla="val 3871"/>
            </a:avLst>
          </a:prstGeom>
          <a:solidFill>
            <a:srgbClr val="141619"/>
          </a:solidFill>
          <a:ln w="12700">
            <a:solidFill>
              <a:srgbClr val="2A2E33"/>
            </a:solidFill>
          </a:ln>
          <a:effectLst>
            <a:outerShdw sx="100000" sy="100000" kx="0" ky="0" algn="b" rotWithShape="0" blurRad="177800" dist="50800" dir="5400000">
              <a:srgbClr val="000000">
                <a:alpha val="45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92" name="Text 6"/>
          <p:cNvSpPr txBox="1"/>
          <p:nvPr/>
        </p:nvSpPr>
        <p:spPr>
          <a:xfrm>
            <a:off x="1143000" y="3309365"/>
            <a:ext cx="4389121" cy="1478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200" sz="1100">
                <a:solidFill>
                  <a:srgbClr val="8A9099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THE OLD WAY</a:t>
            </a:r>
          </a:p>
        </p:txBody>
      </p:sp>
      <p:sp>
        <p:nvSpPr>
          <p:cNvPr id="93" name="Text 7"/>
          <p:cNvSpPr txBox="1"/>
          <p:nvPr/>
        </p:nvSpPr>
        <p:spPr>
          <a:xfrm>
            <a:off x="1143000" y="3585092"/>
            <a:ext cx="4389121" cy="4193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3000">
                <a:solidFill>
                  <a:srgbClr val="8A9099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 vitamin</a:t>
            </a:r>
          </a:p>
        </p:txBody>
      </p:sp>
      <p:pic>
        <p:nvPicPr>
          <p:cNvPr id="94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143000" y="4297679"/>
            <a:ext cx="237744" cy="237746"/>
          </a:xfrm>
          <a:prstGeom prst="rect">
            <a:avLst/>
          </a:prstGeom>
          <a:ln w="12700">
            <a:miter lim="400000"/>
          </a:ln>
        </p:spPr>
      </p:pic>
      <p:sp>
        <p:nvSpPr>
          <p:cNvPr id="95" name="Text 8"/>
          <p:cNvSpPr txBox="1"/>
          <p:nvPr/>
        </p:nvSpPr>
        <p:spPr>
          <a:xfrm>
            <a:off x="1508759" y="4351434"/>
            <a:ext cx="4114803" cy="185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300">
                <a:solidFill>
                  <a:srgbClr val="C3C8CE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Nice to have, easy to cut</a:t>
            </a:r>
          </a:p>
        </p:txBody>
      </p:sp>
      <p:pic>
        <p:nvPicPr>
          <p:cNvPr id="96" name="Image 1" descr="Image 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143000" y="4754879"/>
            <a:ext cx="237744" cy="237746"/>
          </a:xfrm>
          <a:prstGeom prst="rect">
            <a:avLst/>
          </a:prstGeom>
          <a:ln w="12700">
            <a:miter lim="400000"/>
          </a:ln>
        </p:spPr>
      </p:pic>
      <p:sp>
        <p:nvSpPr>
          <p:cNvPr id="97" name="Text 9"/>
          <p:cNvSpPr txBox="1"/>
          <p:nvPr/>
        </p:nvSpPr>
        <p:spPr>
          <a:xfrm>
            <a:off x="1508759" y="4808634"/>
            <a:ext cx="4114803" cy="185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300">
                <a:solidFill>
                  <a:srgbClr val="C3C8CE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Sold on motivation</a:t>
            </a:r>
          </a:p>
        </p:txBody>
      </p:sp>
      <p:pic>
        <p:nvPicPr>
          <p:cNvPr id="98" name="Image 2" descr="Image 2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143000" y="5212079"/>
            <a:ext cx="237744" cy="237746"/>
          </a:xfrm>
          <a:prstGeom prst="rect">
            <a:avLst/>
          </a:prstGeom>
          <a:ln w="12700">
            <a:miter lim="400000"/>
          </a:ln>
        </p:spPr>
      </p:pic>
      <p:sp>
        <p:nvSpPr>
          <p:cNvPr id="99" name="Text 10"/>
          <p:cNvSpPr txBox="1"/>
          <p:nvPr/>
        </p:nvSpPr>
        <p:spPr>
          <a:xfrm>
            <a:off x="1508759" y="5265834"/>
            <a:ext cx="4114803" cy="185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300">
                <a:solidFill>
                  <a:srgbClr val="C3C8CE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Competes for discretionary budget</a:t>
            </a:r>
          </a:p>
        </p:txBody>
      </p:sp>
      <p:sp>
        <p:nvSpPr>
          <p:cNvPr id="100" name="Shape 11"/>
          <p:cNvSpPr/>
          <p:nvPr/>
        </p:nvSpPr>
        <p:spPr>
          <a:xfrm>
            <a:off x="6309359" y="2971800"/>
            <a:ext cx="5074921" cy="2834640"/>
          </a:xfrm>
          <a:prstGeom prst="roundRect">
            <a:avLst>
              <a:gd name="adj" fmla="val 3871"/>
            </a:avLst>
          </a:prstGeom>
          <a:solidFill>
            <a:srgbClr val="141619"/>
          </a:solidFill>
          <a:ln w="12700">
            <a:solidFill>
              <a:srgbClr val="C8FF00"/>
            </a:solidFill>
          </a:ln>
          <a:effectLst>
            <a:outerShdw sx="100000" sy="100000" kx="0" ky="0" algn="b" rotWithShape="0" blurRad="177800" dist="50800" dir="5400000">
              <a:srgbClr val="000000">
                <a:alpha val="45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01" name="Text 12"/>
          <p:cNvSpPr txBox="1"/>
          <p:nvPr/>
        </p:nvSpPr>
        <p:spPr>
          <a:xfrm>
            <a:off x="6629400" y="3309365"/>
            <a:ext cx="4389121" cy="1478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200" sz="1100">
                <a:solidFill>
                  <a:srgbClr val="C8FF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PULSE CHECK</a:t>
            </a:r>
          </a:p>
        </p:txBody>
      </p:sp>
      <p:sp>
        <p:nvSpPr>
          <p:cNvPr id="102" name="Text 13"/>
          <p:cNvSpPr txBox="1"/>
          <p:nvPr/>
        </p:nvSpPr>
        <p:spPr>
          <a:xfrm>
            <a:off x="6629400" y="3585092"/>
            <a:ext cx="4389121" cy="4193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3000">
                <a:solidFill>
                  <a:srgbClr val="F4F6F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 prescription</a:t>
            </a:r>
          </a:p>
        </p:txBody>
      </p:sp>
      <p:pic>
        <p:nvPicPr>
          <p:cNvPr id="103" name="Image 3" descr="Image 3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629400" y="4297679"/>
            <a:ext cx="237744" cy="237746"/>
          </a:xfrm>
          <a:prstGeom prst="rect">
            <a:avLst/>
          </a:prstGeom>
          <a:ln w="12700">
            <a:miter lim="400000"/>
          </a:ln>
        </p:spPr>
      </p:pic>
      <p:sp>
        <p:nvSpPr>
          <p:cNvPr id="104" name="Text 14"/>
          <p:cNvSpPr txBox="1"/>
          <p:nvPr/>
        </p:nvSpPr>
        <p:spPr>
          <a:xfrm>
            <a:off x="6995158" y="4351434"/>
            <a:ext cx="4114803" cy="185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300">
                <a:solidFill>
                  <a:srgbClr val="F4F6F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Required, already in the budget</a:t>
            </a:r>
          </a:p>
        </p:txBody>
      </p:sp>
      <p:pic>
        <p:nvPicPr>
          <p:cNvPr id="105" name="Image 4" descr="Image 4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629400" y="4754879"/>
            <a:ext cx="237744" cy="237746"/>
          </a:xfrm>
          <a:prstGeom prst="rect">
            <a:avLst/>
          </a:prstGeom>
          <a:ln w="12700">
            <a:miter lim="400000"/>
          </a:ln>
        </p:spPr>
      </p:pic>
      <p:sp>
        <p:nvSpPr>
          <p:cNvPr id="106" name="Text 15"/>
          <p:cNvSpPr txBox="1"/>
          <p:nvPr/>
        </p:nvSpPr>
        <p:spPr>
          <a:xfrm>
            <a:off x="6995158" y="4808634"/>
            <a:ext cx="4114803" cy="185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300">
                <a:solidFill>
                  <a:srgbClr val="F4F6F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Sold on compliance</a:t>
            </a:r>
          </a:p>
        </p:txBody>
      </p:sp>
      <p:pic>
        <p:nvPicPr>
          <p:cNvPr id="107" name="Image 5" descr="Image 5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629400" y="5212079"/>
            <a:ext cx="237744" cy="237746"/>
          </a:xfrm>
          <a:prstGeom prst="rect">
            <a:avLst/>
          </a:prstGeom>
          <a:ln w="12700">
            <a:miter lim="400000"/>
          </a:ln>
        </p:spPr>
      </p:pic>
      <p:sp>
        <p:nvSpPr>
          <p:cNvPr id="108" name="Text 16"/>
          <p:cNvSpPr txBox="1"/>
          <p:nvPr/>
        </p:nvSpPr>
        <p:spPr>
          <a:xfrm>
            <a:off x="6995158" y="5265834"/>
            <a:ext cx="4114803" cy="185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300">
                <a:solidFill>
                  <a:srgbClr val="F4F6F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Funded as a mandate line item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A0B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Shape 0"/>
          <p:cNvSpPr/>
          <p:nvPr/>
        </p:nvSpPr>
        <p:spPr>
          <a:xfrm>
            <a:off x="822960" y="566927"/>
            <a:ext cx="1828802" cy="384050"/>
          </a:xfrm>
          <a:prstGeom prst="roundRect">
            <a:avLst>
              <a:gd name="adj" fmla="val 50000"/>
            </a:avLst>
          </a:prstGeom>
          <a:solidFill>
            <a:srgbClr val="141619"/>
          </a:solidFill>
          <a:ln w="12700">
            <a:solidFill>
              <a:srgbClr val="2A2E33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11" name="Shape 1"/>
          <p:cNvSpPr/>
          <p:nvPr/>
        </p:nvSpPr>
        <p:spPr>
          <a:xfrm>
            <a:off x="1005838" y="722376"/>
            <a:ext cx="73155" cy="73155"/>
          </a:xfrm>
          <a:prstGeom prst="ellipse">
            <a:avLst/>
          </a:prstGeom>
          <a:solidFill>
            <a:srgbClr val="C8FF00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12" name="Text 2"/>
          <p:cNvSpPr txBox="1"/>
          <p:nvPr/>
        </p:nvSpPr>
        <p:spPr>
          <a:xfrm>
            <a:off x="1152144" y="691178"/>
            <a:ext cx="1463042" cy="1355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200" sz="1000">
                <a:solidFill>
                  <a:srgbClr val="F4F6F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THE SOLUTION</a:t>
            </a:r>
          </a:p>
        </p:txBody>
      </p:sp>
      <p:sp>
        <p:nvSpPr>
          <p:cNvPr id="113" name="Text 3"/>
          <p:cNvSpPr txBox="1"/>
          <p:nvPr/>
        </p:nvSpPr>
        <p:spPr>
          <a:xfrm>
            <a:off x="822960" y="1597172"/>
            <a:ext cx="10515601" cy="5546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ts val="4400"/>
              </a:lnSpc>
              <a:defRPr b="1" sz="4000">
                <a:solidFill>
                  <a:srgbClr val="F4F6F2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Train the mind </a:t>
            </a:r>
            <a:r>
              <a:rPr>
                <a:solidFill>
                  <a:srgbClr val="C8FF00"/>
                </a:solidFill>
              </a:rPr>
              <a:t>before the moment.</a:t>
            </a:r>
          </a:p>
        </p:txBody>
      </p:sp>
      <p:sp>
        <p:nvSpPr>
          <p:cNvPr id="114" name="Text 4"/>
          <p:cNvSpPr txBox="1"/>
          <p:nvPr/>
        </p:nvSpPr>
        <p:spPr>
          <a:xfrm>
            <a:off x="841247" y="2197883"/>
            <a:ext cx="10058401" cy="4505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600">
                <a:solidFill>
                  <a:srgbClr val="8A9099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Pulse Check builds composure ahead of competition, supports the athlete in the moment, and routes to real care when needed.</a:t>
            </a:r>
          </a:p>
        </p:txBody>
      </p:sp>
      <p:sp>
        <p:nvSpPr>
          <p:cNvPr id="115" name="Shape 5"/>
          <p:cNvSpPr/>
          <p:nvPr/>
        </p:nvSpPr>
        <p:spPr>
          <a:xfrm>
            <a:off x="822960" y="2834638"/>
            <a:ext cx="3429002" cy="2743202"/>
          </a:xfrm>
          <a:prstGeom prst="roundRect">
            <a:avLst>
              <a:gd name="adj" fmla="val 4000"/>
            </a:avLst>
          </a:prstGeom>
          <a:solidFill>
            <a:srgbClr val="141619"/>
          </a:solidFill>
          <a:ln w="12700">
            <a:solidFill>
              <a:srgbClr val="2A2E33"/>
            </a:solidFill>
          </a:ln>
          <a:effectLst>
            <a:outerShdw sx="100000" sy="100000" kx="0" ky="0" algn="b" rotWithShape="0" blurRad="177800" dist="50800" dir="5400000">
              <a:srgbClr val="000000">
                <a:alpha val="45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16" name="Shape 6"/>
          <p:cNvSpPr/>
          <p:nvPr/>
        </p:nvSpPr>
        <p:spPr>
          <a:xfrm>
            <a:off x="1142999" y="3154678"/>
            <a:ext cx="731524" cy="731523"/>
          </a:xfrm>
          <a:prstGeom prst="ellipse">
            <a:avLst/>
          </a:prstGeom>
          <a:solidFill>
            <a:srgbClr val="C8FF00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pic>
        <p:nvPicPr>
          <p:cNvPr id="117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340510" y="3352189"/>
            <a:ext cx="336501" cy="336501"/>
          </a:xfrm>
          <a:prstGeom prst="rect">
            <a:avLst/>
          </a:prstGeom>
          <a:ln w="12700">
            <a:miter lim="400000"/>
          </a:ln>
        </p:spPr>
      </p:pic>
      <p:sp>
        <p:nvSpPr>
          <p:cNvPr id="118" name="Text 7"/>
          <p:cNvSpPr txBox="1"/>
          <p:nvPr/>
        </p:nvSpPr>
        <p:spPr>
          <a:xfrm>
            <a:off x="2057399" y="3378544"/>
            <a:ext cx="2103123" cy="2837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000">
                <a:solidFill>
                  <a:srgbClr val="C8FF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TRAIN</a:t>
            </a:r>
          </a:p>
        </p:txBody>
      </p:sp>
      <p:sp>
        <p:nvSpPr>
          <p:cNvPr id="119" name="Text 8"/>
          <p:cNvSpPr txBox="1"/>
          <p:nvPr/>
        </p:nvSpPr>
        <p:spPr>
          <a:xfrm>
            <a:off x="1142999" y="4097306"/>
            <a:ext cx="2788923" cy="13608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ts val="1800"/>
              </a:lnSpc>
              <a:defRPr b="1" sz="1300">
                <a:solidFill>
                  <a:srgbClr val="D3FD51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Athletes chat with Nora,</a:t>
            </a:r>
            <a:r>
              <a:rPr b="0">
                <a:solidFill>
                  <a:srgbClr val="C3C8CE"/>
                </a:solidFill>
              </a:rPr>
              <a:t> their AI coach, through a personalized curriculum of cognitive simulations on their phones, rehearsing composure, focus, and decisioning before they reach competition</a:t>
            </a:r>
          </a:p>
        </p:txBody>
      </p:sp>
      <p:pic>
        <p:nvPicPr>
          <p:cNvPr id="120" name="Image 1" descr="Image 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4279391" y="4023359"/>
            <a:ext cx="274322" cy="274322"/>
          </a:xfrm>
          <a:prstGeom prst="rect">
            <a:avLst/>
          </a:prstGeom>
          <a:ln w="12700">
            <a:miter lim="400000"/>
          </a:ln>
        </p:spPr>
      </p:pic>
      <p:sp>
        <p:nvSpPr>
          <p:cNvPr id="121" name="Shape 9"/>
          <p:cNvSpPr/>
          <p:nvPr/>
        </p:nvSpPr>
        <p:spPr>
          <a:xfrm>
            <a:off x="4535423" y="2834638"/>
            <a:ext cx="3429002" cy="2743202"/>
          </a:xfrm>
          <a:prstGeom prst="roundRect">
            <a:avLst>
              <a:gd name="adj" fmla="val 4000"/>
            </a:avLst>
          </a:prstGeom>
          <a:solidFill>
            <a:srgbClr val="141619"/>
          </a:solidFill>
          <a:ln w="12700">
            <a:solidFill>
              <a:srgbClr val="2A2E33"/>
            </a:solidFill>
          </a:ln>
          <a:effectLst>
            <a:outerShdw sx="100000" sy="100000" kx="0" ky="0" algn="b" rotWithShape="0" blurRad="177800" dist="50800" dir="5400000">
              <a:srgbClr val="000000">
                <a:alpha val="45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22" name="Shape 10"/>
          <p:cNvSpPr/>
          <p:nvPr/>
        </p:nvSpPr>
        <p:spPr>
          <a:xfrm>
            <a:off x="4855464" y="3154678"/>
            <a:ext cx="731523" cy="731523"/>
          </a:xfrm>
          <a:prstGeom prst="ellipse">
            <a:avLst/>
          </a:prstGeom>
          <a:solidFill>
            <a:srgbClr val="5B9D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pic>
        <p:nvPicPr>
          <p:cNvPr id="123" name="Image 2" descr="Image 2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5052974" y="3352189"/>
            <a:ext cx="336501" cy="336501"/>
          </a:xfrm>
          <a:prstGeom prst="rect">
            <a:avLst/>
          </a:prstGeom>
          <a:ln w="12700">
            <a:miter lim="400000"/>
          </a:ln>
        </p:spPr>
      </p:pic>
      <p:sp>
        <p:nvSpPr>
          <p:cNvPr id="124" name="Text 11"/>
          <p:cNvSpPr txBox="1"/>
          <p:nvPr/>
        </p:nvSpPr>
        <p:spPr>
          <a:xfrm>
            <a:off x="5769864" y="3378544"/>
            <a:ext cx="2103122" cy="2837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000">
                <a:solidFill>
                  <a:srgbClr val="5B9D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SUPPORT</a:t>
            </a:r>
          </a:p>
        </p:txBody>
      </p:sp>
      <p:sp>
        <p:nvSpPr>
          <p:cNvPr id="125" name="Text 12"/>
          <p:cNvSpPr txBox="1"/>
          <p:nvPr/>
        </p:nvSpPr>
        <p:spPr>
          <a:xfrm>
            <a:off x="4855464" y="4325906"/>
            <a:ext cx="2788922" cy="9036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ts val="1800"/>
              </a:lnSpc>
              <a:defRPr sz="1300">
                <a:solidFill>
                  <a:srgbClr val="C3C8CE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On game day, passive </a:t>
            </a:r>
            <a:r>
              <a:rPr b="1">
                <a:solidFill>
                  <a:srgbClr val="6B9BF8"/>
                </a:solidFill>
              </a:rPr>
              <a:t>biometrics catch the signal early</a:t>
            </a:r>
            <a:r>
              <a:t> and Nora reinforces the trained skills in real time.</a:t>
            </a:r>
          </a:p>
        </p:txBody>
      </p:sp>
      <p:pic>
        <p:nvPicPr>
          <p:cNvPr id="126" name="Image 3" descr="Image 3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7991856" y="4023359"/>
            <a:ext cx="274322" cy="274322"/>
          </a:xfrm>
          <a:prstGeom prst="rect">
            <a:avLst/>
          </a:prstGeom>
          <a:ln w="12700">
            <a:miter lim="400000"/>
          </a:ln>
        </p:spPr>
      </p:pic>
      <p:sp>
        <p:nvSpPr>
          <p:cNvPr id="127" name="Shape 13"/>
          <p:cNvSpPr/>
          <p:nvPr/>
        </p:nvSpPr>
        <p:spPr>
          <a:xfrm>
            <a:off x="8247888" y="2834638"/>
            <a:ext cx="3429002" cy="2743202"/>
          </a:xfrm>
          <a:prstGeom prst="roundRect">
            <a:avLst>
              <a:gd name="adj" fmla="val 4000"/>
            </a:avLst>
          </a:prstGeom>
          <a:solidFill>
            <a:srgbClr val="141619"/>
          </a:solidFill>
          <a:ln w="12700">
            <a:solidFill>
              <a:srgbClr val="2A2E33"/>
            </a:solidFill>
          </a:ln>
          <a:effectLst>
            <a:outerShdw sx="100000" sy="100000" kx="0" ky="0" algn="b" rotWithShape="0" blurRad="177800" dist="50800" dir="5400000">
              <a:srgbClr val="000000">
                <a:alpha val="45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28" name="Shape 14"/>
          <p:cNvSpPr/>
          <p:nvPr/>
        </p:nvSpPr>
        <p:spPr>
          <a:xfrm>
            <a:off x="8567928" y="3154678"/>
            <a:ext cx="731523" cy="731523"/>
          </a:xfrm>
          <a:prstGeom prst="ellipse">
            <a:avLst/>
          </a:prstGeom>
          <a:solidFill>
            <a:srgbClr val="FF6FB5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pic>
        <p:nvPicPr>
          <p:cNvPr id="129" name="Image 4" descr="Image 4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8765437" y="3352189"/>
            <a:ext cx="336501" cy="336501"/>
          </a:xfrm>
          <a:prstGeom prst="rect">
            <a:avLst/>
          </a:prstGeom>
          <a:ln w="12700">
            <a:miter lim="400000"/>
          </a:ln>
        </p:spPr>
      </p:pic>
      <p:sp>
        <p:nvSpPr>
          <p:cNvPr id="130" name="Text 15"/>
          <p:cNvSpPr txBox="1"/>
          <p:nvPr/>
        </p:nvSpPr>
        <p:spPr>
          <a:xfrm>
            <a:off x="9482328" y="3378544"/>
            <a:ext cx="2103122" cy="2837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000">
                <a:solidFill>
                  <a:srgbClr val="FF6FB5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ROUTE</a:t>
            </a:r>
          </a:p>
        </p:txBody>
      </p:sp>
      <p:sp>
        <p:nvSpPr>
          <p:cNvPr id="131" name="Text 16"/>
          <p:cNvSpPr txBox="1"/>
          <p:nvPr/>
        </p:nvSpPr>
        <p:spPr>
          <a:xfrm>
            <a:off x="8567928" y="4211606"/>
            <a:ext cx="2788922" cy="1132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ts val="1800"/>
              </a:lnSpc>
              <a:defRPr sz="1300">
                <a:solidFill>
                  <a:srgbClr val="C3C8CE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When Nora </a:t>
            </a:r>
            <a:r>
              <a:rPr b="1">
                <a:solidFill>
                  <a:srgbClr val="ED78B3"/>
                </a:solidFill>
              </a:rPr>
              <a:t>detects symptoms of a mental crisis brewing</a:t>
            </a:r>
            <a:r>
              <a:t>, Pulse Check </a:t>
            </a:r>
            <a:r>
              <a:rPr b="1">
                <a:solidFill>
                  <a:srgbClr val="ED78B3"/>
                </a:solidFill>
              </a:rPr>
              <a:t>connects the athlete to a human clinician through AuntEDNA.ai's </a:t>
            </a:r>
            <a:r>
              <a:t>HIPAA-compliant clinical pathway.</a:t>
            </a:r>
          </a:p>
        </p:txBody>
      </p:sp>
      <p:sp>
        <p:nvSpPr>
          <p:cNvPr id="132" name="Text 17"/>
          <p:cNvSpPr txBox="1"/>
          <p:nvPr/>
        </p:nvSpPr>
        <p:spPr>
          <a:xfrm>
            <a:off x="822960" y="6021646"/>
            <a:ext cx="10515601" cy="2096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i="1" sz="1500">
                <a:solidFill>
                  <a:srgbClr val="C8FF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Athletes train the response before competition, so the body remembers how to perform under pressure.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A0B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Shape 0"/>
          <p:cNvSpPr/>
          <p:nvPr/>
        </p:nvSpPr>
        <p:spPr>
          <a:xfrm>
            <a:off x="822960" y="566927"/>
            <a:ext cx="1828802" cy="384050"/>
          </a:xfrm>
          <a:prstGeom prst="roundRect">
            <a:avLst>
              <a:gd name="adj" fmla="val 50000"/>
            </a:avLst>
          </a:prstGeom>
          <a:solidFill>
            <a:srgbClr val="141619"/>
          </a:solidFill>
          <a:ln w="12700">
            <a:solidFill>
              <a:srgbClr val="2A2E33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35" name="Shape 1"/>
          <p:cNvSpPr/>
          <p:nvPr/>
        </p:nvSpPr>
        <p:spPr>
          <a:xfrm>
            <a:off x="1005838" y="722376"/>
            <a:ext cx="73155" cy="73155"/>
          </a:xfrm>
          <a:prstGeom prst="ellipse">
            <a:avLst/>
          </a:prstGeom>
          <a:solidFill>
            <a:srgbClr val="C8FF00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36" name="Text 2"/>
          <p:cNvSpPr txBox="1"/>
          <p:nvPr/>
        </p:nvSpPr>
        <p:spPr>
          <a:xfrm>
            <a:off x="1152144" y="691178"/>
            <a:ext cx="1463042" cy="1355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200" sz="1000">
                <a:solidFill>
                  <a:srgbClr val="F4F6F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HOW IT WORKS</a:t>
            </a:r>
          </a:p>
        </p:txBody>
      </p:sp>
      <p:sp>
        <p:nvSpPr>
          <p:cNvPr id="137" name="Text 3"/>
          <p:cNvSpPr txBox="1"/>
          <p:nvPr/>
        </p:nvSpPr>
        <p:spPr>
          <a:xfrm>
            <a:off x="831849" y="1159607"/>
            <a:ext cx="10515602" cy="5546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ts val="4400"/>
              </a:lnSpc>
              <a:defRPr b="1" sz="4000">
                <a:solidFill>
                  <a:srgbClr val="F4F6F2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What the athlete </a:t>
            </a:r>
            <a:r>
              <a:rPr>
                <a:solidFill>
                  <a:srgbClr val="C8FF00"/>
                </a:solidFill>
              </a:rPr>
              <a:t>actually sees.</a:t>
            </a:r>
          </a:p>
        </p:txBody>
      </p:sp>
      <p:sp>
        <p:nvSpPr>
          <p:cNvPr id="138" name="Text 4"/>
          <p:cNvSpPr txBox="1"/>
          <p:nvPr/>
        </p:nvSpPr>
        <p:spPr>
          <a:xfrm>
            <a:off x="905961" y="2078378"/>
            <a:ext cx="3391297" cy="11363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600">
                <a:solidFill>
                  <a:srgbClr val="8A9099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Passive biometrics detect the signal, Nora trains and settles the response, and Sports Intel reads each athlete in context — inside the app they already open.</a:t>
            </a:r>
          </a:p>
        </p:txBody>
      </p:sp>
      <p:sp>
        <p:nvSpPr>
          <p:cNvPr id="139" name="t800"/>
          <p:cNvSpPr txBox="1"/>
          <p:nvPr/>
        </p:nvSpPr>
        <p:spPr>
          <a:xfrm>
            <a:off x="4845177" y="1871284"/>
            <a:ext cx="1421054" cy="1478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100">
                <a:solidFill>
                  <a:srgbClr val="5BA3F5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DETECT</a:t>
            </a:r>
          </a:p>
        </p:txBody>
      </p:sp>
      <p:pic>
        <p:nvPicPr>
          <p:cNvPr id="140" name="phone801" descr="phone801"/>
          <p:cNvPicPr>
            <a:picLocks noChangeAspect="1"/>
          </p:cNvPicPr>
          <p:nvPr/>
        </p:nvPicPr>
        <p:blipFill>
          <a:blip r:embed="rId2">
            <a:extLst/>
          </a:blip>
          <a:srcRect l="0" t="0" r="7" b="0"/>
          <a:stretch>
            <a:fillRect/>
          </a:stretch>
        </p:blipFill>
        <p:spPr>
          <a:xfrm>
            <a:off x="4641303" y="2083233"/>
            <a:ext cx="1828801" cy="38611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186" y="0"/>
                </a:moveTo>
                <a:cubicBezTo>
                  <a:pt x="530" y="0"/>
                  <a:pt x="0" y="251"/>
                  <a:pt x="0" y="562"/>
                </a:cubicBezTo>
                <a:lnTo>
                  <a:pt x="0" y="21036"/>
                </a:lnTo>
                <a:cubicBezTo>
                  <a:pt x="0" y="21347"/>
                  <a:pt x="530" y="21600"/>
                  <a:pt x="1186" y="21600"/>
                </a:cubicBezTo>
                <a:lnTo>
                  <a:pt x="20414" y="21600"/>
                </a:lnTo>
                <a:cubicBezTo>
                  <a:pt x="21070" y="21600"/>
                  <a:pt x="21600" y="21347"/>
                  <a:pt x="21600" y="21036"/>
                </a:cubicBezTo>
                <a:lnTo>
                  <a:pt x="21600" y="562"/>
                </a:lnTo>
                <a:cubicBezTo>
                  <a:pt x="21600" y="251"/>
                  <a:pt x="21070" y="0"/>
                  <a:pt x="20414" y="0"/>
                </a:cubicBezTo>
                <a:lnTo>
                  <a:pt x="1186" y="0"/>
                </a:lnTo>
                <a:close/>
              </a:path>
            </a:pathLst>
          </a:custGeom>
          <a:ln w="12700">
            <a:solidFill>
              <a:srgbClr val="3A3F47"/>
            </a:solidFill>
          </a:ln>
        </p:spPr>
      </p:pic>
      <p:sp>
        <p:nvSpPr>
          <p:cNvPr id="141" name="t802"/>
          <p:cNvSpPr txBox="1"/>
          <p:nvPr/>
        </p:nvSpPr>
        <p:spPr>
          <a:xfrm>
            <a:off x="4705704" y="6056183"/>
            <a:ext cx="1700000" cy="2752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1000">
                <a:solidFill>
                  <a:srgbClr val="A8AEB8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Passive biometrics read each athlete in context.</a:t>
            </a:r>
          </a:p>
        </p:txBody>
      </p:sp>
      <p:sp>
        <p:nvSpPr>
          <p:cNvPr id="142" name="t803"/>
          <p:cNvSpPr txBox="1"/>
          <p:nvPr/>
        </p:nvSpPr>
        <p:spPr>
          <a:xfrm>
            <a:off x="7018817" y="1869543"/>
            <a:ext cx="1421054" cy="1478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100">
                <a:solidFill>
                  <a:srgbClr val="E0FE1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TRAIN</a:t>
            </a:r>
          </a:p>
        </p:txBody>
      </p:sp>
      <p:pic>
        <p:nvPicPr>
          <p:cNvPr id="143" name="phone804" descr="phone804"/>
          <p:cNvPicPr>
            <a:picLocks noChangeAspect="1"/>
          </p:cNvPicPr>
          <p:nvPr/>
        </p:nvPicPr>
        <p:blipFill>
          <a:blip r:embed="rId3">
            <a:extLst/>
          </a:blip>
          <a:srcRect l="0" t="0" r="0" b="2"/>
          <a:stretch>
            <a:fillRect/>
          </a:stretch>
        </p:blipFill>
        <p:spPr>
          <a:xfrm>
            <a:off x="6820500" y="2119084"/>
            <a:ext cx="1817574" cy="38369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188" y="0"/>
                </a:moveTo>
                <a:cubicBezTo>
                  <a:pt x="532" y="0"/>
                  <a:pt x="0" y="252"/>
                  <a:pt x="0" y="563"/>
                </a:cubicBezTo>
                <a:lnTo>
                  <a:pt x="0" y="21037"/>
                </a:lnTo>
                <a:cubicBezTo>
                  <a:pt x="0" y="21348"/>
                  <a:pt x="532" y="21600"/>
                  <a:pt x="1188" y="21600"/>
                </a:cubicBezTo>
                <a:lnTo>
                  <a:pt x="20412" y="21600"/>
                </a:lnTo>
                <a:cubicBezTo>
                  <a:pt x="21068" y="21600"/>
                  <a:pt x="21600" y="21348"/>
                  <a:pt x="21600" y="21037"/>
                </a:cubicBezTo>
                <a:lnTo>
                  <a:pt x="21600" y="563"/>
                </a:lnTo>
                <a:cubicBezTo>
                  <a:pt x="21600" y="252"/>
                  <a:pt x="21068" y="0"/>
                  <a:pt x="20412" y="0"/>
                </a:cubicBezTo>
                <a:lnTo>
                  <a:pt x="1188" y="0"/>
                </a:lnTo>
                <a:close/>
              </a:path>
            </a:pathLst>
          </a:custGeom>
          <a:ln w="12700">
            <a:solidFill>
              <a:srgbClr val="3A3F47"/>
            </a:solidFill>
          </a:ln>
        </p:spPr>
      </p:pic>
      <p:sp>
        <p:nvSpPr>
          <p:cNvPr id="144" name="t805"/>
          <p:cNvSpPr txBox="1"/>
          <p:nvPr/>
        </p:nvSpPr>
        <p:spPr>
          <a:xfrm>
            <a:off x="6879344" y="6056183"/>
            <a:ext cx="1700000" cy="2752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1000">
                <a:solidFill>
                  <a:srgbClr val="A8AEB8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Guided box-breathing trains the body to settle.</a:t>
            </a:r>
          </a:p>
        </p:txBody>
      </p:sp>
      <p:sp>
        <p:nvSpPr>
          <p:cNvPr id="145" name="t806"/>
          <p:cNvSpPr txBox="1"/>
          <p:nvPr/>
        </p:nvSpPr>
        <p:spPr>
          <a:xfrm>
            <a:off x="9132647" y="1869543"/>
            <a:ext cx="1421054" cy="1478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100">
                <a:solidFill>
                  <a:srgbClr val="34D399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SUPPORT</a:t>
            </a:r>
          </a:p>
        </p:txBody>
      </p:sp>
      <p:pic>
        <p:nvPicPr>
          <p:cNvPr id="146" name="phone807" descr="phone807"/>
          <p:cNvPicPr>
            <a:picLocks noChangeAspect="1"/>
          </p:cNvPicPr>
          <p:nvPr/>
        </p:nvPicPr>
        <p:blipFill>
          <a:blip r:embed="rId4">
            <a:extLst/>
          </a:blip>
          <a:srcRect l="0" t="0" r="0" b="0"/>
          <a:stretch>
            <a:fillRect/>
          </a:stretch>
        </p:blipFill>
        <p:spPr>
          <a:xfrm>
            <a:off x="8928774" y="2119172"/>
            <a:ext cx="1828801" cy="38608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186" y="0"/>
                </a:moveTo>
                <a:cubicBezTo>
                  <a:pt x="530" y="0"/>
                  <a:pt x="0" y="251"/>
                  <a:pt x="0" y="562"/>
                </a:cubicBezTo>
                <a:lnTo>
                  <a:pt x="0" y="21038"/>
                </a:lnTo>
                <a:cubicBezTo>
                  <a:pt x="0" y="21349"/>
                  <a:pt x="530" y="21600"/>
                  <a:pt x="1186" y="21600"/>
                </a:cubicBezTo>
                <a:lnTo>
                  <a:pt x="20414" y="21600"/>
                </a:lnTo>
                <a:cubicBezTo>
                  <a:pt x="21070" y="21600"/>
                  <a:pt x="21600" y="21349"/>
                  <a:pt x="21600" y="21038"/>
                </a:cubicBezTo>
                <a:lnTo>
                  <a:pt x="21600" y="562"/>
                </a:lnTo>
                <a:cubicBezTo>
                  <a:pt x="21600" y="251"/>
                  <a:pt x="21070" y="0"/>
                  <a:pt x="20414" y="0"/>
                </a:cubicBezTo>
                <a:lnTo>
                  <a:pt x="1186" y="0"/>
                </a:lnTo>
                <a:close/>
              </a:path>
            </a:pathLst>
          </a:custGeom>
          <a:ln w="12700">
            <a:solidFill>
              <a:srgbClr val="3A3F47"/>
            </a:solidFill>
          </a:ln>
        </p:spPr>
      </p:pic>
      <p:sp>
        <p:nvSpPr>
          <p:cNvPr id="147" name="t808"/>
          <p:cNvSpPr txBox="1"/>
          <p:nvPr/>
        </p:nvSpPr>
        <p:spPr>
          <a:xfrm>
            <a:off x="8993174" y="6081684"/>
            <a:ext cx="1700000" cy="2752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1000">
                <a:solidFill>
                  <a:srgbClr val="A8AEB8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In the moment, Nora settles the trained response.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A0B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Shape 0"/>
          <p:cNvSpPr/>
          <p:nvPr/>
        </p:nvSpPr>
        <p:spPr>
          <a:xfrm>
            <a:off x="822960" y="566927"/>
            <a:ext cx="1828802" cy="384050"/>
          </a:xfrm>
          <a:prstGeom prst="roundRect">
            <a:avLst>
              <a:gd name="adj" fmla="val 50000"/>
            </a:avLst>
          </a:prstGeom>
          <a:solidFill>
            <a:srgbClr val="141619"/>
          </a:solidFill>
          <a:ln w="12700">
            <a:solidFill>
              <a:srgbClr val="2A2E33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50" name="Shape 1"/>
          <p:cNvSpPr/>
          <p:nvPr/>
        </p:nvSpPr>
        <p:spPr>
          <a:xfrm>
            <a:off x="1005838" y="722376"/>
            <a:ext cx="73155" cy="73155"/>
          </a:xfrm>
          <a:prstGeom prst="ellipse">
            <a:avLst/>
          </a:prstGeom>
          <a:solidFill>
            <a:srgbClr val="C8FF00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51" name="Text 2"/>
          <p:cNvSpPr txBox="1"/>
          <p:nvPr/>
        </p:nvSpPr>
        <p:spPr>
          <a:xfrm>
            <a:off x="1152144" y="691178"/>
            <a:ext cx="1463042" cy="1355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200" sz="1000">
                <a:solidFill>
                  <a:srgbClr val="F4F6F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THE ROUTE</a:t>
            </a:r>
          </a:p>
        </p:txBody>
      </p:sp>
      <p:sp>
        <p:nvSpPr>
          <p:cNvPr id="152" name="Text 3"/>
          <p:cNvSpPr txBox="1"/>
          <p:nvPr/>
        </p:nvSpPr>
        <p:spPr>
          <a:xfrm>
            <a:off x="831849" y="1300257"/>
            <a:ext cx="10515602" cy="5546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ts val="4400"/>
              </a:lnSpc>
              <a:defRPr b="1" sz="4000">
                <a:solidFill>
                  <a:srgbClr val="F4F6F2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Not a chatbot. </a:t>
            </a:r>
            <a:r>
              <a:rPr>
                <a:solidFill>
                  <a:srgbClr val="C8FF00"/>
                </a:solidFill>
              </a:rPr>
              <a:t>A real human.</a:t>
            </a:r>
          </a:p>
        </p:txBody>
      </p:sp>
      <p:sp>
        <p:nvSpPr>
          <p:cNvPr id="153" name="Text 4"/>
          <p:cNvSpPr txBox="1"/>
          <p:nvPr/>
        </p:nvSpPr>
        <p:spPr>
          <a:xfrm>
            <a:off x="828304" y="1964445"/>
            <a:ext cx="10058401" cy="4505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600">
                <a:solidFill>
                  <a:srgbClr val="8A9099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We catch the moment, package the context, and hand off to a licensed human through AuntEDNA.ai — including a same-day welfare check.</a:t>
            </a:r>
          </a:p>
        </p:txBody>
      </p:sp>
      <p:sp>
        <p:nvSpPr>
          <p:cNvPr id="154" name="t820"/>
          <p:cNvSpPr txBox="1"/>
          <p:nvPr/>
        </p:nvSpPr>
        <p:spPr>
          <a:xfrm>
            <a:off x="1213108" y="2524493"/>
            <a:ext cx="1373685" cy="1355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000">
                <a:solidFill>
                  <a:srgbClr val="FF7A93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NORA FLAGS IT</a:t>
            </a:r>
          </a:p>
        </p:txBody>
      </p:sp>
      <p:sp>
        <p:nvSpPr>
          <p:cNvPr id="155" name="t821"/>
          <p:cNvSpPr txBox="1"/>
          <p:nvPr/>
        </p:nvSpPr>
        <p:spPr>
          <a:xfrm>
            <a:off x="9592408" y="2524493"/>
            <a:ext cx="1373685" cy="1355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000">
                <a:solidFill>
                  <a:srgbClr val="34D399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 HUMAN ANSWERS</a:t>
            </a:r>
          </a:p>
        </p:txBody>
      </p:sp>
      <p:pic>
        <p:nvPicPr>
          <p:cNvPr id="156" name="phone822" descr="phone822"/>
          <p:cNvPicPr>
            <a:picLocks noChangeAspect="1"/>
          </p:cNvPicPr>
          <p:nvPr/>
        </p:nvPicPr>
        <p:blipFill>
          <a:blip r:embed="rId2">
            <a:extLst/>
          </a:blip>
          <a:srcRect l="0" t="0" r="0" b="6"/>
          <a:stretch>
            <a:fillRect/>
          </a:stretch>
        </p:blipFill>
        <p:spPr>
          <a:xfrm>
            <a:off x="1127829" y="2708275"/>
            <a:ext cx="1544084" cy="32595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188" y="0"/>
                </a:moveTo>
                <a:cubicBezTo>
                  <a:pt x="532" y="0"/>
                  <a:pt x="0" y="252"/>
                  <a:pt x="0" y="563"/>
                </a:cubicBezTo>
                <a:lnTo>
                  <a:pt x="0" y="21040"/>
                </a:lnTo>
                <a:cubicBezTo>
                  <a:pt x="0" y="21351"/>
                  <a:pt x="532" y="21600"/>
                  <a:pt x="1188" y="21600"/>
                </a:cubicBezTo>
                <a:lnTo>
                  <a:pt x="20412" y="21600"/>
                </a:lnTo>
                <a:cubicBezTo>
                  <a:pt x="21068" y="21600"/>
                  <a:pt x="21600" y="21351"/>
                  <a:pt x="21600" y="21040"/>
                </a:cubicBezTo>
                <a:lnTo>
                  <a:pt x="21600" y="563"/>
                </a:lnTo>
                <a:cubicBezTo>
                  <a:pt x="21600" y="252"/>
                  <a:pt x="21068" y="0"/>
                  <a:pt x="20412" y="0"/>
                </a:cubicBezTo>
                <a:lnTo>
                  <a:pt x="1188" y="0"/>
                </a:lnTo>
                <a:close/>
              </a:path>
            </a:pathLst>
          </a:custGeom>
          <a:ln w="12700">
            <a:solidFill>
              <a:srgbClr val="3A3F47"/>
            </a:solidFill>
          </a:ln>
        </p:spPr>
      </p:pic>
      <p:pic>
        <p:nvPicPr>
          <p:cNvPr id="157" name="phone823" descr="phone823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9491247" y="2716349"/>
            <a:ext cx="1530208" cy="323043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188" y="0"/>
                </a:moveTo>
                <a:cubicBezTo>
                  <a:pt x="531" y="0"/>
                  <a:pt x="0" y="252"/>
                  <a:pt x="0" y="563"/>
                </a:cubicBezTo>
                <a:lnTo>
                  <a:pt x="0" y="21037"/>
                </a:lnTo>
                <a:cubicBezTo>
                  <a:pt x="0" y="21348"/>
                  <a:pt x="531" y="21600"/>
                  <a:pt x="1188" y="21600"/>
                </a:cubicBezTo>
                <a:lnTo>
                  <a:pt x="20412" y="21600"/>
                </a:lnTo>
                <a:cubicBezTo>
                  <a:pt x="21069" y="21600"/>
                  <a:pt x="21600" y="21348"/>
                  <a:pt x="21600" y="21037"/>
                </a:cubicBezTo>
                <a:lnTo>
                  <a:pt x="21600" y="563"/>
                </a:lnTo>
                <a:cubicBezTo>
                  <a:pt x="21600" y="252"/>
                  <a:pt x="21069" y="0"/>
                  <a:pt x="20412" y="0"/>
                </a:cubicBezTo>
                <a:lnTo>
                  <a:pt x="1188" y="0"/>
                </a:lnTo>
                <a:close/>
              </a:path>
            </a:pathLst>
          </a:custGeom>
          <a:ln w="12700">
            <a:solidFill>
              <a:srgbClr val="3A3F47"/>
            </a:solidFill>
          </a:ln>
        </p:spPr>
      </p:pic>
      <p:sp>
        <p:nvSpPr>
          <p:cNvPr id="158" name="r824"/>
          <p:cNvSpPr/>
          <p:nvPr/>
        </p:nvSpPr>
        <p:spPr>
          <a:xfrm>
            <a:off x="3060000" y="2959999"/>
            <a:ext cx="6060000" cy="880001"/>
          </a:xfrm>
          <a:prstGeom prst="roundRect">
            <a:avLst>
              <a:gd name="adj" fmla="val 9000"/>
            </a:avLst>
          </a:prstGeom>
          <a:solidFill>
            <a:srgbClr val="141518"/>
          </a:solidFill>
          <a:ln>
            <a:solidFill>
              <a:srgbClr val="2A2E33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grpSp>
        <p:nvGrpSpPr>
          <p:cNvPr id="161" name="b825"/>
          <p:cNvGrpSpPr/>
          <p:nvPr/>
        </p:nvGrpSpPr>
        <p:grpSpPr>
          <a:xfrm>
            <a:off x="3209999" y="3169999"/>
            <a:ext cx="460002" cy="460001"/>
            <a:chOff x="0" y="0"/>
            <a:chExt cx="460000" cy="460000"/>
          </a:xfrm>
        </p:grpSpPr>
        <p:sp>
          <p:nvSpPr>
            <p:cNvPr id="159" name="Circle"/>
            <p:cNvSpPr/>
            <p:nvPr/>
          </p:nvSpPr>
          <p:spPr>
            <a:xfrm>
              <a:off x="-1" y="-1"/>
              <a:ext cx="460002" cy="460002"/>
            </a:xfrm>
            <a:prstGeom prst="ellipse">
              <a:avLst/>
            </a:prstGeom>
            <a:solidFill>
              <a:srgbClr val="FF7A9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160" name="1"/>
            <p:cNvSpPr txBox="1"/>
            <p:nvPr/>
          </p:nvSpPr>
          <p:spPr>
            <a:xfrm>
              <a:off x="113085" y="91730"/>
              <a:ext cx="233830" cy="27654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1300">
                  <a:solidFill>
                    <a:srgbClr val="0A0A0B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1</a:t>
              </a:r>
            </a:p>
          </p:txBody>
        </p:sp>
      </p:grpSp>
      <p:sp>
        <p:nvSpPr>
          <p:cNvPr id="162" name="t826"/>
          <p:cNvSpPr txBox="1"/>
          <p:nvPr/>
        </p:nvSpPr>
        <p:spPr>
          <a:xfrm>
            <a:off x="3820000" y="3110000"/>
            <a:ext cx="5150001" cy="185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300">
                <a:solidFill>
                  <a:srgbClr val="F4F6F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Trigger</a:t>
            </a:r>
          </a:p>
        </p:txBody>
      </p:sp>
      <p:sp>
        <p:nvSpPr>
          <p:cNvPr id="163" name="t827"/>
          <p:cNvSpPr txBox="1"/>
          <p:nvPr/>
        </p:nvSpPr>
        <p:spPr>
          <a:xfrm>
            <a:off x="3820000" y="3404999"/>
            <a:ext cx="5150001" cy="1355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rgbClr val="A8AEB8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Flagged chat + biometric snapshot the instant Nora detects a critical signal.</a:t>
            </a:r>
          </a:p>
        </p:txBody>
      </p:sp>
      <p:sp>
        <p:nvSpPr>
          <p:cNvPr id="164" name="r828"/>
          <p:cNvSpPr/>
          <p:nvPr/>
        </p:nvSpPr>
        <p:spPr>
          <a:xfrm>
            <a:off x="3060000" y="3939999"/>
            <a:ext cx="6060000" cy="880001"/>
          </a:xfrm>
          <a:prstGeom prst="roundRect">
            <a:avLst>
              <a:gd name="adj" fmla="val 9000"/>
            </a:avLst>
          </a:prstGeom>
          <a:solidFill>
            <a:srgbClr val="141518"/>
          </a:solidFill>
          <a:ln>
            <a:solidFill>
              <a:srgbClr val="2A2E33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grpSp>
        <p:nvGrpSpPr>
          <p:cNvPr id="167" name="b829"/>
          <p:cNvGrpSpPr/>
          <p:nvPr/>
        </p:nvGrpSpPr>
        <p:grpSpPr>
          <a:xfrm>
            <a:off x="3209999" y="4150000"/>
            <a:ext cx="460002" cy="460001"/>
            <a:chOff x="0" y="0"/>
            <a:chExt cx="460000" cy="460000"/>
          </a:xfrm>
        </p:grpSpPr>
        <p:sp>
          <p:nvSpPr>
            <p:cNvPr id="165" name="Circle"/>
            <p:cNvSpPr/>
            <p:nvPr/>
          </p:nvSpPr>
          <p:spPr>
            <a:xfrm>
              <a:off x="-1" y="-1"/>
              <a:ext cx="460002" cy="460002"/>
            </a:xfrm>
            <a:prstGeom prst="ellipse">
              <a:avLst/>
            </a:prstGeom>
            <a:solidFill>
              <a:srgbClr val="22D3EE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166" name="2"/>
            <p:cNvSpPr txBox="1"/>
            <p:nvPr/>
          </p:nvSpPr>
          <p:spPr>
            <a:xfrm>
              <a:off x="113085" y="91730"/>
              <a:ext cx="233830" cy="27654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1300">
                  <a:solidFill>
                    <a:srgbClr val="0A0A0B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2</a:t>
              </a:r>
            </a:p>
          </p:txBody>
        </p:sp>
      </p:grpSp>
      <p:sp>
        <p:nvSpPr>
          <p:cNvPr id="168" name="t830"/>
          <p:cNvSpPr txBox="1"/>
          <p:nvPr/>
        </p:nvSpPr>
        <p:spPr>
          <a:xfrm>
            <a:off x="3820000" y="4089999"/>
            <a:ext cx="5150001" cy="1851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300">
                <a:solidFill>
                  <a:srgbClr val="F4F6F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Route</a:t>
            </a:r>
          </a:p>
        </p:txBody>
      </p:sp>
      <p:sp>
        <p:nvSpPr>
          <p:cNvPr id="169" name="t831"/>
          <p:cNvSpPr txBox="1"/>
          <p:nvPr/>
        </p:nvSpPr>
        <p:spPr>
          <a:xfrm>
            <a:off x="3820000" y="4385000"/>
            <a:ext cx="5150001" cy="2752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rgbClr val="A8AEB8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The signal layer packages the full context and hands off to AuntEDNA.ai over a HIPAA-secure pathway.</a:t>
            </a:r>
          </a:p>
        </p:txBody>
      </p:sp>
      <p:sp>
        <p:nvSpPr>
          <p:cNvPr id="170" name="r832"/>
          <p:cNvSpPr/>
          <p:nvPr/>
        </p:nvSpPr>
        <p:spPr>
          <a:xfrm>
            <a:off x="3060000" y="4920000"/>
            <a:ext cx="6060000" cy="880001"/>
          </a:xfrm>
          <a:prstGeom prst="roundRect">
            <a:avLst>
              <a:gd name="adj" fmla="val 9000"/>
            </a:avLst>
          </a:prstGeom>
          <a:solidFill>
            <a:srgbClr val="141518"/>
          </a:solidFill>
          <a:ln>
            <a:solidFill>
              <a:srgbClr val="2A2E33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grpSp>
        <p:nvGrpSpPr>
          <p:cNvPr id="173" name="b833"/>
          <p:cNvGrpSpPr/>
          <p:nvPr/>
        </p:nvGrpSpPr>
        <p:grpSpPr>
          <a:xfrm>
            <a:off x="3209999" y="5130000"/>
            <a:ext cx="460002" cy="460001"/>
            <a:chOff x="0" y="0"/>
            <a:chExt cx="460000" cy="460000"/>
          </a:xfrm>
        </p:grpSpPr>
        <p:sp>
          <p:nvSpPr>
            <p:cNvPr id="171" name="Circle"/>
            <p:cNvSpPr/>
            <p:nvPr/>
          </p:nvSpPr>
          <p:spPr>
            <a:xfrm>
              <a:off x="-1" y="-1"/>
              <a:ext cx="460002" cy="460002"/>
            </a:xfrm>
            <a:prstGeom prst="ellipse">
              <a:avLst/>
            </a:prstGeom>
            <a:solidFill>
              <a:srgbClr val="34D399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172" name="3"/>
            <p:cNvSpPr txBox="1"/>
            <p:nvPr/>
          </p:nvSpPr>
          <p:spPr>
            <a:xfrm>
              <a:off x="113085" y="91730"/>
              <a:ext cx="233830" cy="27654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1300">
                  <a:solidFill>
                    <a:srgbClr val="0A0A0B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3</a:t>
              </a:r>
            </a:p>
          </p:txBody>
        </p:sp>
      </p:grpSp>
      <p:sp>
        <p:nvSpPr>
          <p:cNvPr id="174" name="t834"/>
          <p:cNvSpPr txBox="1"/>
          <p:nvPr/>
        </p:nvSpPr>
        <p:spPr>
          <a:xfrm>
            <a:off x="3820000" y="5069999"/>
            <a:ext cx="5150001" cy="1851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300">
                <a:solidFill>
                  <a:srgbClr val="F4F6F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Human</a:t>
            </a:r>
          </a:p>
        </p:txBody>
      </p:sp>
      <p:sp>
        <p:nvSpPr>
          <p:cNvPr id="175" name="t835"/>
          <p:cNvSpPr txBox="1"/>
          <p:nvPr/>
        </p:nvSpPr>
        <p:spPr>
          <a:xfrm>
            <a:off x="3820000" y="5365000"/>
            <a:ext cx="5150001" cy="1355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rgbClr val="A8AEB8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 licensed clinician runs a same-day welfare check — a real person, not a bot.</a:t>
            </a:r>
          </a:p>
        </p:txBody>
      </p:sp>
      <p:sp>
        <p:nvSpPr>
          <p:cNvPr id="176" name="r836"/>
          <p:cNvSpPr/>
          <p:nvPr/>
        </p:nvSpPr>
        <p:spPr>
          <a:xfrm>
            <a:off x="822960" y="6030000"/>
            <a:ext cx="10533381" cy="560001"/>
          </a:xfrm>
          <a:prstGeom prst="roundRect">
            <a:avLst>
              <a:gd name="adj" fmla="val 14000"/>
            </a:avLst>
          </a:prstGeom>
          <a:solidFill>
            <a:srgbClr val="12140C"/>
          </a:solidFill>
          <a:ln>
            <a:solidFill>
              <a:srgbClr val="3A4A12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77" name="t837"/>
          <p:cNvSpPr txBox="1"/>
          <p:nvPr/>
        </p:nvSpPr>
        <p:spPr>
          <a:xfrm>
            <a:off x="1060000" y="6261085"/>
            <a:ext cx="10100000" cy="1478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b="1" sz="1100">
                <a:solidFill>
                  <a:srgbClr val="E0FE10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The difference: </a:t>
            </a:r>
            <a:r>
              <a:rPr b="0">
                <a:solidFill>
                  <a:srgbClr val="C7CBD1"/>
                </a:solidFill>
              </a:rPr>
              <a:t>chatbot “therapy” stops at the AI. Pulse Check never pretends to be the clinician — it routes to one, with the context already packaged.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A0B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Shape 0"/>
          <p:cNvSpPr/>
          <p:nvPr/>
        </p:nvSpPr>
        <p:spPr>
          <a:xfrm>
            <a:off x="822960" y="566927"/>
            <a:ext cx="1828802" cy="384050"/>
          </a:xfrm>
          <a:prstGeom prst="roundRect">
            <a:avLst>
              <a:gd name="adj" fmla="val 50000"/>
            </a:avLst>
          </a:prstGeom>
          <a:solidFill>
            <a:srgbClr val="141619"/>
          </a:solidFill>
          <a:ln w="12700">
            <a:solidFill>
              <a:srgbClr val="2A2E33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80" name="Shape 1"/>
          <p:cNvSpPr/>
          <p:nvPr/>
        </p:nvSpPr>
        <p:spPr>
          <a:xfrm>
            <a:off x="1005838" y="722376"/>
            <a:ext cx="73155" cy="73155"/>
          </a:xfrm>
          <a:prstGeom prst="ellipse">
            <a:avLst/>
          </a:prstGeom>
          <a:solidFill>
            <a:srgbClr val="C8FF00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81" name="Text 2"/>
          <p:cNvSpPr txBox="1"/>
          <p:nvPr/>
        </p:nvSpPr>
        <p:spPr>
          <a:xfrm>
            <a:off x="1152144" y="691178"/>
            <a:ext cx="1463042" cy="1355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200" sz="1000">
                <a:solidFill>
                  <a:srgbClr val="F4F6F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THE MOAT</a:t>
            </a:r>
          </a:p>
        </p:txBody>
      </p:sp>
      <p:sp>
        <p:nvSpPr>
          <p:cNvPr id="182" name="Text 3"/>
          <p:cNvSpPr txBox="1"/>
          <p:nvPr/>
        </p:nvSpPr>
        <p:spPr>
          <a:xfrm>
            <a:off x="822960" y="1599865"/>
            <a:ext cx="10515601" cy="5493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4400"/>
              </a:lnSpc>
              <a:defRPr b="1" sz="3800">
                <a:solidFill>
                  <a:srgbClr val="F4F6F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The Sports Intelligence Layer.</a:t>
            </a:r>
          </a:p>
        </p:txBody>
      </p:sp>
      <p:sp>
        <p:nvSpPr>
          <p:cNvPr id="183" name="Text 4"/>
          <p:cNvSpPr txBox="1"/>
          <p:nvPr/>
        </p:nvSpPr>
        <p:spPr>
          <a:xfrm>
            <a:off x="841247" y="2220742"/>
            <a:ext cx="10058401" cy="2219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600">
                <a:solidFill>
                  <a:srgbClr val="8A9099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Competitors own one slice. Pulse Check ties the whole workflow into one institutional system.</a:t>
            </a:r>
          </a:p>
        </p:txBody>
      </p:sp>
      <p:sp>
        <p:nvSpPr>
          <p:cNvPr id="184" name="Shape 5"/>
          <p:cNvSpPr/>
          <p:nvPr/>
        </p:nvSpPr>
        <p:spPr>
          <a:xfrm>
            <a:off x="822960" y="2788920"/>
            <a:ext cx="5074921" cy="1554482"/>
          </a:xfrm>
          <a:prstGeom prst="roundRect">
            <a:avLst>
              <a:gd name="adj" fmla="val 7059"/>
            </a:avLst>
          </a:prstGeom>
          <a:solidFill>
            <a:srgbClr val="141619"/>
          </a:solidFill>
          <a:ln w="12700">
            <a:solidFill>
              <a:srgbClr val="2A2E33"/>
            </a:solidFill>
          </a:ln>
          <a:effectLst>
            <a:outerShdw sx="100000" sy="100000" kx="0" ky="0" algn="b" rotWithShape="0" blurRad="177800" dist="50800" dir="5400000">
              <a:srgbClr val="000000">
                <a:alpha val="45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85" name="Shape 6"/>
          <p:cNvSpPr/>
          <p:nvPr/>
        </p:nvSpPr>
        <p:spPr>
          <a:xfrm>
            <a:off x="1115566" y="3108960"/>
            <a:ext cx="822963" cy="822963"/>
          </a:xfrm>
          <a:prstGeom prst="ellipse">
            <a:avLst/>
          </a:prstGeom>
          <a:solidFill>
            <a:srgbClr val="1B1E22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pic>
        <p:nvPicPr>
          <p:cNvPr id="186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337766" y="3331159"/>
            <a:ext cx="378564" cy="378564"/>
          </a:xfrm>
          <a:prstGeom prst="rect">
            <a:avLst/>
          </a:prstGeom>
          <a:ln w="12700">
            <a:miter lim="400000"/>
          </a:ln>
        </p:spPr>
      </p:pic>
      <p:sp>
        <p:nvSpPr>
          <p:cNvPr id="187" name="Text 7"/>
          <p:cNvSpPr txBox="1"/>
          <p:nvPr/>
        </p:nvSpPr>
        <p:spPr>
          <a:xfrm>
            <a:off x="2148838" y="3162229"/>
            <a:ext cx="3566162" cy="2592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>
                <a:solidFill>
                  <a:srgbClr val="F4F6F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Athlete biometrics</a:t>
            </a:r>
          </a:p>
        </p:txBody>
      </p:sp>
      <p:sp>
        <p:nvSpPr>
          <p:cNvPr id="188" name="Text 8"/>
          <p:cNvSpPr txBox="1"/>
          <p:nvPr/>
        </p:nvSpPr>
        <p:spPr>
          <a:xfrm>
            <a:off x="2148838" y="3646963"/>
            <a:ext cx="3611883" cy="4236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ts val="1700"/>
              </a:lnSpc>
              <a:defRPr b="1" sz="1300">
                <a:solidFill>
                  <a:srgbClr val="D2FB50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Sport-specific signal,</a:t>
            </a:r>
            <a:r>
              <a:rPr b="0"/>
              <a:t> </a:t>
            </a:r>
            <a:r>
              <a:rPr b="0">
                <a:solidFill>
                  <a:srgbClr val="C3C8CE"/>
                </a:solidFill>
              </a:rPr>
              <a:t>not a generic wellness score.</a:t>
            </a:r>
          </a:p>
        </p:txBody>
      </p:sp>
      <p:sp>
        <p:nvSpPr>
          <p:cNvPr id="189" name="Shape 9"/>
          <p:cNvSpPr/>
          <p:nvPr/>
        </p:nvSpPr>
        <p:spPr>
          <a:xfrm>
            <a:off x="6309359" y="2788920"/>
            <a:ext cx="5074921" cy="1554482"/>
          </a:xfrm>
          <a:prstGeom prst="roundRect">
            <a:avLst>
              <a:gd name="adj" fmla="val 7059"/>
            </a:avLst>
          </a:prstGeom>
          <a:solidFill>
            <a:srgbClr val="141619"/>
          </a:solidFill>
          <a:ln w="12700">
            <a:solidFill>
              <a:srgbClr val="2A2E33"/>
            </a:solidFill>
          </a:ln>
          <a:effectLst>
            <a:outerShdw sx="100000" sy="100000" kx="0" ky="0" algn="b" rotWithShape="0" blurRad="177800" dist="50800" dir="5400000">
              <a:srgbClr val="000000">
                <a:alpha val="45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90" name="Shape 10"/>
          <p:cNvSpPr/>
          <p:nvPr/>
        </p:nvSpPr>
        <p:spPr>
          <a:xfrm>
            <a:off x="6601968" y="3108960"/>
            <a:ext cx="822963" cy="822963"/>
          </a:xfrm>
          <a:prstGeom prst="ellipse">
            <a:avLst/>
          </a:prstGeom>
          <a:solidFill>
            <a:srgbClr val="1B1E22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pic>
        <p:nvPicPr>
          <p:cNvPr id="191" name="Image 1" descr="Image 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824167" y="3331159"/>
            <a:ext cx="378564" cy="378564"/>
          </a:xfrm>
          <a:prstGeom prst="rect">
            <a:avLst/>
          </a:prstGeom>
          <a:ln w="12700">
            <a:miter lim="400000"/>
          </a:ln>
        </p:spPr>
      </p:pic>
      <p:sp>
        <p:nvSpPr>
          <p:cNvPr id="192" name="Text 11"/>
          <p:cNvSpPr txBox="1"/>
          <p:nvPr/>
        </p:nvSpPr>
        <p:spPr>
          <a:xfrm>
            <a:off x="7635240" y="3162229"/>
            <a:ext cx="3566160" cy="2592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>
                <a:solidFill>
                  <a:srgbClr val="F4F6F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Cognitive game library</a:t>
            </a:r>
          </a:p>
        </p:txBody>
      </p:sp>
      <p:sp>
        <p:nvSpPr>
          <p:cNvPr id="193" name="Text 12"/>
          <p:cNvSpPr txBox="1"/>
          <p:nvPr/>
        </p:nvSpPr>
        <p:spPr>
          <a:xfrm>
            <a:off x="7635240" y="3646963"/>
            <a:ext cx="3611882" cy="4236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ts val="1700"/>
              </a:lnSpc>
              <a:defRPr sz="1300">
                <a:solidFill>
                  <a:srgbClr val="C3C8CE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Proprietary sims that </a:t>
            </a:r>
            <a:r>
              <a:rPr b="1">
                <a:solidFill>
                  <a:srgbClr val="D3FD51"/>
                </a:solidFill>
              </a:rPr>
              <a:t>train focus, composure, decisioning.</a:t>
            </a:r>
          </a:p>
        </p:txBody>
      </p:sp>
      <p:sp>
        <p:nvSpPr>
          <p:cNvPr id="194" name="Shape 13"/>
          <p:cNvSpPr/>
          <p:nvPr/>
        </p:nvSpPr>
        <p:spPr>
          <a:xfrm>
            <a:off x="822960" y="4526279"/>
            <a:ext cx="5074921" cy="1554482"/>
          </a:xfrm>
          <a:prstGeom prst="roundRect">
            <a:avLst>
              <a:gd name="adj" fmla="val 7059"/>
            </a:avLst>
          </a:prstGeom>
          <a:solidFill>
            <a:srgbClr val="141619"/>
          </a:solidFill>
          <a:ln w="12700">
            <a:solidFill>
              <a:srgbClr val="2A2E33"/>
            </a:solidFill>
          </a:ln>
          <a:effectLst>
            <a:outerShdw sx="100000" sy="100000" kx="0" ky="0" algn="b" rotWithShape="0" blurRad="177800" dist="50800" dir="5400000">
              <a:srgbClr val="000000">
                <a:alpha val="45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95" name="Shape 14"/>
          <p:cNvSpPr/>
          <p:nvPr/>
        </p:nvSpPr>
        <p:spPr>
          <a:xfrm>
            <a:off x="1115566" y="4846320"/>
            <a:ext cx="822963" cy="822963"/>
          </a:xfrm>
          <a:prstGeom prst="ellipse">
            <a:avLst/>
          </a:prstGeom>
          <a:solidFill>
            <a:srgbClr val="1B1E22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pic>
        <p:nvPicPr>
          <p:cNvPr id="196" name="Image 2" descr="Image 2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337766" y="5068518"/>
            <a:ext cx="378564" cy="378564"/>
          </a:xfrm>
          <a:prstGeom prst="rect">
            <a:avLst/>
          </a:prstGeom>
          <a:ln w="12700">
            <a:miter lim="400000"/>
          </a:ln>
        </p:spPr>
      </p:pic>
      <p:sp>
        <p:nvSpPr>
          <p:cNvPr id="197" name="Text 15"/>
          <p:cNvSpPr txBox="1"/>
          <p:nvPr/>
        </p:nvSpPr>
        <p:spPr>
          <a:xfrm>
            <a:off x="2148838" y="4899588"/>
            <a:ext cx="3566162" cy="2592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>
                <a:solidFill>
                  <a:srgbClr val="F4F6F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Clinical partner routing</a:t>
            </a:r>
          </a:p>
        </p:txBody>
      </p:sp>
      <p:sp>
        <p:nvSpPr>
          <p:cNvPr id="198" name="Text 16"/>
          <p:cNvSpPr txBox="1"/>
          <p:nvPr/>
        </p:nvSpPr>
        <p:spPr>
          <a:xfrm>
            <a:off x="2148838" y="5492274"/>
            <a:ext cx="3611883" cy="207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ts val="1700"/>
              </a:lnSpc>
              <a:defRPr sz="1300">
                <a:solidFill>
                  <a:srgbClr val="C3C8CE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A real </a:t>
            </a:r>
            <a:r>
              <a:rPr b="1">
                <a:solidFill>
                  <a:srgbClr val="D2FC51"/>
                </a:solidFill>
              </a:rPr>
              <a:t>care pathway through AuntEDNA.ai.</a:t>
            </a:r>
          </a:p>
        </p:txBody>
      </p:sp>
      <p:sp>
        <p:nvSpPr>
          <p:cNvPr id="199" name="Shape 17"/>
          <p:cNvSpPr/>
          <p:nvPr/>
        </p:nvSpPr>
        <p:spPr>
          <a:xfrm>
            <a:off x="6309359" y="4526279"/>
            <a:ext cx="5074921" cy="1554482"/>
          </a:xfrm>
          <a:prstGeom prst="roundRect">
            <a:avLst>
              <a:gd name="adj" fmla="val 7059"/>
            </a:avLst>
          </a:prstGeom>
          <a:solidFill>
            <a:srgbClr val="141619"/>
          </a:solidFill>
          <a:ln w="12700">
            <a:solidFill>
              <a:srgbClr val="2A2E33"/>
            </a:solidFill>
          </a:ln>
          <a:effectLst>
            <a:outerShdw sx="100000" sy="100000" kx="0" ky="0" algn="b" rotWithShape="0" blurRad="177800" dist="50800" dir="5400000">
              <a:srgbClr val="000000">
                <a:alpha val="45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00" name="Shape 18"/>
          <p:cNvSpPr/>
          <p:nvPr/>
        </p:nvSpPr>
        <p:spPr>
          <a:xfrm>
            <a:off x="6601968" y="4846320"/>
            <a:ext cx="822963" cy="822963"/>
          </a:xfrm>
          <a:prstGeom prst="ellipse">
            <a:avLst/>
          </a:prstGeom>
          <a:solidFill>
            <a:srgbClr val="1B1E22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pic>
        <p:nvPicPr>
          <p:cNvPr id="201" name="Image 3" descr="Image 3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6824167" y="5068518"/>
            <a:ext cx="378564" cy="378564"/>
          </a:xfrm>
          <a:prstGeom prst="rect">
            <a:avLst/>
          </a:prstGeom>
          <a:ln w="12700">
            <a:miter lim="400000"/>
          </a:ln>
        </p:spPr>
      </p:pic>
      <p:sp>
        <p:nvSpPr>
          <p:cNvPr id="202" name="Text 19"/>
          <p:cNvSpPr txBox="1"/>
          <p:nvPr/>
        </p:nvSpPr>
        <p:spPr>
          <a:xfrm>
            <a:off x="7635240" y="4899588"/>
            <a:ext cx="3566160" cy="2592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>
                <a:solidFill>
                  <a:srgbClr val="F4F6F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Institutional workflow</a:t>
            </a:r>
          </a:p>
        </p:txBody>
      </p:sp>
      <p:sp>
        <p:nvSpPr>
          <p:cNvPr id="203" name="Text 20"/>
          <p:cNvSpPr txBox="1"/>
          <p:nvPr/>
        </p:nvSpPr>
        <p:spPr>
          <a:xfrm>
            <a:off x="7635240" y="5384324"/>
            <a:ext cx="3611882" cy="4236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ts val="1700"/>
              </a:lnSpc>
              <a:defRPr sz="1300">
                <a:solidFill>
                  <a:srgbClr val="C3C8CE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Built for how athletic departments actually </a:t>
            </a:r>
            <a:r>
              <a:rPr b="1">
                <a:solidFill>
                  <a:srgbClr val="D3FD51"/>
                </a:solidFill>
              </a:rPr>
              <a:t>buy and run.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A0B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Shape 0"/>
          <p:cNvSpPr/>
          <p:nvPr/>
        </p:nvSpPr>
        <p:spPr>
          <a:xfrm>
            <a:off x="822960" y="566927"/>
            <a:ext cx="2080262" cy="384050"/>
          </a:xfrm>
          <a:prstGeom prst="roundRect">
            <a:avLst>
              <a:gd name="adj" fmla="val 50000"/>
            </a:avLst>
          </a:prstGeom>
          <a:solidFill>
            <a:srgbClr val="141619"/>
          </a:solidFill>
          <a:ln w="12700">
            <a:solidFill>
              <a:srgbClr val="2A2E33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06" name="Shape 1"/>
          <p:cNvSpPr/>
          <p:nvPr/>
        </p:nvSpPr>
        <p:spPr>
          <a:xfrm>
            <a:off x="1005838" y="722376"/>
            <a:ext cx="73155" cy="73155"/>
          </a:xfrm>
          <a:prstGeom prst="ellipse">
            <a:avLst/>
          </a:prstGeom>
          <a:solidFill>
            <a:srgbClr val="C8FF00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07" name="Text 2"/>
          <p:cNvSpPr txBox="1"/>
          <p:nvPr/>
        </p:nvSpPr>
        <p:spPr>
          <a:xfrm>
            <a:off x="1152144" y="691178"/>
            <a:ext cx="1714501" cy="1355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200" sz="1000">
                <a:solidFill>
                  <a:srgbClr val="F4F6F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PROOF IN MOTION</a:t>
            </a:r>
          </a:p>
        </p:txBody>
      </p:sp>
      <p:sp>
        <p:nvSpPr>
          <p:cNvPr id="208" name="Text 3"/>
          <p:cNvSpPr txBox="1"/>
          <p:nvPr/>
        </p:nvSpPr>
        <p:spPr>
          <a:xfrm>
            <a:off x="822960" y="1599865"/>
            <a:ext cx="10515601" cy="5493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4400"/>
              </a:lnSpc>
              <a:defRPr b="1" sz="3800">
                <a:solidFill>
                  <a:srgbClr val="F4F6F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Three paid pilots, on real campuses.</a:t>
            </a:r>
          </a:p>
        </p:txBody>
      </p:sp>
      <p:pic>
        <p:nvPicPr>
          <p:cNvPr id="209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22960" y="2148838"/>
            <a:ext cx="2743202" cy="3703324"/>
          </a:xfrm>
          <a:prstGeom prst="rect">
            <a:avLst/>
          </a:prstGeom>
          <a:ln w="12700">
            <a:miter lim="400000"/>
          </a:ln>
        </p:spPr>
      </p:pic>
      <p:sp>
        <p:nvSpPr>
          <p:cNvPr id="210" name="Shape 4"/>
          <p:cNvSpPr/>
          <p:nvPr/>
        </p:nvSpPr>
        <p:spPr>
          <a:xfrm>
            <a:off x="822960" y="5440679"/>
            <a:ext cx="2743202" cy="411482"/>
          </a:xfrm>
          <a:prstGeom prst="roundRect">
            <a:avLst>
              <a:gd name="adj" fmla="val 13333"/>
            </a:avLst>
          </a:prstGeom>
          <a:solidFill>
            <a:srgbClr val="C8FF00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11" name="Text 5"/>
          <p:cNvSpPr txBox="1"/>
          <p:nvPr/>
        </p:nvSpPr>
        <p:spPr>
          <a:xfrm>
            <a:off x="960119" y="5578647"/>
            <a:ext cx="2560323" cy="1355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100" sz="1000">
                <a:solidFill>
                  <a:srgbClr val="0A0B0D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NAKYALA  ·  CLARK ATLANTA</a:t>
            </a:r>
          </a:p>
        </p:txBody>
      </p:sp>
      <p:sp>
        <p:nvSpPr>
          <p:cNvPr id="212" name="Text 6"/>
          <p:cNvSpPr txBox="1"/>
          <p:nvPr/>
        </p:nvSpPr>
        <p:spPr>
          <a:xfrm>
            <a:off x="3886199" y="2367339"/>
            <a:ext cx="7498083" cy="568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ts val="2300"/>
              </a:lnSpc>
              <a:defRPr sz="1600">
                <a:solidFill>
                  <a:srgbClr val="C3C8CE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Three approved paid pilots — </a:t>
            </a:r>
            <a:r>
              <a:rPr b="1">
                <a:solidFill>
                  <a:srgbClr val="D3FD51"/>
                </a:solidFill>
              </a:rPr>
              <a:t>Clark Atlanta</a:t>
            </a:r>
            <a:r>
              <a:rPr>
                <a:solidFill>
                  <a:srgbClr val="D3FD51"/>
                </a:solidFill>
              </a:rPr>
              <a:t>, </a:t>
            </a:r>
            <a:r>
              <a:rPr b="1">
                <a:solidFill>
                  <a:srgbClr val="D3FD51"/>
                </a:solidFill>
              </a:rPr>
              <a:t>DePaul, and UMES. Worcester State </a:t>
            </a:r>
            <a:r>
              <a:t>and the </a:t>
            </a:r>
            <a:r>
              <a:rPr b="1">
                <a:solidFill>
                  <a:srgbClr val="D3FD51"/>
                </a:solidFill>
              </a:rPr>
              <a:t>New England Patriots </a:t>
            </a:r>
            <a:r>
              <a:t>are in active conversation.</a:t>
            </a:r>
          </a:p>
        </p:txBody>
      </p:sp>
      <p:sp>
        <p:nvSpPr>
          <p:cNvPr id="213" name="Shape 7"/>
          <p:cNvSpPr/>
          <p:nvPr/>
        </p:nvSpPr>
        <p:spPr>
          <a:xfrm>
            <a:off x="3886200" y="3246120"/>
            <a:ext cx="2395728" cy="1371602"/>
          </a:xfrm>
          <a:prstGeom prst="roundRect">
            <a:avLst>
              <a:gd name="adj" fmla="val 8000"/>
            </a:avLst>
          </a:prstGeom>
          <a:solidFill>
            <a:srgbClr val="141619"/>
          </a:solidFill>
          <a:ln w="12700">
            <a:solidFill>
              <a:srgbClr val="2A2E33"/>
            </a:solidFill>
          </a:ln>
          <a:effectLst>
            <a:outerShdw sx="100000" sy="100000" kx="0" ky="0" algn="b" rotWithShape="0" blurRad="177800" dist="50800" dir="5400000">
              <a:srgbClr val="000000">
                <a:alpha val="45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14" name="Text 8"/>
          <p:cNvSpPr txBox="1"/>
          <p:nvPr/>
        </p:nvSpPr>
        <p:spPr>
          <a:xfrm>
            <a:off x="4142232" y="3486355"/>
            <a:ext cx="2011680" cy="3333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300">
                <a:solidFill>
                  <a:srgbClr val="C8FF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215" name="Text 9"/>
          <p:cNvSpPr txBox="1"/>
          <p:nvPr/>
        </p:nvSpPr>
        <p:spPr>
          <a:xfrm>
            <a:off x="4142232" y="4115237"/>
            <a:ext cx="2057402" cy="182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500"/>
              </a:lnSpc>
              <a:defRPr sz="1100">
                <a:solidFill>
                  <a:srgbClr val="8A9099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approved paid pilots</a:t>
            </a:r>
          </a:p>
        </p:txBody>
      </p:sp>
      <p:sp>
        <p:nvSpPr>
          <p:cNvPr id="216" name="Shape 10"/>
          <p:cNvSpPr/>
          <p:nvPr/>
        </p:nvSpPr>
        <p:spPr>
          <a:xfrm>
            <a:off x="6428232" y="3246120"/>
            <a:ext cx="2395730" cy="1371602"/>
          </a:xfrm>
          <a:prstGeom prst="roundRect">
            <a:avLst>
              <a:gd name="adj" fmla="val 8000"/>
            </a:avLst>
          </a:prstGeom>
          <a:solidFill>
            <a:srgbClr val="141619"/>
          </a:solidFill>
          <a:ln w="12700">
            <a:solidFill>
              <a:srgbClr val="2A2E33"/>
            </a:solidFill>
          </a:ln>
          <a:effectLst>
            <a:outerShdw sx="100000" sy="100000" kx="0" ky="0" algn="b" rotWithShape="0" blurRad="177800" dist="50800" dir="5400000">
              <a:srgbClr val="000000">
                <a:alpha val="45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17" name="Text 11"/>
          <p:cNvSpPr txBox="1"/>
          <p:nvPr/>
        </p:nvSpPr>
        <p:spPr>
          <a:xfrm>
            <a:off x="6684264" y="3486355"/>
            <a:ext cx="2011680" cy="3333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300">
                <a:solidFill>
                  <a:srgbClr val="5B9D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$355</a:t>
            </a:r>
          </a:p>
        </p:txBody>
      </p:sp>
      <p:sp>
        <p:nvSpPr>
          <p:cNvPr id="218" name="Text 12"/>
          <p:cNvSpPr txBox="1"/>
          <p:nvPr/>
        </p:nvSpPr>
        <p:spPr>
          <a:xfrm>
            <a:off x="6684264" y="4115237"/>
            <a:ext cx="2057402" cy="182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500"/>
              </a:lnSpc>
              <a:defRPr sz="1100">
                <a:solidFill>
                  <a:srgbClr val="8A9099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per athlete · first 90 days</a:t>
            </a:r>
          </a:p>
        </p:txBody>
      </p:sp>
      <p:sp>
        <p:nvSpPr>
          <p:cNvPr id="219" name="Shape 13"/>
          <p:cNvSpPr/>
          <p:nvPr/>
        </p:nvSpPr>
        <p:spPr>
          <a:xfrm>
            <a:off x="8970264" y="3246120"/>
            <a:ext cx="2395730" cy="1371602"/>
          </a:xfrm>
          <a:prstGeom prst="roundRect">
            <a:avLst>
              <a:gd name="adj" fmla="val 8000"/>
            </a:avLst>
          </a:prstGeom>
          <a:solidFill>
            <a:srgbClr val="141619"/>
          </a:solidFill>
          <a:ln w="12700">
            <a:solidFill>
              <a:srgbClr val="2A2E33"/>
            </a:solidFill>
          </a:ln>
          <a:effectLst>
            <a:outerShdw sx="100000" sy="100000" kx="0" ky="0" algn="b" rotWithShape="0" blurRad="177800" dist="50800" dir="5400000">
              <a:srgbClr val="000000">
                <a:alpha val="45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20" name="Text 14"/>
          <p:cNvSpPr txBox="1"/>
          <p:nvPr/>
        </p:nvSpPr>
        <p:spPr>
          <a:xfrm>
            <a:off x="9226295" y="3486355"/>
            <a:ext cx="2011679" cy="3333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300">
                <a:solidFill>
                  <a:srgbClr val="A98B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$229</a:t>
            </a:r>
          </a:p>
        </p:txBody>
      </p:sp>
      <p:sp>
        <p:nvSpPr>
          <p:cNvPr id="221" name="Text 15"/>
          <p:cNvSpPr txBox="1"/>
          <p:nvPr/>
        </p:nvSpPr>
        <p:spPr>
          <a:xfrm>
            <a:off x="9226294" y="4115237"/>
            <a:ext cx="2057402" cy="182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500"/>
              </a:lnSpc>
              <a:defRPr sz="1100">
                <a:solidFill>
                  <a:srgbClr val="8A9099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per athlete · annual continuation</a:t>
            </a:r>
          </a:p>
        </p:txBody>
      </p:sp>
      <p:sp>
        <p:nvSpPr>
          <p:cNvPr id="222" name="Shape 16"/>
          <p:cNvSpPr/>
          <p:nvPr/>
        </p:nvSpPr>
        <p:spPr>
          <a:xfrm>
            <a:off x="3886200" y="4800600"/>
            <a:ext cx="7498082" cy="1051562"/>
          </a:xfrm>
          <a:prstGeom prst="roundRect">
            <a:avLst>
              <a:gd name="adj" fmla="val 10435"/>
            </a:avLst>
          </a:prstGeom>
          <a:solidFill>
            <a:srgbClr val="141619"/>
          </a:solidFill>
          <a:ln w="12700">
            <a:solidFill>
              <a:srgbClr val="C8FF00"/>
            </a:solidFill>
          </a:ln>
          <a:effectLst>
            <a:outerShdw sx="100000" sy="100000" kx="0" ky="0" algn="b" rotWithShape="0" blurRad="177800" dist="50800" dir="5400000">
              <a:srgbClr val="000000">
                <a:alpha val="45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pic>
        <p:nvPicPr>
          <p:cNvPr id="223" name="Image 1" descr="Image 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4206240" y="5074920"/>
            <a:ext cx="457202" cy="457202"/>
          </a:xfrm>
          <a:prstGeom prst="rect">
            <a:avLst/>
          </a:prstGeom>
          <a:ln w="12700">
            <a:miter lim="400000"/>
          </a:ln>
        </p:spPr>
      </p:pic>
      <p:sp>
        <p:nvSpPr>
          <p:cNvPr id="224" name="Text 17"/>
          <p:cNvSpPr txBox="1"/>
          <p:nvPr/>
        </p:nvSpPr>
        <p:spPr>
          <a:xfrm>
            <a:off x="4892040" y="5103145"/>
            <a:ext cx="6309362" cy="4464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ts val="1800"/>
              </a:lnSpc>
              <a:defRPr b="1" sz="1300">
                <a:solidFill>
                  <a:srgbClr val="F4F6F2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Why it matters.  </a:t>
            </a:r>
            <a:r>
              <a:rPr b="0">
                <a:solidFill>
                  <a:srgbClr val="C3C8CE"/>
                </a:solidFill>
              </a:rPr>
              <a:t>Three approved pilots prove the product, compliance, and commercial story at once.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A0B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Shape 0"/>
          <p:cNvSpPr/>
          <p:nvPr/>
        </p:nvSpPr>
        <p:spPr>
          <a:xfrm>
            <a:off x="822960" y="566927"/>
            <a:ext cx="1828802" cy="384050"/>
          </a:xfrm>
          <a:prstGeom prst="roundRect">
            <a:avLst>
              <a:gd name="adj" fmla="val 50000"/>
            </a:avLst>
          </a:prstGeom>
          <a:solidFill>
            <a:srgbClr val="141619"/>
          </a:solidFill>
          <a:ln w="12700">
            <a:solidFill>
              <a:srgbClr val="2A2E33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27" name="Shape 1"/>
          <p:cNvSpPr/>
          <p:nvPr/>
        </p:nvSpPr>
        <p:spPr>
          <a:xfrm>
            <a:off x="1005838" y="722376"/>
            <a:ext cx="73155" cy="73155"/>
          </a:xfrm>
          <a:prstGeom prst="ellipse">
            <a:avLst/>
          </a:prstGeom>
          <a:solidFill>
            <a:srgbClr val="C8FF00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28" name="Text 2"/>
          <p:cNvSpPr txBox="1"/>
          <p:nvPr/>
        </p:nvSpPr>
        <p:spPr>
          <a:xfrm>
            <a:off x="1152144" y="691178"/>
            <a:ext cx="1463042" cy="1355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200" sz="1000">
                <a:solidFill>
                  <a:srgbClr val="F4F6F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THE MARKET</a:t>
            </a:r>
          </a:p>
        </p:txBody>
      </p:sp>
      <p:sp>
        <p:nvSpPr>
          <p:cNvPr id="229" name="Text 3"/>
          <p:cNvSpPr txBox="1"/>
          <p:nvPr/>
        </p:nvSpPr>
        <p:spPr>
          <a:xfrm>
            <a:off x="822960" y="1602555"/>
            <a:ext cx="10515601" cy="5439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ts val="4400"/>
              </a:lnSpc>
              <a:defRPr b="1" sz="3600">
                <a:solidFill>
                  <a:srgbClr val="F4F6F2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We start where compliance is </a:t>
            </a:r>
            <a:r>
              <a:rPr>
                <a:solidFill>
                  <a:srgbClr val="C8FF00"/>
                </a:solidFill>
              </a:rPr>
              <a:t>mandatory.</a:t>
            </a:r>
          </a:p>
        </p:txBody>
      </p:sp>
      <p:sp>
        <p:nvSpPr>
          <p:cNvPr id="230" name="Text 4"/>
          <p:cNvSpPr txBox="1"/>
          <p:nvPr/>
        </p:nvSpPr>
        <p:spPr>
          <a:xfrm>
            <a:off x="841247" y="2220742"/>
            <a:ext cx="10058401" cy="2219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600">
                <a:solidFill>
                  <a:srgbClr val="8A9099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Every NCAA school is a required buyer. We land schools first, then expand to the pro and federation tiers.</a:t>
            </a:r>
          </a:p>
        </p:txBody>
      </p:sp>
      <p:sp>
        <p:nvSpPr>
          <p:cNvPr id="231" name="Shape 5"/>
          <p:cNvSpPr/>
          <p:nvPr/>
        </p:nvSpPr>
        <p:spPr>
          <a:xfrm>
            <a:off x="822960" y="2788920"/>
            <a:ext cx="10561320" cy="1691642"/>
          </a:xfrm>
          <a:prstGeom prst="roundRect">
            <a:avLst>
              <a:gd name="adj" fmla="val 6486"/>
            </a:avLst>
          </a:prstGeom>
          <a:solidFill>
            <a:srgbClr val="141619"/>
          </a:solidFill>
          <a:ln w="12700">
            <a:solidFill>
              <a:srgbClr val="C8FF00"/>
            </a:solidFill>
          </a:ln>
          <a:effectLst>
            <a:outerShdw sx="100000" sy="100000" kx="0" ky="0" algn="b" rotWithShape="0" blurRad="177800" dist="50800" dir="5400000">
              <a:srgbClr val="000000">
                <a:alpha val="45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32" name="Text 6"/>
          <p:cNvSpPr txBox="1"/>
          <p:nvPr/>
        </p:nvSpPr>
        <p:spPr>
          <a:xfrm>
            <a:off x="1143000" y="3080765"/>
            <a:ext cx="5486400" cy="1478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200" sz="1100">
                <a:solidFill>
                  <a:srgbClr val="C8FF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PRIMARY FOCUS  ·  NCAA INSTITUTIONS</a:t>
            </a:r>
          </a:p>
        </p:txBody>
      </p:sp>
      <p:sp>
        <p:nvSpPr>
          <p:cNvPr id="233" name="Text 7"/>
          <p:cNvSpPr txBox="1"/>
          <p:nvPr/>
        </p:nvSpPr>
        <p:spPr>
          <a:xfrm>
            <a:off x="1143000" y="3425878"/>
            <a:ext cx="3200400" cy="5548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4000">
                <a:solidFill>
                  <a:srgbClr val="5B9D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1,100+</a:t>
            </a:r>
          </a:p>
        </p:txBody>
      </p:sp>
      <p:sp>
        <p:nvSpPr>
          <p:cNvPr id="234" name="Text 8"/>
          <p:cNvSpPr txBox="1"/>
          <p:nvPr/>
        </p:nvSpPr>
        <p:spPr>
          <a:xfrm>
            <a:off x="1188719" y="4142692"/>
            <a:ext cx="3108962" cy="1728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200">
                <a:solidFill>
                  <a:srgbClr val="C3C8CE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NCAA member schools</a:t>
            </a:r>
          </a:p>
        </p:txBody>
      </p:sp>
      <p:sp>
        <p:nvSpPr>
          <p:cNvPr id="235" name="Text 9"/>
          <p:cNvSpPr txBox="1"/>
          <p:nvPr/>
        </p:nvSpPr>
        <p:spPr>
          <a:xfrm>
            <a:off x="4572000" y="3425878"/>
            <a:ext cx="3200400" cy="5548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4000">
                <a:solidFill>
                  <a:srgbClr val="A98B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520K+</a:t>
            </a:r>
          </a:p>
        </p:txBody>
      </p:sp>
      <p:sp>
        <p:nvSpPr>
          <p:cNvPr id="236" name="Text 10"/>
          <p:cNvSpPr txBox="1"/>
          <p:nvPr/>
        </p:nvSpPr>
        <p:spPr>
          <a:xfrm>
            <a:off x="4617720" y="4142692"/>
            <a:ext cx="3108962" cy="1728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200">
                <a:solidFill>
                  <a:srgbClr val="C3C8CE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student-athletes</a:t>
            </a:r>
          </a:p>
        </p:txBody>
      </p:sp>
      <p:sp>
        <p:nvSpPr>
          <p:cNvPr id="237" name="Text 11"/>
          <p:cNvSpPr txBox="1"/>
          <p:nvPr/>
        </p:nvSpPr>
        <p:spPr>
          <a:xfrm>
            <a:off x="8001000" y="3425878"/>
            <a:ext cx="3200400" cy="5548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4000">
                <a:solidFill>
                  <a:srgbClr val="C8FF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100%</a:t>
            </a:r>
          </a:p>
        </p:txBody>
      </p:sp>
      <p:sp>
        <p:nvSpPr>
          <p:cNvPr id="238" name="Text 12"/>
          <p:cNvSpPr txBox="1"/>
          <p:nvPr/>
        </p:nvSpPr>
        <p:spPr>
          <a:xfrm>
            <a:off x="8046718" y="4142692"/>
            <a:ext cx="3108962" cy="1728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200">
                <a:solidFill>
                  <a:srgbClr val="C3C8CE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require mental health support</a:t>
            </a:r>
          </a:p>
        </p:txBody>
      </p:sp>
      <p:sp>
        <p:nvSpPr>
          <p:cNvPr id="239" name="Text 13"/>
          <p:cNvSpPr txBox="1"/>
          <p:nvPr/>
        </p:nvSpPr>
        <p:spPr>
          <a:xfrm>
            <a:off x="841246" y="4772404"/>
            <a:ext cx="5486403" cy="1478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200" sz="1100">
                <a:solidFill>
                  <a:srgbClr val="8A9099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LATER EXPANSION</a:t>
            </a:r>
          </a:p>
        </p:txBody>
      </p:sp>
      <p:sp>
        <p:nvSpPr>
          <p:cNvPr id="240" name="Shape 14"/>
          <p:cNvSpPr/>
          <p:nvPr/>
        </p:nvSpPr>
        <p:spPr>
          <a:xfrm>
            <a:off x="822960" y="5029200"/>
            <a:ext cx="3429002" cy="914400"/>
          </a:xfrm>
          <a:prstGeom prst="roundRect">
            <a:avLst>
              <a:gd name="adj" fmla="val 12000"/>
            </a:avLst>
          </a:prstGeom>
          <a:solidFill>
            <a:srgbClr val="141619"/>
          </a:solidFill>
          <a:ln w="12700">
            <a:solidFill>
              <a:srgbClr val="2A2E33"/>
            </a:solidFill>
          </a:ln>
          <a:effectLst>
            <a:outerShdw sx="100000" sy="100000" kx="0" ky="0" algn="b" rotWithShape="0" blurRad="177800" dist="50800" dir="5400000">
              <a:srgbClr val="000000">
                <a:alpha val="45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41" name="Shape 15"/>
          <p:cNvSpPr/>
          <p:nvPr/>
        </p:nvSpPr>
        <p:spPr>
          <a:xfrm>
            <a:off x="1078991" y="5230367"/>
            <a:ext cx="502923" cy="502923"/>
          </a:xfrm>
          <a:prstGeom prst="ellipse">
            <a:avLst/>
          </a:prstGeom>
          <a:solidFill>
            <a:srgbClr val="1B1E22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pic>
        <p:nvPicPr>
          <p:cNvPr id="242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214780" y="5366156"/>
            <a:ext cx="231345" cy="231345"/>
          </a:xfrm>
          <a:prstGeom prst="rect">
            <a:avLst/>
          </a:prstGeom>
          <a:ln w="12700">
            <a:miter lim="400000"/>
          </a:ln>
        </p:spPr>
      </p:pic>
      <p:sp>
        <p:nvSpPr>
          <p:cNvPr id="243" name="Text 16"/>
          <p:cNvSpPr txBox="1"/>
          <p:nvPr/>
        </p:nvSpPr>
        <p:spPr>
          <a:xfrm>
            <a:off x="1737360" y="5236831"/>
            <a:ext cx="2377441" cy="1973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400">
                <a:solidFill>
                  <a:srgbClr val="F4F6F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Professional teams</a:t>
            </a:r>
          </a:p>
        </p:txBody>
      </p:sp>
      <p:sp>
        <p:nvSpPr>
          <p:cNvPr id="244" name="Text 17"/>
          <p:cNvSpPr txBox="1"/>
          <p:nvPr/>
        </p:nvSpPr>
        <p:spPr>
          <a:xfrm>
            <a:off x="1737360" y="5572504"/>
            <a:ext cx="2423162" cy="1478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100">
                <a:solidFill>
                  <a:srgbClr val="8A9099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After NCAA proof</a:t>
            </a:r>
          </a:p>
        </p:txBody>
      </p:sp>
      <p:sp>
        <p:nvSpPr>
          <p:cNvPr id="245" name="Shape 18"/>
          <p:cNvSpPr/>
          <p:nvPr/>
        </p:nvSpPr>
        <p:spPr>
          <a:xfrm>
            <a:off x="4535423" y="5029200"/>
            <a:ext cx="3429002" cy="914400"/>
          </a:xfrm>
          <a:prstGeom prst="roundRect">
            <a:avLst>
              <a:gd name="adj" fmla="val 12000"/>
            </a:avLst>
          </a:prstGeom>
          <a:solidFill>
            <a:srgbClr val="141619"/>
          </a:solidFill>
          <a:ln w="12700">
            <a:solidFill>
              <a:srgbClr val="2A2E33"/>
            </a:solidFill>
          </a:ln>
          <a:effectLst>
            <a:outerShdw sx="100000" sy="100000" kx="0" ky="0" algn="b" rotWithShape="0" blurRad="177800" dist="50800" dir="5400000">
              <a:srgbClr val="000000">
                <a:alpha val="45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46" name="Shape 19"/>
          <p:cNvSpPr/>
          <p:nvPr/>
        </p:nvSpPr>
        <p:spPr>
          <a:xfrm>
            <a:off x="4791454" y="5230367"/>
            <a:ext cx="502923" cy="502923"/>
          </a:xfrm>
          <a:prstGeom prst="ellipse">
            <a:avLst/>
          </a:prstGeom>
          <a:solidFill>
            <a:srgbClr val="1B1E22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pic>
        <p:nvPicPr>
          <p:cNvPr id="247" name="Image 1" descr="Image 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4927243" y="5366156"/>
            <a:ext cx="231345" cy="231345"/>
          </a:xfrm>
          <a:prstGeom prst="rect">
            <a:avLst/>
          </a:prstGeom>
          <a:ln w="12700">
            <a:miter lim="400000"/>
          </a:ln>
        </p:spPr>
      </p:pic>
      <p:sp>
        <p:nvSpPr>
          <p:cNvPr id="248" name="Text 20"/>
          <p:cNvSpPr txBox="1"/>
          <p:nvPr/>
        </p:nvSpPr>
        <p:spPr>
          <a:xfrm>
            <a:off x="5449823" y="5236831"/>
            <a:ext cx="2377442" cy="1973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400">
                <a:solidFill>
                  <a:srgbClr val="F4F6F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Federations &amp; NGBs</a:t>
            </a:r>
          </a:p>
        </p:txBody>
      </p:sp>
      <p:sp>
        <p:nvSpPr>
          <p:cNvPr id="249" name="Text 21"/>
          <p:cNvSpPr txBox="1"/>
          <p:nvPr/>
        </p:nvSpPr>
        <p:spPr>
          <a:xfrm>
            <a:off x="5449823" y="5572504"/>
            <a:ext cx="2423162" cy="1478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100">
                <a:solidFill>
                  <a:srgbClr val="8A9099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National team pipelines</a:t>
            </a:r>
          </a:p>
        </p:txBody>
      </p:sp>
      <p:sp>
        <p:nvSpPr>
          <p:cNvPr id="250" name="Shape 22"/>
          <p:cNvSpPr/>
          <p:nvPr/>
        </p:nvSpPr>
        <p:spPr>
          <a:xfrm>
            <a:off x="8247888" y="5029200"/>
            <a:ext cx="3429002" cy="914400"/>
          </a:xfrm>
          <a:prstGeom prst="roundRect">
            <a:avLst>
              <a:gd name="adj" fmla="val 12000"/>
            </a:avLst>
          </a:prstGeom>
          <a:solidFill>
            <a:srgbClr val="141619"/>
          </a:solidFill>
          <a:ln w="12700">
            <a:solidFill>
              <a:srgbClr val="2A2E33"/>
            </a:solidFill>
          </a:ln>
          <a:effectLst>
            <a:outerShdw sx="100000" sy="100000" kx="0" ky="0" algn="b" rotWithShape="0" blurRad="177800" dist="50800" dir="5400000">
              <a:srgbClr val="000000">
                <a:alpha val="45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51" name="Shape 23"/>
          <p:cNvSpPr/>
          <p:nvPr/>
        </p:nvSpPr>
        <p:spPr>
          <a:xfrm>
            <a:off x="8503918" y="5230367"/>
            <a:ext cx="502923" cy="502923"/>
          </a:xfrm>
          <a:prstGeom prst="ellipse">
            <a:avLst/>
          </a:prstGeom>
          <a:solidFill>
            <a:srgbClr val="1B1E22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pic>
        <p:nvPicPr>
          <p:cNvPr id="252" name="Image 2" descr="Image 2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8639708" y="5366156"/>
            <a:ext cx="231345" cy="231345"/>
          </a:xfrm>
          <a:prstGeom prst="rect">
            <a:avLst/>
          </a:prstGeom>
          <a:ln w="12700">
            <a:miter lim="400000"/>
          </a:ln>
        </p:spPr>
      </p:pic>
      <p:sp>
        <p:nvSpPr>
          <p:cNvPr id="253" name="Text 24"/>
          <p:cNvSpPr txBox="1"/>
          <p:nvPr/>
        </p:nvSpPr>
        <p:spPr>
          <a:xfrm>
            <a:off x="9162288" y="5236831"/>
            <a:ext cx="2377441" cy="1973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400">
                <a:solidFill>
                  <a:srgbClr val="F4F6F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Leagues</a:t>
            </a:r>
          </a:p>
        </p:txBody>
      </p:sp>
      <p:sp>
        <p:nvSpPr>
          <p:cNvPr id="254" name="Text 25"/>
          <p:cNvSpPr txBox="1"/>
          <p:nvPr/>
        </p:nvSpPr>
        <p:spPr>
          <a:xfrm>
            <a:off x="9162288" y="5572504"/>
            <a:ext cx="2423162" cy="1478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100">
                <a:solidFill>
                  <a:srgbClr val="8A9099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League-wide deals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A0B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Shape 0"/>
          <p:cNvSpPr/>
          <p:nvPr/>
        </p:nvSpPr>
        <p:spPr>
          <a:xfrm>
            <a:off x="822960" y="566927"/>
            <a:ext cx="1828802" cy="384050"/>
          </a:xfrm>
          <a:prstGeom prst="roundRect">
            <a:avLst>
              <a:gd name="adj" fmla="val 50000"/>
            </a:avLst>
          </a:prstGeom>
          <a:solidFill>
            <a:srgbClr val="141619"/>
          </a:solidFill>
          <a:ln w="12700">
            <a:solidFill>
              <a:srgbClr val="2A2E33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57" name="Shape 1"/>
          <p:cNvSpPr/>
          <p:nvPr/>
        </p:nvSpPr>
        <p:spPr>
          <a:xfrm>
            <a:off x="1005838" y="722376"/>
            <a:ext cx="73155" cy="73155"/>
          </a:xfrm>
          <a:prstGeom prst="ellipse">
            <a:avLst/>
          </a:prstGeom>
          <a:solidFill>
            <a:srgbClr val="C8FF00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58" name="Text 2"/>
          <p:cNvSpPr txBox="1"/>
          <p:nvPr/>
        </p:nvSpPr>
        <p:spPr>
          <a:xfrm>
            <a:off x="1152144" y="691178"/>
            <a:ext cx="1463042" cy="1355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200" sz="1000">
                <a:solidFill>
                  <a:srgbClr val="F4F6F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GO-TO-MARKET</a:t>
            </a:r>
          </a:p>
        </p:txBody>
      </p:sp>
      <p:sp>
        <p:nvSpPr>
          <p:cNvPr id="259" name="Text 3"/>
          <p:cNvSpPr txBox="1"/>
          <p:nvPr/>
        </p:nvSpPr>
        <p:spPr>
          <a:xfrm>
            <a:off x="822960" y="1605246"/>
            <a:ext cx="10515601" cy="5385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4400"/>
              </a:lnSpc>
              <a:defRPr b="1" sz="3400">
                <a:solidFill>
                  <a:srgbClr val="F4F6F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 clear path into every athletic department.</a:t>
            </a:r>
          </a:p>
        </p:txBody>
      </p:sp>
      <p:sp>
        <p:nvSpPr>
          <p:cNvPr id="260" name="Text 4"/>
          <p:cNvSpPr txBox="1"/>
          <p:nvPr/>
        </p:nvSpPr>
        <p:spPr>
          <a:xfrm>
            <a:off x="841247" y="2175023"/>
            <a:ext cx="10058401" cy="2219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600">
                <a:solidFill>
                  <a:srgbClr val="8A9099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Pilots are paid contracts. We conform the platform to each school, then convert to a continuation contract.</a:t>
            </a:r>
          </a:p>
        </p:txBody>
      </p:sp>
      <p:sp>
        <p:nvSpPr>
          <p:cNvPr id="261" name="Shape 5"/>
          <p:cNvSpPr/>
          <p:nvPr/>
        </p:nvSpPr>
        <p:spPr>
          <a:xfrm>
            <a:off x="822960" y="2788920"/>
            <a:ext cx="2542034" cy="2743202"/>
          </a:xfrm>
          <a:prstGeom prst="roundRect">
            <a:avLst>
              <a:gd name="adj" fmla="val 4317"/>
            </a:avLst>
          </a:prstGeom>
          <a:solidFill>
            <a:srgbClr val="141619"/>
          </a:solidFill>
          <a:ln w="12700">
            <a:solidFill>
              <a:srgbClr val="2A2E33"/>
            </a:solidFill>
          </a:ln>
          <a:effectLst>
            <a:outerShdw sx="100000" sy="100000" kx="0" ky="0" algn="b" rotWithShape="0" blurRad="177800" dist="50800" dir="5400000">
              <a:srgbClr val="000000">
                <a:alpha val="45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62" name="Text 6"/>
          <p:cNvSpPr txBox="1"/>
          <p:nvPr/>
        </p:nvSpPr>
        <p:spPr>
          <a:xfrm>
            <a:off x="1097280" y="3059310"/>
            <a:ext cx="914402" cy="419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3000">
                <a:solidFill>
                  <a:srgbClr val="5B9D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263" name="Text 7"/>
          <p:cNvSpPr txBox="1"/>
          <p:nvPr/>
        </p:nvSpPr>
        <p:spPr>
          <a:xfrm>
            <a:off x="1097280" y="3739870"/>
            <a:ext cx="2011679" cy="246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700">
                <a:solidFill>
                  <a:srgbClr val="F4F6F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Paid pilot</a:t>
            </a:r>
          </a:p>
        </p:txBody>
      </p:sp>
      <p:sp>
        <p:nvSpPr>
          <p:cNvPr id="264" name="Text 8"/>
          <p:cNvSpPr txBox="1"/>
          <p:nvPr/>
        </p:nvSpPr>
        <p:spPr>
          <a:xfrm>
            <a:off x="1097280" y="4544421"/>
            <a:ext cx="2057402" cy="4209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700"/>
              </a:lnSpc>
              <a:defRPr sz="1200">
                <a:solidFill>
                  <a:srgbClr val="C3C8CE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$355 per athlete for the first 90-day pilot.</a:t>
            </a:r>
          </a:p>
        </p:txBody>
      </p:sp>
      <p:pic>
        <p:nvPicPr>
          <p:cNvPr id="265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3383279" y="4023359"/>
            <a:ext cx="237746" cy="237746"/>
          </a:xfrm>
          <a:prstGeom prst="rect">
            <a:avLst/>
          </a:prstGeom>
          <a:ln w="12700">
            <a:miter lim="400000"/>
          </a:ln>
        </p:spPr>
      </p:pic>
      <p:sp>
        <p:nvSpPr>
          <p:cNvPr id="266" name="Shape 9"/>
          <p:cNvSpPr/>
          <p:nvPr/>
        </p:nvSpPr>
        <p:spPr>
          <a:xfrm>
            <a:off x="3493008" y="2788920"/>
            <a:ext cx="2542034" cy="2743202"/>
          </a:xfrm>
          <a:prstGeom prst="roundRect">
            <a:avLst>
              <a:gd name="adj" fmla="val 4317"/>
            </a:avLst>
          </a:prstGeom>
          <a:solidFill>
            <a:srgbClr val="141619"/>
          </a:solidFill>
          <a:ln w="12700">
            <a:solidFill>
              <a:srgbClr val="2A2E33"/>
            </a:solidFill>
          </a:ln>
          <a:effectLst>
            <a:outerShdw sx="100000" sy="100000" kx="0" ky="0" algn="b" rotWithShape="0" blurRad="177800" dist="50800" dir="5400000">
              <a:srgbClr val="000000">
                <a:alpha val="45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67" name="Text 10"/>
          <p:cNvSpPr txBox="1"/>
          <p:nvPr/>
        </p:nvSpPr>
        <p:spPr>
          <a:xfrm>
            <a:off x="3767328" y="3059310"/>
            <a:ext cx="914402" cy="419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3000">
                <a:solidFill>
                  <a:srgbClr val="A98B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268" name="Text 11"/>
          <p:cNvSpPr txBox="1"/>
          <p:nvPr/>
        </p:nvSpPr>
        <p:spPr>
          <a:xfrm>
            <a:off x="3767328" y="3739870"/>
            <a:ext cx="2011680" cy="246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700">
                <a:solidFill>
                  <a:srgbClr val="F4F6F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Conform</a:t>
            </a:r>
          </a:p>
        </p:txBody>
      </p:sp>
      <p:sp>
        <p:nvSpPr>
          <p:cNvPr id="269" name="Text 12"/>
          <p:cNvSpPr txBox="1"/>
          <p:nvPr/>
        </p:nvSpPr>
        <p:spPr>
          <a:xfrm>
            <a:off x="3767328" y="4544421"/>
            <a:ext cx="2057402" cy="4209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700"/>
              </a:lnSpc>
              <a:defRPr sz="1200">
                <a:solidFill>
                  <a:srgbClr val="C3C8CE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Tune Pulse Check to the school's sport and workflow.</a:t>
            </a:r>
          </a:p>
        </p:txBody>
      </p:sp>
      <p:pic>
        <p:nvPicPr>
          <p:cNvPr id="270" name="Image 1" descr="Image 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053328" y="4023359"/>
            <a:ext cx="237746" cy="237746"/>
          </a:xfrm>
          <a:prstGeom prst="rect">
            <a:avLst/>
          </a:prstGeom>
          <a:ln w="12700">
            <a:miter lim="400000"/>
          </a:ln>
        </p:spPr>
      </p:pic>
      <p:sp>
        <p:nvSpPr>
          <p:cNvPr id="271" name="Shape 13"/>
          <p:cNvSpPr/>
          <p:nvPr/>
        </p:nvSpPr>
        <p:spPr>
          <a:xfrm>
            <a:off x="6163054" y="2788920"/>
            <a:ext cx="2542035" cy="2743202"/>
          </a:xfrm>
          <a:prstGeom prst="roundRect">
            <a:avLst>
              <a:gd name="adj" fmla="val 4317"/>
            </a:avLst>
          </a:prstGeom>
          <a:solidFill>
            <a:srgbClr val="141619"/>
          </a:solidFill>
          <a:ln w="12700">
            <a:solidFill>
              <a:srgbClr val="2A2E33"/>
            </a:solidFill>
          </a:ln>
          <a:effectLst>
            <a:outerShdw sx="100000" sy="100000" kx="0" ky="0" algn="b" rotWithShape="0" blurRad="177800" dist="50800" dir="5400000">
              <a:srgbClr val="000000">
                <a:alpha val="45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72" name="Text 14"/>
          <p:cNvSpPr txBox="1"/>
          <p:nvPr/>
        </p:nvSpPr>
        <p:spPr>
          <a:xfrm>
            <a:off x="6437376" y="3059310"/>
            <a:ext cx="914402" cy="419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3000">
                <a:solidFill>
                  <a:srgbClr val="C8FF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273" name="Text 15"/>
          <p:cNvSpPr txBox="1"/>
          <p:nvPr/>
        </p:nvSpPr>
        <p:spPr>
          <a:xfrm>
            <a:off x="6437376" y="3739870"/>
            <a:ext cx="2011680" cy="246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700">
                <a:solidFill>
                  <a:srgbClr val="F4F6F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Prove</a:t>
            </a:r>
          </a:p>
        </p:txBody>
      </p:sp>
      <p:sp>
        <p:nvSpPr>
          <p:cNvPr id="274" name="Text 16"/>
          <p:cNvSpPr txBox="1"/>
          <p:nvPr/>
        </p:nvSpPr>
        <p:spPr>
          <a:xfrm>
            <a:off x="6437376" y="4544421"/>
            <a:ext cx="2057402" cy="4209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700"/>
              </a:lnSpc>
              <a:defRPr sz="1200">
                <a:solidFill>
                  <a:srgbClr val="C3C8CE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90 days of adherence and compliance evidence.</a:t>
            </a:r>
          </a:p>
        </p:txBody>
      </p:sp>
      <p:pic>
        <p:nvPicPr>
          <p:cNvPr id="275" name="Image 2" descr="Image 2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723376" y="4023359"/>
            <a:ext cx="237746" cy="237746"/>
          </a:xfrm>
          <a:prstGeom prst="rect">
            <a:avLst/>
          </a:prstGeom>
          <a:ln w="12700">
            <a:miter lim="400000"/>
          </a:ln>
        </p:spPr>
      </p:pic>
      <p:sp>
        <p:nvSpPr>
          <p:cNvPr id="276" name="Shape 17"/>
          <p:cNvSpPr/>
          <p:nvPr/>
        </p:nvSpPr>
        <p:spPr>
          <a:xfrm>
            <a:off x="8833104" y="2788920"/>
            <a:ext cx="2542034" cy="2743202"/>
          </a:xfrm>
          <a:prstGeom prst="roundRect">
            <a:avLst>
              <a:gd name="adj" fmla="val 4317"/>
            </a:avLst>
          </a:prstGeom>
          <a:solidFill>
            <a:srgbClr val="141619"/>
          </a:solidFill>
          <a:ln w="12700">
            <a:solidFill>
              <a:srgbClr val="2A2E33"/>
            </a:solidFill>
          </a:ln>
          <a:effectLst>
            <a:outerShdw sx="100000" sy="100000" kx="0" ky="0" algn="b" rotWithShape="0" blurRad="177800" dist="50800" dir="5400000">
              <a:srgbClr val="000000">
                <a:alpha val="45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77" name="Text 18"/>
          <p:cNvSpPr txBox="1"/>
          <p:nvPr/>
        </p:nvSpPr>
        <p:spPr>
          <a:xfrm>
            <a:off x="9107423" y="3059310"/>
            <a:ext cx="914402" cy="419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3000">
                <a:solidFill>
                  <a:srgbClr val="FF6FB5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278" name="Text 19"/>
          <p:cNvSpPr txBox="1"/>
          <p:nvPr/>
        </p:nvSpPr>
        <p:spPr>
          <a:xfrm>
            <a:off x="9107423" y="3739870"/>
            <a:ext cx="2011680" cy="246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700">
                <a:solidFill>
                  <a:srgbClr val="F4F6F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Convert</a:t>
            </a:r>
          </a:p>
        </p:txBody>
      </p:sp>
      <p:sp>
        <p:nvSpPr>
          <p:cNvPr id="279" name="Text 20"/>
          <p:cNvSpPr txBox="1"/>
          <p:nvPr/>
        </p:nvSpPr>
        <p:spPr>
          <a:xfrm>
            <a:off x="9107423" y="4544421"/>
            <a:ext cx="2057402" cy="4209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700"/>
              </a:lnSpc>
              <a:defRPr sz="1200">
                <a:solidFill>
                  <a:srgbClr val="C3C8CE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$229 per athlete annually, department-wide.</a:t>
            </a:r>
          </a:p>
        </p:txBody>
      </p:sp>
      <p:sp>
        <p:nvSpPr>
          <p:cNvPr id="280" name="Text 21"/>
          <p:cNvSpPr txBox="1"/>
          <p:nvPr/>
        </p:nvSpPr>
        <p:spPr>
          <a:xfrm>
            <a:off x="822960" y="5834748"/>
            <a:ext cx="10515601" cy="4005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i="1" sz="1400">
                <a:solidFill>
                  <a:srgbClr val="C8FF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Three approved pilots — Clark Atlanta, DePaul, and UMES — with Worcester State and the New England Patriots in conversation.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A0B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Shape 0"/>
          <p:cNvSpPr/>
          <p:nvPr/>
        </p:nvSpPr>
        <p:spPr>
          <a:xfrm>
            <a:off x="822960" y="566927"/>
            <a:ext cx="2368296" cy="384050"/>
          </a:xfrm>
          <a:prstGeom prst="roundRect">
            <a:avLst>
              <a:gd name="adj" fmla="val 50000"/>
            </a:avLst>
          </a:prstGeom>
          <a:solidFill>
            <a:srgbClr val="141619"/>
          </a:solidFill>
          <a:ln w="12700">
            <a:solidFill>
              <a:srgbClr val="2A2E33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83" name="Shape 1"/>
          <p:cNvSpPr/>
          <p:nvPr/>
        </p:nvSpPr>
        <p:spPr>
          <a:xfrm>
            <a:off x="1005838" y="722376"/>
            <a:ext cx="73155" cy="73155"/>
          </a:xfrm>
          <a:prstGeom prst="ellipse">
            <a:avLst/>
          </a:prstGeom>
          <a:solidFill>
            <a:srgbClr val="C8FF00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84" name="Text 2"/>
          <p:cNvSpPr txBox="1"/>
          <p:nvPr/>
        </p:nvSpPr>
        <p:spPr>
          <a:xfrm>
            <a:off x="1152144" y="691178"/>
            <a:ext cx="2002535" cy="1355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200" sz="1000">
                <a:solidFill>
                  <a:srgbClr val="F4F6F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CONTRACT ECONOMICS</a:t>
            </a:r>
          </a:p>
        </p:txBody>
      </p:sp>
      <p:sp>
        <p:nvSpPr>
          <p:cNvPr id="285" name="Text 3"/>
          <p:cNvSpPr txBox="1"/>
          <p:nvPr/>
        </p:nvSpPr>
        <p:spPr>
          <a:xfrm>
            <a:off x="822960" y="1599865"/>
            <a:ext cx="10515601" cy="5493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4400"/>
              </a:lnSpc>
              <a:defRPr b="1" sz="3800">
                <a:solidFill>
                  <a:srgbClr val="F4F6F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The units that compound.</a:t>
            </a:r>
          </a:p>
        </p:txBody>
      </p:sp>
      <p:sp>
        <p:nvSpPr>
          <p:cNvPr id="286" name="Text 4"/>
          <p:cNvSpPr txBox="1"/>
          <p:nvPr/>
        </p:nvSpPr>
        <p:spPr>
          <a:xfrm>
            <a:off x="841247" y="2220742"/>
            <a:ext cx="10058401" cy="2219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600">
                <a:solidFill>
                  <a:srgbClr val="8A9099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Average annual contract value across the NCAA buyer tiers, with pro and federation deals above.</a:t>
            </a:r>
          </a:p>
        </p:txBody>
      </p:sp>
      <p:sp>
        <p:nvSpPr>
          <p:cNvPr id="287" name="Shape 5"/>
          <p:cNvSpPr/>
          <p:nvPr/>
        </p:nvSpPr>
        <p:spPr>
          <a:xfrm>
            <a:off x="822960" y="2834638"/>
            <a:ext cx="2075690" cy="3017524"/>
          </a:xfrm>
          <a:prstGeom prst="roundRect">
            <a:avLst>
              <a:gd name="adj" fmla="val 5286"/>
            </a:avLst>
          </a:prstGeom>
          <a:solidFill>
            <a:srgbClr val="141619"/>
          </a:solidFill>
          <a:ln w="12700">
            <a:solidFill>
              <a:srgbClr val="2A2E33"/>
            </a:solidFill>
          </a:ln>
          <a:effectLst>
            <a:outerShdw sx="100000" sy="100000" kx="0" ky="0" algn="b" rotWithShape="0" blurRad="177800" dist="50800" dir="5400000">
              <a:srgbClr val="000000">
                <a:alpha val="45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88" name="Text 6"/>
          <p:cNvSpPr txBox="1"/>
          <p:nvPr/>
        </p:nvSpPr>
        <p:spPr>
          <a:xfrm>
            <a:off x="1024127" y="3100322"/>
            <a:ext cx="170993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150" sz="900">
                <a:solidFill>
                  <a:srgbClr val="C8FF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TIER 1</a:t>
            </a:r>
          </a:p>
        </p:txBody>
      </p:sp>
      <p:sp>
        <p:nvSpPr>
          <p:cNvPr id="289" name="Text 7"/>
          <p:cNvSpPr txBox="1"/>
          <p:nvPr/>
        </p:nvSpPr>
        <p:spPr>
          <a:xfrm>
            <a:off x="1024127" y="3517196"/>
            <a:ext cx="1709930" cy="2259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800"/>
              </a:lnSpc>
              <a:defRPr b="1" sz="1600">
                <a:solidFill>
                  <a:srgbClr val="F4F6F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D2 / D3</a:t>
            </a:r>
          </a:p>
        </p:txBody>
      </p:sp>
      <p:sp>
        <p:nvSpPr>
          <p:cNvPr id="290" name="Text 8"/>
          <p:cNvSpPr txBox="1"/>
          <p:nvPr/>
        </p:nvSpPr>
        <p:spPr>
          <a:xfrm>
            <a:off x="1024128" y="4679648"/>
            <a:ext cx="1755648" cy="3333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300">
                <a:solidFill>
                  <a:srgbClr val="C8FF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$5–10K</a:t>
            </a:r>
          </a:p>
        </p:txBody>
      </p:sp>
      <p:sp>
        <p:nvSpPr>
          <p:cNvPr id="291" name="Text 9"/>
          <p:cNvSpPr txBox="1"/>
          <p:nvPr/>
        </p:nvSpPr>
        <p:spPr>
          <a:xfrm>
            <a:off x="1024127" y="5374390"/>
            <a:ext cx="1728219" cy="1691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400"/>
              </a:lnSpc>
              <a:defRPr sz="1000">
                <a:solidFill>
                  <a:srgbClr val="8A9099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Fastest close, highest volume</a:t>
            </a:r>
          </a:p>
        </p:txBody>
      </p:sp>
      <p:sp>
        <p:nvSpPr>
          <p:cNvPr id="292" name="Shape 10"/>
          <p:cNvSpPr/>
          <p:nvPr/>
        </p:nvSpPr>
        <p:spPr>
          <a:xfrm>
            <a:off x="3081527" y="2834638"/>
            <a:ext cx="2075690" cy="3017524"/>
          </a:xfrm>
          <a:prstGeom prst="roundRect">
            <a:avLst>
              <a:gd name="adj" fmla="val 5286"/>
            </a:avLst>
          </a:prstGeom>
          <a:solidFill>
            <a:srgbClr val="141619"/>
          </a:solidFill>
          <a:ln w="12700">
            <a:solidFill>
              <a:srgbClr val="2A2E33"/>
            </a:solidFill>
          </a:ln>
          <a:effectLst>
            <a:outerShdw sx="100000" sy="100000" kx="0" ky="0" algn="b" rotWithShape="0" blurRad="177800" dist="50800" dir="5400000">
              <a:srgbClr val="000000">
                <a:alpha val="45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93" name="Text 11"/>
          <p:cNvSpPr txBox="1"/>
          <p:nvPr/>
        </p:nvSpPr>
        <p:spPr>
          <a:xfrm>
            <a:off x="3282696" y="3100322"/>
            <a:ext cx="170993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150" sz="900">
                <a:solidFill>
                  <a:srgbClr val="5B9D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TIER 2</a:t>
            </a:r>
          </a:p>
        </p:txBody>
      </p:sp>
      <p:sp>
        <p:nvSpPr>
          <p:cNvPr id="294" name="Text 12"/>
          <p:cNvSpPr txBox="1"/>
          <p:nvPr/>
        </p:nvSpPr>
        <p:spPr>
          <a:xfrm>
            <a:off x="3282696" y="3517196"/>
            <a:ext cx="1709930" cy="2259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800"/>
              </a:lnSpc>
              <a:defRPr b="1" sz="1600">
                <a:solidFill>
                  <a:srgbClr val="F4F6F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Mid-Major</a:t>
            </a:r>
          </a:p>
        </p:txBody>
      </p:sp>
      <p:sp>
        <p:nvSpPr>
          <p:cNvPr id="295" name="Text 13"/>
          <p:cNvSpPr txBox="1"/>
          <p:nvPr/>
        </p:nvSpPr>
        <p:spPr>
          <a:xfrm>
            <a:off x="3282696" y="4679648"/>
            <a:ext cx="1755650" cy="3333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300">
                <a:solidFill>
                  <a:srgbClr val="5B9D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$10–20K</a:t>
            </a:r>
          </a:p>
        </p:txBody>
      </p:sp>
      <p:sp>
        <p:nvSpPr>
          <p:cNvPr id="296" name="Text 14"/>
          <p:cNvSpPr txBox="1"/>
          <p:nvPr/>
        </p:nvSpPr>
        <p:spPr>
          <a:xfrm>
            <a:off x="3282696" y="5374390"/>
            <a:ext cx="1728218" cy="1691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400"/>
              </a:lnSpc>
              <a:defRPr sz="1000">
                <a:solidFill>
                  <a:srgbClr val="8A9099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~350–450 athletes</a:t>
            </a:r>
          </a:p>
        </p:txBody>
      </p:sp>
      <p:sp>
        <p:nvSpPr>
          <p:cNvPr id="297" name="Shape 15"/>
          <p:cNvSpPr/>
          <p:nvPr/>
        </p:nvSpPr>
        <p:spPr>
          <a:xfrm>
            <a:off x="5340096" y="2834638"/>
            <a:ext cx="2075690" cy="3017524"/>
          </a:xfrm>
          <a:prstGeom prst="roundRect">
            <a:avLst>
              <a:gd name="adj" fmla="val 5286"/>
            </a:avLst>
          </a:prstGeom>
          <a:solidFill>
            <a:srgbClr val="141619"/>
          </a:solidFill>
          <a:ln w="12700">
            <a:solidFill>
              <a:srgbClr val="2A2E33"/>
            </a:solidFill>
          </a:ln>
          <a:effectLst>
            <a:outerShdw sx="100000" sy="100000" kx="0" ky="0" algn="b" rotWithShape="0" blurRad="177800" dist="50800" dir="5400000">
              <a:srgbClr val="000000">
                <a:alpha val="45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98" name="Text 16"/>
          <p:cNvSpPr txBox="1"/>
          <p:nvPr/>
        </p:nvSpPr>
        <p:spPr>
          <a:xfrm>
            <a:off x="5541264" y="3100322"/>
            <a:ext cx="170993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150" sz="900">
                <a:solidFill>
                  <a:srgbClr val="A98B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TIER 3</a:t>
            </a:r>
          </a:p>
        </p:txBody>
      </p:sp>
      <p:sp>
        <p:nvSpPr>
          <p:cNvPr id="299" name="Text 17"/>
          <p:cNvSpPr txBox="1"/>
          <p:nvPr/>
        </p:nvSpPr>
        <p:spPr>
          <a:xfrm>
            <a:off x="5541264" y="3517196"/>
            <a:ext cx="1709930" cy="2259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800"/>
              </a:lnSpc>
              <a:defRPr b="1" sz="1600">
                <a:solidFill>
                  <a:srgbClr val="F4F6F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Power Four</a:t>
            </a:r>
          </a:p>
        </p:txBody>
      </p:sp>
      <p:sp>
        <p:nvSpPr>
          <p:cNvPr id="300" name="Text 18"/>
          <p:cNvSpPr txBox="1"/>
          <p:nvPr/>
        </p:nvSpPr>
        <p:spPr>
          <a:xfrm>
            <a:off x="5541264" y="4679648"/>
            <a:ext cx="1755649" cy="3333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300">
                <a:solidFill>
                  <a:srgbClr val="A98B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$40–80K</a:t>
            </a:r>
          </a:p>
        </p:txBody>
      </p:sp>
      <p:sp>
        <p:nvSpPr>
          <p:cNvPr id="301" name="Text 19"/>
          <p:cNvSpPr txBox="1"/>
          <p:nvPr/>
        </p:nvSpPr>
        <p:spPr>
          <a:xfrm>
            <a:off x="5541264" y="5374390"/>
            <a:ext cx="1728218" cy="1691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400"/>
              </a:lnSpc>
              <a:defRPr sz="1000">
                <a:solidFill>
                  <a:srgbClr val="8A9099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~600–700 athletes</a:t>
            </a:r>
          </a:p>
        </p:txBody>
      </p:sp>
      <p:sp>
        <p:nvSpPr>
          <p:cNvPr id="302" name="Shape 20"/>
          <p:cNvSpPr/>
          <p:nvPr/>
        </p:nvSpPr>
        <p:spPr>
          <a:xfrm>
            <a:off x="7598664" y="2834638"/>
            <a:ext cx="2075690" cy="3017524"/>
          </a:xfrm>
          <a:prstGeom prst="roundRect">
            <a:avLst>
              <a:gd name="adj" fmla="val 5286"/>
            </a:avLst>
          </a:prstGeom>
          <a:solidFill>
            <a:srgbClr val="141619"/>
          </a:solidFill>
          <a:ln w="12700">
            <a:solidFill>
              <a:srgbClr val="2A2E33"/>
            </a:solidFill>
          </a:ln>
          <a:effectLst>
            <a:outerShdw sx="100000" sy="100000" kx="0" ky="0" algn="b" rotWithShape="0" blurRad="177800" dist="50800" dir="5400000">
              <a:srgbClr val="000000">
                <a:alpha val="45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03" name="Text 21"/>
          <p:cNvSpPr txBox="1"/>
          <p:nvPr/>
        </p:nvSpPr>
        <p:spPr>
          <a:xfrm>
            <a:off x="7799830" y="3100322"/>
            <a:ext cx="170993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150" sz="900">
                <a:solidFill>
                  <a:srgbClr val="FF9D4D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TIER 4</a:t>
            </a:r>
          </a:p>
        </p:txBody>
      </p:sp>
      <p:sp>
        <p:nvSpPr>
          <p:cNvPr id="304" name="Text 22"/>
          <p:cNvSpPr txBox="1"/>
          <p:nvPr/>
        </p:nvSpPr>
        <p:spPr>
          <a:xfrm>
            <a:off x="7799830" y="3517196"/>
            <a:ext cx="1709930" cy="2259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800"/>
              </a:lnSpc>
              <a:defRPr b="1" sz="1600">
                <a:solidFill>
                  <a:srgbClr val="F4F6F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Pro Team</a:t>
            </a:r>
          </a:p>
        </p:txBody>
      </p:sp>
      <p:sp>
        <p:nvSpPr>
          <p:cNvPr id="305" name="Text 23"/>
          <p:cNvSpPr txBox="1"/>
          <p:nvPr/>
        </p:nvSpPr>
        <p:spPr>
          <a:xfrm>
            <a:off x="7799830" y="4679648"/>
            <a:ext cx="1755650" cy="3333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300">
                <a:solidFill>
                  <a:srgbClr val="FF9D4D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$100K</a:t>
            </a:r>
          </a:p>
        </p:txBody>
      </p:sp>
      <p:sp>
        <p:nvSpPr>
          <p:cNvPr id="306" name="Text 24"/>
          <p:cNvSpPr txBox="1"/>
          <p:nvPr/>
        </p:nvSpPr>
        <p:spPr>
          <a:xfrm>
            <a:off x="7799830" y="5374390"/>
            <a:ext cx="1728218" cy="1691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400"/>
              </a:lnSpc>
              <a:defRPr sz="1000">
                <a:solidFill>
                  <a:srgbClr val="8A9099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Roster + practice squad</a:t>
            </a:r>
          </a:p>
        </p:txBody>
      </p:sp>
      <p:sp>
        <p:nvSpPr>
          <p:cNvPr id="307" name="Shape 25"/>
          <p:cNvSpPr/>
          <p:nvPr/>
        </p:nvSpPr>
        <p:spPr>
          <a:xfrm>
            <a:off x="9857230" y="2834638"/>
            <a:ext cx="2075690" cy="3017524"/>
          </a:xfrm>
          <a:prstGeom prst="roundRect">
            <a:avLst>
              <a:gd name="adj" fmla="val 5286"/>
            </a:avLst>
          </a:prstGeom>
          <a:solidFill>
            <a:srgbClr val="141619"/>
          </a:solidFill>
          <a:ln w="12700">
            <a:solidFill>
              <a:srgbClr val="2A2E33"/>
            </a:solidFill>
          </a:ln>
          <a:effectLst>
            <a:outerShdw sx="100000" sy="100000" kx="0" ky="0" algn="b" rotWithShape="0" blurRad="177800" dist="50800" dir="5400000">
              <a:srgbClr val="000000">
                <a:alpha val="45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08" name="Text 26"/>
          <p:cNvSpPr txBox="1"/>
          <p:nvPr/>
        </p:nvSpPr>
        <p:spPr>
          <a:xfrm>
            <a:off x="10058400" y="3100322"/>
            <a:ext cx="1709928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150" sz="900">
                <a:solidFill>
                  <a:srgbClr val="FF6FB5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TIER 5</a:t>
            </a:r>
          </a:p>
        </p:txBody>
      </p:sp>
      <p:sp>
        <p:nvSpPr>
          <p:cNvPr id="309" name="Text 27"/>
          <p:cNvSpPr txBox="1"/>
          <p:nvPr/>
        </p:nvSpPr>
        <p:spPr>
          <a:xfrm>
            <a:off x="10058400" y="3517196"/>
            <a:ext cx="1709928" cy="2259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800"/>
              </a:lnSpc>
              <a:defRPr b="1" sz="1600">
                <a:solidFill>
                  <a:srgbClr val="F4F6F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Federation</a:t>
            </a:r>
          </a:p>
        </p:txBody>
      </p:sp>
      <p:sp>
        <p:nvSpPr>
          <p:cNvPr id="310" name="Text 28"/>
          <p:cNvSpPr txBox="1"/>
          <p:nvPr/>
        </p:nvSpPr>
        <p:spPr>
          <a:xfrm>
            <a:off x="10058400" y="4679648"/>
            <a:ext cx="1755648" cy="3333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300">
                <a:solidFill>
                  <a:srgbClr val="FF6FB5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$100–250K</a:t>
            </a:r>
          </a:p>
        </p:txBody>
      </p:sp>
      <p:sp>
        <p:nvSpPr>
          <p:cNvPr id="311" name="Text 29"/>
          <p:cNvSpPr txBox="1"/>
          <p:nvPr/>
        </p:nvSpPr>
        <p:spPr>
          <a:xfrm>
            <a:off x="10058400" y="5374390"/>
            <a:ext cx="1728217" cy="1691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400"/>
              </a:lnSpc>
              <a:defRPr sz="1000">
                <a:solidFill>
                  <a:srgbClr val="8A9099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Scales with athlete pool</a:t>
            </a:r>
          </a:p>
        </p:txBody>
      </p:sp>
      <p:sp>
        <p:nvSpPr>
          <p:cNvPr id="312" name="Text 30"/>
          <p:cNvSpPr txBox="1"/>
          <p:nvPr/>
        </p:nvSpPr>
        <p:spPr>
          <a:xfrm>
            <a:off x="822960" y="6079649"/>
            <a:ext cx="10515601" cy="1851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i="1" sz="1300">
                <a:solidFill>
                  <a:srgbClr val="C8FF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NCAA schools are the beachhead. Pro and federation tiers carry the path to scale.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A0B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Shape 0"/>
          <p:cNvSpPr/>
          <p:nvPr/>
        </p:nvSpPr>
        <p:spPr>
          <a:xfrm>
            <a:off x="822960" y="566927"/>
            <a:ext cx="1828802" cy="384050"/>
          </a:xfrm>
          <a:prstGeom prst="roundRect">
            <a:avLst>
              <a:gd name="adj" fmla="val 50000"/>
            </a:avLst>
          </a:prstGeom>
          <a:solidFill>
            <a:srgbClr val="141619"/>
          </a:solidFill>
          <a:ln w="12700">
            <a:solidFill>
              <a:srgbClr val="2A2E33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15" name="Shape 1"/>
          <p:cNvSpPr/>
          <p:nvPr/>
        </p:nvSpPr>
        <p:spPr>
          <a:xfrm>
            <a:off x="1005838" y="722376"/>
            <a:ext cx="73155" cy="73155"/>
          </a:xfrm>
          <a:prstGeom prst="ellipse">
            <a:avLst/>
          </a:prstGeom>
          <a:solidFill>
            <a:srgbClr val="C8FF00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16" name="Text 2"/>
          <p:cNvSpPr txBox="1"/>
          <p:nvPr/>
        </p:nvSpPr>
        <p:spPr>
          <a:xfrm>
            <a:off x="1152144" y="691178"/>
            <a:ext cx="1463042" cy="1355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200" sz="1000">
                <a:solidFill>
                  <a:srgbClr val="F4F6F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BEACHHEAD</a:t>
            </a:r>
          </a:p>
        </p:txBody>
      </p:sp>
      <p:sp>
        <p:nvSpPr>
          <p:cNvPr id="317" name="Text 3"/>
          <p:cNvSpPr txBox="1"/>
          <p:nvPr/>
        </p:nvSpPr>
        <p:spPr>
          <a:xfrm>
            <a:off x="822960" y="1599865"/>
            <a:ext cx="10515601" cy="5493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ts val="4400"/>
              </a:lnSpc>
              <a:defRPr b="1" sz="3800">
                <a:solidFill>
                  <a:srgbClr val="F4F6F2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The first </a:t>
            </a:r>
            <a:r>
              <a:rPr>
                <a:solidFill>
                  <a:srgbClr val="C8FF00"/>
                </a:solidFill>
              </a:rPr>
              <a:t>$1M</a:t>
            </a:r>
            <a:r>
              <a:t> is already visible.</a:t>
            </a:r>
          </a:p>
        </p:txBody>
      </p:sp>
      <p:sp>
        <p:nvSpPr>
          <p:cNvPr id="318" name="Text 4"/>
          <p:cNvSpPr txBox="1"/>
          <p:nvPr/>
        </p:nvSpPr>
        <p:spPr>
          <a:xfrm>
            <a:off x="841247" y="2220742"/>
            <a:ext cx="10058401" cy="2219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600">
                <a:solidFill>
                  <a:srgbClr val="8A9099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Our 12–24 month beachhead is the set of collegiate contracts already in motion, all required buyers.</a:t>
            </a:r>
          </a:p>
        </p:txBody>
      </p:sp>
      <p:sp>
        <p:nvSpPr>
          <p:cNvPr id="319" name="Shape 5"/>
          <p:cNvSpPr/>
          <p:nvPr/>
        </p:nvSpPr>
        <p:spPr>
          <a:xfrm>
            <a:off x="822960" y="2788920"/>
            <a:ext cx="3337560" cy="2377442"/>
          </a:xfrm>
          <a:prstGeom prst="roundRect">
            <a:avLst>
              <a:gd name="adj" fmla="val 4615"/>
            </a:avLst>
          </a:prstGeom>
          <a:solidFill>
            <a:srgbClr val="141619"/>
          </a:solidFill>
          <a:ln w="12700">
            <a:solidFill>
              <a:srgbClr val="2A2E33"/>
            </a:solidFill>
          </a:ln>
          <a:effectLst>
            <a:outerShdw sx="100000" sy="100000" kx="0" ky="0" algn="b" rotWithShape="0" blurRad="177800" dist="50800" dir="5400000">
              <a:srgbClr val="000000">
                <a:alpha val="45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20" name="Text 6"/>
          <p:cNvSpPr txBox="1"/>
          <p:nvPr/>
        </p:nvSpPr>
        <p:spPr>
          <a:xfrm>
            <a:off x="1115566" y="3149943"/>
            <a:ext cx="2788923" cy="2837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000">
                <a:solidFill>
                  <a:srgbClr val="F4F6F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D2 / D3</a:t>
            </a:r>
          </a:p>
        </p:txBody>
      </p:sp>
      <p:sp>
        <p:nvSpPr>
          <p:cNvPr id="321" name="Text 7"/>
          <p:cNvSpPr txBox="1"/>
          <p:nvPr/>
        </p:nvSpPr>
        <p:spPr>
          <a:xfrm>
            <a:off x="1115566" y="3696067"/>
            <a:ext cx="2788923" cy="1973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400">
                <a:solidFill>
                  <a:srgbClr val="8A9099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30 × $10K</a:t>
            </a:r>
          </a:p>
        </p:txBody>
      </p:sp>
      <p:sp>
        <p:nvSpPr>
          <p:cNvPr id="322" name="Text 8"/>
          <p:cNvSpPr txBox="1"/>
          <p:nvPr/>
        </p:nvSpPr>
        <p:spPr>
          <a:xfrm>
            <a:off x="1115566" y="4169683"/>
            <a:ext cx="2788923" cy="5303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3800">
                <a:solidFill>
                  <a:srgbClr val="C8FF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$300K</a:t>
            </a:r>
          </a:p>
        </p:txBody>
      </p:sp>
      <p:sp>
        <p:nvSpPr>
          <p:cNvPr id="323" name="Text 9"/>
          <p:cNvSpPr txBox="1"/>
          <p:nvPr/>
        </p:nvSpPr>
        <p:spPr>
          <a:xfrm>
            <a:off x="1115566" y="4851398"/>
            <a:ext cx="278892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pc="150" sz="900">
                <a:solidFill>
                  <a:srgbClr val="8A9099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SEGMENT TOTAL</a:t>
            </a:r>
          </a:p>
        </p:txBody>
      </p:sp>
      <p:sp>
        <p:nvSpPr>
          <p:cNvPr id="324" name="Shape 10"/>
          <p:cNvSpPr/>
          <p:nvPr/>
        </p:nvSpPr>
        <p:spPr>
          <a:xfrm>
            <a:off x="4434840" y="2788920"/>
            <a:ext cx="3337560" cy="2377442"/>
          </a:xfrm>
          <a:prstGeom prst="roundRect">
            <a:avLst>
              <a:gd name="adj" fmla="val 4615"/>
            </a:avLst>
          </a:prstGeom>
          <a:solidFill>
            <a:srgbClr val="141619"/>
          </a:solidFill>
          <a:ln w="12700">
            <a:solidFill>
              <a:srgbClr val="2A2E33"/>
            </a:solidFill>
          </a:ln>
          <a:effectLst>
            <a:outerShdw sx="100000" sy="100000" kx="0" ky="0" algn="b" rotWithShape="0" blurRad="177800" dist="50800" dir="5400000">
              <a:srgbClr val="000000">
                <a:alpha val="45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25" name="Text 11"/>
          <p:cNvSpPr txBox="1"/>
          <p:nvPr/>
        </p:nvSpPr>
        <p:spPr>
          <a:xfrm>
            <a:off x="4727447" y="3149943"/>
            <a:ext cx="2788922" cy="2837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000">
                <a:solidFill>
                  <a:srgbClr val="F4F6F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Mid-Major</a:t>
            </a:r>
          </a:p>
        </p:txBody>
      </p:sp>
      <p:sp>
        <p:nvSpPr>
          <p:cNvPr id="326" name="Text 12"/>
          <p:cNvSpPr txBox="1"/>
          <p:nvPr/>
        </p:nvSpPr>
        <p:spPr>
          <a:xfrm>
            <a:off x="4727447" y="3696067"/>
            <a:ext cx="2788922" cy="1973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400">
                <a:solidFill>
                  <a:srgbClr val="8A9099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20 × $20K</a:t>
            </a:r>
          </a:p>
        </p:txBody>
      </p:sp>
      <p:sp>
        <p:nvSpPr>
          <p:cNvPr id="327" name="Text 13"/>
          <p:cNvSpPr txBox="1"/>
          <p:nvPr/>
        </p:nvSpPr>
        <p:spPr>
          <a:xfrm>
            <a:off x="4727447" y="4169683"/>
            <a:ext cx="2788922" cy="5303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3800">
                <a:solidFill>
                  <a:srgbClr val="5B9D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$400K</a:t>
            </a:r>
          </a:p>
        </p:txBody>
      </p:sp>
      <p:sp>
        <p:nvSpPr>
          <p:cNvPr id="328" name="Text 14"/>
          <p:cNvSpPr txBox="1"/>
          <p:nvPr/>
        </p:nvSpPr>
        <p:spPr>
          <a:xfrm>
            <a:off x="4727447" y="4851398"/>
            <a:ext cx="278892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pc="150" sz="900">
                <a:solidFill>
                  <a:srgbClr val="8A9099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SEGMENT TOTAL</a:t>
            </a:r>
          </a:p>
        </p:txBody>
      </p:sp>
      <p:sp>
        <p:nvSpPr>
          <p:cNvPr id="329" name="Shape 15"/>
          <p:cNvSpPr/>
          <p:nvPr/>
        </p:nvSpPr>
        <p:spPr>
          <a:xfrm>
            <a:off x="8046718" y="2788920"/>
            <a:ext cx="3337562" cy="2377442"/>
          </a:xfrm>
          <a:prstGeom prst="roundRect">
            <a:avLst>
              <a:gd name="adj" fmla="val 4615"/>
            </a:avLst>
          </a:prstGeom>
          <a:solidFill>
            <a:srgbClr val="141619"/>
          </a:solidFill>
          <a:ln w="12700">
            <a:solidFill>
              <a:srgbClr val="2A2E33"/>
            </a:solidFill>
          </a:ln>
          <a:effectLst>
            <a:outerShdw sx="100000" sy="100000" kx="0" ky="0" algn="b" rotWithShape="0" blurRad="177800" dist="50800" dir="5400000">
              <a:srgbClr val="000000">
                <a:alpha val="45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30" name="Text 16"/>
          <p:cNvSpPr txBox="1"/>
          <p:nvPr/>
        </p:nvSpPr>
        <p:spPr>
          <a:xfrm>
            <a:off x="8339328" y="3149943"/>
            <a:ext cx="2788922" cy="2837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000">
                <a:solidFill>
                  <a:srgbClr val="F4F6F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Power Four</a:t>
            </a:r>
          </a:p>
        </p:txBody>
      </p:sp>
      <p:sp>
        <p:nvSpPr>
          <p:cNvPr id="331" name="Text 17"/>
          <p:cNvSpPr txBox="1"/>
          <p:nvPr/>
        </p:nvSpPr>
        <p:spPr>
          <a:xfrm>
            <a:off x="8339328" y="3696067"/>
            <a:ext cx="2788922" cy="1973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400">
                <a:solidFill>
                  <a:srgbClr val="8A9099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4 × $75K</a:t>
            </a:r>
          </a:p>
        </p:txBody>
      </p:sp>
      <p:sp>
        <p:nvSpPr>
          <p:cNvPr id="332" name="Text 18"/>
          <p:cNvSpPr txBox="1"/>
          <p:nvPr/>
        </p:nvSpPr>
        <p:spPr>
          <a:xfrm>
            <a:off x="8339328" y="4169683"/>
            <a:ext cx="2788922" cy="5303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3800">
                <a:solidFill>
                  <a:srgbClr val="A98B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$300K</a:t>
            </a:r>
          </a:p>
        </p:txBody>
      </p:sp>
      <p:sp>
        <p:nvSpPr>
          <p:cNvPr id="333" name="Text 19"/>
          <p:cNvSpPr txBox="1"/>
          <p:nvPr/>
        </p:nvSpPr>
        <p:spPr>
          <a:xfrm>
            <a:off x="8339328" y="4851398"/>
            <a:ext cx="278892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pc="150" sz="900">
                <a:solidFill>
                  <a:srgbClr val="8A9099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SEGMENT TOTAL</a:t>
            </a:r>
          </a:p>
        </p:txBody>
      </p:sp>
      <p:sp>
        <p:nvSpPr>
          <p:cNvPr id="334" name="Shape 20"/>
          <p:cNvSpPr/>
          <p:nvPr/>
        </p:nvSpPr>
        <p:spPr>
          <a:xfrm>
            <a:off x="822960" y="5349240"/>
            <a:ext cx="10561320" cy="914402"/>
          </a:xfrm>
          <a:prstGeom prst="roundRect">
            <a:avLst>
              <a:gd name="adj" fmla="val 12000"/>
            </a:avLst>
          </a:prstGeom>
          <a:solidFill>
            <a:srgbClr val="141619"/>
          </a:solidFill>
          <a:ln w="12700">
            <a:solidFill>
              <a:srgbClr val="C8FF00"/>
            </a:solidFill>
          </a:ln>
          <a:effectLst>
            <a:outerShdw sx="100000" sy="100000" kx="0" ky="0" algn="b" rotWithShape="0" blurRad="177800" dist="50800" dir="5400000">
              <a:srgbClr val="000000">
                <a:alpha val="45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35" name="Text 21"/>
          <p:cNvSpPr txBox="1"/>
          <p:nvPr/>
        </p:nvSpPr>
        <p:spPr>
          <a:xfrm>
            <a:off x="1143000" y="5713889"/>
            <a:ext cx="6400800" cy="1851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100" sz="1300">
                <a:solidFill>
                  <a:srgbClr val="F4F6F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54 CONTRACTS  ·  12–24 MONTH BEACHHEAD</a:t>
            </a:r>
          </a:p>
        </p:txBody>
      </p:sp>
      <p:sp>
        <p:nvSpPr>
          <p:cNvPr id="336" name="Text 22"/>
          <p:cNvSpPr txBox="1"/>
          <p:nvPr/>
        </p:nvSpPr>
        <p:spPr>
          <a:xfrm>
            <a:off x="8229600" y="5541283"/>
            <a:ext cx="2834640" cy="5303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b="1" sz="3800">
                <a:solidFill>
                  <a:srgbClr val="C8FF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$1.0M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A0B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Shape 0"/>
          <p:cNvSpPr/>
          <p:nvPr/>
        </p:nvSpPr>
        <p:spPr>
          <a:xfrm>
            <a:off x="822960" y="566927"/>
            <a:ext cx="2080262" cy="384050"/>
          </a:xfrm>
          <a:prstGeom prst="roundRect">
            <a:avLst>
              <a:gd name="adj" fmla="val 50000"/>
            </a:avLst>
          </a:prstGeom>
          <a:solidFill>
            <a:srgbClr val="141619"/>
          </a:solidFill>
          <a:ln w="12700">
            <a:solidFill>
              <a:srgbClr val="2A2E33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39" name="Shape 1"/>
          <p:cNvSpPr/>
          <p:nvPr/>
        </p:nvSpPr>
        <p:spPr>
          <a:xfrm>
            <a:off x="1005838" y="722376"/>
            <a:ext cx="73155" cy="73155"/>
          </a:xfrm>
          <a:prstGeom prst="ellipse">
            <a:avLst/>
          </a:prstGeom>
          <a:solidFill>
            <a:srgbClr val="C8FF00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40" name="Text 2"/>
          <p:cNvSpPr txBox="1"/>
          <p:nvPr/>
        </p:nvSpPr>
        <p:spPr>
          <a:xfrm>
            <a:off x="1152144" y="691178"/>
            <a:ext cx="1714501" cy="1355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200" sz="1000">
                <a:solidFill>
                  <a:srgbClr val="F4F6F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REVENUE ROADMAP</a:t>
            </a:r>
          </a:p>
        </p:txBody>
      </p:sp>
      <p:sp>
        <p:nvSpPr>
          <p:cNvPr id="341" name="Text 3"/>
          <p:cNvSpPr txBox="1"/>
          <p:nvPr/>
        </p:nvSpPr>
        <p:spPr>
          <a:xfrm>
            <a:off x="822960" y="1599865"/>
            <a:ext cx="10515601" cy="5493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ts val="4400"/>
              </a:lnSpc>
              <a:defRPr b="1" sz="3800">
                <a:solidFill>
                  <a:srgbClr val="F4F6F2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A visible path to </a:t>
            </a:r>
            <a:r>
              <a:rPr>
                <a:solidFill>
                  <a:srgbClr val="C8FF00"/>
                </a:solidFill>
              </a:rPr>
              <a:t>$100M ARR.</a:t>
            </a:r>
          </a:p>
        </p:txBody>
      </p:sp>
      <p:sp>
        <p:nvSpPr>
          <p:cNvPr id="342" name="Text 4"/>
          <p:cNvSpPr txBox="1"/>
          <p:nvPr/>
        </p:nvSpPr>
        <p:spPr>
          <a:xfrm>
            <a:off x="841247" y="2220742"/>
            <a:ext cx="10058401" cy="2219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600">
                <a:solidFill>
                  <a:srgbClr val="8A9099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Prove Pulse Check in every NCAA tier in Years 1–2, then scale through pro, federation, and league deals.</a:t>
            </a:r>
          </a:p>
        </p:txBody>
      </p:sp>
      <p:sp>
        <p:nvSpPr>
          <p:cNvPr id="343" name="Shape 5"/>
          <p:cNvSpPr/>
          <p:nvPr/>
        </p:nvSpPr>
        <p:spPr>
          <a:xfrm>
            <a:off x="822960" y="2788920"/>
            <a:ext cx="5074921" cy="3246122"/>
          </a:xfrm>
          <a:prstGeom prst="roundRect">
            <a:avLst>
              <a:gd name="adj" fmla="val 3380"/>
            </a:avLst>
          </a:prstGeom>
          <a:solidFill>
            <a:srgbClr val="141619"/>
          </a:solidFill>
          <a:ln w="12700">
            <a:solidFill>
              <a:srgbClr val="2A2E33"/>
            </a:solidFill>
          </a:ln>
          <a:effectLst>
            <a:outerShdw sx="100000" sy="100000" kx="0" ky="0" algn="b" rotWithShape="0" blurRad="177800" dist="50800" dir="5400000">
              <a:srgbClr val="000000">
                <a:alpha val="45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44" name="Text 6"/>
          <p:cNvSpPr txBox="1"/>
          <p:nvPr/>
        </p:nvSpPr>
        <p:spPr>
          <a:xfrm>
            <a:off x="1143000" y="3080765"/>
            <a:ext cx="3657600" cy="1478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150" sz="1100">
                <a:solidFill>
                  <a:srgbClr val="5B9D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YEARS 1–2  ·  PROVE IT</a:t>
            </a:r>
          </a:p>
        </p:txBody>
      </p:sp>
      <p:sp>
        <p:nvSpPr>
          <p:cNvPr id="345" name="Text 7"/>
          <p:cNvSpPr txBox="1"/>
          <p:nvPr/>
        </p:nvSpPr>
        <p:spPr>
          <a:xfrm>
            <a:off x="1143000" y="3356492"/>
            <a:ext cx="4389121" cy="4193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3000">
                <a:solidFill>
                  <a:srgbClr val="F4F6F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~$1.0M ARR</a:t>
            </a:r>
          </a:p>
        </p:txBody>
      </p:sp>
      <p:sp>
        <p:nvSpPr>
          <p:cNvPr id="346" name="Text 8"/>
          <p:cNvSpPr txBox="1"/>
          <p:nvPr/>
        </p:nvSpPr>
        <p:spPr>
          <a:xfrm>
            <a:off x="1142998" y="4154456"/>
            <a:ext cx="4434844" cy="4693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900"/>
              </a:lnSpc>
              <a:defRPr sz="1300">
                <a:solidFill>
                  <a:srgbClr val="C3C8CE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Land anchor contracts across every NCAA tier. Validate the product, build case studies, establish compliance credibility.</a:t>
            </a:r>
          </a:p>
        </p:txBody>
      </p:sp>
      <p:sp>
        <p:nvSpPr>
          <p:cNvPr id="347" name="Text 9"/>
          <p:cNvSpPr txBox="1"/>
          <p:nvPr/>
        </p:nvSpPr>
        <p:spPr>
          <a:xfrm>
            <a:off x="1143000" y="5516809"/>
            <a:ext cx="4389121" cy="2592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>
                <a:solidFill>
                  <a:srgbClr val="5B9D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54 contracts</a:t>
            </a:r>
          </a:p>
        </p:txBody>
      </p:sp>
      <p:sp>
        <p:nvSpPr>
          <p:cNvPr id="348" name="Shape 10"/>
          <p:cNvSpPr/>
          <p:nvPr/>
        </p:nvSpPr>
        <p:spPr>
          <a:xfrm>
            <a:off x="6309359" y="2788920"/>
            <a:ext cx="5074921" cy="3246122"/>
          </a:xfrm>
          <a:prstGeom prst="roundRect">
            <a:avLst>
              <a:gd name="adj" fmla="val 3380"/>
            </a:avLst>
          </a:prstGeom>
          <a:solidFill>
            <a:srgbClr val="141619"/>
          </a:solidFill>
          <a:ln w="12700">
            <a:solidFill>
              <a:srgbClr val="C8FF00"/>
            </a:solidFill>
          </a:ln>
          <a:effectLst>
            <a:outerShdw sx="100000" sy="100000" kx="0" ky="0" algn="b" rotWithShape="0" blurRad="177800" dist="50800" dir="5400000">
              <a:srgbClr val="000000">
                <a:alpha val="45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49" name="Text 11"/>
          <p:cNvSpPr txBox="1"/>
          <p:nvPr/>
        </p:nvSpPr>
        <p:spPr>
          <a:xfrm>
            <a:off x="6629400" y="3080765"/>
            <a:ext cx="3657600" cy="1478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150" sz="1100">
                <a:solidFill>
                  <a:srgbClr val="C8FF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YEARS 3–5  ·  SCALE</a:t>
            </a:r>
          </a:p>
        </p:txBody>
      </p:sp>
      <p:sp>
        <p:nvSpPr>
          <p:cNvPr id="350" name="Text 12"/>
          <p:cNvSpPr txBox="1"/>
          <p:nvPr/>
        </p:nvSpPr>
        <p:spPr>
          <a:xfrm>
            <a:off x="6629400" y="3356492"/>
            <a:ext cx="4389121" cy="4193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3000">
                <a:solidFill>
                  <a:srgbClr val="F4F6F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$100M+ ARR</a:t>
            </a:r>
          </a:p>
        </p:txBody>
      </p:sp>
      <p:sp>
        <p:nvSpPr>
          <p:cNvPr id="351" name="Text 13"/>
          <p:cNvSpPr txBox="1"/>
          <p:nvPr/>
        </p:nvSpPr>
        <p:spPr>
          <a:xfrm>
            <a:off x="6629400" y="4033806"/>
            <a:ext cx="4434841" cy="7106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900"/>
              </a:lnSpc>
              <a:defRPr sz="1300">
                <a:solidFill>
                  <a:srgbClr val="C3C8CE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Saturate the NCAA (~1,000 schools, ~$15M ARR), then layer the high-ACV tiers — ~150 pro teams, ~80 federations, and league-wide platform deals — to clear $100M+.</a:t>
            </a:r>
          </a:p>
        </p:txBody>
      </p:sp>
      <p:sp>
        <p:nvSpPr>
          <p:cNvPr id="352" name="Text 14"/>
          <p:cNvSpPr txBox="1"/>
          <p:nvPr/>
        </p:nvSpPr>
        <p:spPr>
          <a:xfrm>
            <a:off x="6629400" y="5383458"/>
            <a:ext cx="4389121" cy="5259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>
                <a:solidFill>
                  <a:srgbClr val="C8FF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NCAA ~$15M  ·  pro + federation + league ~$85M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A0B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Shape 0"/>
          <p:cNvSpPr/>
          <p:nvPr/>
        </p:nvSpPr>
        <p:spPr>
          <a:xfrm>
            <a:off x="822960" y="566927"/>
            <a:ext cx="1828802" cy="384050"/>
          </a:xfrm>
          <a:prstGeom prst="roundRect">
            <a:avLst>
              <a:gd name="adj" fmla="val 50000"/>
            </a:avLst>
          </a:prstGeom>
          <a:solidFill>
            <a:srgbClr val="141619"/>
          </a:solidFill>
          <a:ln w="12700">
            <a:solidFill>
              <a:srgbClr val="2A2E33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55" name="Shape 1"/>
          <p:cNvSpPr/>
          <p:nvPr/>
        </p:nvSpPr>
        <p:spPr>
          <a:xfrm>
            <a:off x="1005838" y="722376"/>
            <a:ext cx="73155" cy="73155"/>
          </a:xfrm>
          <a:prstGeom prst="ellipse">
            <a:avLst/>
          </a:prstGeom>
          <a:solidFill>
            <a:srgbClr val="C8FF00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56" name="Text 2"/>
          <p:cNvSpPr txBox="1"/>
          <p:nvPr/>
        </p:nvSpPr>
        <p:spPr>
          <a:xfrm>
            <a:off x="1152144" y="691178"/>
            <a:ext cx="1463042" cy="1355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200" sz="1000">
                <a:solidFill>
                  <a:srgbClr val="F4F6F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THE TEAM</a:t>
            </a:r>
          </a:p>
        </p:txBody>
      </p:sp>
      <p:sp>
        <p:nvSpPr>
          <p:cNvPr id="357" name="Text 3"/>
          <p:cNvSpPr txBox="1"/>
          <p:nvPr/>
        </p:nvSpPr>
        <p:spPr>
          <a:xfrm>
            <a:off x="822960" y="1397118"/>
            <a:ext cx="10515601" cy="9548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ts val="3800"/>
              </a:lnSpc>
              <a:defRPr b="1" sz="3200">
                <a:solidFill>
                  <a:srgbClr val="F4F6F2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Operators who know </a:t>
            </a:r>
            <a:r>
              <a:rPr>
                <a:solidFill>
                  <a:srgbClr val="C8FF00"/>
                </a:solidFill>
              </a:rPr>
              <a:t>software, athletes, and clinical trust.</a:t>
            </a:r>
          </a:p>
        </p:txBody>
      </p:sp>
      <p:sp>
        <p:nvSpPr>
          <p:cNvPr id="358" name="Shape 4"/>
          <p:cNvSpPr/>
          <p:nvPr/>
        </p:nvSpPr>
        <p:spPr>
          <a:xfrm>
            <a:off x="822960" y="2331720"/>
            <a:ext cx="3429002" cy="2468880"/>
          </a:xfrm>
          <a:prstGeom prst="roundRect">
            <a:avLst>
              <a:gd name="adj" fmla="val 4444"/>
            </a:avLst>
          </a:prstGeom>
          <a:solidFill>
            <a:srgbClr val="141619"/>
          </a:solidFill>
          <a:ln w="12700">
            <a:solidFill>
              <a:srgbClr val="2A2E33"/>
            </a:solidFill>
          </a:ln>
          <a:effectLst>
            <a:outerShdw sx="100000" sy="100000" kx="0" ky="0" algn="b" rotWithShape="0" blurRad="177800" dist="50800" dir="5400000">
              <a:srgbClr val="000000">
                <a:alpha val="45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59" name="Text 5"/>
          <p:cNvSpPr txBox="1"/>
          <p:nvPr/>
        </p:nvSpPr>
        <p:spPr>
          <a:xfrm>
            <a:off x="1097278" y="3456128"/>
            <a:ext cx="2926083" cy="2592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>
                <a:solidFill>
                  <a:srgbClr val="F4F6F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Tremaine Grant</a:t>
            </a:r>
          </a:p>
        </p:txBody>
      </p:sp>
      <p:sp>
        <p:nvSpPr>
          <p:cNvPr id="360" name="Text 6"/>
          <p:cNvSpPr txBox="1"/>
          <p:nvPr/>
        </p:nvSpPr>
        <p:spPr>
          <a:xfrm>
            <a:off x="1097278" y="3829387"/>
            <a:ext cx="2926083" cy="1355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150" sz="1000">
                <a:solidFill>
                  <a:srgbClr val="C8FF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FOUNDER &amp; CEO</a:t>
            </a:r>
          </a:p>
        </p:txBody>
      </p:sp>
      <p:sp>
        <p:nvSpPr>
          <p:cNvPr id="361" name="Text 7"/>
          <p:cNvSpPr txBox="1"/>
          <p:nvPr/>
        </p:nvSpPr>
        <p:spPr>
          <a:xfrm>
            <a:off x="1097280" y="4064112"/>
            <a:ext cx="2971802" cy="6723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800"/>
              </a:lnSpc>
              <a:defRPr sz="1200">
                <a:solidFill>
                  <a:srgbClr val="C3C8CE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Principal full-stack engineer, deep in AI, with a decade in clinical research. D1 athlete at FSU. </a:t>
            </a:r>
          </a:p>
        </p:txBody>
      </p:sp>
      <p:sp>
        <p:nvSpPr>
          <p:cNvPr id="362" name="Shape 8"/>
          <p:cNvSpPr/>
          <p:nvPr/>
        </p:nvSpPr>
        <p:spPr>
          <a:xfrm>
            <a:off x="4535423" y="2331720"/>
            <a:ext cx="3429002" cy="2468880"/>
          </a:xfrm>
          <a:prstGeom prst="roundRect">
            <a:avLst>
              <a:gd name="adj" fmla="val 4444"/>
            </a:avLst>
          </a:prstGeom>
          <a:solidFill>
            <a:srgbClr val="141619"/>
          </a:solidFill>
          <a:ln w="12700">
            <a:solidFill>
              <a:srgbClr val="2A2E33"/>
            </a:solidFill>
          </a:ln>
          <a:effectLst>
            <a:outerShdw sx="100000" sy="100000" kx="0" ky="0" algn="b" rotWithShape="0" blurRad="177800" dist="50800" dir="5400000">
              <a:srgbClr val="000000">
                <a:alpha val="45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63" name="Text 9"/>
          <p:cNvSpPr txBox="1"/>
          <p:nvPr/>
        </p:nvSpPr>
        <p:spPr>
          <a:xfrm>
            <a:off x="4809743" y="3456128"/>
            <a:ext cx="2926083" cy="2592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>
                <a:solidFill>
                  <a:srgbClr val="F4F6F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Bobby Nweke</a:t>
            </a:r>
          </a:p>
        </p:txBody>
      </p:sp>
      <p:sp>
        <p:nvSpPr>
          <p:cNvPr id="364" name="Text 10"/>
          <p:cNvSpPr txBox="1"/>
          <p:nvPr/>
        </p:nvSpPr>
        <p:spPr>
          <a:xfrm>
            <a:off x="4809743" y="3829387"/>
            <a:ext cx="2926083" cy="1355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150" sz="1000">
                <a:solidFill>
                  <a:srgbClr val="5B9D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CHIEF OF STAFF</a:t>
            </a:r>
          </a:p>
        </p:txBody>
      </p:sp>
      <p:sp>
        <p:nvSpPr>
          <p:cNvPr id="365" name="Text 11"/>
          <p:cNvSpPr txBox="1"/>
          <p:nvPr/>
        </p:nvSpPr>
        <p:spPr>
          <a:xfrm>
            <a:off x="4809744" y="4178412"/>
            <a:ext cx="2971801" cy="4437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800"/>
              </a:lnSpc>
              <a:defRPr sz="1200">
                <a:solidFill>
                  <a:srgbClr val="C3C8CE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10 years in human performance across training, athletics, and education.</a:t>
            </a:r>
          </a:p>
        </p:txBody>
      </p:sp>
      <p:sp>
        <p:nvSpPr>
          <p:cNvPr id="366" name="Shape 12"/>
          <p:cNvSpPr/>
          <p:nvPr/>
        </p:nvSpPr>
        <p:spPr>
          <a:xfrm>
            <a:off x="8247888" y="2331720"/>
            <a:ext cx="3429002" cy="2468880"/>
          </a:xfrm>
          <a:prstGeom prst="roundRect">
            <a:avLst>
              <a:gd name="adj" fmla="val 4444"/>
            </a:avLst>
          </a:prstGeom>
          <a:solidFill>
            <a:srgbClr val="141619"/>
          </a:solidFill>
          <a:ln w="12700">
            <a:solidFill>
              <a:srgbClr val="2A2E33"/>
            </a:solidFill>
          </a:ln>
          <a:effectLst>
            <a:outerShdw sx="100000" sy="100000" kx="0" ky="0" algn="b" rotWithShape="0" blurRad="177800" dist="50800" dir="5400000">
              <a:srgbClr val="000000">
                <a:alpha val="45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67" name="Text 13"/>
          <p:cNvSpPr txBox="1"/>
          <p:nvPr/>
        </p:nvSpPr>
        <p:spPr>
          <a:xfrm>
            <a:off x="8522206" y="3456128"/>
            <a:ext cx="2926082" cy="2592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>
                <a:solidFill>
                  <a:srgbClr val="F4F6F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Lola Oluwaladun</a:t>
            </a:r>
          </a:p>
        </p:txBody>
      </p:sp>
      <p:sp>
        <p:nvSpPr>
          <p:cNvPr id="368" name="Text 14"/>
          <p:cNvSpPr txBox="1"/>
          <p:nvPr/>
        </p:nvSpPr>
        <p:spPr>
          <a:xfrm>
            <a:off x="8522206" y="3829387"/>
            <a:ext cx="2926082" cy="1355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150" sz="1000">
                <a:solidFill>
                  <a:srgbClr val="A98B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HEAD OF DESIGN</a:t>
            </a:r>
          </a:p>
        </p:txBody>
      </p:sp>
      <p:sp>
        <p:nvSpPr>
          <p:cNvPr id="369" name="Text 15"/>
          <p:cNvSpPr txBox="1"/>
          <p:nvPr/>
        </p:nvSpPr>
        <p:spPr>
          <a:xfrm>
            <a:off x="8522206" y="4178412"/>
            <a:ext cx="2971802" cy="4437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800"/>
              </a:lnSpc>
              <a:defRPr sz="1200">
                <a:solidFill>
                  <a:srgbClr val="C3C8CE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Owns product experience and athlete-facing UX across Pulse.</a:t>
            </a:r>
          </a:p>
        </p:txBody>
      </p:sp>
      <p:sp>
        <p:nvSpPr>
          <p:cNvPr id="370" name="Shape 16"/>
          <p:cNvSpPr/>
          <p:nvPr/>
        </p:nvSpPr>
        <p:spPr>
          <a:xfrm>
            <a:off x="822960" y="4983479"/>
            <a:ext cx="10561320" cy="1188722"/>
          </a:xfrm>
          <a:prstGeom prst="roundRect">
            <a:avLst>
              <a:gd name="adj" fmla="val 9231"/>
            </a:avLst>
          </a:prstGeom>
          <a:solidFill>
            <a:srgbClr val="141619"/>
          </a:solidFill>
          <a:ln w="12700">
            <a:solidFill>
              <a:srgbClr val="2A2E33"/>
            </a:solidFill>
          </a:ln>
          <a:effectLst>
            <a:outerShdw sx="100000" sy="100000" kx="0" ky="0" algn="b" rotWithShape="0" blurRad="177800" dist="50800" dir="5400000">
              <a:srgbClr val="000000">
                <a:alpha val="45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71" name="Text 17"/>
          <p:cNvSpPr txBox="1"/>
          <p:nvPr/>
        </p:nvSpPr>
        <p:spPr>
          <a:xfrm>
            <a:off x="1143000" y="5235747"/>
            <a:ext cx="3657600" cy="1355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150" sz="1000">
                <a:solidFill>
                  <a:srgbClr val="C8FF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ADVISORS &amp; BACKING</a:t>
            </a:r>
          </a:p>
        </p:txBody>
      </p:sp>
      <p:pic>
        <p:nvPicPr>
          <p:cNvPr id="372" name="Tremaine photo" descr="Tremaine photo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137459" y="2531433"/>
            <a:ext cx="800002" cy="8000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0" y="0"/>
                </a:moveTo>
                <a:cubicBezTo>
                  <a:pt x="4837" y="0"/>
                  <a:pt x="0" y="4837"/>
                  <a:pt x="0" y="10800"/>
                </a:cubicBezTo>
                <a:cubicBezTo>
                  <a:pt x="0" y="16763"/>
                  <a:pt x="4837" y="21600"/>
                  <a:pt x="10800" y="21600"/>
                </a:cubicBezTo>
                <a:cubicBezTo>
                  <a:pt x="16763" y="21600"/>
                  <a:pt x="21600" y="16763"/>
                  <a:pt x="21600" y="10800"/>
                </a:cubicBezTo>
                <a:cubicBezTo>
                  <a:pt x="21600" y="4837"/>
                  <a:pt x="16763" y="0"/>
                  <a:pt x="10800" y="0"/>
                </a:cubicBezTo>
                <a:close/>
              </a:path>
            </a:pathLst>
          </a:custGeom>
          <a:ln w="12700">
            <a:solidFill>
              <a:srgbClr val="2A2E33"/>
            </a:solidFill>
          </a:ln>
        </p:spPr>
      </p:pic>
      <p:pic>
        <p:nvPicPr>
          <p:cNvPr id="373" name="Bobby photo" descr="Bobby photo"/>
          <p:cNvPicPr>
            <a:picLocks noChangeAspect="1"/>
          </p:cNvPicPr>
          <p:nvPr/>
        </p:nvPicPr>
        <p:blipFill>
          <a:blip r:embed="rId3">
            <a:extLst/>
          </a:blip>
          <a:srcRect l="0" t="7900" r="0" b="7889"/>
          <a:stretch>
            <a:fillRect/>
          </a:stretch>
        </p:blipFill>
        <p:spPr>
          <a:xfrm>
            <a:off x="5849923" y="2539999"/>
            <a:ext cx="800002" cy="8001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0" y="0"/>
                </a:moveTo>
                <a:cubicBezTo>
                  <a:pt x="4837" y="0"/>
                  <a:pt x="0" y="4836"/>
                  <a:pt x="0" y="10800"/>
                </a:cubicBezTo>
                <a:cubicBezTo>
                  <a:pt x="0" y="16764"/>
                  <a:pt x="4837" y="21600"/>
                  <a:pt x="10800" y="21600"/>
                </a:cubicBezTo>
                <a:cubicBezTo>
                  <a:pt x="16763" y="21600"/>
                  <a:pt x="21600" y="16764"/>
                  <a:pt x="21600" y="10800"/>
                </a:cubicBezTo>
                <a:cubicBezTo>
                  <a:pt x="21600" y="4836"/>
                  <a:pt x="16763" y="0"/>
                  <a:pt x="10800" y="0"/>
                </a:cubicBezTo>
                <a:close/>
              </a:path>
            </a:pathLst>
          </a:custGeom>
          <a:ln w="12700">
            <a:solidFill>
              <a:srgbClr val="2A2E33"/>
            </a:solidFill>
          </a:ln>
        </p:spPr>
      </p:pic>
      <p:pic>
        <p:nvPicPr>
          <p:cNvPr id="374" name="Lola photo" descr="Lola photo"/>
          <p:cNvPicPr>
            <a:picLocks noChangeAspect="1"/>
          </p:cNvPicPr>
          <p:nvPr/>
        </p:nvPicPr>
        <p:blipFill>
          <a:blip r:embed="rId4">
            <a:extLst/>
          </a:blip>
          <a:srcRect l="0" t="3900" r="0" b="3888"/>
          <a:stretch>
            <a:fillRect/>
          </a:stretch>
        </p:blipFill>
        <p:spPr>
          <a:xfrm>
            <a:off x="9562386" y="2539999"/>
            <a:ext cx="800002" cy="8001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0" y="0"/>
                </a:moveTo>
                <a:cubicBezTo>
                  <a:pt x="4837" y="0"/>
                  <a:pt x="0" y="4836"/>
                  <a:pt x="0" y="10800"/>
                </a:cubicBezTo>
                <a:cubicBezTo>
                  <a:pt x="0" y="16764"/>
                  <a:pt x="4837" y="21600"/>
                  <a:pt x="10800" y="21600"/>
                </a:cubicBezTo>
                <a:cubicBezTo>
                  <a:pt x="16763" y="21600"/>
                  <a:pt x="21600" y="16764"/>
                  <a:pt x="21600" y="10800"/>
                </a:cubicBezTo>
                <a:cubicBezTo>
                  <a:pt x="21600" y="4836"/>
                  <a:pt x="16763" y="0"/>
                  <a:pt x="10800" y="0"/>
                </a:cubicBezTo>
                <a:close/>
              </a:path>
            </a:pathLst>
          </a:custGeom>
          <a:ln w="12700">
            <a:solidFill>
              <a:srgbClr val="2A2E33"/>
            </a:solidFill>
          </a:ln>
        </p:spPr>
      </p:pic>
      <p:pic>
        <p:nvPicPr>
          <p:cNvPr id="375" name="Marques Zak photo" descr="Marques Zak photo"/>
          <p:cNvPicPr>
            <a:picLocks noChangeAspect="1"/>
          </p:cNvPicPr>
          <p:nvPr/>
        </p:nvPicPr>
        <p:blipFill>
          <a:blip r:embed="rId5">
            <a:extLst/>
          </a:blip>
          <a:srcRect l="0" t="6667" r="4" b="6671"/>
          <a:stretch>
            <a:fillRect/>
          </a:stretch>
        </p:blipFill>
        <p:spPr>
          <a:xfrm>
            <a:off x="1142999" y="5429999"/>
            <a:ext cx="459980" cy="45998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9" y="0"/>
                </a:moveTo>
                <a:cubicBezTo>
                  <a:pt x="4844" y="0"/>
                  <a:pt x="0" y="4844"/>
                  <a:pt x="0" y="10809"/>
                </a:cubicBezTo>
                <a:cubicBezTo>
                  <a:pt x="0" y="16774"/>
                  <a:pt x="4844" y="21600"/>
                  <a:pt x="10809" y="21600"/>
                </a:cubicBezTo>
                <a:cubicBezTo>
                  <a:pt x="16774" y="21600"/>
                  <a:pt x="21600" y="16774"/>
                  <a:pt x="21600" y="10809"/>
                </a:cubicBezTo>
                <a:cubicBezTo>
                  <a:pt x="21600" y="4844"/>
                  <a:pt x="16774" y="0"/>
                  <a:pt x="10809" y="0"/>
                </a:cubicBezTo>
                <a:close/>
              </a:path>
            </a:pathLst>
          </a:custGeom>
          <a:ln w="12700">
            <a:solidFill>
              <a:srgbClr val="2A2E33"/>
            </a:solidFill>
          </a:ln>
        </p:spPr>
      </p:pic>
      <p:sp>
        <p:nvSpPr>
          <p:cNvPr id="376" name="t111"/>
          <p:cNvSpPr txBox="1"/>
          <p:nvPr/>
        </p:nvSpPr>
        <p:spPr>
          <a:xfrm>
            <a:off x="1702998" y="5544453"/>
            <a:ext cx="1960322" cy="1355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>
              <a:defRPr b="1" sz="1000">
                <a:solidFill>
                  <a:srgbClr val="F4F6F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Marques Zak</a:t>
            </a:r>
          </a:p>
        </p:txBody>
      </p:sp>
      <p:sp>
        <p:nvSpPr>
          <p:cNvPr id="377" name="t112"/>
          <p:cNvSpPr txBox="1"/>
          <p:nvPr/>
        </p:nvSpPr>
        <p:spPr>
          <a:xfrm>
            <a:off x="1702998" y="5689998"/>
            <a:ext cx="196032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800">
                <a:solidFill>
                  <a:srgbClr val="8A9099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CMO, ACC</a:t>
            </a:r>
          </a:p>
        </p:txBody>
      </p:sp>
      <p:pic>
        <p:nvPicPr>
          <p:cNvPr id="378" name="Valerie Alexander photo" descr="Valerie Alexander photo"/>
          <p:cNvPicPr>
            <a:picLocks noChangeAspect="1"/>
          </p:cNvPicPr>
          <p:nvPr/>
        </p:nvPicPr>
        <p:blipFill>
          <a:blip r:embed="rId6">
            <a:extLst/>
          </a:blip>
          <a:srcRect l="0" t="0" r="4" b="4"/>
          <a:stretch>
            <a:fillRect/>
          </a:stretch>
        </p:blipFill>
        <p:spPr>
          <a:xfrm>
            <a:off x="3703320" y="5429999"/>
            <a:ext cx="459979" cy="45997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9" y="0"/>
                </a:moveTo>
                <a:cubicBezTo>
                  <a:pt x="4844" y="0"/>
                  <a:pt x="0" y="4844"/>
                  <a:pt x="0" y="10809"/>
                </a:cubicBezTo>
                <a:cubicBezTo>
                  <a:pt x="0" y="16774"/>
                  <a:pt x="4844" y="21600"/>
                  <a:pt x="10809" y="21600"/>
                </a:cubicBezTo>
                <a:cubicBezTo>
                  <a:pt x="16774" y="21600"/>
                  <a:pt x="21600" y="16774"/>
                  <a:pt x="21600" y="10809"/>
                </a:cubicBezTo>
                <a:cubicBezTo>
                  <a:pt x="21600" y="4844"/>
                  <a:pt x="16774" y="0"/>
                  <a:pt x="10809" y="0"/>
                </a:cubicBezTo>
                <a:close/>
              </a:path>
            </a:pathLst>
          </a:custGeom>
          <a:ln w="12700">
            <a:solidFill>
              <a:srgbClr val="2A2E33"/>
            </a:solidFill>
          </a:ln>
        </p:spPr>
      </p:pic>
      <p:sp>
        <p:nvSpPr>
          <p:cNvPr id="379" name="t114"/>
          <p:cNvSpPr txBox="1"/>
          <p:nvPr/>
        </p:nvSpPr>
        <p:spPr>
          <a:xfrm>
            <a:off x="4263319" y="5544453"/>
            <a:ext cx="1960323" cy="1355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>
              <a:defRPr b="1" sz="1000">
                <a:solidFill>
                  <a:srgbClr val="F4F6F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Valerie Alexander</a:t>
            </a:r>
          </a:p>
        </p:txBody>
      </p:sp>
      <p:sp>
        <p:nvSpPr>
          <p:cNvPr id="380" name="t115"/>
          <p:cNvSpPr txBox="1"/>
          <p:nvPr/>
        </p:nvSpPr>
        <p:spPr>
          <a:xfrm>
            <a:off x="4263319" y="5689998"/>
            <a:ext cx="196032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800">
                <a:solidFill>
                  <a:srgbClr val="8A9099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Enterprise &amp; IPO Attorney</a:t>
            </a:r>
          </a:p>
        </p:txBody>
      </p:sp>
      <p:pic>
        <p:nvPicPr>
          <p:cNvPr id="381" name="DeRay Mckesson photo" descr="DeRay Mckesson photo"/>
          <p:cNvPicPr>
            <a:picLocks noChangeAspect="1"/>
          </p:cNvPicPr>
          <p:nvPr/>
        </p:nvPicPr>
        <p:blipFill>
          <a:blip r:embed="rId7">
            <a:extLst/>
          </a:blip>
          <a:srcRect l="4583" t="0" r="4587" b="4"/>
          <a:stretch>
            <a:fillRect/>
          </a:stretch>
        </p:blipFill>
        <p:spPr>
          <a:xfrm>
            <a:off x="6263640" y="5429999"/>
            <a:ext cx="459979" cy="45997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9" y="0"/>
                </a:moveTo>
                <a:cubicBezTo>
                  <a:pt x="4844" y="0"/>
                  <a:pt x="0" y="4844"/>
                  <a:pt x="0" y="10809"/>
                </a:cubicBezTo>
                <a:cubicBezTo>
                  <a:pt x="0" y="16774"/>
                  <a:pt x="4844" y="21600"/>
                  <a:pt x="10809" y="21600"/>
                </a:cubicBezTo>
                <a:cubicBezTo>
                  <a:pt x="16774" y="21600"/>
                  <a:pt x="21600" y="16774"/>
                  <a:pt x="21600" y="10809"/>
                </a:cubicBezTo>
                <a:cubicBezTo>
                  <a:pt x="21600" y="4844"/>
                  <a:pt x="16774" y="0"/>
                  <a:pt x="10809" y="0"/>
                </a:cubicBezTo>
                <a:close/>
              </a:path>
            </a:pathLst>
          </a:custGeom>
          <a:ln w="12700">
            <a:solidFill>
              <a:srgbClr val="2A2E33"/>
            </a:solidFill>
          </a:ln>
        </p:spPr>
      </p:pic>
      <p:sp>
        <p:nvSpPr>
          <p:cNvPr id="382" name="t117"/>
          <p:cNvSpPr txBox="1"/>
          <p:nvPr/>
        </p:nvSpPr>
        <p:spPr>
          <a:xfrm>
            <a:off x="6823640" y="5544453"/>
            <a:ext cx="1960322" cy="1355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>
              <a:defRPr b="1" sz="1000">
                <a:solidFill>
                  <a:srgbClr val="F4F6F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DeRay Mckesson</a:t>
            </a:r>
          </a:p>
        </p:txBody>
      </p:sp>
      <p:sp>
        <p:nvSpPr>
          <p:cNvPr id="383" name="t118"/>
          <p:cNvSpPr txBox="1"/>
          <p:nvPr/>
        </p:nvSpPr>
        <p:spPr>
          <a:xfrm>
            <a:off x="6823640" y="5689998"/>
            <a:ext cx="196032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800">
                <a:solidFill>
                  <a:srgbClr val="8A9099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Organizing · HBCU reach</a:t>
            </a:r>
          </a:p>
        </p:txBody>
      </p:sp>
      <p:pic>
        <p:nvPicPr>
          <p:cNvPr id="384" name="Erik Edwards photo" descr="Erik Edwards photo"/>
          <p:cNvPicPr>
            <a:picLocks noChangeAspect="1"/>
          </p:cNvPicPr>
          <p:nvPr/>
        </p:nvPicPr>
        <p:blipFill>
          <a:blip r:embed="rId8">
            <a:extLst/>
          </a:blip>
          <a:srcRect l="0" t="6042" r="4" b="6046"/>
          <a:stretch>
            <a:fillRect/>
          </a:stretch>
        </p:blipFill>
        <p:spPr>
          <a:xfrm>
            <a:off x="8823959" y="5429999"/>
            <a:ext cx="459979" cy="45998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9" y="0"/>
                </a:moveTo>
                <a:cubicBezTo>
                  <a:pt x="4844" y="0"/>
                  <a:pt x="0" y="4844"/>
                  <a:pt x="0" y="10809"/>
                </a:cubicBezTo>
                <a:cubicBezTo>
                  <a:pt x="0" y="16774"/>
                  <a:pt x="4844" y="21600"/>
                  <a:pt x="10809" y="21600"/>
                </a:cubicBezTo>
                <a:cubicBezTo>
                  <a:pt x="16774" y="21600"/>
                  <a:pt x="21600" y="16774"/>
                  <a:pt x="21600" y="10809"/>
                </a:cubicBezTo>
                <a:cubicBezTo>
                  <a:pt x="21600" y="4844"/>
                  <a:pt x="16774" y="0"/>
                  <a:pt x="10809" y="0"/>
                </a:cubicBezTo>
                <a:close/>
              </a:path>
            </a:pathLst>
          </a:custGeom>
          <a:ln w="12700">
            <a:solidFill>
              <a:srgbClr val="2A2E33"/>
            </a:solidFill>
          </a:ln>
        </p:spPr>
      </p:pic>
      <p:sp>
        <p:nvSpPr>
          <p:cNvPr id="385" name="t120"/>
          <p:cNvSpPr txBox="1"/>
          <p:nvPr/>
        </p:nvSpPr>
        <p:spPr>
          <a:xfrm>
            <a:off x="9383958" y="5544453"/>
            <a:ext cx="1960323" cy="1355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>
              <a:defRPr b="1" sz="1000">
                <a:solidFill>
                  <a:srgbClr val="F4F6F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Erik Edwards</a:t>
            </a:r>
          </a:p>
        </p:txBody>
      </p:sp>
      <p:sp>
        <p:nvSpPr>
          <p:cNvPr id="386" name="t121"/>
          <p:cNvSpPr txBox="1"/>
          <p:nvPr/>
        </p:nvSpPr>
        <p:spPr>
          <a:xfrm>
            <a:off x="9383958" y="5689998"/>
            <a:ext cx="196032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800">
                <a:solidFill>
                  <a:srgbClr val="8A9099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Partner, Cooley</a:t>
            </a:r>
          </a:p>
        </p:txBody>
      </p:sp>
      <p:sp>
        <p:nvSpPr>
          <p:cNvPr id="387" name="t140"/>
          <p:cNvSpPr txBox="1"/>
          <p:nvPr/>
        </p:nvSpPr>
        <p:spPr>
          <a:xfrm>
            <a:off x="6799998" y="5232858"/>
            <a:ext cx="458428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r">
              <a:defRPr sz="900">
                <a:solidFill>
                  <a:srgbClr val="8A9099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Lead investor — </a:t>
            </a:r>
            <a:r>
              <a:rPr b="1">
                <a:solidFill>
                  <a:srgbClr val="F4F6F2"/>
                </a:solidFill>
              </a:rPr>
              <a:t>LAUNCH ▲</a:t>
            </a:r>
          </a:p>
        </p:txBody>
      </p:sp>
      <p:sp>
        <p:nvSpPr>
          <p:cNvPr id="388" name="FSU bg"/>
          <p:cNvSpPr/>
          <p:nvPr/>
        </p:nvSpPr>
        <p:spPr>
          <a:xfrm>
            <a:off x="2617459" y="2980000"/>
            <a:ext cx="380001" cy="380001"/>
          </a:xfrm>
          <a:prstGeom prst="ellipse">
            <a:avLst/>
          </a:prstGeom>
          <a:solidFill>
            <a:srgbClr val="FFFFFF"/>
          </a:solidFill>
          <a:ln>
            <a:solidFill>
              <a:srgbClr val="D9DCE1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pic>
        <p:nvPicPr>
          <p:cNvPr id="389" name="FSU logo" descr="FSU logo"/>
          <p:cNvPicPr>
            <a:picLocks noChangeAspect="1"/>
          </p:cNvPicPr>
          <p:nvPr/>
        </p:nvPicPr>
        <p:blipFill>
          <a:blip r:embed="rId9">
            <a:extLst/>
          </a:blip>
          <a:stretch>
            <a:fillRect/>
          </a:stretch>
        </p:blipFill>
        <p:spPr>
          <a:xfrm>
            <a:off x="2667459" y="3018000"/>
            <a:ext cx="280001" cy="304001"/>
          </a:xfrm>
          <a:prstGeom prst="rect">
            <a:avLst/>
          </a:prstGeom>
          <a:ln w="12700">
            <a:miter lim="400000"/>
          </a:ln>
        </p:spPr>
      </p:pic>
      <p:sp>
        <p:nvSpPr>
          <p:cNvPr id="390" name="Harvard bg"/>
          <p:cNvSpPr/>
          <p:nvPr/>
        </p:nvSpPr>
        <p:spPr>
          <a:xfrm>
            <a:off x="6329922" y="2974999"/>
            <a:ext cx="380001" cy="380002"/>
          </a:xfrm>
          <a:prstGeom prst="ellipse">
            <a:avLst/>
          </a:prstGeom>
          <a:solidFill>
            <a:srgbClr val="FFFFFF"/>
          </a:solidFill>
          <a:ln>
            <a:solidFill>
              <a:srgbClr val="D9DCE1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pic>
        <p:nvPicPr>
          <p:cNvPr id="391" name="Harvard logo" descr="Harvard logo"/>
          <p:cNvPicPr>
            <a:picLocks noChangeAspect="1"/>
          </p:cNvPicPr>
          <p:nvPr/>
        </p:nvPicPr>
        <p:blipFill>
          <a:blip r:embed="rId10">
            <a:extLst/>
          </a:blip>
          <a:stretch>
            <a:fillRect/>
          </a:stretch>
        </p:blipFill>
        <p:spPr>
          <a:xfrm>
            <a:off x="6384923" y="3006000"/>
            <a:ext cx="270001" cy="31800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A0B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Shape 0"/>
          <p:cNvSpPr/>
          <p:nvPr/>
        </p:nvSpPr>
        <p:spPr>
          <a:xfrm>
            <a:off x="822960" y="566927"/>
            <a:ext cx="2176274" cy="384050"/>
          </a:xfrm>
          <a:prstGeom prst="roundRect">
            <a:avLst>
              <a:gd name="adj" fmla="val 50000"/>
            </a:avLst>
          </a:prstGeom>
          <a:solidFill>
            <a:srgbClr val="141619"/>
          </a:solidFill>
          <a:ln w="12700">
            <a:solidFill>
              <a:srgbClr val="2A2E33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94" name="Shape 1"/>
          <p:cNvSpPr/>
          <p:nvPr/>
        </p:nvSpPr>
        <p:spPr>
          <a:xfrm>
            <a:off x="1005838" y="722376"/>
            <a:ext cx="73155" cy="73155"/>
          </a:xfrm>
          <a:prstGeom prst="ellipse">
            <a:avLst/>
          </a:prstGeom>
          <a:solidFill>
            <a:srgbClr val="C8FF00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95" name="Text 2"/>
          <p:cNvSpPr txBox="1"/>
          <p:nvPr/>
        </p:nvSpPr>
        <p:spPr>
          <a:xfrm>
            <a:off x="1152144" y="691178"/>
            <a:ext cx="1810513" cy="1355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200" sz="1000">
                <a:solidFill>
                  <a:srgbClr val="F4F6F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CLINICAL PATHWAY</a:t>
            </a:r>
          </a:p>
        </p:txBody>
      </p:sp>
      <p:sp>
        <p:nvSpPr>
          <p:cNvPr id="396" name="Text 3"/>
          <p:cNvSpPr txBox="1"/>
          <p:nvPr/>
        </p:nvSpPr>
        <p:spPr>
          <a:xfrm>
            <a:off x="822960" y="1602555"/>
            <a:ext cx="10515601" cy="5439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ts val="4400"/>
              </a:lnSpc>
              <a:defRPr b="1" sz="3600">
                <a:solidFill>
                  <a:srgbClr val="F4F6F2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AuntEDNA.ai validates the </a:t>
            </a:r>
            <a:r>
              <a:rPr>
                <a:solidFill>
                  <a:srgbClr val="FF6FB5"/>
                </a:solidFill>
              </a:rPr>
              <a:t>care layer.</a:t>
            </a:r>
          </a:p>
        </p:txBody>
      </p:sp>
      <p:sp>
        <p:nvSpPr>
          <p:cNvPr id="397" name="Text 4"/>
          <p:cNvSpPr txBox="1"/>
          <p:nvPr/>
        </p:nvSpPr>
        <p:spPr>
          <a:xfrm>
            <a:off x="841247" y="2220742"/>
            <a:ext cx="10058401" cy="2219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600">
                <a:solidFill>
                  <a:srgbClr val="8A9099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Pulse Check owns the detection, scoring, and routing. AuntEDNA.ai handles the clinical handoff.</a:t>
            </a:r>
          </a:p>
        </p:txBody>
      </p:sp>
      <p:sp>
        <p:nvSpPr>
          <p:cNvPr id="398" name="Shape 5"/>
          <p:cNvSpPr/>
          <p:nvPr/>
        </p:nvSpPr>
        <p:spPr>
          <a:xfrm>
            <a:off x="822960" y="3420000"/>
            <a:ext cx="10561320" cy="960122"/>
          </a:xfrm>
          <a:prstGeom prst="roundRect">
            <a:avLst>
              <a:gd name="adj" fmla="val 11429"/>
            </a:avLst>
          </a:prstGeom>
          <a:solidFill>
            <a:srgbClr val="141619"/>
          </a:solidFill>
          <a:ln w="12700">
            <a:solidFill>
              <a:srgbClr val="2A2E33"/>
            </a:solidFill>
          </a:ln>
          <a:effectLst>
            <a:outerShdw sx="100000" sy="100000" kx="0" ky="0" algn="b" rotWithShape="0" blurRad="177800" dist="50800" dir="5400000">
              <a:srgbClr val="000000">
                <a:alpha val="45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99" name="Shape 6"/>
          <p:cNvSpPr/>
          <p:nvPr/>
        </p:nvSpPr>
        <p:spPr>
          <a:xfrm>
            <a:off x="1097280" y="3621168"/>
            <a:ext cx="548642" cy="548643"/>
          </a:xfrm>
          <a:prstGeom prst="ellipse">
            <a:avLst/>
          </a:prstGeom>
          <a:solidFill>
            <a:srgbClr val="1B1E22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pic>
        <p:nvPicPr>
          <p:cNvPr id="400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245413" y="3766122"/>
            <a:ext cx="252376" cy="252376"/>
          </a:xfrm>
          <a:prstGeom prst="rect">
            <a:avLst/>
          </a:prstGeom>
          <a:ln w="12700">
            <a:miter lim="400000"/>
          </a:ln>
        </p:spPr>
      </p:pic>
      <p:sp>
        <p:nvSpPr>
          <p:cNvPr id="401" name="Text 7"/>
          <p:cNvSpPr txBox="1"/>
          <p:nvPr/>
        </p:nvSpPr>
        <p:spPr>
          <a:xfrm>
            <a:off x="1874519" y="3735442"/>
            <a:ext cx="3657603" cy="246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700">
                <a:solidFill>
                  <a:srgbClr val="F4F6F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NSF Phase I grant</a:t>
            </a:r>
          </a:p>
        </p:txBody>
      </p:sp>
      <p:sp>
        <p:nvSpPr>
          <p:cNvPr id="402" name="Text 8"/>
          <p:cNvSpPr txBox="1"/>
          <p:nvPr/>
        </p:nvSpPr>
        <p:spPr>
          <a:xfrm>
            <a:off x="5486400" y="3755057"/>
            <a:ext cx="5669280" cy="2077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700"/>
              </a:lnSpc>
              <a:defRPr sz="1300">
                <a:solidFill>
                  <a:srgbClr val="C3C8CE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Independent validation through scientific peer review.</a:t>
            </a:r>
          </a:p>
        </p:txBody>
      </p:sp>
      <p:sp>
        <p:nvSpPr>
          <p:cNvPr id="403" name="Shape 9"/>
          <p:cNvSpPr/>
          <p:nvPr/>
        </p:nvSpPr>
        <p:spPr>
          <a:xfrm>
            <a:off x="822960" y="4439999"/>
            <a:ext cx="10561320" cy="960122"/>
          </a:xfrm>
          <a:prstGeom prst="roundRect">
            <a:avLst>
              <a:gd name="adj" fmla="val 11429"/>
            </a:avLst>
          </a:prstGeom>
          <a:solidFill>
            <a:srgbClr val="141619"/>
          </a:solidFill>
          <a:ln w="12700">
            <a:solidFill>
              <a:srgbClr val="2A2E33"/>
            </a:solidFill>
          </a:ln>
          <a:effectLst>
            <a:outerShdw sx="100000" sy="100000" kx="0" ky="0" algn="b" rotWithShape="0" blurRad="177800" dist="50800" dir="5400000">
              <a:srgbClr val="000000">
                <a:alpha val="45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04" name="Shape 10"/>
          <p:cNvSpPr/>
          <p:nvPr/>
        </p:nvSpPr>
        <p:spPr>
          <a:xfrm>
            <a:off x="1097280" y="4641167"/>
            <a:ext cx="548642" cy="548643"/>
          </a:xfrm>
          <a:prstGeom prst="ellipse">
            <a:avLst/>
          </a:prstGeom>
          <a:solidFill>
            <a:srgbClr val="1B1E22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pic>
        <p:nvPicPr>
          <p:cNvPr id="405" name="Image 1" descr="Image 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245413" y="4793872"/>
            <a:ext cx="252376" cy="252376"/>
          </a:xfrm>
          <a:prstGeom prst="rect">
            <a:avLst/>
          </a:prstGeom>
          <a:ln w="12700">
            <a:miter lim="400000"/>
          </a:ln>
        </p:spPr>
      </p:pic>
      <p:sp>
        <p:nvSpPr>
          <p:cNvPr id="406" name="Text 11"/>
          <p:cNvSpPr txBox="1"/>
          <p:nvPr/>
        </p:nvSpPr>
        <p:spPr>
          <a:xfrm>
            <a:off x="1874519" y="4755443"/>
            <a:ext cx="3657603" cy="246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700">
                <a:solidFill>
                  <a:srgbClr val="F4F6F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80% adherence</a:t>
            </a:r>
          </a:p>
        </p:txBody>
      </p:sp>
      <p:sp>
        <p:nvSpPr>
          <p:cNvPr id="407" name="Text 12"/>
          <p:cNvSpPr txBox="1"/>
          <p:nvPr/>
        </p:nvSpPr>
        <p:spPr>
          <a:xfrm>
            <a:off x="5486400" y="4775058"/>
            <a:ext cx="5669280" cy="207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700"/>
              </a:lnSpc>
              <a:defRPr sz="1300">
                <a:solidFill>
                  <a:srgbClr val="C3C8CE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AuntEDNA.ai evidence across 1,000+ student-athletes.</a:t>
            </a:r>
          </a:p>
        </p:txBody>
      </p:sp>
      <p:sp>
        <p:nvSpPr>
          <p:cNvPr id="408" name="Shape 13"/>
          <p:cNvSpPr/>
          <p:nvPr/>
        </p:nvSpPr>
        <p:spPr>
          <a:xfrm>
            <a:off x="822960" y="5460000"/>
            <a:ext cx="10561320" cy="960122"/>
          </a:xfrm>
          <a:prstGeom prst="roundRect">
            <a:avLst>
              <a:gd name="adj" fmla="val 11429"/>
            </a:avLst>
          </a:prstGeom>
          <a:solidFill>
            <a:srgbClr val="141619"/>
          </a:solidFill>
          <a:ln w="12700">
            <a:solidFill>
              <a:srgbClr val="2A2E33"/>
            </a:solidFill>
          </a:ln>
          <a:effectLst>
            <a:outerShdw sx="100000" sy="100000" kx="0" ky="0" algn="b" rotWithShape="0" blurRad="177800" dist="50800" dir="5400000">
              <a:srgbClr val="000000">
                <a:alpha val="45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09" name="Shape 14"/>
          <p:cNvSpPr/>
          <p:nvPr/>
        </p:nvSpPr>
        <p:spPr>
          <a:xfrm>
            <a:off x="1097280" y="5661168"/>
            <a:ext cx="548642" cy="548642"/>
          </a:xfrm>
          <a:prstGeom prst="ellipse">
            <a:avLst/>
          </a:prstGeom>
          <a:solidFill>
            <a:srgbClr val="1B1E22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pic>
        <p:nvPicPr>
          <p:cNvPr id="410" name="Image 2" descr="Image 2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245413" y="5809300"/>
            <a:ext cx="252376" cy="252376"/>
          </a:xfrm>
          <a:prstGeom prst="rect">
            <a:avLst/>
          </a:prstGeom>
          <a:ln w="12700">
            <a:miter lim="400000"/>
          </a:ln>
        </p:spPr>
      </p:pic>
      <p:sp>
        <p:nvSpPr>
          <p:cNvPr id="411" name="Text 15"/>
          <p:cNvSpPr txBox="1"/>
          <p:nvPr/>
        </p:nvSpPr>
        <p:spPr>
          <a:xfrm>
            <a:off x="1874519" y="5775442"/>
            <a:ext cx="3657603" cy="246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700">
                <a:solidFill>
                  <a:srgbClr val="F4F6F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Shared research layer</a:t>
            </a:r>
          </a:p>
        </p:txBody>
      </p:sp>
      <p:sp>
        <p:nvSpPr>
          <p:cNvPr id="412" name="Text 16"/>
          <p:cNvSpPr txBox="1"/>
          <p:nvPr/>
        </p:nvSpPr>
        <p:spPr>
          <a:xfrm>
            <a:off x="5486400" y="5795057"/>
            <a:ext cx="5669280" cy="207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700"/>
              </a:lnSpc>
              <a:defRPr sz="1300">
                <a:solidFill>
                  <a:srgbClr val="C3C8CE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Models trained on a validated, peer-reviewed athlete dataset.</a:t>
            </a:r>
          </a:p>
        </p:txBody>
      </p:sp>
      <p:sp>
        <p:nvSpPr>
          <p:cNvPr id="413" name="t150"/>
          <p:cNvSpPr txBox="1"/>
          <p:nvPr/>
        </p:nvSpPr>
        <p:spPr>
          <a:xfrm>
            <a:off x="1097278" y="2600000"/>
            <a:ext cx="5000004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900">
                <a:solidFill>
                  <a:srgbClr val="E15B97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AUNTEDNA.AI CO-CEOS</a:t>
            </a:r>
          </a:p>
        </p:txBody>
      </p:sp>
      <p:pic>
        <p:nvPicPr>
          <p:cNvPr id="414" name="Jelanna photo" descr="Jelanna photo"/>
          <p:cNvPicPr>
            <a:picLocks noChangeAspect="1"/>
          </p:cNvPicPr>
          <p:nvPr/>
        </p:nvPicPr>
        <p:blipFill>
          <a:blip r:embed="rId5">
            <a:extLst/>
          </a:blip>
          <a:srcRect l="0" t="0" r="21" b="21"/>
          <a:stretch>
            <a:fillRect/>
          </a:stretch>
        </p:blipFill>
        <p:spPr>
          <a:xfrm>
            <a:off x="1097280" y="2819999"/>
            <a:ext cx="469901" cy="4699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0" y="0"/>
                </a:moveTo>
                <a:cubicBezTo>
                  <a:pt x="4834" y="0"/>
                  <a:pt x="0" y="4834"/>
                  <a:pt x="0" y="10800"/>
                </a:cubicBezTo>
                <a:cubicBezTo>
                  <a:pt x="0" y="16766"/>
                  <a:pt x="4834" y="21600"/>
                  <a:pt x="10800" y="21600"/>
                </a:cubicBezTo>
                <a:cubicBezTo>
                  <a:pt x="16766" y="21600"/>
                  <a:pt x="21600" y="16766"/>
                  <a:pt x="21600" y="10800"/>
                </a:cubicBezTo>
                <a:cubicBezTo>
                  <a:pt x="21600" y="4834"/>
                  <a:pt x="16766" y="0"/>
                  <a:pt x="10800" y="0"/>
                </a:cubicBezTo>
                <a:close/>
              </a:path>
            </a:pathLst>
          </a:custGeom>
          <a:ln w="12700">
            <a:solidFill>
              <a:srgbClr val="2A2E33"/>
            </a:solidFill>
          </a:ln>
        </p:spPr>
      </p:pic>
      <p:sp>
        <p:nvSpPr>
          <p:cNvPr id="415" name="t152"/>
          <p:cNvSpPr txBox="1"/>
          <p:nvPr/>
        </p:nvSpPr>
        <p:spPr>
          <a:xfrm>
            <a:off x="1660000" y="2850000"/>
            <a:ext cx="3200002" cy="1355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000">
                <a:solidFill>
                  <a:srgbClr val="F4F6F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Jelanna Salas Olivera</a:t>
            </a:r>
          </a:p>
        </p:txBody>
      </p:sp>
      <p:sp>
        <p:nvSpPr>
          <p:cNvPr id="416" name="t153"/>
          <p:cNvSpPr txBox="1"/>
          <p:nvPr/>
        </p:nvSpPr>
        <p:spPr>
          <a:xfrm>
            <a:off x="1660000" y="3089998"/>
            <a:ext cx="32000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800">
                <a:solidFill>
                  <a:srgbClr val="8A9099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Co-CEO</a:t>
            </a:r>
          </a:p>
        </p:txBody>
      </p:sp>
      <p:pic>
        <p:nvPicPr>
          <p:cNvPr id="417" name="Tracey photo" descr="Tracey photo"/>
          <p:cNvPicPr>
            <a:picLocks noChangeAspect="1"/>
          </p:cNvPicPr>
          <p:nvPr/>
        </p:nvPicPr>
        <p:blipFill>
          <a:blip r:embed="rId6">
            <a:extLst/>
          </a:blip>
          <a:srcRect l="0" t="0" r="21" b="21"/>
          <a:stretch>
            <a:fillRect/>
          </a:stretch>
        </p:blipFill>
        <p:spPr>
          <a:xfrm>
            <a:off x="4999999" y="2819999"/>
            <a:ext cx="469901" cy="4699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0" y="0"/>
                </a:moveTo>
                <a:cubicBezTo>
                  <a:pt x="4834" y="0"/>
                  <a:pt x="0" y="4834"/>
                  <a:pt x="0" y="10800"/>
                </a:cubicBezTo>
                <a:cubicBezTo>
                  <a:pt x="0" y="16766"/>
                  <a:pt x="4834" y="21600"/>
                  <a:pt x="10800" y="21600"/>
                </a:cubicBezTo>
                <a:cubicBezTo>
                  <a:pt x="16766" y="21600"/>
                  <a:pt x="21600" y="16766"/>
                  <a:pt x="21600" y="10800"/>
                </a:cubicBezTo>
                <a:cubicBezTo>
                  <a:pt x="21600" y="4834"/>
                  <a:pt x="16766" y="0"/>
                  <a:pt x="10800" y="0"/>
                </a:cubicBezTo>
                <a:close/>
              </a:path>
            </a:pathLst>
          </a:custGeom>
          <a:ln w="12700">
            <a:solidFill>
              <a:srgbClr val="2A2E33"/>
            </a:solidFill>
          </a:ln>
        </p:spPr>
      </p:pic>
      <p:sp>
        <p:nvSpPr>
          <p:cNvPr id="418" name="t155"/>
          <p:cNvSpPr txBox="1"/>
          <p:nvPr/>
        </p:nvSpPr>
        <p:spPr>
          <a:xfrm>
            <a:off x="5562998" y="2850000"/>
            <a:ext cx="3200002" cy="1355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000">
                <a:solidFill>
                  <a:srgbClr val="F4F6F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Dr. Tracey Hathaway</a:t>
            </a:r>
          </a:p>
        </p:txBody>
      </p:sp>
      <p:sp>
        <p:nvSpPr>
          <p:cNvPr id="419" name="t156"/>
          <p:cNvSpPr txBox="1"/>
          <p:nvPr/>
        </p:nvSpPr>
        <p:spPr>
          <a:xfrm>
            <a:off x="5562998" y="3089998"/>
            <a:ext cx="32000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800">
                <a:solidFill>
                  <a:srgbClr val="8A9099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Co-CEO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708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80A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22" name="Shape 1"/>
          <p:cNvSpPr/>
          <p:nvPr/>
        </p:nvSpPr>
        <p:spPr>
          <a:xfrm>
            <a:off x="-889000" y="-889001"/>
            <a:ext cx="3048000" cy="3048001"/>
          </a:xfrm>
          <a:prstGeom prst="ellipse">
            <a:avLst/>
          </a:prstGeom>
          <a:solidFill>
            <a:srgbClr val="E0FE10">
              <a:alpha val="8000"/>
            </a:srgbClr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23" name="Shape 2"/>
          <p:cNvSpPr/>
          <p:nvPr/>
        </p:nvSpPr>
        <p:spPr>
          <a:xfrm>
            <a:off x="9525000" y="4571999"/>
            <a:ext cx="3302000" cy="3302001"/>
          </a:xfrm>
          <a:prstGeom prst="ellipse">
            <a:avLst/>
          </a:prstGeom>
          <a:solidFill>
            <a:srgbClr val="3B82F6">
              <a:alpha val="7000"/>
            </a:srgbClr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24" name="Shape 3"/>
          <p:cNvSpPr/>
          <p:nvPr/>
        </p:nvSpPr>
        <p:spPr>
          <a:xfrm>
            <a:off x="698500" y="571500"/>
            <a:ext cx="2419945" cy="375890"/>
          </a:xfrm>
          <a:prstGeom prst="roundRect">
            <a:avLst>
              <a:gd name="adj" fmla="val 50000"/>
            </a:avLst>
          </a:prstGeom>
          <a:solidFill>
            <a:srgbClr val="FFFFFF">
              <a:alpha val="4000"/>
            </a:srgbClr>
          </a:solidFill>
          <a:ln w="6350">
            <a:solidFill>
              <a:srgbClr val="FFFFFF">
                <a:alpha val="10000"/>
              </a:srgbClr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25" name="Text 4"/>
          <p:cNvSpPr txBox="1"/>
          <p:nvPr/>
        </p:nvSpPr>
        <p:spPr>
          <a:xfrm>
            <a:off x="844550" y="641350"/>
            <a:ext cx="2200444" cy="2615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>
              <a:lnSpc>
                <a:spcPct val="155000"/>
              </a:lnSpc>
              <a:defRPr b="1" spc="300" sz="1200">
                <a:solidFill>
                  <a:srgbClr val="E0FE1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WHO SUPPORTS US</a:t>
            </a:r>
          </a:p>
        </p:txBody>
      </p:sp>
      <p:sp>
        <p:nvSpPr>
          <p:cNvPr id="426" name="Text 5"/>
          <p:cNvSpPr txBox="1"/>
          <p:nvPr/>
        </p:nvSpPr>
        <p:spPr>
          <a:xfrm>
            <a:off x="698500" y="1036290"/>
            <a:ext cx="11118850" cy="6088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>
              <a:lnSpc>
                <a:spcPct val="114000"/>
              </a:lnSpc>
              <a:defRPr b="1" spc="-200" sz="4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We are not building </a:t>
            </a:r>
            <a:r>
              <a:rPr>
                <a:solidFill>
                  <a:srgbClr val="E0FE10"/>
                </a:solidFill>
              </a:rPr>
              <a:t>in isolation.</a:t>
            </a:r>
          </a:p>
        </p:txBody>
      </p:sp>
      <p:sp>
        <p:nvSpPr>
          <p:cNvPr id="427" name="Text 6"/>
          <p:cNvSpPr txBox="1"/>
          <p:nvPr/>
        </p:nvSpPr>
        <p:spPr>
          <a:xfrm>
            <a:off x="698500" y="1704281"/>
            <a:ext cx="11118850" cy="2343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>
              <a:lnSpc>
                <a:spcPct val="135000"/>
              </a:lnSpc>
              <a:defRPr sz="1200">
                <a:solidFill>
                  <a:srgbClr val="FFFFFF">
                    <a:alpha val="66000"/>
                  </a:srgbClr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Strategic support already spans </a:t>
            </a:r>
            <a:r>
              <a:rPr b="1">
                <a:solidFill>
                  <a:srgbClr val="FFFFFF"/>
                </a:solidFill>
              </a:rPr>
              <a:t>clinical pathway, hardware, legal, capital, institutional access, infrastructure, and research.</a:t>
            </a:r>
          </a:p>
        </p:txBody>
      </p:sp>
      <p:sp>
        <p:nvSpPr>
          <p:cNvPr id="428" name="Shape 7"/>
          <p:cNvSpPr/>
          <p:nvPr/>
        </p:nvSpPr>
        <p:spPr>
          <a:xfrm>
            <a:off x="698500" y="2103683"/>
            <a:ext cx="3530600" cy="3543998"/>
          </a:xfrm>
          <a:prstGeom prst="roundRect">
            <a:avLst>
              <a:gd name="adj" fmla="val 5036"/>
            </a:avLst>
          </a:prstGeom>
          <a:solidFill>
            <a:srgbClr val="FFFFFF">
              <a:alpha val="4000"/>
            </a:srgbClr>
          </a:solidFill>
          <a:ln w="6350">
            <a:solidFill>
              <a:srgbClr val="FFFFFF">
                <a:alpha val="10000"/>
              </a:srgbClr>
            </a:solidFill>
          </a:ln>
          <a:effectLst>
            <a:outerShdw sx="100000" sy="100000" kx="0" ky="0" algn="b" rotWithShape="0" blurRad="571500" dist="285750" dir="5400000">
              <a:srgbClr val="F47CC8">
                <a:alpha val="12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29" name="Text 8"/>
          <p:cNvSpPr txBox="1"/>
          <p:nvPr/>
        </p:nvSpPr>
        <p:spPr>
          <a:xfrm>
            <a:off x="857250" y="2249733"/>
            <a:ext cx="3309493" cy="1828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55000"/>
              </a:lnSpc>
              <a:defRPr b="1" spc="200" sz="800">
                <a:solidFill>
                  <a:srgbClr val="F47CC8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CLINICAL PATHWAY</a:t>
            </a:r>
          </a:p>
        </p:txBody>
      </p:sp>
      <p:sp>
        <p:nvSpPr>
          <p:cNvPr id="430" name="Text 9"/>
          <p:cNvSpPr txBox="1"/>
          <p:nvPr/>
        </p:nvSpPr>
        <p:spPr>
          <a:xfrm>
            <a:off x="857250" y="2559596"/>
            <a:ext cx="3309493" cy="3048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704087">
              <a:defRPr b="1" spc="-100" sz="1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Aunt</a:t>
            </a:r>
            <a:r>
              <a:rPr>
                <a:solidFill>
                  <a:srgbClr val="F47CC8"/>
                </a:solidFill>
              </a:rPr>
              <a:t>EDNA</a:t>
            </a:r>
            <a:r>
              <a:rPr sz="1000"/>
              <a:t>.ai</a:t>
            </a:r>
          </a:p>
        </p:txBody>
      </p:sp>
      <p:sp>
        <p:nvSpPr>
          <p:cNvPr id="431" name="Text 10"/>
          <p:cNvSpPr txBox="1"/>
          <p:nvPr/>
        </p:nvSpPr>
        <p:spPr>
          <a:xfrm>
            <a:off x="857250" y="2902496"/>
            <a:ext cx="3309493" cy="1635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>
              <a:lnSpc>
                <a:spcPct val="145000"/>
              </a:lnSpc>
              <a:defRPr b="1" sz="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Strategic clinical pathway partner </a:t>
            </a:r>
            <a:r>
              <a:rPr b="0">
                <a:solidFill>
                  <a:srgbClr val="FFFFFF">
                    <a:alpha val="64999"/>
                  </a:srgbClr>
                </a:solidFill>
              </a:rPr>
              <a:t>for escalation and care routing.</a:t>
            </a:r>
          </a:p>
        </p:txBody>
      </p:sp>
      <p:sp>
        <p:nvSpPr>
          <p:cNvPr id="432" name="Shape 11"/>
          <p:cNvSpPr/>
          <p:nvPr/>
        </p:nvSpPr>
        <p:spPr>
          <a:xfrm>
            <a:off x="857250" y="4294535"/>
            <a:ext cx="3213100" cy="12702"/>
          </a:xfrm>
          <a:prstGeom prst="rect">
            <a:avLst/>
          </a:prstGeom>
          <a:solidFill>
            <a:srgbClr val="F47CC8">
              <a:alpha val="25000"/>
            </a:srgbClr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33" name="Text 12"/>
          <p:cNvSpPr txBox="1"/>
          <p:nvPr/>
        </p:nvSpPr>
        <p:spPr>
          <a:xfrm>
            <a:off x="857250" y="4418360"/>
            <a:ext cx="3309493" cy="1434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55000"/>
              </a:lnSpc>
              <a:defRPr b="1" spc="100" sz="600">
                <a:solidFill>
                  <a:srgbClr val="F47CC8">
                    <a:alpha val="85000"/>
                  </a:srgbClr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NETWORK WE REACH THROUGH THIS PARTNERSHIP</a:t>
            </a:r>
          </a:p>
        </p:txBody>
      </p:sp>
      <p:sp>
        <p:nvSpPr>
          <p:cNvPr id="434" name="Shape 13"/>
          <p:cNvSpPr/>
          <p:nvPr/>
        </p:nvSpPr>
        <p:spPr>
          <a:xfrm>
            <a:off x="857250" y="4625330"/>
            <a:ext cx="3213100" cy="355602"/>
          </a:xfrm>
          <a:prstGeom prst="roundRect">
            <a:avLst>
              <a:gd name="adj" fmla="val 21429"/>
            </a:avLst>
          </a:prstGeom>
          <a:solidFill>
            <a:srgbClr val="FFFFFF">
              <a:alpha val="4000"/>
            </a:srgbClr>
          </a:solidFill>
          <a:ln w="6350">
            <a:solidFill>
              <a:srgbClr val="FFFFFF">
                <a:alpha val="10000"/>
              </a:srgbClr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35" name="Text 14"/>
          <p:cNvSpPr txBox="1"/>
          <p:nvPr/>
        </p:nvSpPr>
        <p:spPr>
          <a:xfrm>
            <a:off x="952500" y="4707880"/>
            <a:ext cx="561777" cy="2159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713230">
              <a:defRPr b="1" sz="11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NCAA</a:t>
            </a:r>
            <a:r>
              <a:rPr baseline="29434" sz="400"/>
              <a:t>®</a:t>
            </a:r>
          </a:p>
        </p:txBody>
      </p:sp>
      <p:sp>
        <p:nvSpPr>
          <p:cNvPr id="436" name="Text 15"/>
          <p:cNvSpPr txBox="1"/>
          <p:nvPr/>
        </p:nvSpPr>
        <p:spPr>
          <a:xfrm>
            <a:off x="1552377" y="4749453"/>
            <a:ext cx="1353842" cy="1327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30000"/>
              </a:lnSpc>
              <a:defRPr sz="600">
                <a:solidFill>
                  <a:srgbClr val="FFFFFF">
                    <a:alpha val="60000"/>
                  </a:srgbClr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College athletics ecosystem access</a:t>
            </a:r>
          </a:p>
        </p:txBody>
      </p:sp>
      <p:sp>
        <p:nvSpPr>
          <p:cNvPr id="437" name="Shape 16"/>
          <p:cNvSpPr/>
          <p:nvPr/>
        </p:nvSpPr>
        <p:spPr>
          <a:xfrm>
            <a:off x="857250" y="5057130"/>
            <a:ext cx="3213100" cy="444502"/>
          </a:xfrm>
          <a:prstGeom prst="roundRect">
            <a:avLst>
              <a:gd name="adj" fmla="val 17143"/>
            </a:avLst>
          </a:prstGeom>
          <a:solidFill>
            <a:srgbClr val="FFFFFF">
              <a:alpha val="4000"/>
            </a:srgbClr>
          </a:solidFill>
          <a:ln w="6350">
            <a:solidFill>
              <a:srgbClr val="FFFFFF">
                <a:alpha val="10000"/>
              </a:srgbClr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38" name="Shape 17"/>
          <p:cNvSpPr/>
          <p:nvPr/>
        </p:nvSpPr>
        <p:spPr>
          <a:xfrm>
            <a:off x="952500" y="5139680"/>
            <a:ext cx="279400" cy="279403"/>
          </a:xfrm>
          <a:prstGeom prst="ellipse">
            <a:avLst/>
          </a:prstGeom>
          <a:solidFill>
            <a:srgbClr val="1F4E8E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39" name="Text 18"/>
          <p:cNvSpPr txBox="1"/>
          <p:nvPr/>
        </p:nvSpPr>
        <p:spPr>
          <a:xfrm>
            <a:off x="927100" y="5139680"/>
            <a:ext cx="330200" cy="3048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100000" lnSpcReduction="0"/>
          </a:bodyPr>
          <a:lstStyle>
            <a:lvl1pPr algn="ctr">
              <a:lnSpc>
                <a:spcPct val="155000"/>
              </a:lnSpc>
              <a:defRPr b="1" sz="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NSF</a:t>
            </a:r>
          </a:p>
        </p:txBody>
      </p:sp>
      <p:sp>
        <p:nvSpPr>
          <p:cNvPr id="440" name="Text 19"/>
          <p:cNvSpPr txBox="1"/>
          <p:nvPr/>
        </p:nvSpPr>
        <p:spPr>
          <a:xfrm>
            <a:off x="1320800" y="5225703"/>
            <a:ext cx="1037234" cy="1327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30000"/>
              </a:lnSpc>
              <a:defRPr sz="600">
                <a:solidFill>
                  <a:srgbClr val="FFFFFF">
                    <a:alpha val="60000"/>
                  </a:srgbClr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Scientific research network</a:t>
            </a:r>
          </a:p>
        </p:txBody>
      </p:sp>
      <p:sp>
        <p:nvSpPr>
          <p:cNvPr id="441" name="Shape 20"/>
          <p:cNvSpPr/>
          <p:nvPr/>
        </p:nvSpPr>
        <p:spPr>
          <a:xfrm>
            <a:off x="4330700" y="2103683"/>
            <a:ext cx="3530600" cy="1113584"/>
          </a:xfrm>
          <a:prstGeom prst="roundRect">
            <a:avLst>
              <a:gd name="adj" fmla="val 15967"/>
            </a:avLst>
          </a:prstGeom>
          <a:solidFill>
            <a:srgbClr val="FFFFFF">
              <a:alpha val="4000"/>
            </a:srgbClr>
          </a:solidFill>
          <a:ln w="6350">
            <a:solidFill>
              <a:srgbClr val="FFFFFF">
                <a:alpha val="10000"/>
              </a:srgbClr>
            </a:solidFill>
          </a:ln>
          <a:effectLst>
            <a:outerShdw sx="100000" sy="100000" kx="0" ky="0" algn="b" rotWithShape="0" blurRad="571500" dist="285750" dir="5400000">
              <a:srgbClr val="3B82F6">
                <a:alpha val="10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42" name="Text 21"/>
          <p:cNvSpPr txBox="1"/>
          <p:nvPr/>
        </p:nvSpPr>
        <p:spPr>
          <a:xfrm>
            <a:off x="4476750" y="2224333"/>
            <a:ext cx="3335655" cy="173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55000"/>
              </a:lnSpc>
              <a:defRPr b="1" spc="200" sz="700">
                <a:solidFill>
                  <a:srgbClr val="3B82F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HARDWARE</a:t>
            </a:r>
          </a:p>
        </p:txBody>
      </p:sp>
      <p:sp>
        <p:nvSpPr>
          <p:cNvPr id="443" name="Text 22"/>
          <p:cNvSpPr txBox="1"/>
          <p:nvPr/>
        </p:nvSpPr>
        <p:spPr>
          <a:xfrm>
            <a:off x="4476750" y="2511673"/>
            <a:ext cx="3335655" cy="3994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55000"/>
              </a:lnSpc>
              <a:defRPr b="1" spc="-100" sz="19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POLAR</a:t>
            </a:r>
          </a:p>
        </p:txBody>
      </p:sp>
      <p:sp>
        <p:nvSpPr>
          <p:cNvPr id="444" name="Text 23"/>
          <p:cNvSpPr txBox="1"/>
          <p:nvPr/>
        </p:nvSpPr>
        <p:spPr>
          <a:xfrm>
            <a:off x="4476750" y="2987276"/>
            <a:ext cx="3335655" cy="1498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>
              <a:lnSpc>
                <a:spcPct val="140000"/>
              </a:lnSpc>
              <a:defRPr b="1" sz="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Wearable hardware partner </a:t>
            </a:r>
            <a:r>
              <a:rPr b="0">
                <a:solidFill>
                  <a:srgbClr val="FFFFFF">
                    <a:alpha val="64999"/>
                  </a:srgbClr>
                </a:solidFill>
              </a:rPr>
              <a:t>for biometric and recovery signals.</a:t>
            </a:r>
          </a:p>
        </p:txBody>
      </p:sp>
      <p:sp>
        <p:nvSpPr>
          <p:cNvPr id="445" name="Shape 24"/>
          <p:cNvSpPr/>
          <p:nvPr/>
        </p:nvSpPr>
        <p:spPr>
          <a:xfrm>
            <a:off x="7962900" y="2103683"/>
            <a:ext cx="3530600" cy="1113584"/>
          </a:xfrm>
          <a:prstGeom prst="roundRect">
            <a:avLst>
              <a:gd name="adj" fmla="val 15967"/>
            </a:avLst>
          </a:prstGeom>
          <a:solidFill>
            <a:srgbClr val="FFFFFF">
              <a:alpha val="4000"/>
            </a:srgbClr>
          </a:solidFill>
          <a:ln w="6350">
            <a:solidFill>
              <a:srgbClr val="FFFFFF">
                <a:alpha val="10000"/>
              </a:srgbClr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46" name="Text 25"/>
          <p:cNvSpPr txBox="1"/>
          <p:nvPr/>
        </p:nvSpPr>
        <p:spPr>
          <a:xfrm>
            <a:off x="8108950" y="2224333"/>
            <a:ext cx="3335655" cy="173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55000"/>
              </a:lnSpc>
              <a:defRPr b="1" spc="200" sz="700">
                <a:solidFill>
                  <a:srgbClr val="FFFFFF">
                    <a:alpha val="85000"/>
                  </a:srgbClr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LEGAL COUNSEL</a:t>
            </a:r>
          </a:p>
        </p:txBody>
      </p:sp>
      <p:sp>
        <p:nvSpPr>
          <p:cNvPr id="447" name="Text 26"/>
          <p:cNvSpPr txBox="1"/>
          <p:nvPr/>
        </p:nvSpPr>
        <p:spPr>
          <a:xfrm>
            <a:off x="8108950" y="2511673"/>
            <a:ext cx="3335655" cy="4387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55000"/>
              </a:lnSpc>
              <a:defRPr b="1" sz="21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COOLEY</a:t>
            </a:r>
          </a:p>
        </p:txBody>
      </p:sp>
      <p:sp>
        <p:nvSpPr>
          <p:cNvPr id="448" name="Text 27"/>
          <p:cNvSpPr txBox="1"/>
          <p:nvPr/>
        </p:nvSpPr>
        <p:spPr>
          <a:xfrm>
            <a:off x="8108950" y="2975817"/>
            <a:ext cx="3335655" cy="1533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55000"/>
              </a:lnSpc>
              <a:defRPr b="1" spc="100" sz="600">
                <a:solidFill>
                  <a:srgbClr val="FFFFFF">
                    <a:alpha val="50000"/>
                  </a:srgbClr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LLP · EST. 1920</a:t>
            </a:r>
          </a:p>
        </p:txBody>
      </p:sp>
      <p:sp>
        <p:nvSpPr>
          <p:cNvPr id="449" name="Shape 28"/>
          <p:cNvSpPr/>
          <p:nvPr/>
        </p:nvSpPr>
        <p:spPr>
          <a:xfrm>
            <a:off x="4330700" y="3318867"/>
            <a:ext cx="3530600" cy="1113633"/>
          </a:xfrm>
          <a:prstGeom prst="roundRect">
            <a:avLst>
              <a:gd name="adj" fmla="val 15966"/>
            </a:avLst>
          </a:prstGeom>
          <a:solidFill>
            <a:srgbClr val="FFFFFF">
              <a:alpha val="4000"/>
            </a:srgbClr>
          </a:solidFill>
          <a:ln w="6350">
            <a:solidFill>
              <a:srgbClr val="FFFFFF">
                <a:alpha val="10000"/>
              </a:srgbClr>
            </a:solidFill>
          </a:ln>
          <a:effectLst>
            <a:outerShdw sx="100000" sy="100000" kx="0" ky="0" algn="b" rotWithShape="0" blurRad="571500" dist="285750" dir="5400000">
              <a:srgbClr val="3B82F6">
                <a:alpha val="10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50" name="Text 29"/>
          <p:cNvSpPr txBox="1"/>
          <p:nvPr/>
        </p:nvSpPr>
        <p:spPr>
          <a:xfrm>
            <a:off x="4476750" y="3439517"/>
            <a:ext cx="3335655" cy="173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55000"/>
              </a:lnSpc>
              <a:defRPr b="1" spc="200" sz="700">
                <a:solidFill>
                  <a:srgbClr val="3B82F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CONFERENCE</a:t>
            </a:r>
          </a:p>
        </p:txBody>
      </p:sp>
      <p:sp>
        <p:nvSpPr>
          <p:cNvPr id="451" name="Text 30"/>
          <p:cNvSpPr txBox="1"/>
          <p:nvPr/>
        </p:nvSpPr>
        <p:spPr>
          <a:xfrm>
            <a:off x="4476750" y="3726855"/>
            <a:ext cx="3335655" cy="4978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55000"/>
              </a:lnSpc>
              <a:defRPr b="1" i="1" sz="24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ACC</a:t>
            </a:r>
          </a:p>
        </p:txBody>
      </p:sp>
      <p:sp>
        <p:nvSpPr>
          <p:cNvPr id="452" name="Text 31"/>
          <p:cNvSpPr txBox="1"/>
          <p:nvPr/>
        </p:nvSpPr>
        <p:spPr>
          <a:xfrm>
            <a:off x="4476750" y="4250085"/>
            <a:ext cx="3335655" cy="1533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55000"/>
              </a:lnSpc>
              <a:defRPr b="1" spc="100" sz="600">
                <a:solidFill>
                  <a:srgbClr val="FFFFFF">
                    <a:alpha val="50000"/>
                  </a:srgbClr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ATLANTIC COAST CONFERENCE</a:t>
            </a:r>
          </a:p>
        </p:txBody>
      </p:sp>
      <p:sp>
        <p:nvSpPr>
          <p:cNvPr id="453" name="Text 32"/>
          <p:cNvSpPr txBox="1"/>
          <p:nvPr/>
        </p:nvSpPr>
        <p:spPr>
          <a:xfrm>
            <a:off x="4476750" y="4428826"/>
            <a:ext cx="3335655" cy="1498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>
              <a:lnSpc>
                <a:spcPct val="140000"/>
              </a:lnSpc>
              <a:defRPr b="1" sz="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Conference-level marketing </a:t>
            </a:r>
            <a:r>
              <a:rPr b="0">
                <a:solidFill>
                  <a:srgbClr val="FFFFFF">
                    <a:alpha val="64999"/>
                  </a:srgbClr>
                </a:solidFill>
              </a:rPr>
              <a:t>and institutional access.</a:t>
            </a:r>
          </a:p>
        </p:txBody>
      </p:sp>
      <p:sp>
        <p:nvSpPr>
          <p:cNvPr id="454" name="Shape 33"/>
          <p:cNvSpPr/>
          <p:nvPr/>
        </p:nvSpPr>
        <p:spPr>
          <a:xfrm>
            <a:off x="7962900" y="3318867"/>
            <a:ext cx="3530600" cy="1113633"/>
          </a:xfrm>
          <a:prstGeom prst="roundRect">
            <a:avLst>
              <a:gd name="adj" fmla="val 15966"/>
            </a:avLst>
          </a:prstGeom>
          <a:solidFill>
            <a:srgbClr val="FFFFFF">
              <a:alpha val="4000"/>
            </a:srgbClr>
          </a:solidFill>
          <a:ln w="6350">
            <a:solidFill>
              <a:srgbClr val="FFFFFF">
                <a:alpha val="10000"/>
              </a:srgbClr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55" name="Text 34"/>
          <p:cNvSpPr txBox="1"/>
          <p:nvPr/>
        </p:nvSpPr>
        <p:spPr>
          <a:xfrm>
            <a:off x="8108950" y="3439517"/>
            <a:ext cx="3335655" cy="173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55000"/>
              </a:lnSpc>
              <a:defRPr b="1" spc="200" sz="700">
                <a:solidFill>
                  <a:srgbClr val="FFAD3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VENTURE NETWORK</a:t>
            </a:r>
          </a:p>
        </p:txBody>
      </p:sp>
      <p:sp>
        <p:nvSpPr>
          <p:cNvPr id="456" name="Text 35"/>
          <p:cNvSpPr txBox="1"/>
          <p:nvPr/>
        </p:nvSpPr>
        <p:spPr>
          <a:xfrm>
            <a:off x="8108950" y="3726855"/>
            <a:ext cx="3335655" cy="4978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55000"/>
              </a:lnSpc>
              <a:defRPr b="1" spc="-100" sz="2400">
                <a:solidFill>
                  <a:srgbClr val="FFAD3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AWS</a:t>
            </a:r>
          </a:p>
        </p:txBody>
      </p:sp>
      <p:sp>
        <p:nvSpPr>
          <p:cNvPr id="457" name="Text 36"/>
          <p:cNvSpPr txBox="1"/>
          <p:nvPr/>
        </p:nvSpPr>
        <p:spPr>
          <a:xfrm>
            <a:off x="8108950" y="4250085"/>
            <a:ext cx="3335655" cy="1533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55000"/>
              </a:lnSpc>
              <a:defRPr b="1" spc="100" sz="600">
                <a:solidFill>
                  <a:srgbClr val="FFFFFF">
                    <a:alpha val="50000"/>
                  </a:srgbClr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STARTUPS</a:t>
            </a:r>
          </a:p>
        </p:txBody>
      </p:sp>
      <p:sp>
        <p:nvSpPr>
          <p:cNvPr id="458" name="Text 37"/>
          <p:cNvSpPr txBox="1"/>
          <p:nvPr/>
        </p:nvSpPr>
        <p:spPr>
          <a:xfrm>
            <a:off x="8108950" y="4428826"/>
            <a:ext cx="3335655" cy="1498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>
              <a:lnSpc>
                <a:spcPct val="140000"/>
              </a:lnSpc>
              <a:defRPr b="1" sz="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Technical backing </a:t>
            </a:r>
            <a:r>
              <a:rPr b="0">
                <a:solidFill>
                  <a:srgbClr val="FFFFFF">
                    <a:alpha val="64999"/>
                  </a:srgbClr>
                </a:solidFill>
              </a:rPr>
              <a:t>&amp; credits.</a:t>
            </a:r>
          </a:p>
        </p:txBody>
      </p:sp>
      <p:sp>
        <p:nvSpPr>
          <p:cNvPr id="459" name="Shape 38"/>
          <p:cNvSpPr/>
          <p:nvPr/>
        </p:nvSpPr>
        <p:spPr>
          <a:xfrm>
            <a:off x="4330700" y="4534098"/>
            <a:ext cx="3530600" cy="1113583"/>
          </a:xfrm>
          <a:prstGeom prst="roundRect">
            <a:avLst>
              <a:gd name="adj" fmla="val 15967"/>
            </a:avLst>
          </a:prstGeom>
          <a:solidFill>
            <a:srgbClr val="FFFFFF">
              <a:alpha val="4000"/>
            </a:srgbClr>
          </a:solidFill>
          <a:ln w="6350">
            <a:solidFill>
              <a:srgbClr val="FFFFFF">
                <a:alpha val="10000"/>
              </a:srgbClr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60" name="Text 39"/>
          <p:cNvSpPr txBox="1"/>
          <p:nvPr/>
        </p:nvSpPr>
        <p:spPr>
          <a:xfrm>
            <a:off x="4476750" y="4654748"/>
            <a:ext cx="3335655" cy="173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55000"/>
              </a:lnSpc>
              <a:defRPr b="1" spc="200" sz="700">
                <a:solidFill>
                  <a:srgbClr val="32C997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VENTURE NETWORK</a:t>
            </a:r>
          </a:p>
        </p:txBody>
      </p:sp>
      <p:pic>
        <p:nvPicPr>
          <p:cNvPr id="461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476750" y="4969073"/>
            <a:ext cx="241300" cy="241302"/>
          </a:xfrm>
          <a:prstGeom prst="rect">
            <a:avLst/>
          </a:prstGeom>
          <a:ln w="12700">
            <a:miter lim="400000"/>
          </a:ln>
        </p:spPr>
      </p:pic>
      <p:sp>
        <p:nvSpPr>
          <p:cNvPr id="462" name="Text 40"/>
          <p:cNvSpPr txBox="1"/>
          <p:nvPr/>
        </p:nvSpPr>
        <p:spPr>
          <a:xfrm>
            <a:off x="4781550" y="4942085"/>
            <a:ext cx="954930" cy="3206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55000"/>
              </a:lnSpc>
              <a:defRPr b="1" sz="15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techstars</a:t>
            </a:r>
          </a:p>
        </p:txBody>
      </p:sp>
      <p:sp>
        <p:nvSpPr>
          <p:cNvPr id="463" name="Text 41"/>
          <p:cNvSpPr txBox="1"/>
          <p:nvPr/>
        </p:nvSpPr>
        <p:spPr>
          <a:xfrm>
            <a:off x="4476750" y="5402610"/>
            <a:ext cx="3335655" cy="1498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>
              <a:lnSpc>
                <a:spcPct val="140000"/>
              </a:lnSpc>
              <a:defRPr b="1" sz="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Founder network </a:t>
            </a:r>
            <a:r>
              <a:rPr b="0">
                <a:solidFill>
                  <a:srgbClr val="FFFFFF">
                    <a:alpha val="64999"/>
                  </a:srgbClr>
                </a:solidFill>
              </a:rPr>
              <a:t>and support.</a:t>
            </a:r>
          </a:p>
        </p:txBody>
      </p:sp>
      <p:sp>
        <p:nvSpPr>
          <p:cNvPr id="464" name="Shape 42"/>
          <p:cNvSpPr/>
          <p:nvPr/>
        </p:nvSpPr>
        <p:spPr>
          <a:xfrm>
            <a:off x="7962900" y="4534098"/>
            <a:ext cx="3530600" cy="1113583"/>
          </a:xfrm>
          <a:prstGeom prst="roundRect">
            <a:avLst>
              <a:gd name="adj" fmla="val 15967"/>
            </a:avLst>
          </a:prstGeom>
          <a:solidFill>
            <a:srgbClr val="FFFFFF">
              <a:alpha val="4000"/>
            </a:srgbClr>
          </a:solidFill>
          <a:ln w="6350">
            <a:solidFill>
              <a:srgbClr val="FFFFFF">
                <a:alpha val="10000"/>
              </a:srgbClr>
            </a:solidFill>
          </a:ln>
          <a:effectLst>
            <a:outerShdw sx="100000" sy="100000" kx="0" ky="0" algn="b" rotWithShape="0" blurRad="571500" dist="285750" dir="5400000">
              <a:srgbClr val="E0FE10">
                <a:alpha val="10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65" name="Text 43"/>
          <p:cNvSpPr txBox="1"/>
          <p:nvPr/>
        </p:nvSpPr>
        <p:spPr>
          <a:xfrm>
            <a:off x="8108950" y="4654748"/>
            <a:ext cx="3335655" cy="1631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55000"/>
              </a:lnSpc>
              <a:defRPr b="1" spc="200" sz="700">
                <a:solidFill>
                  <a:srgbClr val="E0FE1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LEAD INVESTOR</a:t>
            </a:r>
          </a:p>
        </p:txBody>
      </p:sp>
      <p:sp>
        <p:nvSpPr>
          <p:cNvPr id="466" name="Text 44"/>
          <p:cNvSpPr txBox="1"/>
          <p:nvPr/>
        </p:nvSpPr>
        <p:spPr>
          <a:xfrm>
            <a:off x="8108950" y="4932214"/>
            <a:ext cx="3335655" cy="3994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>
              <a:lnSpc>
                <a:spcPct val="155000"/>
              </a:lnSpc>
              <a:defRPr b="1" sz="19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LAUNCH</a:t>
            </a:r>
            <a:r>
              <a:rPr>
                <a:solidFill>
                  <a:srgbClr val="E0FE10"/>
                </a:solidFill>
              </a:rPr>
              <a:t>▲</a:t>
            </a:r>
          </a:p>
        </p:txBody>
      </p:sp>
      <p:sp>
        <p:nvSpPr>
          <p:cNvPr id="467" name="Text 45"/>
          <p:cNvSpPr txBox="1"/>
          <p:nvPr/>
        </p:nvSpPr>
        <p:spPr>
          <a:xfrm>
            <a:off x="8108950" y="5357019"/>
            <a:ext cx="3335655" cy="1533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55000"/>
              </a:lnSpc>
              <a:defRPr b="1" spc="100" sz="600">
                <a:solidFill>
                  <a:srgbClr val="FFFFFF">
                    <a:alpha val="50000"/>
                  </a:srgbClr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FOUNDER UNIVERSITY</a:t>
            </a:r>
          </a:p>
        </p:txBody>
      </p:sp>
      <p:sp>
        <p:nvSpPr>
          <p:cNvPr id="468" name="Text 46"/>
          <p:cNvSpPr txBox="1"/>
          <p:nvPr/>
        </p:nvSpPr>
        <p:spPr>
          <a:xfrm>
            <a:off x="8108950" y="5535760"/>
            <a:ext cx="3335655" cy="1498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>
              <a:lnSpc>
                <a:spcPct val="140000"/>
              </a:lnSpc>
              <a:defRPr b="1" sz="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Investor backing </a:t>
            </a:r>
            <a:r>
              <a:rPr b="0">
                <a:solidFill>
                  <a:srgbClr val="FFFFFF">
                    <a:alpha val="64999"/>
                  </a:srgbClr>
                </a:solidFill>
              </a:rPr>
              <a:t>and Founder University network.</a:t>
            </a:r>
          </a:p>
        </p:txBody>
      </p:sp>
      <p:sp>
        <p:nvSpPr>
          <p:cNvPr id="469" name="Shape 47"/>
          <p:cNvSpPr/>
          <p:nvPr/>
        </p:nvSpPr>
        <p:spPr>
          <a:xfrm>
            <a:off x="698500" y="5800130"/>
            <a:ext cx="10795000" cy="486372"/>
          </a:xfrm>
          <a:prstGeom prst="roundRect">
            <a:avLst>
              <a:gd name="adj" fmla="val 18278"/>
            </a:avLst>
          </a:prstGeom>
          <a:solidFill>
            <a:srgbClr val="E0FE10">
              <a:alpha val="6000"/>
            </a:srgbClr>
          </a:solidFill>
          <a:ln w="6350">
            <a:solidFill>
              <a:srgbClr val="E0FE10">
                <a:alpha val="25000"/>
              </a:srgbClr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70" name="Text 48"/>
          <p:cNvSpPr txBox="1"/>
          <p:nvPr/>
        </p:nvSpPr>
        <p:spPr>
          <a:xfrm>
            <a:off x="882650" y="5935067"/>
            <a:ext cx="190500" cy="2418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758951">
              <a:lnSpc>
                <a:spcPct val="155000"/>
              </a:lnSpc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⚡</a:t>
            </a:r>
          </a:p>
        </p:txBody>
      </p:sp>
      <p:sp>
        <p:nvSpPr>
          <p:cNvPr id="471" name="Text 49"/>
          <p:cNvSpPr txBox="1"/>
          <p:nvPr/>
        </p:nvSpPr>
        <p:spPr>
          <a:xfrm>
            <a:off x="1136649" y="5933480"/>
            <a:ext cx="8050591" cy="245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>
              <a:lnSpc>
                <a:spcPct val="155000"/>
              </a:lnSpc>
              <a:defRPr b="1" sz="11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Clinical, hardware, legal, capital, and institutional infrastructure. </a:t>
            </a:r>
            <a:r>
              <a:rPr b="0">
                <a:solidFill>
                  <a:srgbClr val="FFFFFF">
                    <a:alpha val="64999"/>
                  </a:srgbClr>
                </a:solidFill>
              </a:rPr>
              <a:t>The support around us is real — and already in motion.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A0B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Shape 0"/>
          <p:cNvSpPr/>
          <p:nvPr/>
        </p:nvSpPr>
        <p:spPr>
          <a:xfrm>
            <a:off x="822960" y="566927"/>
            <a:ext cx="1828802" cy="384050"/>
          </a:xfrm>
          <a:prstGeom prst="roundRect">
            <a:avLst>
              <a:gd name="adj" fmla="val 50000"/>
            </a:avLst>
          </a:prstGeom>
          <a:solidFill>
            <a:srgbClr val="141619"/>
          </a:solidFill>
          <a:ln w="12700">
            <a:solidFill>
              <a:srgbClr val="2A2E33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74" name="Shape 1"/>
          <p:cNvSpPr/>
          <p:nvPr/>
        </p:nvSpPr>
        <p:spPr>
          <a:xfrm>
            <a:off x="1005838" y="722376"/>
            <a:ext cx="73155" cy="73155"/>
          </a:xfrm>
          <a:prstGeom prst="ellipse">
            <a:avLst/>
          </a:prstGeom>
          <a:solidFill>
            <a:srgbClr val="C8FF00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75" name="Text 2"/>
          <p:cNvSpPr txBox="1"/>
          <p:nvPr/>
        </p:nvSpPr>
        <p:spPr>
          <a:xfrm>
            <a:off x="1152144" y="691178"/>
            <a:ext cx="1463042" cy="1355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200" sz="1000">
                <a:solidFill>
                  <a:srgbClr val="F4F6F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THE ASK</a:t>
            </a:r>
          </a:p>
        </p:txBody>
      </p:sp>
      <p:sp>
        <p:nvSpPr>
          <p:cNvPr id="476" name="Text 3"/>
          <p:cNvSpPr txBox="1"/>
          <p:nvPr/>
        </p:nvSpPr>
        <p:spPr>
          <a:xfrm>
            <a:off x="822960" y="1599865"/>
            <a:ext cx="10515601" cy="5493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ts val="4400"/>
              </a:lnSpc>
              <a:defRPr b="1" sz="3800">
                <a:solidFill>
                  <a:srgbClr val="F4F6F2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Raising </a:t>
            </a:r>
            <a:r>
              <a:rPr>
                <a:solidFill>
                  <a:srgbClr val="C8FF00"/>
                </a:solidFill>
              </a:rPr>
              <a:t>$1.4M</a:t>
            </a:r>
            <a:r>
              <a:t> to own the mandate.</a:t>
            </a:r>
          </a:p>
        </p:txBody>
      </p:sp>
      <p:sp>
        <p:nvSpPr>
          <p:cNvPr id="477" name="Text 4"/>
          <p:cNvSpPr txBox="1"/>
          <p:nvPr/>
        </p:nvSpPr>
        <p:spPr>
          <a:xfrm>
            <a:off x="841247" y="2220742"/>
            <a:ext cx="10058401" cy="2219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600">
                <a:solidFill>
                  <a:srgbClr val="8A9099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Pre-seed on a $10M pre-money. Capital funds the team and product velocity to convert the visible beachhead.</a:t>
            </a:r>
          </a:p>
        </p:txBody>
      </p:sp>
      <p:sp>
        <p:nvSpPr>
          <p:cNvPr id="478" name="Shape 5"/>
          <p:cNvSpPr/>
          <p:nvPr/>
        </p:nvSpPr>
        <p:spPr>
          <a:xfrm>
            <a:off x="822960" y="2788920"/>
            <a:ext cx="4206241" cy="3246122"/>
          </a:xfrm>
          <a:prstGeom prst="roundRect">
            <a:avLst>
              <a:gd name="adj" fmla="val 3380"/>
            </a:avLst>
          </a:prstGeom>
          <a:solidFill>
            <a:srgbClr val="141619"/>
          </a:solidFill>
          <a:ln w="12700">
            <a:solidFill>
              <a:srgbClr val="C8FF00"/>
            </a:solidFill>
          </a:ln>
          <a:effectLst>
            <a:outerShdw sx="100000" sy="100000" kx="0" ky="0" algn="b" rotWithShape="0" blurRad="177800" dist="50800" dir="5400000">
              <a:srgbClr val="000000">
                <a:alpha val="45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79" name="Text 6"/>
          <p:cNvSpPr txBox="1"/>
          <p:nvPr/>
        </p:nvSpPr>
        <p:spPr>
          <a:xfrm>
            <a:off x="1143000" y="3126484"/>
            <a:ext cx="3657600" cy="1478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200" sz="1100">
                <a:solidFill>
                  <a:srgbClr val="C8FF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CURRENT RAISE</a:t>
            </a:r>
          </a:p>
        </p:txBody>
      </p:sp>
      <p:sp>
        <p:nvSpPr>
          <p:cNvPr id="480" name="Text 7"/>
          <p:cNvSpPr txBox="1"/>
          <p:nvPr/>
        </p:nvSpPr>
        <p:spPr>
          <a:xfrm>
            <a:off x="1097279" y="3414793"/>
            <a:ext cx="3657603" cy="8513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6000">
                <a:solidFill>
                  <a:srgbClr val="F4F6F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$1.4M</a:t>
            </a:r>
          </a:p>
        </p:txBody>
      </p:sp>
      <p:sp>
        <p:nvSpPr>
          <p:cNvPr id="481" name="Text 8"/>
          <p:cNvSpPr txBox="1"/>
          <p:nvPr/>
        </p:nvSpPr>
        <p:spPr>
          <a:xfrm>
            <a:off x="1143000" y="4512886"/>
            <a:ext cx="3657600" cy="2096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500">
                <a:solidFill>
                  <a:srgbClr val="C3C8CE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$10M pre-money</a:t>
            </a:r>
          </a:p>
        </p:txBody>
      </p:sp>
      <p:sp>
        <p:nvSpPr>
          <p:cNvPr id="482" name="Text 9"/>
          <p:cNvSpPr txBox="1"/>
          <p:nvPr/>
        </p:nvSpPr>
        <p:spPr>
          <a:xfrm>
            <a:off x="1143000" y="5217445"/>
            <a:ext cx="3657600" cy="4464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800"/>
              </a:lnSpc>
              <a:defRPr i="1" sz="1300">
                <a:solidFill>
                  <a:srgbClr val="8A9099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Ladder: $1.4M → $5M → $12M → $25M, pre-seed through Series B.</a:t>
            </a:r>
          </a:p>
        </p:txBody>
      </p:sp>
      <p:sp>
        <p:nvSpPr>
          <p:cNvPr id="483" name="Text 10"/>
          <p:cNvSpPr txBox="1"/>
          <p:nvPr/>
        </p:nvSpPr>
        <p:spPr>
          <a:xfrm>
            <a:off x="5486400" y="2852165"/>
            <a:ext cx="4572000" cy="1478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200" sz="1100">
                <a:solidFill>
                  <a:srgbClr val="C8FF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USE OF FUNDS</a:t>
            </a:r>
          </a:p>
        </p:txBody>
      </p:sp>
      <p:sp>
        <p:nvSpPr>
          <p:cNvPr id="484" name="Shape 11"/>
          <p:cNvSpPr/>
          <p:nvPr/>
        </p:nvSpPr>
        <p:spPr>
          <a:xfrm>
            <a:off x="5486399" y="3255264"/>
            <a:ext cx="146308" cy="146307"/>
          </a:xfrm>
          <a:prstGeom prst="ellipse">
            <a:avLst/>
          </a:prstGeom>
          <a:solidFill>
            <a:srgbClr val="5B9D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85" name="Text 12"/>
          <p:cNvSpPr txBox="1"/>
          <p:nvPr/>
        </p:nvSpPr>
        <p:spPr>
          <a:xfrm>
            <a:off x="5760719" y="3248012"/>
            <a:ext cx="4114803" cy="1973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400">
                <a:solidFill>
                  <a:srgbClr val="F4F6F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Engineering</a:t>
            </a:r>
          </a:p>
        </p:txBody>
      </p:sp>
      <p:sp>
        <p:nvSpPr>
          <p:cNvPr id="486" name="Text 13"/>
          <p:cNvSpPr txBox="1"/>
          <p:nvPr/>
        </p:nvSpPr>
        <p:spPr>
          <a:xfrm>
            <a:off x="9692640" y="3235726"/>
            <a:ext cx="1691641" cy="2219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b="1" sz="1600">
                <a:solidFill>
                  <a:srgbClr val="5B9D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$450K</a:t>
            </a:r>
          </a:p>
        </p:txBody>
      </p:sp>
      <p:sp>
        <p:nvSpPr>
          <p:cNvPr id="487" name="Shape 14"/>
          <p:cNvSpPr/>
          <p:nvPr/>
        </p:nvSpPr>
        <p:spPr>
          <a:xfrm>
            <a:off x="5486399" y="3730752"/>
            <a:ext cx="146308" cy="146307"/>
          </a:xfrm>
          <a:prstGeom prst="ellipse">
            <a:avLst/>
          </a:prstGeom>
          <a:solidFill>
            <a:srgbClr val="A98B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88" name="Text 15"/>
          <p:cNvSpPr txBox="1"/>
          <p:nvPr/>
        </p:nvSpPr>
        <p:spPr>
          <a:xfrm>
            <a:off x="5760719" y="3723499"/>
            <a:ext cx="4114803" cy="1973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400">
                <a:solidFill>
                  <a:srgbClr val="F4F6F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Partnerships</a:t>
            </a:r>
          </a:p>
        </p:txBody>
      </p:sp>
      <p:sp>
        <p:nvSpPr>
          <p:cNvPr id="489" name="Text 16"/>
          <p:cNvSpPr txBox="1"/>
          <p:nvPr/>
        </p:nvSpPr>
        <p:spPr>
          <a:xfrm>
            <a:off x="9692640" y="3711214"/>
            <a:ext cx="1691641" cy="2219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b="1" sz="1600">
                <a:solidFill>
                  <a:srgbClr val="A98B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$150K</a:t>
            </a:r>
          </a:p>
        </p:txBody>
      </p:sp>
      <p:sp>
        <p:nvSpPr>
          <p:cNvPr id="490" name="Shape 17"/>
          <p:cNvSpPr/>
          <p:nvPr/>
        </p:nvSpPr>
        <p:spPr>
          <a:xfrm>
            <a:off x="5486399" y="4206240"/>
            <a:ext cx="146308" cy="146307"/>
          </a:xfrm>
          <a:prstGeom prst="ellipse">
            <a:avLst/>
          </a:prstGeom>
          <a:solidFill>
            <a:srgbClr val="FF6FB5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91" name="Text 18"/>
          <p:cNvSpPr txBox="1"/>
          <p:nvPr/>
        </p:nvSpPr>
        <p:spPr>
          <a:xfrm>
            <a:off x="5760719" y="4198987"/>
            <a:ext cx="4114803" cy="1973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400">
                <a:solidFill>
                  <a:srgbClr val="F4F6F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Athlete performance science</a:t>
            </a:r>
          </a:p>
        </p:txBody>
      </p:sp>
      <p:sp>
        <p:nvSpPr>
          <p:cNvPr id="492" name="Text 19"/>
          <p:cNvSpPr txBox="1"/>
          <p:nvPr/>
        </p:nvSpPr>
        <p:spPr>
          <a:xfrm>
            <a:off x="9692640" y="4186702"/>
            <a:ext cx="1691641" cy="2219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b="1" sz="1600">
                <a:solidFill>
                  <a:srgbClr val="FF6FB5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$150K</a:t>
            </a:r>
          </a:p>
        </p:txBody>
      </p:sp>
      <p:sp>
        <p:nvSpPr>
          <p:cNvPr id="493" name="Shape 20"/>
          <p:cNvSpPr/>
          <p:nvPr/>
        </p:nvSpPr>
        <p:spPr>
          <a:xfrm>
            <a:off x="5486399" y="4681728"/>
            <a:ext cx="146308" cy="146307"/>
          </a:xfrm>
          <a:prstGeom prst="ellipse">
            <a:avLst/>
          </a:prstGeom>
          <a:solidFill>
            <a:srgbClr val="C8FF00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94" name="Text 21"/>
          <p:cNvSpPr txBox="1"/>
          <p:nvPr/>
        </p:nvSpPr>
        <p:spPr>
          <a:xfrm>
            <a:off x="5760719" y="4674475"/>
            <a:ext cx="4114803" cy="1973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400">
                <a:solidFill>
                  <a:srgbClr val="F4F6F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Product R&amp;D</a:t>
            </a:r>
          </a:p>
        </p:txBody>
      </p:sp>
      <p:sp>
        <p:nvSpPr>
          <p:cNvPr id="495" name="Text 22"/>
          <p:cNvSpPr txBox="1"/>
          <p:nvPr/>
        </p:nvSpPr>
        <p:spPr>
          <a:xfrm>
            <a:off x="9692640" y="4662191"/>
            <a:ext cx="1691641" cy="2219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b="1" sz="1600">
                <a:solidFill>
                  <a:srgbClr val="C8FF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$100K</a:t>
            </a:r>
          </a:p>
        </p:txBody>
      </p:sp>
      <p:sp>
        <p:nvSpPr>
          <p:cNvPr id="496" name="Shape 23"/>
          <p:cNvSpPr/>
          <p:nvPr/>
        </p:nvSpPr>
        <p:spPr>
          <a:xfrm>
            <a:off x="5486399" y="5157215"/>
            <a:ext cx="146308" cy="146307"/>
          </a:xfrm>
          <a:prstGeom prst="ellipse">
            <a:avLst/>
          </a:prstGeom>
          <a:solidFill>
            <a:srgbClr val="FF9D4D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497" name="Text 24"/>
          <p:cNvSpPr txBox="1"/>
          <p:nvPr/>
        </p:nvSpPr>
        <p:spPr>
          <a:xfrm>
            <a:off x="5760719" y="5149963"/>
            <a:ext cx="4114803" cy="1973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400">
                <a:solidFill>
                  <a:srgbClr val="F4F6F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GTM and marketing</a:t>
            </a:r>
          </a:p>
        </p:txBody>
      </p:sp>
      <p:sp>
        <p:nvSpPr>
          <p:cNvPr id="498" name="Text 25"/>
          <p:cNvSpPr txBox="1"/>
          <p:nvPr/>
        </p:nvSpPr>
        <p:spPr>
          <a:xfrm>
            <a:off x="9692640" y="5137679"/>
            <a:ext cx="1691641" cy="2219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b="1" sz="1600">
                <a:solidFill>
                  <a:srgbClr val="FF9D4D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$300K</a:t>
            </a:r>
          </a:p>
        </p:txBody>
      </p:sp>
      <p:sp>
        <p:nvSpPr>
          <p:cNvPr id="499" name="Shape 26"/>
          <p:cNvSpPr/>
          <p:nvPr/>
        </p:nvSpPr>
        <p:spPr>
          <a:xfrm>
            <a:off x="5486399" y="5632703"/>
            <a:ext cx="146308" cy="146307"/>
          </a:xfrm>
          <a:prstGeom prst="ellipse">
            <a:avLst/>
          </a:prstGeom>
          <a:solidFill>
            <a:srgbClr val="8A9099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500" name="Text 27"/>
          <p:cNvSpPr txBox="1"/>
          <p:nvPr/>
        </p:nvSpPr>
        <p:spPr>
          <a:xfrm>
            <a:off x="5760719" y="5625451"/>
            <a:ext cx="4114803" cy="1973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400">
                <a:solidFill>
                  <a:srgbClr val="F4F6F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Operating runway</a:t>
            </a:r>
          </a:p>
        </p:txBody>
      </p:sp>
      <p:sp>
        <p:nvSpPr>
          <p:cNvPr id="501" name="Text 28"/>
          <p:cNvSpPr txBox="1"/>
          <p:nvPr/>
        </p:nvSpPr>
        <p:spPr>
          <a:xfrm>
            <a:off x="9692640" y="5613167"/>
            <a:ext cx="1691641" cy="2219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b="1" sz="1600">
                <a:solidFill>
                  <a:srgbClr val="8A9099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$250K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A0B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Text 0"/>
          <p:cNvSpPr txBox="1"/>
          <p:nvPr/>
        </p:nvSpPr>
        <p:spPr>
          <a:xfrm>
            <a:off x="822960" y="1816812"/>
            <a:ext cx="10515601" cy="4811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100" sz="3400">
                <a:solidFill>
                  <a:srgbClr val="F4F6F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PULSE CHECK MAKES ATHLETES</a:t>
            </a:r>
          </a:p>
        </p:txBody>
      </p:sp>
      <p:sp>
        <p:nvSpPr>
          <p:cNvPr id="504" name="Text 1"/>
          <p:cNvSpPr txBox="1"/>
          <p:nvPr/>
        </p:nvSpPr>
        <p:spPr>
          <a:xfrm>
            <a:off x="822960" y="2502612"/>
            <a:ext cx="10515601" cy="4811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b="1" spc="100" sz="3400">
                <a:solidFill>
                  <a:srgbClr val="C8FF00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HIGHER-PERFORMING</a:t>
            </a:r>
            <a:r>
              <a:rPr>
                <a:solidFill>
                  <a:srgbClr val="F4F6F2"/>
                </a:solidFill>
              </a:rPr>
              <a:t> WITHOUT</a:t>
            </a:r>
          </a:p>
        </p:txBody>
      </p:sp>
      <p:sp>
        <p:nvSpPr>
          <p:cNvPr id="505" name="Text 2"/>
          <p:cNvSpPr txBox="1"/>
          <p:nvPr/>
        </p:nvSpPr>
        <p:spPr>
          <a:xfrm>
            <a:off x="822960" y="3188412"/>
            <a:ext cx="10515601" cy="4811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b="1" spc="100" sz="3400">
                <a:solidFill>
                  <a:srgbClr val="F4F6F2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BEING </a:t>
            </a:r>
            <a:r>
              <a:rPr>
                <a:solidFill>
                  <a:srgbClr val="FF6FB5"/>
                </a:solidFill>
              </a:rPr>
              <a:t>HOLLOWED OUT.</a:t>
            </a:r>
          </a:p>
        </p:txBody>
      </p:sp>
      <p:sp>
        <p:nvSpPr>
          <p:cNvPr id="506" name="Text 3"/>
          <p:cNvSpPr txBox="1"/>
          <p:nvPr/>
        </p:nvSpPr>
        <p:spPr>
          <a:xfrm>
            <a:off x="822960" y="4150419"/>
            <a:ext cx="9601201" cy="5688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2300"/>
              </a:lnSpc>
              <a:defRPr sz="1600">
                <a:solidFill>
                  <a:srgbClr val="C3C8CE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The compliance-required platform for college athlete mental performance, with a visible path from the first school to $100M ARR.</a:t>
            </a:r>
          </a:p>
        </p:txBody>
      </p:sp>
      <p:sp>
        <p:nvSpPr>
          <p:cNvPr id="507" name="Text 4"/>
          <p:cNvSpPr txBox="1"/>
          <p:nvPr/>
        </p:nvSpPr>
        <p:spPr>
          <a:xfrm>
            <a:off x="822960" y="5125672"/>
            <a:ext cx="10515601" cy="1728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300" sz="1200">
                <a:solidFill>
                  <a:srgbClr val="8A9099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DETECT   →   TRAIN   →   ROUTE   →   MEASURE</a:t>
            </a:r>
          </a:p>
        </p:txBody>
      </p:sp>
      <p:sp>
        <p:nvSpPr>
          <p:cNvPr id="508" name="Shape 5"/>
          <p:cNvSpPr/>
          <p:nvPr/>
        </p:nvSpPr>
        <p:spPr>
          <a:xfrm>
            <a:off x="822958" y="5669279"/>
            <a:ext cx="10561324" cy="2"/>
          </a:xfrm>
          <a:prstGeom prst="line">
            <a:avLst/>
          </a:prstGeom>
          <a:ln w="12700">
            <a:solidFill>
              <a:srgbClr val="2A2E33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09" name="Text 6"/>
          <p:cNvSpPr txBox="1"/>
          <p:nvPr/>
        </p:nvSpPr>
        <p:spPr>
          <a:xfrm>
            <a:off x="822960" y="5942489"/>
            <a:ext cx="7315201" cy="1851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b="1" sz="1300">
                <a:solidFill>
                  <a:srgbClr val="F4F6F2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Tremaine Grant</a:t>
            </a:r>
            <a:r>
              <a:rPr b="0">
                <a:solidFill>
                  <a:srgbClr val="C8FF00"/>
                </a:solidFill>
              </a:rPr>
              <a:t>   tre@fitwithpulse.ai</a:t>
            </a:r>
          </a:p>
        </p:txBody>
      </p:sp>
      <p:sp>
        <p:nvSpPr>
          <p:cNvPr id="510" name="Text 7"/>
          <p:cNvSpPr txBox="1"/>
          <p:nvPr/>
        </p:nvSpPr>
        <p:spPr>
          <a:xfrm>
            <a:off x="5943600" y="5948631"/>
            <a:ext cx="5440680" cy="1728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b="1" spc="100" sz="1200">
                <a:solidFill>
                  <a:srgbClr val="FF6FB5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$1.4M PRE-SEED  ·  $10M PRE-MONEY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