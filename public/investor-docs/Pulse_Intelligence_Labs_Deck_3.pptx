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jpg"/><Relationship Id="rId4" Type="http://schemas.openxmlformats.org/officeDocument/2006/relationships/image" Target="../media/image-15-4.pn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image" Target="../media/image-15-7.jpg"/><Relationship Id="rId8" Type="http://schemas.openxmlformats.org/officeDocument/2006/relationships/image" Target="../media/image-15-8.jpg"/><Relationship Id="rId9" Type="http://schemas.openxmlformats.org/officeDocument/2006/relationships/image" Target="../media/image-15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QuickLifts-Web/26b019cd-7888-5ab3-ba1c-caeae67de894/scratchpad/assets/p01-i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65760"/>
            <a:ext cx="1572768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1704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0" b="1" spc="1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INTELLIGENCE LABS</a:t>
            </a:r>
            <a:endParaRPr lang="en-US" sz="5300" dirty="0"/>
          </a:p>
        </p:txBody>
      </p:sp>
      <p:sp>
        <p:nvSpPr>
          <p:cNvPr id="4" name="Text 1"/>
          <p:cNvSpPr/>
          <p:nvPr/>
        </p:nvSpPr>
        <p:spPr>
          <a:xfrm>
            <a:off x="804672" y="2331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PERFORMANCE COMPANY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04672" y="32461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AI systems that measure and train human performance.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 is our flagship platform for college athletics.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3383280" cy="1444752"/>
          </a:xfrm>
          <a:prstGeom prst="roundRect">
            <a:avLst>
              <a:gd name="adj" fmla="val 8228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46360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98264" y="4434840"/>
            <a:ext cx="3383280" cy="1444752"/>
          </a:xfrm>
          <a:prstGeom prst="roundRect">
            <a:avLst>
              <a:gd name="adj" fmla="val 8228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72584" y="46360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73568" y="4434840"/>
            <a:ext cx="3383280" cy="1444752"/>
          </a:xfrm>
          <a:prstGeom prst="roundRect">
            <a:avLst>
              <a:gd name="adj" fmla="val 8228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47888" y="46360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97280" y="4910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97280" y="5458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 pre-money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72584" y="4910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Tremaine Grant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672584" y="5458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150" dirty="0"/>
          </a:p>
        </p:txBody>
      </p:sp>
      <p:pic>
        <p:nvPicPr>
          <p:cNvPr id="16" name="Image 1" descr="/tmp/claude-0/-home-user-QuickLifts-Web/26b019cd-7888-5ab3-ba1c-caeae67de894/scratchpad/assets/p01-i0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892040"/>
            <a:ext cx="2212848" cy="4663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47888" y="5458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performance OS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22960" y="61996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pPr algn="ctr" indent="0" marL="0">
              <a:buNone/>
            </a:pPr>
            <a:r>
              <a:rPr lang="en-US" sz="1200" b="1" spc="400" kern="0" dirty="0">
                <a:solidFill>
                  <a:srgbClr val="555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ctr" indent="0" marL="0">
              <a:buNone/>
            </a:pPr>
            <a:r>
              <a:rPr lang="en-US" sz="1200" b="1" spc="400" kern="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pPr algn="ctr" indent="0" marL="0">
              <a:buNone/>
            </a:pPr>
            <a:r>
              <a:rPr lang="en-US" sz="1200" b="1" spc="400" kern="0" dirty="0">
                <a:solidFill>
                  <a:srgbClr val="555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ctr" indent="0" marL="0">
              <a:buNone/>
            </a:pPr>
            <a:r>
              <a:rPr lang="en-US" sz="1200" b="1" spc="400" kern="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pPr algn="ctr" indent="0" marL="0">
              <a:buNone/>
            </a:pPr>
            <a:r>
              <a:rPr lang="en-US" sz="1200" b="1" spc="400" kern="0" dirty="0">
                <a:solidFill>
                  <a:srgbClr val="555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algn="ctr" indent="0" marL="0">
              <a:buNone/>
            </a:pPr>
            <a:r>
              <a:rPr lang="en-US" sz="1200" b="1" spc="400" kern="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8544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gets seen </a:t>
            </a:r>
            <a:pPr algn="l" indent="0" marL="0">
              <a:buNone/>
            </a:pPr>
            <a:r>
              <a:rPr lang="en-US" sz="380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late.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1762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pressure rises before any support system responds.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RISK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likely to face a mental health crisis.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53712" y="3063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4599432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ANXIETY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athletes experience anxiety leading up to competition.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75320" y="3063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6800" dirty="0"/>
          </a:p>
        </p:txBody>
      </p:sp>
      <p:sp>
        <p:nvSpPr>
          <p:cNvPr id="13" name="Text 11"/>
          <p:cNvSpPr/>
          <p:nvPr/>
        </p:nvSpPr>
        <p:spPr>
          <a:xfrm>
            <a:off x="832104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VISIBILITY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21040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out to a coach before crisis hits.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NCAA Student-Athlete Well-Being Study (n=23,000+); Center on Sport Policy &amp; Conduct, 2024.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907792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SCHOOLS MUST ACT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support is now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NCAA mandates that every member school provide student-athlete mental health support. Pulse Check is how schools meet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41832" y="3456432"/>
            <a:ext cx="0" cy="1691640"/>
          </a:xfrm>
          <a:prstGeom prst="line">
            <a:avLst/>
          </a:prstGeom>
          <a:noFill/>
          <a:ln w="19050">
            <a:solidFill>
              <a:srgbClr val="2E30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255264"/>
            <a:ext cx="155448" cy="155448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31455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31729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NCAA Constitution requires mental health access for every member school.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123944"/>
            <a:ext cx="155448" cy="155448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40142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40416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became legislatively effective across all divisions.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992624"/>
            <a:ext cx="155448" cy="155448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4882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49103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Division I attestation deadline. Compliance is now reported.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2121408"/>
            <a:ext cx="3767328" cy="3977640"/>
          </a:xfrm>
          <a:prstGeom prst="roundRect">
            <a:avLst>
              <a:gd name="adj" fmla="val 3155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23774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REQUIRED COMPETENCIES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27848" y="2779776"/>
            <a:ext cx="548640" cy="548640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19" name="Image 0" descr="/tmp/claude-0/-home-user-QuickLifts-Web/26b019cd-7888-5ab3-ba1c-caeae67de894/scratchpad/assets/p03-i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0436" y="2912364"/>
            <a:ext cx="283464" cy="28346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41080" y="287121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environment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27848" y="3529584"/>
            <a:ext cx="548640" cy="548640"/>
          </a:xfrm>
          <a:prstGeom prst="ellipse">
            <a:avLst/>
          </a:prstGeom>
          <a:solidFill>
            <a:srgbClr val="13181F"/>
          </a:solidFill>
          <a:ln/>
        </p:spPr>
      </p:sp>
      <p:pic>
        <p:nvPicPr>
          <p:cNvPr id="22" name="Image 1" descr="/tmp/claude-0/-home-user-QuickLifts-Web/26b019cd-7888-5ab3-ba1c-caeae67de894/scratchpad/assets/p03-i0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436" y="3662172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641080" y="3621024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for distress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927848" y="4279392"/>
            <a:ext cx="548640" cy="548640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25" name="Image 2" descr="/tmp/claude-0/-home-user-QuickLifts-Web/26b019cd-7888-5ab3-ba1c-caeae67de894/scratchpad/assets/p03-i0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436" y="4411980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641080" y="437083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927848" y="5029200"/>
            <a:ext cx="548640" cy="548640"/>
          </a:xfrm>
          <a:prstGeom prst="ellipse">
            <a:avLst/>
          </a:prstGeom>
          <a:solidFill>
            <a:srgbClr val="C8FF00"/>
          </a:solidFill>
          <a:ln/>
        </p:spPr>
      </p:sp>
      <p:pic>
        <p:nvPicPr>
          <p:cNvPr id="28" name="Image 3" descr="/tmp/claude-0/-home-user-QuickLifts-Web/26b019cd-7888-5ab3-ba1c-caeae67de894/scratchpad/assets/p03-i01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436" y="5161788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641080" y="512064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from licensed providers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927848" y="566928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 delivers all four.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3024835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30248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DIFFERENT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vitamin. A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performance tools are optional upgrades. Compliance makes Pulse Check a line item schools already have to fund.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5074920" cy="2834640"/>
          </a:xfrm>
          <a:prstGeom prst="roundRect">
            <a:avLst>
              <a:gd name="adj" fmla="val 4194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32918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WAY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35935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38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vitamin</a:t>
            </a:r>
            <a:endParaRPr lang="en-US" sz="2700" dirty="0"/>
          </a:p>
        </p:txBody>
      </p:sp>
      <p:pic>
        <p:nvPicPr>
          <p:cNvPr id="9" name="Image 0" descr="/tmp/claude-0/-home-user-QuickLifts-Web/26b019cd-7888-5ab3-ba1c-caeae67de894/scratchpad/assets/p04-i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436168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6192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have, easy to cut</a:t>
            </a:r>
            <a:endParaRPr lang="en-US" sz="1250" dirty="0"/>
          </a:p>
        </p:txBody>
      </p:sp>
      <p:pic>
        <p:nvPicPr>
          <p:cNvPr id="11" name="Image 1" descr="/tmp/claude-0/-home-user-QuickLifts-Web/26b019cd-7888-5ab3-ba1c-caeae67de894/scratchpad/assets/p04-i0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481888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6192" y="4754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on motivation</a:t>
            </a:r>
            <a:endParaRPr lang="en-US" sz="1250" dirty="0"/>
          </a:p>
        </p:txBody>
      </p:sp>
      <p:pic>
        <p:nvPicPr>
          <p:cNvPr id="13" name="Image 2" descr="/tmp/claude-0/-home-user-QuickLifts-Web/26b019cd-7888-5ab3-ba1c-caeae67de894/scratchpad/assets/p04-i0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527608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36192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C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Competes for discretionary budget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09360" y="2971800"/>
            <a:ext cx="5074920" cy="2834640"/>
          </a:xfrm>
          <a:prstGeom prst="roundRect">
            <a:avLst>
              <a:gd name="adj" fmla="val 4194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56832" y="32918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656832" y="35935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prescription</a:t>
            </a:r>
            <a:endParaRPr lang="en-US" sz="2700" dirty="0"/>
          </a:p>
        </p:txBody>
      </p:sp>
      <p:pic>
        <p:nvPicPr>
          <p:cNvPr id="18" name="Image 3" descr="/tmp/claude-0/-home-user-QuickLifts-Web/26b019cd-7888-5ab3-ba1c-caeae67de894/scratchpad/assets/p04-i0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34340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Required, already in the budget</a:t>
            </a:r>
            <a:endParaRPr lang="en-US" sz="1250" dirty="0"/>
          </a:p>
        </p:txBody>
      </p:sp>
      <p:pic>
        <p:nvPicPr>
          <p:cNvPr id="20" name="Image 4" descr="/tmp/claude-0/-home-user-QuickLifts-Web/26b019cd-7888-5ab3-ba1c-caeae67de894/scratchpad/assets/p04-i03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800600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40880" y="4754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on compliance</a:t>
            </a:r>
            <a:endParaRPr lang="en-US" sz="1250" dirty="0"/>
          </a:p>
        </p:txBody>
      </p:sp>
      <p:pic>
        <p:nvPicPr>
          <p:cNvPr id="22" name="Image 5" descr="/tmp/claude-0/-home-user-QuickLifts-Web/26b019cd-7888-5ab3-ba1c-caeae67de894/scratchpad/assets/p04-i03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5257800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4088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as a mandate line item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971446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9714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mind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moment.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1945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 builds composure ahead of competition, supports the athlete in the moment, and routes to real care when needed.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3438144" cy="2743200"/>
          </a:xfrm>
          <a:prstGeom prst="roundRect">
            <a:avLst>
              <a:gd name="adj" fmla="val 4333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3127248"/>
            <a:ext cx="566928" cy="566928"/>
          </a:xfrm>
          <a:prstGeom prst="ellipse">
            <a:avLst/>
          </a:prstGeom>
          <a:solidFill>
            <a:srgbClr val="C8FF00"/>
          </a:solidFill>
          <a:ln/>
        </p:spPr>
      </p:sp>
      <p:pic>
        <p:nvPicPr>
          <p:cNvPr id="8" name="Image 0" descr="/tmp/claude-0/-home-user-QuickLifts-Web/26b019cd-7888-5ab3-ba1c-caeae67de894/scratchpad/assets/p05-i0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32644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47088" y="3218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15568" y="3913632"/>
            <a:ext cx="2852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chat with Nora,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their AI coach, through a personalized curriculum of cognitive simulations on their phones, rehearsing composure, focus, and decisioning before they reach competition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53712" y="2834640"/>
            <a:ext cx="3438144" cy="2743200"/>
          </a:xfrm>
          <a:prstGeom prst="roundRect">
            <a:avLst>
              <a:gd name="adj" fmla="val 4333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3127248"/>
            <a:ext cx="566928" cy="566928"/>
          </a:xfrm>
          <a:prstGeom prst="ellipse">
            <a:avLst/>
          </a:prstGeom>
          <a:solidFill>
            <a:srgbClr val="5B9DFF"/>
          </a:solidFill>
          <a:ln/>
        </p:spPr>
      </p:sp>
      <p:pic>
        <p:nvPicPr>
          <p:cNvPr id="13" name="Image 1" descr="/tmp/claude-0/-home-user-QuickLifts-Web/26b019cd-7888-5ab3-ba1c-caeae67de894/scratchpad/assets/p05-i0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26440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3218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46320" y="3913632"/>
            <a:ext cx="2852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game day, passive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biometrics catch the signal early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Nora reinforces the trained skills in real time.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84464" y="2834640"/>
            <a:ext cx="3438144" cy="2743200"/>
          </a:xfrm>
          <a:prstGeom prst="roundRect">
            <a:avLst>
              <a:gd name="adj" fmla="val 4333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77072" y="3127248"/>
            <a:ext cx="566928" cy="566928"/>
          </a:xfrm>
          <a:prstGeom prst="ellipse">
            <a:avLst/>
          </a:prstGeom>
          <a:solidFill>
            <a:srgbClr val="FF6FB5"/>
          </a:solidFill>
          <a:ln/>
        </p:spPr>
      </p:sp>
      <p:pic>
        <p:nvPicPr>
          <p:cNvPr id="18" name="Image 2" descr="/tmp/claude-0/-home-user-QuickLifts-Web/26b019cd-7888-5ab3-ba1c-caeae67de894/scratchpad/assets/p05-i0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326440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08592" y="3218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577072" y="3913632"/>
            <a:ext cx="28529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Nora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symptoms of a mental crisis brewing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Pulse Check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the athlete to a human clinician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AuntEDNA.ai's HIPAA-compliant clinical pathway.</a:t>
            </a:r>
            <a:endParaRPr lang="en-US" sz="1150" dirty="0"/>
          </a:p>
        </p:txBody>
      </p:sp>
      <p:pic>
        <p:nvPicPr>
          <p:cNvPr id="21" name="Image 3" descr="/tmp/claude-0/-home-user-QuickLifts-Web/26b019cd-7888-5ab3-ba1c-caeae67de894/scratchpad/assets/p05-i04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069080"/>
            <a:ext cx="237744" cy="237744"/>
          </a:xfrm>
          <a:prstGeom prst="rect">
            <a:avLst/>
          </a:prstGeom>
        </p:spPr>
      </p:pic>
      <p:pic>
        <p:nvPicPr>
          <p:cNvPr id="22" name="Image 4" descr="/tmp/claude-0/-home-user-QuickLifts-Web/26b019cd-7888-5ab3-ba1c-caeae67de894/scratchpad/assets/p05-i04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406908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train the response before competition, so the body remembers how to perform under pressure.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971446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9714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athlete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sees.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96112" y="20574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biometrics detect the signal, Nora trains and settles the response, and Sports Intel reads each athlete in context — inside the app they already open.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17720" y="1810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200" dirty="0"/>
          </a:p>
        </p:txBody>
      </p:sp>
      <p:pic>
        <p:nvPicPr>
          <p:cNvPr id="7" name="Image 0" descr="/home/user/QuickLifts-Web/public/pulsecheck-media/full/03-sports-int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121408"/>
            <a:ext cx="1783080" cy="38577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16552" y="6088921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biometrics read each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in context.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12280" y="1810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200" dirty="0"/>
          </a:p>
        </p:txBody>
      </p:sp>
      <p:pic>
        <p:nvPicPr>
          <p:cNvPr id="10" name="Image 1" descr="/home/user/QuickLifts-Web/public/pulsecheck-media/full/08-box-breath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21408"/>
            <a:ext cx="1783080" cy="38577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11112" y="6088921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box-breathing trains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 to settle.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942832" y="1810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200" dirty="0"/>
          </a:p>
        </p:txBody>
      </p:sp>
      <p:pic>
        <p:nvPicPr>
          <p:cNvPr id="13" name="Image 2" descr="/home/user/QuickLifts-Web/public/pulsecheck-media/full/02-nora-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121408"/>
            <a:ext cx="1783080" cy="38577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41664" y="6088921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moment, Nora settles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trained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620317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6203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2984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chatbot.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human.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196596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catch the moment, package the context, and hand off to a licensed human through AuntEDNA.ai — including a same-day welfare check.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25420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 FLAGS IT</a:t>
            </a:r>
            <a:endParaRPr lang="en-US" sz="1050" dirty="0"/>
          </a:p>
        </p:txBody>
      </p:sp>
      <p:pic>
        <p:nvPicPr>
          <p:cNvPr id="7" name="Image 0" descr="/home/user/QuickLifts-Web/public/pulsecheck-media/full/09-critical-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798064"/>
            <a:ext cx="1417320" cy="3066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81160" y="25420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ANSWERS</a:t>
            </a:r>
            <a:endParaRPr lang="en-US" sz="1050" dirty="0"/>
          </a:p>
        </p:txBody>
      </p:sp>
      <p:pic>
        <p:nvPicPr>
          <p:cNvPr id="9" name="Image 1" descr="/home/user/QuickLifts-Web/public/pulsecheck-media/full/10-welfare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798064"/>
            <a:ext cx="1417320" cy="306644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035808" y="2907792"/>
            <a:ext cx="6144768" cy="877824"/>
          </a:xfrm>
          <a:prstGeom prst="roundRect">
            <a:avLst>
              <a:gd name="adj" fmla="val 13542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10128" y="3127248"/>
            <a:ext cx="420624" cy="420624"/>
          </a:xfrm>
          <a:prstGeom prst="ellipse">
            <a:avLst/>
          </a:prstGeom>
          <a:solidFill>
            <a:srgbClr val="FF6FB5"/>
          </a:solidFill>
          <a:ln/>
        </p:spPr>
      </p:sp>
      <p:sp>
        <p:nvSpPr>
          <p:cNvPr id="12" name="Text 8"/>
          <p:cNvSpPr/>
          <p:nvPr/>
        </p:nvSpPr>
        <p:spPr>
          <a:xfrm>
            <a:off x="331012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931920" y="3026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931920" y="331927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chat + biometric snapshot the instant Nora detects a critical signal.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035808" y="3895344"/>
            <a:ext cx="6144768" cy="877824"/>
          </a:xfrm>
          <a:prstGeom prst="roundRect">
            <a:avLst>
              <a:gd name="adj" fmla="val 13542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10128" y="4114800"/>
            <a:ext cx="420624" cy="420624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17" name="Text 13"/>
          <p:cNvSpPr/>
          <p:nvPr/>
        </p:nvSpPr>
        <p:spPr>
          <a:xfrm>
            <a:off x="3310128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931920" y="40142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931920" y="430682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 layer packages the full context and hands off to AuntEDNA.ai over a HIPAA-secure pathway.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035808" y="4882896"/>
            <a:ext cx="6144768" cy="877824"/>
          </a:xfrm>
          <a:prstGeom prst="roundRect">
            <a:avLst>
              <a:gd name="adj" fmla="val 13542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310128" y="5102352"/>
            <a:ext cx="420624" cy="42062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2" name="Text 18"/>
          <p:cNvSpPr/>
          <p:nvPr/>
        </p:nvSpPr>
        <p:spPr>
          <a:xfrm>
            <a:off x="3310128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3931920" y="5001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931920" y="529437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licensed clinician runs a same-day welfare check — a real person, not a bot.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22960" y="6053328"/>
            <a:ext cx="10561320" cy="530352"/>
          </a:xfrm>
          <a:prstGeom prst="roundRect">
            <a:avLst>
              <a:gd name="adj" fmla="val 22414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51560" y="6053328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difference: </a:t>
            </a:r>
            <a:pPr indent="0" marL="0">
              <a:buNone/>
            </a:pPr>
            <a:r>
              <a:rPr lang="en-US" sz="1150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“therapy” stops at the AI. Pulse Check never pretends to be the clinician — it routes to one, with the context already packaged.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503274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5032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Sports Intelligence Layer.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own one slice. Pulse Check ties the whole workflow into one institutional system.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074920" cy="1517904"/>
          </a:xfrm>
          <a:prstGeom prst="roundRect">
            <a:avLst>
              <a:gd name="adj" fmla="val 7831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3191256"/>
            <a:ext cx="713232" cy="713232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8" name="Image 0" descr="/tmp/claude-0/-home-user-QuickLifts-Web/26b019cd-7888-5ab3-ba1c-caeae67de894/scratchpad/assets/p08-i0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337413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21408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biometrics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121408" y="346557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Sport-specific signal,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a generic wellness score.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788920"/>
            <a:ext cx="5074920" cy="1517904"/>
          </a:xfrm>
          <a:prstGeom prst="roundRect">
            <a:avLst>
              <a:gd name="adj" fmla="val 7831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11112" y="3191256"/>
            <a:ext cx="713232" cy="713232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13" name="Image 1" descr="/tmp/claude-0/-home-user-QuickLifts-Web/26b019cd-7888-5ab3-ba1c-caeae67de894/scratchpad/assets/p08-i0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337413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07808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game library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607808" y="346557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sims that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focus, composure, decisioning.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4507992"/>
            <a:ext cx="5074920" cy="1517904"/>
          </a:xfrm>
          <a:prstGeom prst="roundRect">
            <a:avLst>
              <a:gd name="adj" fmla="val 7831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24712" y="4910328"/>
            <a:ext cx="713232" cy="713232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18" name="Image 2" descr="/tmp/claude-0/-home-user-QuickLifts-Web/26b019cd-7888-5ab3-ba1c-caeae67de894/scratchpad/assets/p08-i06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509320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21408" y="47823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partner routing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121408" y="518464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pathway through AuntEDNA.ai.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09360" y="4507992"/>
            <a:ext cx="5074920" cy="1517904"/>
          </a:xfrm>
          <a:prstGeom prst="roundRect">
            <a:avLst>
              <a:gd name="adj" fmla="val 7831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11112" y="4910328"/>
            <a:ext cx="713232" cy="713232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23" name="Image 3" descr="/tmp/claude-0/-home-user-QuickLifts-Web/26b019cd-7888-5ab3-ba1c-caeae67de894/scratchpad/assets/p08-i07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509320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07808" y="47823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workflow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607808" y="518464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how athletic departments actually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and run.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22576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IN MOTION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paid pilots, on real campuses.</a:t>
            </a:r>
            <a:endParaRPr lang="en-US" sz="3800" dirty="0"/>
          </a:p>
        </p:txBody>
      </p:sp>
      <p:pic>
        <p:nvPicPr>
          <p:cNvPr id="5" name="Image 0" descr="/home/user/QuickLifts-Web/public/nakyala-ca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130552"/>
            <a:ext cx="2743200" cy="33467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5477256"/>
            <a:ext cx="2743200" cy="38404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54772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A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NAKYALA   ·   CLARK ATLANTA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86200" y="2286000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approved paid pilots — 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Atlanta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DePaul, and UMES. Worcester State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England Patriots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in active conversation.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886200" y="3246120"/>
            <a:ext cx="2395728" cy="1325880"/>
          </a:xfrm>
          <a:prstGeom prst="roundRect">
            <a:avLst>
              <a:gd name="adj" fmla="val 8966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11480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paid pilots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46520" y="3246120"/>
            <a:ext cx="2395728" cy="1325880"/>
          </a:xfrm>
          <a:prstGeom prst="roundRect">
            <a:avLst>
              <a:gd name="adj" fmla="val 8966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$355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67512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athlete · first 90 days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06840" y="3246120"/>
            <a:ext cx="2395728" cy="1325880"/>
          </a:xfrm>
          <a:prstGeom prst="roundRect">
            <a:avLst>
              <a:gd name="adj" fmla="val 8966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3544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$229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23544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athlete · annual continuation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86200" y="4800600"/>
            <a:ext cx="7498080" cy="1060704"/>
          </a:xfrm>
          <a:prstGeom prst="roundRect">
            <a:avLst>
              <a:gd name="adj" fmla="val 11207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pic>
        <p:nvPicPr>
          <p:cNvPr id="19" name="Image 1" descr="/tmp/claude-0/-home-user-QuickLifts-Web/26b019cd-7888-5ab3-ba1c-caeae67de894/scratchpad/assets/p09-i0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5074920"/>
            <a:ext cx="45720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4800600"/>
            <a:ext cx="6355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matters.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approved pilots prove the product, compliance, and commercial story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where compliance is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NCAA school is a required buyer. We land schools first, then expand to the pro and federation tiers.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61488"/>
            <a:ext cx="10561320" cy="1719072"/>
          </a:xfrm>
          <a:prstGeom prst="roundRect">
            <a:avLst>
              <a:gd name="adj" fmla="val 6915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999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FOCUS   ·   NCAA INSTITUTIONS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170432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NCAA member schools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520K+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45152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student-athletes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01000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028432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mental health support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4736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EXPANSION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3438144" cy="960120"/>
          </a:xfrm>
          <a:prstGeom prst="roundRect">
            <a:avLst>
              <a:gd name="adj" fmla="val 12381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" y="5253228"/>
            <a:ext cx="512064" cy="512064"/>
          </a:xfrm>
          <a:prstGeom prst="ellipse">
            <a:avLst/>
          </a:prstGeom>
          <a:solidFill>
            <a:srgbClr val="1E2025"/>
          </a:solidFill>
          <a:ln/>
        </p:spPr>
      </p:sp>
      <p:pic>
        <p:nvPicPr>
          <p:cNvPr id="17" name="Image 0" descr="/tmp/claude-0/-home-user-QuickLifts-Web/26b019cd-7888-5ab3-ba1c-caeae67de894/scratchpad/assets/p10-i0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292" y="5385816"/>
            <a:ext cx="246888" cy="2468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7360" y="5193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teams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737360" y="5477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NCAA proof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26280" y="5029200"/>
            <a:ext cx="3438144" cy="960120"/>
          </a:xfrm>
          <a:prstGeom prst="roundRect">
            <a:avLst>
              <a:gd name="adj" fmla="val 12381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64024" y="5253228"/>
            <a:ext cx="512064" cy="512064"/>
          </a:xfrm>
          <a:prstGeom prst="ellipse">
            <a:avLst/>
          </a:prstGeom>
          <a:solidFill>
            <a:srgbClr val="1E2025"/>
          </a:solidFill>
          <a:ln/>
        </p:spPr>
      </p:sp>
      <p:pic>
        <p:nvPicPr>
          <p:cNvPr id="22" name="Image 1" descr="/tmp/claude-0/-home-user-QuickLifts-Web/26b019cd-7888-5ab3-ba1c-caeae67de894/scratchpad/assets/p10-i0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5385816"/>
            <a:ext cx="246888" cy="2468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40680" y="5193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Federations &amp; NGBs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440680" y="5477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team pipelines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229600" y="5029200"/>
            <a:ext cx="3438144" cy="960120"/>
          </a:xfrm>
          <a:prstGeom prst="roundRect">
            <a:avLst>
              <a:gd name="adj" fmla="val 12381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67344" y="5253228"/>
            <a:ext cx="512064" cy="512064"/>
          </a:xfrm>
          <a:prstGeom prst="ellipse">
            <a:avLst/>
          </a:prstGeom>
          <a:solidFill>
            <a:srgbClr val="1E2025"/>
          </a:solidFill>
          <a:ln/>
        </p:spPr>
      </p:sp>
      <p:pic>
        <p:nvPicPr>
          <p:cNvPr id="27" name="Image 2" descr="/tmp/claude-0/-home-user-QuickLifts-Web/26b019cd-7888-5ab3-ba1c-caeae67de894/scratchpad/assets/p10-i09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2" y="5385816"/>
            <a:ext cx="246888" cy="2468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44000" y="5193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Leagues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9144000" y="5477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League-wide deals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971446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9714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path into every athletic department.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194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 are paid contracts. We conform the platform to each school, then convert to a continuation contract.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2542032" cy="2743200"/>
          </a:xfrm>
          <a:prstGeom prst="roundRect">
            <a:avLst>
              <a:gd name="adj" fmla="val 4676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pilot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$355 per athlete for the first 90-day pilot.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02152" y="2788920"/>
            <a:ext cx="2542032" cy="2743200"/>
          </a:xfrm>
          <a:prstGeom prst="roundRect">
            <a:avLst>
              <a:gd name="adj" fmla="val 4676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776472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776472" y="4480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Pulse Check to the school's sport and workflow.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2788920"/>
            <a:ext cx="2542032" cy="2743200"/>
          </a:xfrm>
          <a:prstGeom prst="roundRect">
            <a:avLst>
              <a:gd name="adj" fmla="val 4676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455664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55664" y="4480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 of adherence and compliance evidence.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60536" y="2788920"/>
            <a:ext cx="2542032" cy="2743200"/>
          </a:xfrm>
          <a:prstGeom prst="roundRect">
            <a:avLst>
              <a:gd name="adj" fmla="val 4676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4856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34856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134856" y="4480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$229 per athlete annually, department-wide.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280160" y="5806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approved pilots — Clark Atlanta, DePaul, and UMES — with Worcester State and the New England Patriots in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673706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26737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ECONOMICS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units that compound.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contract value across the NCAA buyer tiers, with pro and federation deals above.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816352"/>
            <a:ext cx="2084832" cy="3017520"/>
          </a:xfrm>
          <a:prstGeom prst="roundRect">
            <a:avLst>
              <a:gd name="adj" fmla="val 5702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3090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0704" y="3401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/ D3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60704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$5–10K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60704" y="5230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close, highest volume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72384" y="2816352"/>
            <a:ext cx="2084832" cy="3017520"/>
          </a:xfrm>
          <a:prstGeom prst="roundRect">
            <a:avLst>
              <a:gd name="adj" fmla="val 5702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3090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0128" y="3401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Mid-Major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310128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$10–20K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3310128" y="5230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~350–450 athletes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21808" y="2816352"/>
            <a:ext cx="2084832" cy="3017520"/>
          </a:xfrm>
          <a:prstGeom prst="roundRect">
            <a:avLst>
              <a:gd name="adj" fmla="val 5702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3090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59552" y="3401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Four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559552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$40–80K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5559552" y="5230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~600–700 athletes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71232" y="2816352"/>
            <a:ext cx="2084832" cy="3017520"/>
          </a:xfrm>
          <a:prstGeom prst="roundRect">
            <a:avLst>
              <a:gd name="adj" fmla="val 5702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08976" y="3090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08976" y="3401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Team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808976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7808976" y="5230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+ practice squad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20656" y="2816352"/>
            <a:ext cx="2084832" cy="3017520"/>
          </a:xfrm>
          <a:prstGeom prst="roundRect">
            <a:avLst>
              <a:gd name="adj" fmla="val 5702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3090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0" y="3401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Federation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058400" y="4434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$100–250K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10058400" y="5230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athlete pool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NCAA schools are the beachhead. Pro and federation tiers carry the path to scale.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620317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6203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</a:t>
            </a:r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already visible.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12–24 month beachhead is the set of collegiate contracts already in motion, all required buyers.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61488"/>
            <a:ext cx="3246120" cy="2331720"/>
          </a:xfrm>
          <a:prstGeom prst="roundRect">
            <a:avLst>
              <a:gd name="adj" fmla="val 5098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/ D3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15568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× $10K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15568" y="3977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115568" y="4617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TOTAL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2761488"/>
            <a:ext cx="3246120" cy="2331720"/>
          </a:xfrm>
          <a:prstGeom prst="roundRect">
            <a:avLst>
              <a:gd name="adj" fmla="val 5098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Mid-Major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727448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× $20K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27448" y="3977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$400K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727448" y="4617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TOTAL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2761488"/>
            <a:ext cx="3246120" cy="2331720"/>
          </a:xfrm>
          <a:prstGeom prst="roundRect">
            <a:avLst>
              <a:gd name="adj" fmla="val 5098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3063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Four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339328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$75K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9328" y="3977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339328" y="46177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TOTAL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5321808"/>
            <a:ext cx="10469880" cy="960120"/>
          </a:xfrm>
          <a:prstGeom prst="roundRect">
            <a:avLst>
              <a:gd name="adj" fmla="val 12381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321808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CONTRACTS   ·   12–24 MONTH BEACHHEAD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03920" y="532180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$1.0M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22576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visible path to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 ARR.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Pulse Check in every NCAA tier in Years 1–2, then scale through pro, federation, and league deals.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61488"/>
            <a:ext cx="5074920" cy="3291840"/>
          </a:xfrm>
          <a:prstGeom prst="roundRect">
            <a:avLst>
              <a:gd name="adj" fmla="val 3611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1–2   ·   PROVE 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383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~$1.0M ARR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41148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anchor contracts across every NCAA tier. Validate the product, build case studies, establish compliance credibility.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5532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contracts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2761488"/>
            <a:ext cx="5074920" cy="3291840"/>
          </a:xfrm>
          <a:prstGeom prst="roundRect">
            <a:avLst>
              <a:gd name="adj" fmla="val 3611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3063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3–5   ·   SCALE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3383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 ARR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29400" y="41148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Saturate the NCAA (~1,000 schools, ~$15M ARR), then layer the high-ACV tiers — ~150 pro teams, ~80 federations, and league-wide platform deals — to clear $100M+.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29400" y="5394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NCAA ~$15M   ·   pro + federation + league ~$85M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503274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5032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298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who know </a:t>
            </a:r>
            <a:pPr algn="l" indent="0" marL="0">
              <a:buNone/>
            </a:pPr>
            <a:r>
              <a:rPr lang="en-US" sz="3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software, athletes, and clinical trust.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438144" cy="2487168"/>
          </a:xfrm>
          <a:prstGeom prst="roundRect">
            <a:avLst>
              <a:gd name="adj" fmla="val 4779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pic>
        <p:nvPicPr>
          <p:cNvPr id="6" name="Image 0" descr="/tmp/claude-0/-home-user-QuickLifts-Web/26b019cd-7888-5ab3-ba1c-caeae67de894/scratchpad/prepped/tremaine-tra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487168"/>
            <a:ext cx="713232" cy="713232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61488" y="29809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/tmp/claude-0/-home-user-QuickLifts-Web/26b019cd-7888-5ab3-ba1c-caeae67de894/scratchpad/assets/p15-i1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3008376"/>
            <a:ext cx="219456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31012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Tremaine Grant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05840" y="362102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005840" y="3913632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full-stack engineer, deep in AI, with a decade in clinical research. D1 athlete at FSU.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26280" y="2286000"/>
            <a:ext cx="3438144" cy="2487168"/>
          </a:xfrm>
          <a:prstGeom prst="roundRect">
            <a:avLst>
              <a:gd name="adj" fmla="val 4779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pic>
        <p:nvPicPr>
          <p:cNvPr id="13" name="Image 2" descr="/tmp/claude-0/-home-user-QuickLifts-Web/26b019cd-7888-5ab3-ba1c-caeae67de894/scratchpad/prepped/bobb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487168"/>
            <a:ext cx="713232" cy="713232"/>
          </a:xfrm>
          <a:prstGeom prst="ellipse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64808" y="29809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/tmp/claude-0/-home-user-QuickLifts-Web/26b019cd-7888-5ab3-ba1c-caeae67de894/scratchpad/assets/p15-i15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3008376"/>
            <a:ext cx="219456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9160" y="331012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Bobby Nweke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709160" y="362102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OF STAFF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709160" y="3913632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years in human performance across training, athletics, and education.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229600" y="2286000"/>
            <a:ext cx="3438144" cy="2487168"/>
          </a:xfrm>
          <a:prstGeom prst="roundRect">
            <a:avLst>
              <a:gd name="adj" fmla="val 4779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pic>
        <p:nvPicPr>
          <p:cNvPr id="20" name="Image 4" descr="/tmp/claude-0/-home-user-QuickLifts-Web/26b019cd-7888-5ab3-ba1c-caeae67de894/scratchpad/prepped/lol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487168"/>
            <a:ext cx="713232" cy="713232"/>
          </a:xfrm>
          <a:prstGeom prst="ellipse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412480" y="331012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Lola Oluwaladun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412480" y="362102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DESIGN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8412480" y="3913632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product experience and athlete-facing UX across Pulse.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22960" y="4983480"/>
            <a:ext cx="10835640" cy="1261872"/>
          </a:xfrm>
          <a:prstGeom prst="roundRect">
            <a:avLst>
              <a:gd name="adj" fmla="val 9420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143000" y="5175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&amp; BACKING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7863840" y="51755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investor — </a:t>
            </a:r>
            <a:pPr algn="r" indent="0" marL="0">
              <a:buNone/>
            </a:pPr>
            <a:r>
              <a:rPr lang="en-US" sz="10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▲</a:t>
            </a:r>
            <a:endParaRPr lang="en-US" sz="1050" dirty="0"/>
          </a:p>
        </p:txBody>
      </p:sp>
      <p:pic>
        <p:nvPicPr>
          <p:cNvPr id="27" name="Image 5" descr="/tmp/claude-0/-home-user-QuickLifts-Web/26b019cd-7888-5ab3-ba1c-caeae67de894/scratchpad/prepped/zak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504688"/>
            <a:ext cx="475488" cy="475488"/>
          </a:xfrm>
          <a:prstGeom prst="ellipse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737360" y="55321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Marques Zak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1737360" y="57607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ACC</a:t>
            </a:r>
            <a:endParaRPr lang="en-US" sz="950" dirty="0"/>
          </a:p>
        </p:txBody>
      </p:sp>
      <p:pic>
        <p:nvPicPr>
          <p:cNvPr id="30" name="Image 6" descr="/tmp/claude-0/-home-user-QuickLifts-Web/26b019cd-7888-5ab3-ba1c-caeae67de894/scratchpad/prepped/val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5504688"/>
            <a:ext cx="475488" cy="475488"/>
          </a:xfrm>
          <a:prstGeom prst="ellipse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297680" y="55321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Valerie Alexander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4297680" y="57607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&amp; IPO Attorney</a:t>
            </a:r>
            <a:endParaRPr lang="en-US" sz="950" dirty="0"/>
          </a:p>
        </p:txBody>
      </p:sp>
      <p:pic>
        <p:nvPicPr>
          <p:cNvPr id="33" name="Image 7" descr="/tmp/claude-0/-home-user-QuickLifts-Web/26b019cd-7888-5ab3-ba1c-caeae67de894/scratchpad/prepped/deray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5504688"/>
            <a:ext cx="475488" cy="475488"/>
          </a:xfrm>
          <a:prstGeom prst="ellipse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58000" y="55321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DeRay Mckesson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6858000" y="57607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Organizing · HBCU reach</a:t>
            </a:r>
            <a:endParaRPr lang="en-US" sz="950" dirty="0"/>
          </a:p>
        </p:txBody>
      </p:sp>
      <p:pic>
        <p:nvPicPr>
          <p:cNvPr id="36" name="Image 8" descr="/tmp/claude-0/-home-user-QuickLifts-Web/26b019cd-7888-5ab3-ba1c-caeae67de894/scratchpad/prepped/erik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0" y="5504688"/>
            <a:ext cx="475488" cy="475488"/>
          </a:xfrm>
          <a:prstGeom prst="ellipse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418320" y="55321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Erik Edwards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9418320" y="57607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Partner, Cooley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439619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24396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PATHWAY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AuntEDNA.ai validates the </a:t>
            </a:r>
            <a:pPr algn="l" indent="0" marL="0">
              <a:buNone/>
            </a:pPr>
            <a:r>
              <a:rPr lang="en-US" sz="380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layer.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 owns the detection, scoring, and routing. AuntEDNA.ai handles the clinical handoff.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AUNTEDNA.AI CO-CEOS</a:t>
            </a:r>
            <a:endParaRPr lang="en-US" sz="1000" dirty="0"/>
          </a:p>
        </p:txBody>
      </p:sp>
      <p:pic>
        <p:nvPicPr>
          <p:cNvPr id="7" name="Image 0" descr="/tmp/claude-0/-home-user-QuickLifts-Web/26b019cd-7888-5ab3-ba1c-caeae67de894/scratchpad/prepped/jelan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52928"/>
            <a:ext cx="493776" cy="493776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73352" y="28895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Jelanna Salas Olivera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73352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Co-CEO</a:t>
            </a:r>
            <a:endParaRPr lang="en-US" sz="950" dirty="0"/>
          </a:p>
        </p:txBody>
      </p:sp>
      <p:pic>
        <p:nvPicPr>
          <p:cNvPr id="10" name="Image 1" descr="/tmp/claude-0/-home-user-QuickLifts-Web/26b019cd-7888-5ab3-ba1c-caeae67de894/scratchpad/prepped/trace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852928"/>
            <a:ext cx="493776" cy="493776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05272" y="28895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Tracey Hathaway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605272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Co-CEO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22960" y="3566160"/>
            <a:ext cx="10561320" cy="914400"/>
          </a:xfrm>
          <a:prstGeom prst="roundRect">
            <a:avLst>
              <a:gd name="adj" fmla="val 13000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15568" y="3767328"/>
            <a:ext cx="512064" cy="512064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15" name="Image 2" descr="/tmp/claude-0/-home-user-QuickLifts-Web/26b019cd-7888-5ab3-ba1c-caeae67de894/scratchpad/assets/p03-i0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38953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NSF Phase I grant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86400" y="3566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validation through scientific peer review.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22960" y="4590288"/>
            <a:ext cx="10561320" cy="914400"/>
          </a:xfrm>
          <a:prstGeom prst="roundRect">
            <a:avLst>
              <a:gd name="adj" fmla="val 13000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115568" y="4791456"/>
            <a:ext cx="512064" cy="512064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20" name="Image 3" descr="/tmp/claude-0/-home-user-QuickLifts-Web/26b019cd-7888-5ab3-ba1c-caeae67de894/scratchpad/assets/p04-i0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491947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459028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adherence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86400" y="459028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AuntEDNA.ai evidence across 1,000+ student-athletes.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22960" y="5614416"/>
            <a:ext cx="10561320" cy="914400"/>
          </a:xfrm>
          <a:prstGeom prst="roundRect">
            <a:avLst>
              <a:gd name="adj" fmla="val 13000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115568" y="5815584"/>
            <a:ext cx="512064" cy="512064"/>
          </a:xfrm>
          <a:prstGeom prst="ellipse">
            <a:avLst/>
          </a:prstGeom>
          <a:solidFill>
            <a:srgbClr val="1C1E14"/>
          </a:solidFill>
          <a:ln/>
        </p:spPr>
      </p:sp>
      <p:pic>
        <p:nvPicPr>
          <p:cNvPr id="25" name="Image 4" descr="/tmp/claude-0/-home-user-QuickLifts-Web/26b019cd-7888-5ab3-ba1c-caeae67de894/scratchpad/assets/p08-i06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" y="594360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74520" y="561441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research layer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486400" y="5614416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 on a validated, peer-reviewed athlete dataset.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322576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SUPPORTS US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building </a:t>
            </a:r>
            <a:pPr algn="l" indent="0" marL="0">
              <a:buNone/>
            </a:pPr>
            <a:r>
              <a:rPr lang="en-US" sz="34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isolation.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support already spans </a:t>
            </a:r>
            <a:pPr indent="0" marL="0">
              <a:buNone/>
            </a:pPr>
            <a:r>
              <a:rPr lang="en-US" sz="1250" b="1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pathway, hardware, legal, capital, institutional access, infrastructure, and research.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3520440" cy="3493008"/>
          </a:xfrm>
          <a:prstGeom prst="roundRect">
            <a:avLst>
              <a:gd name="adj" fmla="val 3403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PATHWAY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9264" y="26883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AuntEDNA</a:t>
            </a:r>
            <a:pPr indent="0" marL="0">
              <a:buNone/>
            </a:pPr>
            <a:r>
              <a:rPr lang="en-US" sz="130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9264" y="3172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clinical pathway partner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escalation and care routing.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9264" y="4059936"/>
            <a:ext cx="3008376" cy="0"/>
          </a:xfrm>
          <a:prstGeom prst="line">
            <a:avLst/>
          </a:prstGeom>
          <a:noFill/>
          <a:ln w="12700">
            <a:solidFill>
              <a:srgbClr val="3A2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169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WE REACH THROUGH THIS PARTNERSHIP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32688" y="4443984"/>
            <a:ext cx="3081528" cy="512064"/>
          </a:xfrm>
          <a:prstGeom prst="roundRect">
            <a:avLst>
              <a:gd name="adj" fmla="val 14286"/>
            </a:avLst>
          </a:prstGeom>
          <a:solidFill>
            <a:srgbClr val="1A1C21"/>
          </a:solidFill>
          <a:ln w="9525">
            <a:solidFill>
              <a:srgbClr val="2628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44398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NCAA®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39112" y="44439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athletics ecosystem access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32688" y="5029200"/>
            <a:ext cx="3081528" cy="512064"/>
          </a:xfrm>
          <a:prstGeom prst="roundRect">
            <a:avLst>
              <a:gd name="adj" fmla="val 14286"/>
            </a:avLst>
          </a:prstGeom>
          <a:solidFill>
            <a:srgbClr val="1A1C21"/>
          </a:solidFill>
          <a:ln w="9525">
            <a:solidFill>
              <a:srgbClr val="2628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5111496"/>
            <a:ext cx="347472" cy="347472"/>
          </a:xfrm>
          <a:prstGeom prst="ellipse">
            <a:avLst/>
          </a:prstGeom>
          <a:solidFill>
            <a:srgbClr val="1B4B8F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111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NSF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27632" y="50292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research network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12848"/>
            <a:ext cx="3520440" cy="1261872"/>
          </a:xfrm>
          <a:prstGeom prst="roundRect">
            <a:avLst>
              <a:gd name="adj" fmla="val 9420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3957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26864" y="26151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626864" y="307238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hardware partner</a:t>
            </a:r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biometric and recovery signals.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70832" y="3602736"/>
            <a:ext cx="3520440" cy="1298448"/>
          </a:xfrm>
          <a:prstGeom prst="roundRect">
            <a:avLst>
              <a:gd name="adj" fmla="val 9155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37856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26864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i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4626864" y="44348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ATLANTIC COAST CONFERENCE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26864" y="4645152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Conference-level marketing</a:t>
            </a:r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institutional access.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70832" y="5029200"/>
            <a:ext cx="3520440" cy="1060704"/>
          </a:xfrm>
          <a:prstGeom prst="roundRect">
            <a:avLst>
              <a:gd name="adj" fmla="val 11207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52120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NETWORK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5321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B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</a:t>
            </a:r>
            <a:pPr indent="0" marL="0">
              <a:buNone/>
            </a:pPr>
            <a:r>
              <a:rPr lang="en-US" sz="17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techstars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26864" y="57241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network</a:t>
            </a:r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support.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28432" y="2212848"/>
            <a:ext cx="3456432" cy="1261872"/>
          </a:xfrm>
          <a:prstGeom prst="roundRect">
            <a:avLst>
              <a:gd name="adj" fmla="val 9420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239572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COUNSEL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284464" y="26151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COOLEY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284464" y="30723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LLP · EST. 1920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28432" y="3602736"/>
            <a:ext cx="3456432" cy="1298448"/>
          </a:xfrm>
          <a:prstGeom prst="roundRect">
            <a:avLst>
              <a:gd name="adj" fmla="val 9155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4464" y="378561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NETWORK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84464" y="39867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8284464" y="4434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84464" y="4645152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backing</a:t>
            </a:r>
            <a:pPr indent="0" marL="0">
              <a:buNone/>
            </a:pPr>
            <a:r>
              <a:rPr lang="en-US" sz="9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credits.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28432" y="5029200"/>
            <a:ext cx="3456432" cy="1115568"/>
          </a:xfrm>
          <a:prstGeom prst="roundRect">
            <a:avLst>
              <a:gd name="adj" fmla="val 10656"/>
            </a:avLst>
          </a:prstGeom>
          <a:solidFill>
            <a:srgbClr val="141619"/>
          </a:solidFill>
          <a:ln w="12700">
            <a:solidFill>
              <a:srgbClr val="2628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4464" y="5212080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INVESTOR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84464" y="5431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</a:t>
            </a:r>
            <a:pPr indent="0" marL="0">
              <a:buNone/>
            </a:pPr>
            <a:r>
              <a:rPr lang="en-US" sz="13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284464" y="5724144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07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UNIVERSITY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284464" y="5897880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backing</a:t>
            </a:r>
            <a:pPr indent="0" marL="0">
              <a:buNone/>
            </a:pPr>
            <a:r>
              <a:rPr lang="en-US" sz="8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Founder University network.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3232" y="6236208"/>
            <a:ext cx="10771632" cy="475488"/>
          </a:xfrm>
          <a:prstGeom prst="roundRect">
            <a:avLst>
              <a:gd name="adj" fmla="val 25000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623620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</a:t>
            </a:r>
            <a:pPr indent="0" marL="0">
              <a:buNone/>
            </a:pPr>
            <a:r>
              <a:rPr lang="en-US" sz="11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Clinical, hardware, legal, capital, and institutional infrastructure. </a:t>
            </a:r>
            <a:pPr indent="0" marL="0">
              <a:buNone/>
            </a:pPr>
            <a:r>
              <a:rPr lang="en-US" sz="110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around us is real — and already in motion.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386230" cy="384048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48640"/>
            <a:ext cx="13862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spc="3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</a:t>
            </a:r>
            <a:pPr algn="l" indent="0" marL="0">
              <a:buNone/>
            </a:pPr>
            <a:r>
              <a:rPr lang="en-US" sz="3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</a:t>
            </a:r>
            <a:pPr algn="l" indent="0" marL="0">
              <a:buNone/>
            </a:pPr>
            <a:r>
              <a:rPr lang="en-US" sz="38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own the mandate.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on a $10M pre-money. Capital funds the team and product velocity to convert the visible beachhead.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61488"/>
            <a:ext cx="4206240" cy="3291840"/>
          </a:xfrm>
          <a:prstGeom prst="roundRect">
            <a:avLst>
              <a:gd name="adj" fmla="val 3611"/>
            </a:avLst>
          </a:prstGeom>
          <a:solidFill>
            <a:srgbClr val="111309"/>
          </a:solidFill>
          <a:ln w="15875">
            <a:solidFill>
              <a:srgbClr val="C8F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RAISE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4015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14300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 pre-money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51206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Ladder: $1.4M → $5M → $12M → $25M, pre-seed through Series B.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04688" y="3310128"/>
            <a:ext cx="128016" cy="128016"/>
          </a:xfrm>
          <a:prstGeom prst="ellipse">
            <a:avLst/>
          </a:prstGeom>
          <a:solidFill>
            <a:srgbClr val="5B9DFF"/>
          </a:solidFill>
          <a:ln/>
        </p:spPr>
      </p:sp>
      <p:sp>
        <p:nvSpPr>
          <p:cNvPr id="13" name="Text 11"/>
          <p:cNvSpPr/>
          <p:nvPr/>
        </p:nvSpPr>
        <p:spPr>
          <a:xfrm>
            <a:off x="5779008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9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04688" y="3785616"/>
            <a:ext cx="128016" cy="128016"/>
          </a:xfrm>
          <a:prstGeom prst="ellipse">
            <a:avLst/>
          </a:prstGeom>
          <a:solidFill>
            <a:srgbClr val="A98B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79008" y="3675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0" y="3675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04688" y="4261104"/>
            <a:ext cx="128016" cy="128016"/>
          </a:xfrm>
          <a:prstGeom prst="ellipse">
            <a:avLst/>
          </a:prstGeom>
          <a:solidFill>
            <a:srgbClr val="FF6FB5"/>
          </a:solidFill>
          <a:ln/>
        </p:spPr>
      </p:sp>
      <p:sp>
        <p:nvSpPr>
          <p:cNvPr id="19" name="Text 17"/>
          <p:cNvSpPr/>
          <p:nvPr/>
        </p:nvSpPr>
        <p:spPr>
          <a:xfrm>
            <a:off x="5779008" y="4151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performance science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0120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04688" y="4736592"/>
            <a:ext cx="128016" cy="128016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22" name="Text 20"/>
          <p:cNvSpPr/>
          <p:nvPr/>
        </p:nvSpPr>
        <p:spPr>
          <a:xfrm>
            <a:off x="5779008" y="46268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R&amp;D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01200" y="46268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04688" y="5212080"/>
            <a:ext cx="128016" cy="128016"/>
          </a:xfrm>
          <a:prstGeom prst="ellipse">
            <a:avLst/>
          </a:prstGeom>
          <a:solidFill>
            <a:srgbClr val="FFA94D"/>
          </a:solidFill>
          <a:ln/>
        </p:spPr>
      </p:sp>
      <p:sp>
        <p:nvSpPr>
          <p:cNvPr id="25" name="Text 23"/>
          <p:cNvSpPr/>
          <p:nvPr/>
        </p:nvSpPr>
        <p:spPr>
          <a:xfrm>
            <a:off x="5779008" y="5102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and marketing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01200" y="51023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A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04688" y="5687568"/>
            <a:ext cx="128016" cy="128016"/>
          </a:xfrm>
          <a:prstGeom prst="ellipse">
            <a:avLst/>
          </a:prstGeom>
          <a:solidFill>
            <a:srgbClr val="9CA0A8"/>
          </a:solidFill>
          <a:ln/>
        </p:spPr>
      </p:sp>
      <p:sp>
        <p:nvSpPr>
          <p:cNvPr id="28" name="Text 26"/>
          <p:cNvSpPr/>
          <p:nvPr/>
        </p:nvSpPr>
        <p:spPr>
          <a:xfrm>
            <a:off x="5779008" y="5577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runway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01200" y="5577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300" b="1" spc="1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 MAKES ATHLETES</a:t>
            </a:r>
            <a:endParaRPr lang="en-US" sz="3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3300" b="1" spc="1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HIGHER-PERFORMING</a:t>
            </a:r>
            <a:pPr indent="0" marL="0">
              <a:lnSpc>
                <a:spcPct val="135000"/>
              </a:lnSpc>
              <a:buNone/>
            </a:pPr>
            <a:r>
              <a:rPr lang="en-US" sz="3300" b="1" spc="1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WITHOUT</a:t>
            </a:r>
            <a:endParaRPr lang="en-US" sz="3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3300" b="1" spc="100" kern="0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</a:t>
            </a:r>
            <a:pPr indent="0" marL="0">
              <a:lnSpc>
                <a:spcPct val="135000"/>
              </a:lnSpc>
              <a:buNone/>
            </a:pPr>
            <a:r>
              <a:rPr lang="en-US" sz="3300" b="1" spc="10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HOLLOWED OUT.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22960" y="41605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compliance-required platform for college athlete mental performance, with a visible path from the first school to $100M ARR.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2296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pPr indent="0" marL="0">
              <a:buNone/>
            </a:pPr>
            <a:r>
              <a:rPr lang="en-US" sz="1150" b="1" spc="300" kern="0" dirty="0">
                <a:solidFill>
                  <a:srgbClr val="555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spc="300" kern="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pPr indent="0" marL="0">
              <a:buNone/>
            </a:pPr>
            <a:r>
              <a:rPr lang="en-US" sz="1150" b="1" spc="300" kern="0" dirty="0">
                <a:solidFill>
                  <a:srgbClr val="555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spc="300" kern="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pPr indent="0" marL="0">
              <a:buNone/>
            </a:pPr>
            <a:r>
              <a:rPr lang="en-US" sz="1150" b="1" spc="300" kern="0" dirty="0">
                <a:solidFill>
                  <a:srgbClr val="555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pPr indent="0" marL="0">
              <a:buNone/>
            </a:pPr>
            <a:r>
              <a:rPr lang="en-US" sz="1150" b="1" spc="300" kern="0" dirty="0">
                <a:solidFill>
                  <a:srgbClr val="9C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5715000"/>
            <a:ext cx="10515600" cy="0"/>
          </a:xfrm>
          <a:prstGeom prst="line">
            <a:avLst/>
          </a:prstGeom>
          <a:noFill/>
          <a:ln w="12700">
            <a:solidFill>
              <a:srgbClr val="2A2C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Tremaine Grant   </a:t>
            </a:r>
            <a:pPr indent="0" marL="0">
              <a:buNone/>
            </a:pPr>
            <a:r>
              <a:rPr lang="en-US" sz="125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tre@fitwithpulse.ai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766560" y="5897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50" kern="0" dirty="0">
                <a:solidFill>
                  <a:srgbClr val="F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 PRE-SEED   ·   $10M PRE-MONEY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2026-07-20T15:01:57Z</dcterms:created>
  <dcterms:modified xsi:type="dcterms:W3CDTF">2026-07-20T15:01:57Z</dcterms:modified>
</cp:coreProperties>
</file>